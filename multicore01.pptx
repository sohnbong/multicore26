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sldIdLst>
    <p:sldId id="256" r:id="rId2"/>
    <p:sldId id="270" r:id="rId3"/>
    <p:sldId id="268" r:id="rId4"/>
    <p:sldId id="269" r:id="rId5"/>
    <p:sldId id="272" r:id="rId6"/>
    <p:sldId id="258" r:id="rId7"/>
    <p:sldId id="259" r:id="rId8"/>
    <p:sldId id="260" r:id="rId9"/>
    <p:sldId id="261" r:id="rId10"/>
    <p:sldId id="271" r:id="rId11"/>
    <p:sldId id="263" r:id="rId12"/>
    <p:sldId id="264" r:id="rId13"/>
    <p:sldId id="265" r:id="rId14"/>
  </p:sldIdLst>
  <p:sldSz cx="9144000" cy="6858000" type="screen4x3"/>
  <p:notesSz cx="7099300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9"/>
    <p:restoredTop sz="94658"/>
  </p:normalViewPr>
  <p:slideViewPr>
    <p:cSldViewPr>
      <p:cViewPr varScale="1">
        <p:scale>
          <a:sx n="120" d="100"/>
          <a:sy n="120" d="100"/>
        </p:scale>
        <p:origin x="16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71C724-E1E4-CFE8-40CB-6DE3A727F92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6CFCDB9-AA7E-3D2C-E072-3B2DEB359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0813EFB6-8A59-0FDE-9355-DB29B39A7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D9B7623-17AE-57CD-21B0-CA5D44B4D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C3699CD-52EE-7FE5-5184-193A9BE31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E8F3F7D8-D878-95EB-3147-25B5D4553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A7332FB9-870D-CDA7-BF47-FC445D645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713E1B06-96DF-9715-A0A0-10306B664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1FD43A55-8FA3-5FC4-0C56-A12E649BD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D40CAE80-34F1-A0F9-B8BF-5AE65A8B1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91E23B3C-74DB-73E2-0DE0-23909B4AAF4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B8C74399-3813-5A30-5744-135E71394C4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lang="ko-KR" altLang="ko-KR" sz="24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475D8700-FB14-D724-7691-712BC1DEC36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492776C4-8313-49A4-6D94-52D1C83A1AF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B4D6D3CD-9899-1408-B569-0B947B70129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03F6DA3C-8413-5B32-A40F-2B36BE96FF2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32C8A588-3A95-F392-DAD5-51DF54438D3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D0437E44-4D96-2A49-A54D-797F37CCCCD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172055A6-D151-AC14-175C-D4986F7D6E0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A5CF9C5B-891C-21B7-2B52-0B1A6CA3710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C7659C08-A035-D8F4-4329-8381D4A5D89F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C6A9E91-FF3C-7CB4-44F3-7DD844F8463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5AEC7F04-351B-F328-63F9-8BDE29E2E5F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22A13C90-5836-BFFF-BD63-629BC216C05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7D1D5E29-A041-7E42-0161-AC407747142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CB2D7629-168D-B12A-7B32-89A8F2261DE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CE2285A0-C110-99BB-DD0B-4C9F21E46D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386F6D74-D3F3-5325-D63C-31EE26E1EB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CAA9C-66DB-1F44-85D8-D429A712A2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0484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7AE9614-B78F-F4ED-891C-5E47ABD881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F5190147-63BE-8BAB-3E99-8CBB28073E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D8327CD-BDF4-C68F-F970-721110D43F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AEF44-F365-5140-8428-C8BC2866B1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243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1A58AE4-BC76-86F2-7FA3-6651F4A124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2A0C388D-70B4-8AF0-73B9-C94A8C7C72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ED2472B-862F-9937-E7B0-A56FAAB163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5EFA2-7376-F84F-A328-DFEB395C1E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6407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66EBE1E-9B2F-0A60-CE38-3FF6D08DC8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A54EB65-35E9-0086-D431-2FE943CA62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7AA733E9-EBE7-61A7-D2E9-90DDA1099D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01931D-0813-884B-AA80-5F07CFBC6A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935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73A659E0-1983-79F3-6B58-22F42316ED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0730A8A5-D102-E649-0A8F-DC5E8D9E4F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09DDB439-C2C6-03AD-63F3-49803EFC0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8CB32C-0EBB-BB4E-A947-C766688BEA6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12DA376E-5AE8-2C85-DD1D-6A35D3B69C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3351DEF4-AC56-9A6E-EBD2-B9DC7EBCFD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6EFFF01-9D30-220C-F652-18CE49722F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E6792-54FE-8042-A397-FF2C39354F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839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BC946799-1431-63ED-B23B-DF917B1ED6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051948A7-E5B6-0465-9A2A-3C81AE9544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D25884DF-071B-E3A6-E843-1051E5D377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A3525-349B-204E-AA13-1114CA7429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103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B1445CBF-846A-66D9-0963-8ABA52D643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FD41CB03-5615-FB16-E835-24A8041DA2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F030877-5F29-DF3D-8369-6046A2E84B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DFBB8A-5676-2D45-9547-5C24B51FAD2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51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9D10E4BF-329E-BB89-A0A4-B2429C52A2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1006BAE2-364E-07A3-8E7A-D82A771B12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3518A638-0A6B-4168-C771-C0C696BE54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1F3787-B923-994C-87D6-9F67C772B4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2454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7A5BF654-5A31-1726-195F-1BF08931E7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DCA194CA-F7FD-7350-B56C-3C8F417793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ED8EFA17-F6FF-2846-70DA-299885E004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E161B-C041-D740-A39F-A3D7EDF75A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784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E81D13B-28BB-BF04-7AE5-4D9B772802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04CEF9C-B58F-5667-AB9F-6924D47A82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10CAA38-CE41-6B23-8E56-D2A2946B65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C11D86-33C5-8F42-8033-F62C7FCCE5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3340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5893BF27-04FE-0FFB-32C0-8730468F3A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8253FE5-E965-B5A8-9131-ED256646F8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031929D2-30D5-E6C9-CA46-BFAE46771F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53B05-EF0B-D144-8E72-2CA533EA075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178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A6BE44D-C317-F01D-D8DE-413CC9563CF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B3DFBECE-02AC-000E-C421-0053D5A9F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E5D1C7E2-C168-3335-0BFF-9A2258F70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F5F22E0C-62F9-A458-7085-F0F83303B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2EDF40F5-BC5D-73C9-54DA-8391047CD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7EFF904C-B13B-1989-0D51-27BA64A6B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3D3C2702-13FD-DECB-1936-F5900B6EC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E8349A28-2592-6E58-00E7-980C46853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3B2F7781-558F-B6E0-01DA-3D65CB5A8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B74FD771-E388-BB2C-34E5-6F49BAC39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5A2A633E-BE2F-7B16-4C23-7816E4EA988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4EBA53E3-9274-CF16-69E5-9095C576016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defRPr/>
              </a:pPr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95400252-FC61-0854-B97F-7F9A052340A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FDA8DFBD-A583-E871-67DD-6B503001186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5C758E6D-2FAA-9B44-9362-168CC22FC9E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38F1705E-C2DC-F270-199C-14D64BD5406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27DFF2F6-6C9B-C750-A156-E23BCD9EA32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FABDBFC3-EF4F-0524-ABA7-8E1CFDE739E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451951AA-135C-47EF-056D-7BC324DEF58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85656512-79B8-033E-39F2-1D9B6CDE943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78719E52-1394-CF59-4741-BD937AC2928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F11BBEA8-A04E-53BF-ACF8-D72A5DED896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80C2C2DB-1171-78D6-754A-4185406C425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86D581CB-69A4-97BD-509E-70131965B21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7D17CD8B-CE7D-61FF-B9E0-9AFEBC5FF3C4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4CA8B6F8-D786-0FBA-5758-A6830DEE3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71142369-B7DB-094D-D384-04C6A24E8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C960FD0C-B589-DA01-3362-E52A4E2C2A5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BB172DCD-5154-7935-DCD7-85809531B6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5A745918-3708-5190-654A-BDE70B54BA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pPr>
              <a:defRPr/>
            </a:pPr>
            <a:fld id="{5D9B9362-B687-0544-B748-04D2068342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09DC9085-73DB-C2A1-B6FF-AA9BCD094A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4400" b="1"/>
              <a:t>Multicore Computing</a:t>
            </a:r>
            <a:br>
              <a:rPr lang="en-US" altLang="ko-KR" sz="3600" b="1"/>
            </a:br>
            <a:r>
              <a:rPr lang="en-US" altLang="ko-KR" sz="2000" b="1"/>
              <a:t>Lecture 1 : Course Overview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4CC5D6DB-210B-CAAC-AD5F-79B9734D2C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b="1"/>
              <a:t>Bong-Soo Sohn</a:t>
            </a:r>
          </a:p>
          <a:p>
            <a:pPr eaLnBrk="1" hangingPunct="1">
              <a:lnSpc>
                <a:spcPct val="80000"/>
              </a:lnSpc>
            </a:pPr>
            <a:endParaRPr lang="en-US" altLang="ko-KR" sz="2000" b="1"/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Associate Professor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School of Computer Science and Engineering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Chung-Ang University</a:t>
            </a:r>
          </a:p>
        </p:txBody>
      </p:sp>
      <p:pic>
        <p:nvPicPr>
          <p:cNvPr id="14339" name="그림 1">
            <a:extLst>
              <a:ext uri="{FF2B5EF4-FFF2-40B4-BE49-F238E27FC236}">
                <a16:creationId xmlns:a16="http://schemas.microsoft.com/office/drawing/2014/main" id="{24C436DC-18E0-A186-581A-D6B45346B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3435350"/>
            <a:ext cx="914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제목 1">
            <a:extLst>
              <a:ext uri="{FF2B5EF4-FFF2-40B4-BE49-F238E27FC236}">
                <a16:creationId xmlns:a16="http://schemas.microsoft.com/office/drawing/2014/main" id="{123A1C65-8635-59F4-D09F-DCC1904CBB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Course Description</a:t>
            </a:r>
            <a:endParaRPr lang="ko-KR" altLang="en-US" b="1" u="sng"/>
          </a:p>
        </p:txBody>
      </p:sp>
      <p:sp>
        <p:nvSpPr>
          <p:cNvPr id="15362" name="내용 개체 틀 2">
            <a:extLst>
              <a:ext uri="{FF2B5EF4-FFF2-40B4-BE49-F238E27FC236}">
                <a16:creationId xmlns:a16="http://schemas.microsoft.com/office/drawing/2014/main" id="{B4B2917E-5FE2-95C3-49B6-5092E9875C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Almost all recent PCs and smart phones/tablets are equipped with multicore CPUs</a:t>
            </a:r>
          </a:p>
          <a:p>
            <a:endParaRPr lang="en-US" altLang="ko-KR" sz="2400" dirty="0"/>
          </a:p>
          <a:p>
            <a:r>
              <a:rPr lang="en-US" altLang="ko-KR" sz="2400" dirty="0"/>
              <a:t>Manycore GPUs are often adopted.</a:t>
            </a:r>
          </a:p>
          <a:p>
            <a:pPr lvl="1"/>
            <a:r>
              <a:rPr lang="en-US" altLang="ko-KR" sz="2000" dirty="0"/>
              <a:t>Originally designed for 3D games</a:t>
            </a:r>
          </a:p>
          <a:p>
            <a:pPr lvl="1"/>
            <a:r>
              <a:rPr lang="en-US" altLang="ko-KR" sz="2000" dirty="0"/>
              <a:t>Can be applied to general purpose (computing-intensive) applications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Current trends in CPU/GPU technology indicate that the number of cores is expected to increase, rather than </a:t>
            </a:r>
            <a:r>
              <a:rPr lang="en-US" altLang="ko-KR" sz="2400"/>
              <a:t>clock speed.</a:t>
            </a:r>
            <a:endParaRPr lang="en-US" altLang="ko-KR" sz="2000" dirty="0"/>
          </a:p>
          <a:p>
            <a:pPr lvl="1"/>
            <a:endParaRPr lang="ko-KR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제목 1">
            <a:extLst>
              <a:ext uri="{FF2B5EF4-FFF2-40B4-BE49-F238E27FC236}">
                <a16:creationId xmlns:a16="http://schemas.microsoft.com/office/drawing/2014/main" id="{188E776D-427F-93E8-9BFC-3C595DCE0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Course Description</a:t>
            </a:r>
            <a:endParaRPr lang="ko-KR" altLang="en-US" b="1" u="sng"/>
          </a:p>
        </p:txBody>
      </p:sp>
      <p:sp>
        <p:nvSpPr>
          <p:cNvPr id="16386" name="내용 개체 틀 2">
            <a:extLst>
              <a:ext uri="{FF2B5EF4-FFF2-40B4-BE49-F238E27FC236}">
                <a16:creationId xmlns:a16="http://schemas.microsoft.com/office/drawing/2014/main" id="{87A1025F-D29F-15FB-AD7A-6D9D243757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400" dirty="0"/>
              <a:t>parallel processing techniques utilizing multicore/manycore hardware become increasingly important for performance enhancement</a:t>
            </a: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en-US" altLang="ko-KR" sz="2400" dirty="0"/>
              <a:t>In this course, we will mainly focus on parallel programming principles and practice that utilize multicore/manycore computing system </a:t>
            </a:r>
          </a:p>
          <a:p>
            <a:pPr>
              <a:defRPr/>
            </a:pPr>
            <a:endParaRPr lang="en-US" altLang="ko-KR" sz="2400" dirty="0"/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24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제목 1">
            <a:extLst>
              <a:ext uri="{FF2B5EF4-FFF2-40B4-BE49-F238E27FC236}">
                <a16:creationId xmlns:a16="http://schemas.microsoft.com/office/drawing/2014/main" id="{04A56C35-0B0E-CE20-3ABC-30CEBC898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Course Objectives</a:t>
            </a:r>
            <a:endParaRPr lang="ko-KR" altLang="en-US" b="1" u="sng"/>
          </a:p>
        </p:txBody>
      </p:sp>
      <p:sp>
        <p:nvSpPr>
          <p:cNvPr id="17410" name="내용 개체 틀 2">
            <a:extLst>
              <a:ext uri="{FF2B5EF4-FFF2-40B4-BE49-F238E27FC236}">
                <a16:creationId xmlns:a16="http://schemas.microsoft.com/office/drawing/2014/main" id="{18BF23AA-5832-3A4F-D224-5B8AA40A7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23988"/>
            <a:ext cx="8507413" cy="4525962"/>
          </a:xfrm>
        </p:spPr>
        <p:txBody>
          <a:bodyPr/>
          <a:lstStyle/>
          <a:p>
            <a:r>
              <a:rPr lang="en-US" altLang="ko-KR" sz="2400" dirty="0"/>
              <a:t>Understand multicore computing hardware/architecture</a:t>
            </a:r>
          </a:p>
          <a:p>
            <a:endParaRPr lang="en-US" altLang="ko-KR" sz="2400" dirty="0"/>
          </a:p>
          <a:p>
            <a:r>
              <a:rPr lang="en-US" altLang="ko-KR" sz="2400" dirty="0"/>
              <a:t>Understand </a:t>
            </a:r>
            <a:r>
              <a:rPr lang="en-US" altLang="ko-KR" sz="2400" b="1" u="sng" dirty="0"/>
              <a:t>principles of parallel programming</a:t>
            </a:r>
          </a:p>
          <a:p>
            <a:endParaRPr lang="en-US" altLang="ko-KR" sz="2400" dirty="0"/>
          </a:p>
          <a:p>
            <a:r>
              <a:rPr lang="en-US" altLang="ko-KR" sz="2400" dirty="0"/>
              <a:t>Practice </a:t>
            </a:r>
            <a:r>
              <a:rPr lang="en-US" altLang="ko-KR" sz="2400" b="1" u="sng" dirty="0"/>
              <a:t>actual parallel programming </a:t>
            </a:r>
            <a:r>
              <a:rPr lang="en-US" altLang="ko-KR" sz="2400" dirty="0"/>
              <a:t>on real multicore/manycore computing systems with various libraries</a:t>
            </a:r>
          </a:p>
          <a:p>
            <a:pPr lvl="1"/>
            <a:r>
              <a:rPr lang="en-US" altLang="ko-KR" sz="1800" dirty="0"/>
              <a:t>JAVA multithreaded programming, C++ threads, </a:t>
            </a:r>
          </a:p>
          <a:p>
            <a:pPr lvl="1"/>
            <a:r>
              <a:rPr lang="en-US" altLang="ko-KR" sz="1800" dirty="0"/>
              <a:t>OpenMP, CUDA, thrust</a:t>
            </a:r>
          </a:p>
          <a:p>
            <a:pPr lvl="1"/>
            <a:endParaRPr lang="en-US" altLang="ko-KR" sz="2400" dirty="0"/>
          </a:p>
          <a:p>
            <a:r>
              <a:rPr lang="en-US" altLang="ko-KR" sz="2400" dirty="0"/>
              <a:t>Conduct projects on multicore computing</a:t>
            </a:r>
          </a:p>
          <a:p>
            <a:endParaRPr lang="en-US" altLang="ko-KR" sz="2400" dirty="0"/>
          </a:p>
          <a:p>
            <a:endParaRPr lang="ko-KR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1">
            <a:extLst>
              <a:ext uri="{FF2B5EF4-FFF2-40B4-BE49-F238E27FC236}">
                <a16:creationId xmlns:a16="http://schemas.microsoft.com/office/drawing/2014/main" id="{EF8E91AB-5E58-1E70-A577-5B5D6F08F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Course Level</a:t>
            </a:r>
            <a:endParaRPr lang="ko-KR" altLang="en-US" b="1" u="sng"/>
          </a:p>
        </p:txBody>
      </p:sp>
      <p:sp>
        <p:nvSpPr>
          <p:cNvPr id="18434" name="내용 개체 틀 2">
            <a:extLst>
              <a:ext uri="{FF2B5EF4-FFF2-40B4-BE49-F238E27FC236}">
                <a16:creationId xmlns:a16="http://schemas.microsoft.com/office/drawing/2014/main" id="{181F30DC-0ED3-A4B4-5C89-59CCA2D616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4th year course</a:t>
            </a:r>
          </a:p>
          <a:p>
            <a:r>
              <a:rPr lang="en-US" altLang="ko-KR"/>
              <a:t>breadth rather than depth</a:t>
            </a:r>
          </a:p>
          <a:p>
            <a:r>
              <a:rPr lang="en-US" altLang="ko-KR"/>
              <a:t>programming-based</a:t>
            </a:r>
          </a:p>
          <a:p>
            <a:r>
              <a:rPr lang="en-US" altLang="ko-KR"/>
              <a:t>Experience of multithreaded programming (multicore/manycore)</a:t>
            </a: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2042B20-61AE-6701-CE14-72043802C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Reference Books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2AEE431F-465E-7D9B-DD7D-1D768B586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0335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ko-KR" sz="2000"/>
              <a:t>No Required Textbook. </a:t>
            </a:r>
          </a:p>
          <a:p>
            <a:pPr eaLnBrk="1" hangingPunct="1"/>
            <a:endParaRPr lang="en-US" altLang="ko-KR" sz="2000"/>
          </a:p>
          <a:p>
            <a:pPr eaLnBrk="1" hangingPunct="1"/>
            <a:r>
              <a:rPr lang="en-US" altLang="ko-KR" sz="2000"/>
              <a:t>Reference Books (No need to buy)</a:t>
            </a:r>
          </a:p>
          <a:p>
            <a:pPr lvl="1" eaLnBrk="1" hangingPunct="1"/>
            <a:r>
              <a:rPr lang="en-US" altLang="ko-KR" sz="1600" i="1"/>
              <a:t>“An Introduction to Parallel Programming</a:t>
            </a:r>
            <a:r>
              <a:rPr lang="en-US" altLang="ko-KR" sz="1600"/>
              <a:t>”, Peter S. Pacheco</a:t>
            </a:r>
          </a:p>
          <a:p>
            <a:pPr lvl="1" eaLnBrk="1" hangingPunct="1"/>
            <a:r>
              <a:rPr lang="en-US" altLang="ko-KR" sz="1600" i="1"/>
              <a:t>“Programming Massively Parallel Processors: A Hands-on Approach”, </a:t>
            </a:r>
            <a:r>
              <a:rPr lang="en-US" altLang="ko-KR" sz="1600"/>
              <a:t>David Kirk, Wen-mei Hwu</a:t>
            </a:r>
            <a:endParaRPr lang="en-US" altLang="ko-KR" sz="1600" i="1"/>
          </a:p>
          <a:p>
            <a:pPr lvl="1" eaLnBrk="1" hangingPunct="1"/>
            <a:r>
              <a:rPr lang="en-US" altLang="ko-KR" sz="1600" i="1"/>
              <a:t>“The Art of Multiprocessor Programming”, </a:t>
            </a:r>
            <a:r>
              <a:rPr lang="en-US" altLang="ko-KR" sz="1600"/>
              <a:t>Maurice Herlihy, Nir Shavit</a:t>
            </a:r>
          </a:p>
          <a:p>
            <a:pPr lvl="1" eaLnBrk="1" hangingPunct="1"/>
            <a:r>
              <a:rPr lang="en-US" altLang="ko-KR" sz="1600"/>
              <a:t>“C++ Concurrency in Action”, Anthony Williams</a:t>
            </a:r>
          </a:p>
          <a:p>
            <a:pPr lvl="1" eaLnBrk="1" hangingPunct="1"/>
            <a:endParaRPr lang="en-US" altLang="ko-KR" sz="1600"/>
          </a:p>
          <a:p>
            <a:pPr lvl="1" eaLnBrk="1" hangingPunct="1"/>
            <a:endParaRPr lang="en-US" altLang="ko-KR" sz="1600"/>
          </a:p>
          <a:p>
            <a:pPr lvl="1" eaLnBrk="1" hangingPunct="1"/>
            <a:endParaRPr lang="en-US" altLang="ko-KR" sz="1600"/>
          </a:p>
          <a:p>
            <a:pPr lvl="1" eaLnBrk="1" hangingPunct="1"/>
            <a:endParaRPr lang="en-US" altLang="ko-KR" sz="1600"/>
          </a:p>
          <a:p>
            <a:pPr lvl="1" eaLnBrk="1" hangingPunct="1"/>
            <a:endParaRPr lang="en-US" altLang="ko-KR" sz="1600"/>
          </a:p>
          <a:p>
            <a:pPr lvl="1" eaLnBrk="1" hangingPunct="1"/>
            <a:endParaRPr lang="en-US" altLang="ko-KR" sz="1600"/>
          </a:p>
          <a:p>
            <a:pPr eaLnBrk="1" hangingPunct="1"/>
            <a:r>
              <a:rPr lang="en-US" altLang="ko-KR" sz="2000"/>
              <a:t>Some of online materials will be used.</a:t>
            </a:r>
          </a:p>
        </p:txBody>
      </p:sp>
      <p:pic>
        <p:nvPicPr>
          <p:cNvPr id="19459" name="그림 1">
            <a:extLst>
              <a:ext uri="{FF2B5EF4-FFF2-40B4-BE49-F238E27FC236}">
                <a16:creationId xmlns:a16="http://schemas.microsoft.com/office/drawing/2014/main" id="{E0E4DC9D-CED0-8F29-E753-C1A86E341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75" y="4005263"/>
            <a:ext cx="11620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그림 2">
            <a:extLst>
              <a:ext uri="{FF2B5EF4-FFF2-40B4-BE49-F238E27FC236}">
                <a16:creationId xmlns:a16="http://schemas.microsoft.com/office/drawing/2014/main" id="{18661FEB-0B32-8E63-3E9B-527BADC0A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4017963"/>
            <a:ext cx="1152525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그림 3">
            <a:extLst>
              <a:ext uri="{FF2B5EF4-FFF2-40B4-BE49-F238E27FC236}">
                <a16:creationId xmlns:a16="http://schemas.microsoft.com/office/drawing/2014/main" id="{F6C5427B-6A36-3191-77A0-E29FC39DC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4017963"/>
            <a:ext cx="1158875" cy="142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그림 4">
            <a:extLst>
              <a:ext uri="{FF2B5EF4-FFF2-40B4-BE49-F238E27FC236}">
                <a16:creationId xmlns:a16="http://schemas.microsoft.com/office/drawing/2014/main" id="{9BFEE573-E609-262F-44C2-5854D1A6F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88" y="4021138"/>
            <a:ext cx="1138237" cy="14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260FBE6-C37D-F678-E8C4-D00A55F6E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Evaluation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FDE010E5-B526-6CB5-FF12-9BA19B01D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Midterm Exam: 35%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Final Exam : 35%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Projects : 25%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Class Participation and Attendance : 5%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The Evaluation method and weights can be changed depending on circumstances (e.g. COVID-19).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You may get F grade if you miss </a:t>
            </a:r>
            <a:r>
              <a:rPr lang="en-US" altLang="ko-KR" sz="2100" dirty="0">
                <a:latin typeface="Arial" panose="020B0604020202020204" pitchFamily="34" charset="0"/>
              </a:rPr>
              <a:t>¼</a:t>
            </a:r>
            <a:r>
              <a:rPr lang="en-US" altLang="ko-KR" sz="2100" dirty="0"/>
              <a:t> (or more) of the whole classes</a:t>
            </a:r>
            <a:r>
              <a:rPr lang="ko-KR" altLang="en-US" sz="2100" dirty="0"/>
              <a:t> </a:t>
            </a:r>
            <a:r>
              <a:rPr lang="en-US" altLang="ko-KR" sz="2100" dirty="0"/>
              <a:t>(university rule)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6FC14BB1-F7EE-65A6-F83E-4F1B1AA54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Instructor Information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FA27540A-2F46-6571-BB5D-B1A61DC16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000" dirty="0"/>
              <a:t>Name : Bong-Soo Sohn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000" dirty="0"/>
              <a:t>Office</a:t>
            </a:r>
            <a:r>
              <a:rPr lang="ko-KR" altLang="en-US" sz="2000" dirty="0"/>
              <a:t> </a:t>
            </a:r>
            <a:r>
              <a:rPr lang="en-US" altLang="ko-KR" sz="2000" dirty="0"/>
              <a:t>: 310-738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000" dirty="0"/>
              <a:t>Email : </a:t>
            </a:r>
            <a:r>
              <a:rPr lang="en-US" altLang="ko-KR" sz="2000" dirty="0" err="1"/>
              <a:t>bongbong@cau.ac.kr</a:t>
            </a:r>
            <a:r>
              <a:rPr lang="en-US" altLang="ko-KR" sz="2000" dirty="0"/>
              <a:t>     (</a:t>
            </a:r>
            <a:r>
              <a:rPr lang="en-US" altLang="ko-KR" sz="2000" dirty="0">
                <a:sym typeface="Wingdings" pitchFamily="2" charset="2"/>
              </a:rPr>
              <a:t> </a:t>
            </a:r>
            <a:r>
              <a:rPr lang="en-US" altLang="ko-KR" sz="2000" dirty="0"/>
              <a:t>the best way to reach me)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000" dirty="0"/>
              <a:t>Tel : 820-5843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000" dirty="0"/>
              <a:t>Office hour : Monday 4pm-5pm, or individual appointment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000" dirty="0"/>
              <a:t>Please feel free to contact me for any of class issues.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600" dirty="0"/>
          </a:p>
          <a:p>
            <a:pPr lvl="1" eaLnBrk="1" hangingPunct="1">
              <a:lnSpc>
                <a:spcPct val="90000"/>
              </a:lnSpc>
            </a:pPr>
            <a:endParaRPr lang="en-US" altLang="ko-KR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19AE12E6-9B3E-1867-17A6-BEF75B12D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Announcement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92F3FA17-0487-EF82-E27A-16C2E5781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600" b="1" dirty="0"/>
              <a:t>Class Website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000" b="1" dirty="0">
                <a:solidFill>
                  <a:srgbClr val="FF0000"/>
                </a:solidFill>
              </a:rPr>
              <a:t>https://</a:t>
            </a:r>
            <a:r>
              <a:rPr lang="en-US" altLang="ko-KR" sz="2000" b="1" dirty="0" err="1">
                <a:solidFill>
                  <a:srgbClr val="FF0000"/>
                </a:solidFill>
              </a:rPr>
              <a:t>sohnbong.github.io</a:t>
            </a:r>
            <a:r>
              <a:rPr lang="en-US" altLang="ko-KR" sz="2000" b="1" dirty="0">
                <a:solidFill>
                  <a:srgbClr val="FF0000"/>
                </a:solidFill>
              </a:rPr>
              <a:t>/multicore26/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000" dirty="0"/>
              <a:t>Class information such as lecture notes is accessible through this website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000" dirty="0"/>
              <a:t>We will also use </a:t>
            </a:r>
            <a:r>
              <a:rPr lang="en-US" altLang="ko-KR" sz="2000" b="1" dirty="0" err="1">
                <a:solidFill>
                  <a:srgbClr val="FF0000"/>
                </a:solidFill>
              </a:rPr>
              <a:t>eClass</a:t>
            </a:r>
            <a:r>
              <a:rPr lang="en-US" altLang="ko-KR" sz="2000" b="1" dirty="0">
                <a:solidFill>
                  <a:srgbClr val="FF0000"/>
                </a:solidFill>
              </a:rPr>
              <a:t> (URL: eclass3.cau.ac.kr) </a:t>
            </a:r>
            <a:r>
              <a:rPr lang="en-US" altLang="ko-KR" sz="2000" dirty="0"/>
              <a:t>for the submission of homework and project results.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/>
          </a:p>
          <a:p>
            <a:pPr eaLnBrk="1" hangingPunct="1">
              <a:lnSpc>
                <a:spcPct val="80000"/>
              </a:lnSpc>
            </a:pPr>
            <a:r>
              <a:rPr lang="en-US" altLang="ko-KR" sz="2600" b="1" dirty="0"/>
              <a:t>Programming Assignments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000" dirty="0"/>
              <a:t>I encourage you to study and discuss together for doing programming assignments.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000" dirty="0"/>
              <a:t>However, you must do programming YOURSELF.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000" dirty="0"/>
              <a:t>You must not share any of source code with other students.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800" dirty="0"/>
              <a:t>Academic dishonesty (e.g. cheating, plagiarism, and etc.) is seriously prohibited. Heavy penalty may be imposed for that.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>
            <a:extLst>
              <a:ext uri="{FF2B5EF4-FFF2-40B4-BE49-F238E27FC236}">
                <a16:creationId xmlns:a16="http://schemas.microsoft.com/office/drawing/2014/main" id="{5C9BC56C-9587-4842-198B-08DE581915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Course Format</a:t>
            </a:r>
            <a:endParaRPr lang="ko-KR" altLang="en-US" b="1" u="sng"/>
          </a:p>
        </p:txBody>
      </p:sp>
      <p:sp>
        <p:nvSpPr>
          <p:cNvPr id="23554" name="내용 개체 틀 2">
            <a:extLst>
              <a:ext uri="{FF2B5EF4-FFF2-40B4-BE49-F238E27FC236}">
                <a16:creationId xmlns:a16="http://schemas.microsoft.com/office/drawing/2014/main" id="{4EE7E270-FC63-21CB-AA74-7A4596E345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91264" cy="4525963"/>
          </a:xfrm>
        </p:spPr>
        <p:txBody>
          <a:bodyPr/>
          <a:lstStyle/>
          <a:p>
            <a:r>
              <a:rPr lang="en-US" altLang="ko-KR" dirty="0"/>
              <a:t>Lecture </a:t>
            </a:r>
          </a:p>
          <a:p>
            <a:pPr lvl="1"/>
            <a:r>
              <a:rPr lang="en-US" altLang="ko-KR" sz="2400" dirty="0"/>
              <a:t>Mostly offline lecture format (in classroom)</a:t>
            </a:r>
          </a:p>
          <a:p>
            <a:pPr lvl="2"/>
            <a:r>
              <a:rPr lang="en-US" altLang="ko-KR" sz="2100" dirty="0"/>
              <a:t>It may be possible that some of offline lectures can be replaced by online video lectures. </a:t>
            </a:r>
          </a:p>
          <a:p>
            <a:pPr lvl="1"/>
            <a:r>
              <a:rPr lang="en-US" altLang="ko-KR" sz="2400" dirty="0" err="1"/>
              <a:t>powerpoint</a:t>
            </a:r>
            <a:r>
              <a:rPr lang="en-US" altLang="ko-KR" sz="2400" dirty="0"/>
              <a:t> slides</a:t>
            </a:r>
          </a:p>
          <a:p>
            <a:pPr lvl="1"/>
            <a:r>
              <a:rPr lang="en-US" altLang="ko-KR" sz="2400" dirty="0"/>
              <a:t>online materials including example source codes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Programming Projects </a:t>
            </a:r>
          </a:p>
          <a:p>
            <a:pPr lvl="1"/>
            <a:r>
              <a:rPr lang="en-US" altLang="ko-KR" sz="2400" dirty="0"/>
              <a:t>parallel programming (JAVA, C++, OpenMP, CUDA)</a:t>
            </a:r>
            <a:endParaRPr lang="en-US" altLang="ko-KR" sz="2800" dirty="0"/>
          </a:p>
          <a:p>
            <a:endParaRPr lang="en-US" altLang="ko-KR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AC9A514B-0E97-68F3-2B49-F7E9243DC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Schedule</a:t>
            </a:r>
          </a:p>
        </p:txBody>
      </p:sp>
      <p:graphicFrame>
        <p:nvGraphicFramePr>
          <p:cNvPr id="18469" name="Group 37">
            <a:extLst>
              <a:ext uri="{FF2B5EF4-FFF2-40B4-BE49-F238E27FC236}">
                <a16:creationId xmlns:a16="http://schemas.microsoft.com/office/drawing/2014/main" id="{0EB1BDEE-CECB-D2DF-503A-1DFC9CDB22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21311140"/>
              </p:ext>
            </p:extLst>
          </p:nvPr>
        </p:nvGraphicFramePr>
        <p:xfrm>
          <a:off x="1042988" y="1341438"/>
          <a:ext cx="7200900" cy="4497389"/>
        </p:xfrm>
        <a:graphic>
          <a:graphicData uri="http://schemas.openxmlformats.org/drawingml/2006/table">
            <a:tbl>
              <a:tblPr/>
              <a:tblGrid>
                <a:gridCol w="64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5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Course Introduction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Introduction to Multicore Computing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Parallel Programming Models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Performance of Parallel Programs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JAVA multithreaded programming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JAVA multithreaded programming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JAVA multithreaded programming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Midterm Exam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7BC1DBE0-9037-30EA-8772-9987777E8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Schedule</a:t>
            </a:r>
          </a:p>
        </p:txBody>
      </p:sp>
      <p:graphicFrame>
        <p:nvGraphicFramePr>
          <p:cNvPr id="20512" name="Group 32">
            <a:extLst>
              <a:ext uri="{FF2B5EF4-FFF2-40B4-BE49-F238E27FC236}">
                <a16:creationId xmlns:a16="http://schemas.microsoft.com/office/drawing/2014/main" id="{300F0A2C-4F74-1CC1-CDDD-4EA8A86140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9653670"/>
              </p:ext>
            </p:extLst>
          </p:nvPr>
        </p:nvGraphicFramePr>
        <p:xfrm>
          <a:off x="1042988" y="1341438"/>
          <a:ext cx="7489825" cy="4814886"/>
        </p:xfrm>
        <a:graphic>
          <a:graphicData uri="http://schemas.openxmlformats.org/drawingml/2006/table">
            <a:tbl>
              <a:tblPr/>
              <a:tblGrid>
                <a:gridCol w="67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5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682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9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C++ threads, OpenMP programming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852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OpenMP</a:t>
                      </a: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programming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4097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OpenMP, Manycore GPU Architecture and Programming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852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GPGPU : CUDA Parallel Programming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263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13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CUDA Programming, Thrust Programming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263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14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Intro. to Parallel Algorithms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025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15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Intro. to Distributed Algorithms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852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16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Final Exam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7CA7BA33-D92C-82CF-6FD6-3B326A8BF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Remarks</a:t>
            </a:r>
            <a:endParaRPr lang="ko-KR" altLang="en-US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23B80055-6AB8-9F8C-B3E8-D9162C8D9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This course assumes that students have basic knowledge of  C++ and JAVA grammars and programming ability. Knowledge of data structures is also required.</a:t>
            </a:r>
          </a:p>
          <a:p>
            <a:endParaRPr lang="en-US" altLang="ko-KR" sz="2000" dirty="0"/>
          </a:p>
          <a:p>
            <a:r>
              <a:rPr lang="en-US" altLang="ko-KR" sz="2000" dirty="0"/>
              <a:t>We will have significant amount of JAVA/C++ programming assignments. If your programming ability is not good enough, it may be difficult to follow the class.</a:t>
            </a:r>
          </a:p>
          <a:p>
            <a:endParaRPr lang="en-US" altLang="ko-KR" sz="2000" dirty="0"/>
          </a:p>
          <a:p>
            <a:r>
              <a:rPr lang="en-US" altLang="ko-KR" sz="2000" dirty="0"/>
              <a:t>Lectures are given in English.</a:t>
            </a:r>
          </a:p>
          <a:p>
            <a:r>
              <a:rPr lang="en-US" altLang="ko-KR" sz="2000" dirty="0"/>
              <a:t>We use English for all written language including exam and homework.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1600" dirty="0"/>
          </a:p>
          <a:p>
            <a:endParaRPr lang="en-US" altLang="ko-KR" sz="1200" dirty="0"/>
          </a:p>
          <a:p>
            <a:pPr lvl="1"/>
            <a:endParaRPr lang="en-US" altLang="ko-KR" sz="1600" dirty="0"/>
          </a:p>
          <a:p>
            <a:pPr lvl="1"/>
            <a:endParaRPr lang="en-US" altLang="ko-KR" sz="1800" dirty="0"/>
          </a:p>
          <a:p>
            <a:endParaRPr lang="en-US" altLang="ko-KR" sz="2000" dirty="0"/>
          </a:p>
          <a:p>
            <a:pPr>
              <a:buFont typeface="Wingdings" pitchFamily="2" charset="2"/>
              <a:buNone/>
            </a:pPr>
            <a:endParaRPr lang="en-US" altLang="ko-KR" sz="2000" dirty="0"/>
          </a:p>
          <a:p>
            <a:pPr>
              <a:buFont typeface="Wingdings" pitchFamily="2" charset="2"/>
              <a:buNone/>
            </a:pPr>
            <a:endParaRPr lang="en-US" altLang="ko-KR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899</TotalTime>
  <Words>676</Words>
  <Application>Microsoft Macintosh PowerPoint</Application>
  <PresentationFormat>화면 슬라이드 쇼(4:3)</PresentationFormat>
  <Paragraphs>140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굴림</vt:lpstr>
      <vt:lpstr>Arial</vt:lpstr>
      <vt:lpstr>Wingdings</vt:lpstr>
      <vt:lpstr>네모의 미</vt:lpstr>
      <vt:lpstr>Multicore Computing Lecture 1 : Course Overview</vt:lpstr>
      <vt:lpstr>Course Description</vt:lpstr>
      <vt:lpstr>Course Description</vt:lpstr>
      <vt:lpstr>Course Objectives</vt:lpstr>
      <vt:lpstr>Course Level</vt:lpstr>
      <vt:lpstr>Reference Books</vt:lpstr>
      <vt:lpstr>Evaluation</vt:lpstr>
      <vt:lpstr>Instructor Information</vt:lpstr>
      <vt:lpstr>Announcement</vt:lpstr>
      <vt:lpstr>Course Format</vt:lpstr>
      <vt:lpstr>Schedule</vt:lpstr>
      <vt:lpstr>Schedule</vt:lpstr>
      <vt:lpstr>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100</cp:revision>
  <dcterms:created xsi:type="dcterms:W3CDTF">2008-03-06T00:32:01Z</dcterms:created>
  <dcterms:modified xsi:type="dcterms:W3CDTF">2026-03-03T07:28:02Z</dcterms:modified>
</cp:coreProperties>
</file>