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40"/>
  </p:notesMasterIdLst>
  <p:sldIdLst>
    <p:sldId id="256" r:id="rId2"/>
    <p:sldId id="289" r:id="rId3"/>
    <p:sldId id="317" r:id="rId4"/>
    <p:sldId id="318" r:id="rId5"/>
    <p:sldId id="319" r:id="rId6"/>
    <p:sldId id="320" r:id="rId7"/>
    <p:sldId id="293" r:id="rId8"/>
    <p:sldId id="291" r:id="rId9"/>
    <p:sldId id="313" r:id="rId10"/>
    <p:sldId id="314" r:id="rId11"/>
    <p:sldId id="312" r:id="rId12"/>
    <p:sldId id="296" r:id="rId13"/>
    <p:sldId id="309" r:id="rId14"/>
    <p:sldId id="310" r:id="rId15"/>
    <p:sldId id="321" r:id="rId16"/>
    <p:sldId id="311" r:id="rId17"/>
    <p:sldId id="270" r:id="rId18"/>
    <p:sldId id="272" r:id="rId19"/>
    <p:sldId id="273" r:id="rId20"/>
    <p:sldId id="297" r:id="rId21"/>
    <p:sldId id="298" r:id="rId22"/>
    <p:sldId id="300" r:id="rId23"/>
    <p:sldId id="315" r:id="rId24"/>
    <p:sldId id="316" r:id="rId25"/>
    <p:sldId id="301" r:id="rId26"/>
    <p:sldId id="274" r:id="rId27"/>
    <p:sldId id="275" r:id="rId28"/>
    <p:sldId id="276" r:id="rId29"/>
    <p:sldId id="308" r:id="rId30"/>
    <p:sldId id="279" r:id="rId31"/>
    <p:sldId id="283" r:id="rId32"/>
    <p:sldId id="278" r:id="rId33"/>
    <p:sldId id="299" r:id="rId34"/>
    <p:sldId id="302" r:id="rId35"/>
    <p:sldId id="303" r:id="rId36"/>
    <p:sldId id="305" r:id="rId37"/>
    <p:sldId id="294" r:id="rId38"/>
    <p:sldId id="295" r:id="rId39"/>
  </p:sldIdLst>
  <p:sldSz cx="9144000" cy="6858000" type="screen4x3"/>
  <p:notesSz cx="7099300" cy="102346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9"/>
    <p:restoredTop sz="94694"/>
  </p:normalViewPr>
  <p:slideViewPr>
    <p:cSldViewPr>
      <p:cViewPr varScale="1">
        <p:scale>
          <a:sx n="121" d="100"/>
          <a:sy n="121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8D5589D-C8CF-59EF-B0B4-C631EE36BC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49DD74-6E4E-24BA-8C04-17346B3E433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DB6ABF2-666E-C743-A6A5-246DB22292FE}" type="datetimeFigureOut">
              <a:rPr lang="ko-KR" altLang="en-US"/>
              <a:pPr>
                <a:defRPr/>
              </a:pPr>
              <a:t>2026. 3. 11.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FE7DC19-A013-58E1-ACF5-FF3DFD3E63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16755728-AFE1-3C94-264A-EE89833C1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22BD57-11C5-01B1-C65A-AAB7D72021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665233-8F27-AA81-AEDD-94BCE01BE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9F06443D-0582-E440-BDB4-D12D72C698B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9255410-980E-B816-A183-7352122B3FB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052A04A9-2F22-9E5B-AF16-ABC4F7F6F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8A836A97-5A04-505F-1623-21322EB94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5DBA314F-7FEA-EA8E-EA17-59BE920B5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EF7321AC-FDFD-C272-F6DE-ABB8BB1C0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018FFAC9-58FB-062D-A331-411366937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417DA496-B10F-0733-944A-51189CB71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71F5D0B4-F599-D86C-032D-26DE56F86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417A7F5A-9D9C-7763-CF94-B11FDB75F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2F96E2C7-37FF-D5B7-2DF5-EEC3CF0B5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61F909AB-5958-73F5-5C85-7ABF1F8B0757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9085FC23-D58F-064D-6B05-229FB07591A1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111338EC-6B68-160E-DF4D-5D5E64083769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1AA55031-ABA8-B3E5-5FBE-AB728C5EA4A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62D5D8B4-BE20-277F-CB80-7DC257187B1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52182DE7-E2E5-0C59-6BA1-1F1B5ABBD97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A811064B-40CE-E81B-DFA2-F1786579406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B3E45DEF-83A4-18DD-3819-52617F89381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66DD5692-9463-0818-1496-9FD5394C4AC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2C251B89-2C8C-178A-8EA7-66F55F07073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913E694E-96AB-282A-5025-6D7A31C9120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4C14650A-D722-C458-F26E-98BC359C74F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0032BD2B-97AA-5429-A85F-9034C4F1FA7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C123EB95-CB64-A7D3-58EF-D0C916D8FEA4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C8BE54AE-575E-5D78-AD65-7586B4C5FE36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DDAC67AC-56EC-C514-21DD-8C89ACE3B6D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ECA8968F-B4DA-D529-C09C-F9AAFC2C57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89CD58A4-A24F-51DA-2E31-7EBAC06B44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9EE5DE6-2D33-9E4C-9C55-1AEB4165E9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29449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1356E83E-892D-B9F4-41BC-187A57B3C7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11003195-659B-881B-6009-3CB2F4F6AC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273BB986-3A17-45A5-2CF2-459441B799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37C852-9636-8F47-853D-892F07CA1B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5911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EFB23553-F19E-236C-42CC-C154DB61BD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5B346C63-6263-8015-DAA6-AFFF9AC6B1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86D7D6A7-BC11-899B-0633-53850819AA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AD8AD-17D4-A642-9ABA-3B98AE37CD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52595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E2806BFB-5812-C1BF-15C9-80CE591429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0757438C-E2C0-D937-6D8E-2BF6062088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557A7620-7EC4-DA56-2783-ED32CE5BC1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94E03-A74F-1840-9992-9A7A914D0BA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3334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F2BCD345-B67C-8E11-EBDC-9A938AFCF4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104FED07-FACB-C9D0-CB0A-86FF0EF44B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7909AD59-B3A0-D1C1-E119-7E7E54F549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D09E8-3F5F-8144-8D9A-DA37C0B3D3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600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F78F2619-A96B-646E-2200-BED49A48C3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BB1624A3-4DDC-6DE7-D8E3-7F0F5CDE58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468F1D97-A30B-DF8B-9751-4EF9A05077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F1389-17DD-AD45-8F41-7E46428B47E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558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BCF2102C-5C63-AE64-40F7-CCA6336BC8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BC610438-E012-27EF-EDB6-8712640D5C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6BFCB44B-E4A7-A545-CF58-A2CFBB5405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8FBC2B-78F5-6047-9859-C681AF2CE84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635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52E72117-951F-7976-4BF9-1FECF1B750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AB71FFA9-2D07-2371-58CA-035322029C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076A71C2-0E6C-F3F5-FD7E-36130FE881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397ECC-7926-B544-9852-9C441E7E9EC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814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DA186A8F-46BA-4FC4-F3DE-5EEB2E706E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B4B4EE1A-6D01-F867-2814-12D1294A23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0A64BDED-F616-597F-A368-4547AE83C9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550405-9B5E-4848-A372-C32975BC459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4434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6E7DB186-E38F-7873-441B-62A877642B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F0F9D13C-B101-D5F4-8B3B-24993F9A92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FE701C5C-3092-8D29-DA06-F84A2214B6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61DC10-C386-9842-A021-7751E82F7C0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6440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C6842535-1F07-537D-724B-43E2E16CA0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F87A99F0-6393-1238-639B-C36A7B8E9F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4E11AE3A-6981-FBC6-B08F-9A9B5572E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08C9A9-3D78-9C48-86FD-58664B82F10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0695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D6F65673-0C2F-95E2-16ED-A2B50116EF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5B9F47AF-BB9C-C651-B77C-7952B30641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A27CB2B0-A437-B156-13D1-0657BEC601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52D44-8DA6-0747-9F97-BD4F0137941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117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050BE22A-A25E-1784-0D96-4EB8DA34ED4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32" name="Rectangle 3">
              <a:extLst>
                <a:ext uri="{FF2B5EF4-FFF2-40B4-BE49-F238E27FC236}">
                  <a16:creationId xmlns:a16="http://schemas.microsoft.com/office/drawing/2014/main" id="{D64622A7-0680-D14A-A9BD-ED2A872E3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3" name="Rectangle 4">
              <a:extLst>
                <a:ext uri="{FF2B5EF4-FFF2-40B4-BE49-F238E27FC236}">
                  <a16:creationId xmlns:a16="http://schemas.microsoft.com/office/drawing/2014/main" id="{84C7203A-2C02-E895-ABC4-576692D05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04CFF1B8-189A-F379-E5FF-F0B0270EF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967A7249-1E86-B25B-73E2-BD7ADDE81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6" name="Rectangle 7">
              <a:extLst>
                <a:ext uri="{FF2B5EF4-FFF2-40B4-BE49-F238E27FC236}">
                  <a16:creationId xmlns:a16="http://schemas.microsoft.com/office/drawing/2014/main" id="{269E284A-17F3-2603-FE77-A67FEAE95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7" name="Rectangle 8">
              <a:extLst>
                <a:ext uri="{FF2B5EF4-FFF2-40B4-BE49-F238E27FC236}">
                  <a16:creationId xmlns:a16="http://schemas.microsoft.com/office/drawing/2014/main" id="{41D03FBA-8DE4-3E5F-1833-FA6BB0DE0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AE03A523-8321-C56D-CB23-1C1B91884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39" name="Rectangle 10">
              <a:extLst>
                <a:ext uri="{FF2B5EF4-FFF2-40B4-BE49-F238E27FC236}">
                  <a16:creationId xmlns:a16="http://schemas.microsoft.com/office/drawing/2014/main" id="{7FA12CB0-949E-D5A7-E510-757439450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BB2A2CFE-96BC-E51B-6BA4-8CC62E93E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41" name="Rectangle 12">
              <a:extLst>
                <a:ext uri="{FF2B5EF4-FFF2-40B4-BE49-F238E27FC236}">
                  <a16:creationId xmlns:a16="http://schemas.microsoft.com/office/drawing/2014/main" id="{4CB39278-11DA-7C7E-683C-1E0CB1C9A1C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42" name="Rectangle 13">
              <a:extLst>
                <a:ext uri="{FF2B5EF4-FFF2-40B4-BE49-F238E27FC236}">
                  <a16:creationId xmlns:a16="http://schemas.microsoft.com/office/drawing/2014/main" id="{2255500C-71D9-ECDA-F2A6-BC7D6A3AD10E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43" name="Line 14">
              <a:extLst>
                <a:ext uri="{FF2B5EF4-FFF2-40B4-BE49-F238E27FC236}">
                  <a16:creationId xmlns:a16="http://schemas.microsoft.com/office/drawing/2014/main" id="{89FF3AE5-6E29-812D-AB09-34E8F3E1910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4" name="Line 15">
              <a:extLst>
                <a:ext uri="{FF2B5EF4-FFF2-40B4-BE49-F238E27FC236}">
                  <a16:creationId xmlns:a16="http://schemas.microsoft.com/office/drawing/2014/main" id="{33A8C1CC-14D7-7543-C708-8BCC0736D42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5" name="Line 16">
              <a:extLst>
                <a:ext uri="{FF2B5EF4-FFF2-40B4-BE49-F238E27FC236}">
                  <a16:creationId xmlns:a16="http://schemas.microsoft.com/office/drawing/2014/main" id="{D6E78B51-F80A-24A5-08BC-CC3E257A36A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6" name="Line 17">
              <a:extLst>
                <a:ext uri="{FF2B5EF4-FFF2-40B4-BE49-F238E27FC236}">
                  <a16:creationId xmlns:a16="http://schemas.microsoft.com/office/drawing/2014/main" id="{28EA7EB3-A5B0-28E8-19F3-30337D967F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7" name="Line 18">
              <a:extLst>
                <a:ext uri="{FF2B5EF4-FFF2-40B4-BE49-F238E27FC236}">
                  <a16:creationId xmlns:a16="http://schemas.microsoft.com/office/drawing/2014/main" id="{9513AC1C-BC3C-3FC3-437C-C4D35149834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8" name="Line 19">
              <a:extLst>
                <a:ext uri="{FF2B5EF4-FFF2-40B4-BE49-F238E27FC236}">
                  <a16:creationId xmlns:a16="http://schemas.microsoft.com/office/drawing/2014/main" id="{555A8CF5-5FFC-E973-A36F-BF70087CDFF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9" name="Line 20">
              <a:extLst>
                <a:ext uri="{FF2B5EF4-FFF2-40B4-BE49-F238E27FC236}">
                  <a16:creationId xmlns:a16="http://schemas.microsoft.com/office/drawing/2014/main" id="{DDBA5375-383B-1D3B-CD4F-974F676AD36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0" name="Line 21">
              <a:extLst>
                <a:ext uri="{FF2B5EF4-FFF2-40B4-BE49-F238E27FC236}">
                  <a16:creationId xmlns:a16="http://schemas.microsoft.com/office/drawing/2014/main" id="{ABFD9234-D5F2-A3C1-7FD0-1EB9221C98B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1" name="Line 22">
              <a:extLst>
                <a:ext uri="{FF2B5EF4-FFF2-40B4-BE49-F238E27FC236}">
                  <a16:creationId xmlns:a16="http://schemas.microsoft.com/office/drawing/2014/main" id="{C62096A3-F8D6-C683-91E2-40C375E391E8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2" name="Line 23">
              <a:extLst>
                <a:ext uri="{FF2B5EF4-FFF2-40B4-BE49-F238E27FC236}">
                  <a16:creationId xmlns:a16="http://schemas.microsoft.com/office/drawing/2014/main" id="{CF6A797C-8A3A-DC05-B0C5-FAEC1AACBAE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3" name="Line 24">
              <a:extLst>
                <a:ext uri="{FF2B5EF4-FFF2-40B4-BE49-F238E27FC236}">
                  <a16:creationId xmlns:a16="http://schemas.microsoft.com/office/drawing/2014/main" id="{BF73E1F7-99A0-EED7-11D3-3F1448FC0D2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4" name="Line 25">
              <a:extLst>
                <a:ext uri="{FF2B5EF4-FFF2-40B4-BE49-F238E27FC236}">
                  <a16:creationId xmlns:a16="http://schemas.microsoft.com/office/drawing/2014/main" id="{666FE602-B41A-7955-A26E-28A02345730F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5" name="Line 26">
              <a:extLst>
                <a:ext uri="{FF2B5EF4-FFF2-40B4-BE49-F238E27FC236}">
                  <a16:creationId xmlns:a16="http://schemas.microsoft.com/office/drawing/2014/main" id="{B897E8C6-C6CB-C4CE-121E-144C611FB0E8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AE8DB4A3-5415-3E27-5739-933558A591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A7DB6CED-F29D-C6D1-662E-A86547AACF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17A7EAA0-C9C2-27E0-BA21-ECB6FA1BDA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C62B6B9E-5B84-345C-5E51-226B1BEFEB9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0B83B447-E227-D9F9-2D5B-9FE6922A93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 smtClean="0"/>
            </a:lvl1pPr>
          </a:lstStyle>
          <a:p>
            <a:pPr>
              <a:defRPr/>
            </a:pPr>
            <a:fld id="{936EDCBD-9C87-8743-9007-3FD5DB20A63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4004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upload.wikimedia.org/wikipedia/commons/a/a4/Intel_Core_i9-13900K_Labelled_Die_Shot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tiff"/><Relationship Id="rId4" Type="http://schemas.openxmlformats.org/officeDocument/2006/relationships/image" Target="../media/image25.tif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142C122C-370F-BFBB-B98F-6C84EFE6A60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3600" b="1"/>
              <a:t>Lecture 2-1 :</a:t>
            </a:r>
            <a:br>
              <a:rPr lang="en-US" altLang="ko-KR" sz="3600" b="1"/>
            </a:br>
            <a:r>
              <a:rPr lang="en-US" altLang="ko-KR" sz="3600" b="1"/>
              <a:t>Introduction to Multicore Computing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FAF405B3-6110-4005-A33E-8BA2CB355A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b="1"/>
              <a:t>Bong-Soo Sohn</a:t>
            </a:r>
          </a:p>
          <a:p>
            <a:pPr eaLnBrk="1" hangingPunct="1">
              <a:lnSpc>
                <a:spcPct val="80000"/>
              </a:lnSpc>
            </a:pPr>
            <a:endParaRPr lang="en-US" altLang="ko-KR" sz="2000" b="1"/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Associate Professor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School of Computer Science and Engineering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Chung-Ang University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제목 1">
            <a:extLst>
              <a:ext uri="{FF2B5EF4-FFF2-40B4-BE49-F238E27FC236}">
                <a16:creationId xmlns:a16="http://schemas.microsoft.com/office/drawing/2014/main" id="{A3D2B7DE-746E-8039-D977-1AA33389C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Multicore Processor</a:t>
            </a:r>
            <a:endParaRPr lang="ko-KR" altLang="en-US" b="1" u="sng"/>
          </a:p>
        </p:txBody>
      </p:sp>
      <p:sp>
        <p:nvSpPr>
          <p:cNvPr id="16386" name="내용 개체 틀 2">
            <a:extLst>
              <a:ext uri="{FF2B5EF4-FFF2-40B4-BE49-F238E27FC236}">
                <a16:creationId xmlns:a16="http://schemas.microsoft.com/office/drawing/2014/main" id="{F8BC8485-1071-DE9D-EB14-A068A6FEB6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075" y="1279301"/>
            <a:ext cx="8507413" cy="4525963"/>
          </a:xfrm>
        </p:spPr>
        <p:txBody>
          <a:bodyPr/>
          <a:lstStyle/>
          <a:p>
            <a:r>
              <a:rPr lang="en-US" altLang="ko-KR" sz="2800" dirty="0"/>
              <a:t>A single computing component with two or more independent cores </a:t>
            </a:r>
          </a:p>
          <a:p>
            <a:pPr lvl="1"/>
            <a:r>
              <a:rPr lang="en-US" altLang="ko-KR" sz="1800" dirty="0"/>
              <a:t>Core (CPU): computing unit that reads/executes program instructions</a:t>
            </a:r>
          </a:p>
          <a:p>
            <a:pPr lvl="1"/>
            <a:r>
              <a:rPr lang="en-US" altLang="ko-KR" sz="1800" dirty="0"/>
              <a:t>Ex) dual-core, quad-core, hexa-core, octa-core, …</a:t>
            </a:r>
          </a:p>
          <a:p>
            <a:pPr lvl="1"/>
            <a:r>
              <a:rPr lang="en-US" altLang="ko-KR" sz="1800" dirty="0"/>
              <a:t>share cache or not</a:t>
            </a:r>
          </a:p>
          <a:p>
            <a:pPr lvl="1"/>
            <a:r>
              <a:rPr lang="en-US" altLang="ko-KR" sz="1800" dirty="0"/>
              <a:t>symmetric or asymmetric</a:t>
            </a:r>
          </a:p>
          <a:p>
            <a:pPr lvl="1"/>
            <a:r>
              <a:rPr lang="en-US" altLang="ko-KR" sz="1800" dirty="0"/>
              <a:t>Ex) intel i9-13900K (</a:t>
            </a:r>
            <a:r>
              <a:rPr lang="en-US" altLang="ko-KR" sz="1800" dirty="0">
                <a:hlinkClick r:id="rId2"/>
              </a:rPr>
              <a:t>link</a:t>
            </a:r>
            <a:r>
              <a:rPr lang="en-US" altLang="ko-KR" sz="1800" dirty="0"/>
              <a:t>)</a:t>
            </a:r>
          </a:p>
          <a:p>
            <a:pPr lvl="1"/>
            <a:endParaRPr lang="en-US" altLang="ko-KR" sz="1600" dirty="0"/>
          </a:p>
          <a:p>
            <a:pPr>
              <a:buFont typeface="Wingdings" pitchFamily="2" charset="2"/>
              <a:buNone/>
            </a:pPr>
            <a:r>
              <a:rPr lang="en-US" altLang="ko-KR" sz="2800" dirty="0"/>
              <a:t> </a:t>
            </a:r>
          </a:p>
        </p:txBody>
      </p:sp>
      <p:pic>
        <p:nvPicPr>
          <p:cNvPr id="16387" name="Picture 7" descr="http://i.imgur.com/iSAo69v.png">
            <a:extLst>
              <a:ext uri="{FF2B5EF4-FFF2-40B4-BE49-F238E27FC236}">
                <a16:creationId xmlns:a16="http://schemas.microsoft.com/office/drawing/2014/main" id="{3D61A592-77D2-7DC5-03FF-610CEB013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976688"/>
            <a:ext cx="3671888" cy="275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9" descr="http://www.internetappdeveloper.com/wp-content/plugins/rss-poster/cache/875f5_inside_intel_sandy_bridge_quad_core_processor.jpg">
            <a:extLst>
              <a:ext uri="{FF2B5EF4-FFF2-40B4-BE49-F238E27FC236}">
                <a16:creationId xmlns:a16="http://schemas.microsoft.com/office/drawing/2014/main" id="{31EF4021-4816-CA81-2A16-FD2870678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4005263"/>
            <a:ext cx="4391025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Box 5">
            <a:extLst>
              <a:ext uri="{FF2B5EF4-FFF2-40B4-BE49-F238E27FC236}">
                <a16:creationId xmlns:a16="http://schemas.microsoft.com/office/drawing/2014/main" id="{81DFD929-DFBC-E245-A33A-4AACDDA84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550" y="6237288"/>
            <a:ext cx="33353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/>
              <a:t>Intel Quad-core processors (Sandy Bridge)</a:t>
            </a:r>
            <a:endParaRPr lang="ko-KR" alt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제목 1">
            <a:extLst>
              <a:ext uri="{FF2B5EF4-FFF2-40B4-BE49-F238E27FC236}">
                <a16:creationId xmlns:a16="http://schemas.microsoft.com/office/drawing/2014/main" id="{68DD7228-4865-778B-B0C9-F43214124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b="1" u="sng" dirty="0"/>
              <a:t>Intel Multicore CPU (Recent)</a:t>
            </a:r>
            <a:endParaRPr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6A31B8-D91E-8CEB-F846-B21D5F792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ore-KR" dirty="0"/>
              <a:t>Performance Cores vs Efficiency Cores</a:t>
            </a:r>
            <a:endParaRPr lang="ko-Kore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C79D4B-2C90-4859-3577-3C14A32A12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947" b="45778"/>
          <a:stretch/>
        </p:blipFill>
        <p:spPr>
          <a:xfrm>
            <a:off x="53752" y="2060848"/>
            <a:ext cx="9036496" cy="1228998"/>
          </a:xfrm>
          <a:prstGeom prst="rect">
            <a:avLst/>
          </a:prstGeom>
        </p:spPr>
      </p:pic>
      <p:sp>
        <p:nvSpPr>
          <p:cNvPr id="38915" name="TextBox 4">
            <a:extLst>
              <a:ext uri="{FF2B5EF4-FFF2-40B4-BE49-F238E27FC236}">
                <a16:creationId xmlns:a16="http://schemas.microsoft.com/office/drawing/2014/main" id="{1F0FD91F-B38B-D229-4E9E-867C0DED4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428" y="1258913"/>
            <a:ext cx="3529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r>
              <a:rPr lang="en-US" altLang="ko-Kore-KR" dirty="0"/>
              <a:t>[source (2024.3): </a:t>
            </a:r>
            <a:r>
              <a:rPr lang="en-US" altLang="ko-Kore-KR" dirty="0" err="1"/>
              <a:t>enuri.com</a:t>
            </a:r>
            <a:r>
              <a:rPr lang="en-US" altLang="ko-Kore-KR" dirty="0"/>
              <a:t>]</a:t>
            </a:r>
            <a:endParaRPr lang="ko-Kore-KR" altLang="en-US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33134B45-1AC5-03A3-A8A8-B830F81D9D18}"/>
              </a:ext>
            </a:extLst>
          </p:cNvPr>
          <p:cNvCxnSpPr/>
          <p:nvPr/>
        </p:nvCxnSpPr>
        <p:spPr>
          <a:xfrm>
            <a:off x="2051720" y="2564904"/>
            <a:ext cx="5760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754F1525-8500-7E24-F8F0-E1A8BDBB2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3359401"/>
            <a:ext cx="7573231" cy="348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875D2C-B1D6-39EE-DB89-CA60DF06991A}"/>
              </a:ext>
            </a:extLst>
          </p:cNvPr>
          <p:cNvSpPr txBox="1"/>
          <p:nvPr/>
        </p:nvSpPr>
        <p:spPr>
          <a:xfrm>
            <a:off x="7485250" y="3693904"/>
            <a:ext cx="17684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600" b="1" dirty="0"/>
              <a:t>Intel i9-13900K</a:t>
            </a:r>
          </a:p>
          <a:p>
            <a:r>
              <a:rPr kumimoji="1" lang="en-US" altLang="ko-Kore-KR" sz="1400" b="1" dirty="0"/>
              <a:t>L3 cache (shared)</a:t>
            </a:r>
            <a:endParaRPr kumimoji="1" lang="ko-Kore-KR" altLang="en-US"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제목 1">
            <a:extLst>
              <a:ext uri="{FF2B5EF4-FFF2-40B4-BE49-F238E27FC236}">
                <a16:creationId xmlns:a16="http://schemas.microsoft.com/office/drawing/2014/main" id="{95CB3B8A-7810-21A1-D403-E973BE0C9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sz="3200" b="1" u="sng" dirty="0"/>
              <a:t>Apple CPUs: M1 (2021) , M3 (2023) </a:t>
            </a:r>
            <a:endParaRPr lang="ko-Kore-KR" altLang="en-US" sz="3200" b="1" u="sng" dirty="0"/>
          </a:p>
        </p:txBody>
      </p:sp>
      <p:sp>
        <p:nvSpPr>
          <p:cNvPr id="17410" name="내용 개체 틀 2">
            <a:extLst>
              <a:ext uri="{FF2B5EF4-FFF2-40B4-BE49-F238E27FC236}">
                <a16:creationId xmlns:a16="http://schemas.microsoft.com/office/drawing/2014/main" id="{BC78A54E-9FD9-7343-08A2-F966697E8B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0768"/>
            <a:ext cx="8579296" cy="4525963"/>
          </a:xfrm>
        </p:spPr>
        <p:txBody>
          <a:bodyPr/>
          <a:lstStyle/>
          <a:p>
            <a:r>
              <a:rPr lang="en-US" altLang="ko-Kore-KR" dirty="0"/>
              <a:t>CPU clock rate: 3.2GHz (M1) , 4.05GHz (M3)</a:t>
            </a:r>
            <a:endParaRPr lang="ko-Kore-KR" altLang="en-US" dirty="0"/>
          </a:p>
        </p:txBody>
      </p:sp>
      <p:pic>
        <p:nvPicPr>
          <p:cNvPr id="17411" name="Picture 2" descr="m1 pro chip">
            <a:extLst>
              <a:ext uri="{FF2B5EF4-FFF2-40B4-BE49-F238E27FC236}">
                <a16:creationId xmlns:a16="http://schemas.microsoft.com/office/drawing/2014/main" id="{DECDD2E2-8042-6FD4-922F-579CA2F60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578" y="1921694"/>
            <a:ext cx="4654609" cy="2175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그림 3">
            <a:extLst>
              <a:ext uri="{FF2B5EF4-FFF2-40B4-BE49-F238E27FC236}">
                <a16:creationId xmlns:a16="http://schemas.microsoft.com/office/drawing/2014/main" id="{CF9E10DC-5763-609F-6F44-E6BB77CB9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559"/>
          <a:stretch/>
        </p:blipFill>
        <p:spPr bwMode="auto">
          <a:xfrm>
            <a:off x="290596" y="4149080"/>
            <a:ext cx="3733345" cy="2739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A9941D7-2AB0-8DE3-25DA-B5915C9A0C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1816"/>
          <a:stretch/>
        </p:blipFill>
        <p:spPr>
          <a:xfrm>
            <a:off x="4762905" y="4220789"/>
            <a:ext cx="3684264" cy="268791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A99A90E-4369-2592-9F9D-026DEFDD8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031" y="1785515"/>
            <a:ext cx="4643274" cy="2448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F9560-2BA8-1837-7282-1F97BACC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Apple M4 CPU (2024)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DDE5-61AA-3006-1513-9222CCE8F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69FCFD-4239-BB0A-6AF5-0B84BC155F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6" r="4204"/>
          <a:stretch/>
        </p:blipFill>
        <p:spPr bwMode="auto">
          <a:xfrm>
            <a:off x="35496" y="1604218"/>
            <a:ext cx="5408036" cy="333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5C4F5CE-0A48-8479-BBCA-72DBEBEBE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866" y="1600200"/>
            <a:ext cx="3613638" cy="499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289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C7DC6-283F-E4DC-DB9C-B028B7C73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Apple Unified Memory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7F4270-FA58-F7F8-32A4-8FDAA0342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293096"/>
            <a:ext cx="8507146" cy="1833067"/>
          </a:xfrm>
        </p:spPr>
        <p:txBody>
          <a:bodyPr/>
          <a:lstStyle/>
          <a:p>
            <a:r>
              <a:rPr kumimoji="1" lang="en-US" altLang="ko-Kore-KR" dirty="0"/>
              <a:t>Unified memory</a:t>
            </a:r>
          </a:p>
          <a:p>
            <a:pPr lvl="1"/>
            <a:r>
              <a:rPr lang="en-US" altLang="ko-Kore-KR" dirty="0"/>
              <a:t>CPU, GPU, NPU share memory on a single chip</a:t>
            </a:r>
          </a:p>
          <a:p>
            <a:pPr lvl="1"/>
            <a:r>
              <a:rPr lang="en-US" altLang="ko-Kore-KR" dirty="0"/>
              <a:t>+: efficient</a:t>
            </a:r>
          </a:p>
          <a:p>
            <a:pPr lvl="1"/>
            <a:r>
              <a:rPr lang="en-US" altLang="ko-Kore-KR" dirty="0"/>
              <a:t>-: cannot be changed/replaced after production.</a:t>
            </a:r>
            <a:endParaRPr kumimoji="1" lang="ko-Kore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4EA3A8-64F8-9007-1432-D58746F355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8" t="17851" r="9267" b="19312"/>
          <a:stretch/>
        </p:blipFill>
        <p:spPr bwMode="auto">
          <a:xfrm>
            <a:off x="4444899" y="1424753"/>
            <a:ext cx="4519447" cy="269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nified Memory in CUDA 6">
            <a:extLst>
              <a:ext uri="{FF2B5EF4-FFF2-40B4-BE49-F238E27FC236}">
                <a16:creationId xmlns:a16="http://schemas.microsoft.com/office/drawing/2014/main" id="{E8C15D2B-B11D-972F-5669-E9F3CD2700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0" r="12656" b="13468"/>
          <a:stretch/>
        </p:blipFill>
        <p:spPr bwMode="auto">
          <a:xfrm>
            <a:off x="107504" y="1412776"/>
            <a:ext cx="4227651" cy="271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539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제목 1">
            <a:extLst>
              <a:ext uri="{FF2B5EF4-FFF2-40B4-BE49-F238E27FC236}">
                <a16:creationId xmlns:a16="http://schemas.microsoft.com/office/drawing/2014/main" id="{B5F78937-02DE-629B-A4D0-74A2ABD1AC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Multicore Processor</a:t>
            </a:r>
            <a:endParaRPr lang="ko-KR" altLang="en-US"/>
          </a:p>
        </p:txBody>
      </p:sp>
      <p:sp>
        <p:nvSpPr>
          <p:cNvPr id="18434" name="내용 개체 틀 2">
            <a:extLst>
              <a:ext uri="{FF2B5EF4-FFF2-40B4-BE49-F238E27FC236}">
                <a16:creationId xmlns:a16="http://schemas.microsoft.com/office/drawing/2014/main" id="{5EA3999D-13FB-BBB1-FCC7-E5E024A5F2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/>
          <a:lstStyle/>
          <a:p>
            <a:r>
              <a:rPr lang="en-US" altLang="ko-KR" sz="2800"/>
              <a:t>Multiple cores run multiple instructions at the same time (concurrently)</a:t>
            </a:r>
          </a:p>
          <a:p>
            <a:endParaRPr lang="en-US" altLang="ko-KR" sz="2800"/>
          </a:p>
          <a:p>
            <a:r>
              <a:rPr lang="en-US" altLang="ko-KR" sz="2800"/>
              <a:t>Increase overall program speed (performance)</a:t>
            </a:r>
          </a:p>
          <a:p>
            <a:endParaRPr lang="en-US" altLang="ko-KR" sz="2800"/>
          </a:p>
          <a:p>
            <a:r>
              <a:rPr lang="en-US" altLang="ko-KR" sz="2800"/>
              <a:t>performance gained by multi-core processor</a:t>
            </a:r>
          </a:p>
          <a:p>
            <a:pPr lvl="1"/>
            <a:r>
              <a:rPr lang="en-US" altLang="ko-KR" sz="2400"/>
              <a:t>strongly dependent on the software algorithms and implementation.</a:t>
            </a:r>
          </a:p>
          <a:p>
            <a:pPr lvl="1"/>
            <a:endParaRPr lang="en-US" altLang="ko-KR" sz="2400"/>
          </a:p>
          <a:p>
            <a:r>
              <a:rPr lang="en-US" altLang="ko-KR" sz="2800"/>
              <a:t>desktop PCs, mobile devices, servers</a:t>
            </a:r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제목 1">
            <a:extLst>
              <a:ext uri="{FF2B5EF4-FFF2-40B4-BE49-F238E27FC236}">
                <a16:creationId xmlns:a16="http://schemas.microsoft.com/office/drawing/2014/main" id="{79EEA32B-F336-6F1A-CF73-F3983CB5B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Manycore processor (GPU)</a:t>
            </a:r>
            <a:endParaRPr lang="ko-KR" altLang="en-US" b="1" u="sng"/>
          </a:p>
        </p:txBody>
      </p:sp>
      <p:sp>
        <p:nvSpPr>
          <p:cNvPr id="19458" name="내용 개체 틀 2">
            <a:extLst>
              <a:ext uri="{FF2B5EF4-FFF2-40B4-BE49-F238E27FC236}">
                <a16:creationId xmlns:a16="http://schemas.microsoft.com/office/drawing/2014/main" id="{336B3B1C-EF49-DC91-A76A-3F849479F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525963"/>
          </a:xfrm>
        </p:spPr>
        <p:txBody>
          <a:bodyPr/>
          <a:lstStyle/>
          <a:p>
            <a:r>
              <a:rPr lang="en-US" altLang="ko-KR"/>
              <a:t>multi-core architectures with an especially high number of cores (thounds)</a:t>
            </a:r>
          </a:p>
          <a:p>
            <a:pPr lvl="1"/>
            <a:r>
              <a:rPr lang="en-US" altLang="ko-KR"/>
              <a:t>Ex) nVidia GeForce RTX 3080 Ti (2021.06) 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</p:txBody>
      </p:sp>
      <p:pic>
        <p:nvPicPr>
          <p:cNvPr id="19459" name="그림 2">
            <a:extLst>
              <a:ext uri="{FF2B5EF4-FFF2-40B4-BE49-F238E27FC236}">
                <a16:creationId xmlns:a16="http://schemas.microsoft.com/office/drawing/2014/main" id="{AEA76CF7-3C83-B884-091E-51A591722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52738"/>
            <a:ext cx="914400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그림 3">
            <a:extLst>
              <a:ext uri="{FF2B5EF4-FFF2-40B4-BE49-F238E27FC236}">
                <a16:creationId xmlns:a16="http://schemas.microsoft.com/office/drawing/2014/main" id="{E4907A11-61E5-A238-73C9-32406794D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4830763"/>
            <a:ext cx="7956551" cy="202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제목 1">
            <a:extLst>
              <a:ext uri="{FF2B5EF4-FFF2-40B4-BE49-F238E27FC236}">
                <a16:creationId xmlns:a16="http://schemas.microsoft.com/office/drawing/2014/main" id="{71D581DF-3664-B053-CA4B-119312855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Manycore processor (GPU)</a:t>
            </a:r>
            <a:endParaRPr lang="ko-KR" altLang="en-US" b="1" u="sng"/>
          </a:p>
        </p:txBody>
      </p:sp>
      <p:sp>
        <p:nvSpPr>
          <p:cNvPr id="20482" name="내용 개체 틀 2">
            <a:extLst>
              <a:ext uri="{FF2B5EF4-FFF2-40B4-BE49-F238E27FC236}">
                <a16:creationId xmlns:a16="http://schemas.microsoft.com/office/drawing/2014/main" id="{6F19C633-9237-6541-87FC-A7B12C02BE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39888"/>
            <a:ext cx="8229600" cy="4525962"/>
          </a:xfrm>
        </p:spPr>
        <p:txBody>
          <a:bodyPr/>
          <a:lstStyle/>
          <a:p>
            <a:r>
              <a:rPr lang="en-US" altLang="ko-KR"/>
              <a:t>CUDA</a:t>
            </a:r>
          </a:p>
          <a:p>
            <a:pPr lvl="1"/>
            <a:r>
              <a:rPr lang="en-US" altLang="ko-KR" sz="2000"/>
              <a:t>Compute Unified Device Architecture</a:t>
            </a:r>
          </a:p>
          <a:p>
            <a:pPr lvl="1"/>
            <a:r>
              <a:rPr lang="en-US" altLang="ko-KR" sz="2000"/>
              <a:t>parallel computing platform and programming model created by NVIDIA and implemented by the graphics processing units (GPUs) that they produce</a:t>
            </a:r>
          </a:p>
          <a:p>
            <a:pPr lvl="1"/>
            <a:r>
              <a:rPr lang="en-US" altLang="ko-KR" sz="2000"/>
              <a:t>GPGPU (General Purpose Graphics Processing Unit)</a:t>
            </a:r>
          </a:p>
          <a:p>
            <a:endParaRPr lang="en-US" altLang="ko-KR" sz="2400"/>
          </a:p>
          <a:p>
            <a:r>
              <a:rPr lang="en-US" altLang="ko-KR" sz="2400"/>
              <a:t>OpenCL </a:t>
            </a:r>
          </a:p>
          <a:p>
            <a:pPr lvl="1"/>
            <a:r>
              <a:rPr lang="en-US" altLang="ko-KR" sz="2000"/>
              <a:t>Open Standard  parallel programming platform</a:t>
            </a:r>
            <a:endParaRPr lang="ko-KR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제목 1">
            <a:extLst>
              <a:ext uri="{FF2B5EF4-FFF2-40B4-BE49-F238E27FC236}">
                <a16:creationId xmlns:a16="http://schemas.microsoft.com/office/drawing/2014/main" id="{5C1CF156-2A29-2AAC-4455-D30D3F40D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Parallel Applications</a:t>
            </a:r>
            <a:endParaRPr lang="ko-KR" altLang="en-US" b="1" u="sng"/>
          </a:p>
        </p:txBody>
      </p:sp>
      <p:sp>
        <p:nvSpPr>
          <p:cNvPr id="21506" name="내용 개체 틀 2">
            <a:extLst>
              <a:ext uri="{FF2B5EF4-FFF2-40B4-BE49-F238E27FC236}">
                <a16:creationId xmlns:a16="http://schemas.microsoft.com/office/drawing/2014/main" id="{D08FEF52-D1F3-B16D-C59B-414264FEF5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Image and video processing</a:t>
            </a:r>
          </a:p>
          <a:p>
            <a:pPr lvl="1"/>
            <a:r>
              <a:rPr lang="en-US" altLang="ko-KR"/>
              <a:t>Encoding, editing, filtering</a:t>
            </a:r>
          </a:p>
          <a:p>
            <a:r>
              <a:rPr lang="en-US" altLang="ko-KR"/>
              <a:t>3D graphics (rendering, animation)</a:t>
            </a:r>
          </a:p>
          <a:p>
            <a:r>
              <a:rPr lang="en-US" altLang="ko-KR"/>
              <a:t>3D gaming</a:t>
            </a:r>
          </a:p>
          <a:p>
            <a:r>
              <a:rPr lang="en-US" altLang="ko-KR"/>
              <a:t>Simulation </a:t>
            </a:r>
          </a:p>
          <a:p>
            <a:pPr lvl="1"/>
            <a:r>
              <a:rPr lang="en-US" altLang="ko-KR"/>
              <a:t>e.g. protein folding, climate modeling</a:t>
            </a:r>
          </a:p>
          <a:p>
            <a:r>
              <a:rPr lang="en-US" altLang="ko-KR"/>
              <a:t>Machine learning, deep learning</a:t>
            </a:r>
          </a:p>
          <a:p>
            <a:endParaRPr lang="en-US" altLang="ko-KR"/>
          </a:p>
          <a:p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189CCC2-4EFB-00D7-D1DE-D678DBDA874A}"/>
              </a:ext>
            </a:extLst>
          </p:cNvPr>
          <p:cNvSpPr/>
          <p:nvPr/>
        </p:nvSpPr>
        <p:spPr>
          <a:xfrm>
            <a:off x="6659563" y="692150"/>
            <a:ext cx="2413000" cy="3097213"/>
          </a:xfrm>
          <a:prstGeom prst="rect">
            <a:avLst/>
          </a:prstGeom>
          <a:solidFill>
            <a:srgbClr val="FFFF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2530" name="제목 1">
            <a:extLst>
              <a:ext uri="{FF2B5EF4-FFF2-40B4-BE49-F238E27FC236}">
                <a16:creationId xmlns:a16="http://schemas.microsoft.com/office/drawing/2014/main" id="{E7A74F7D-7DEF-4909-56CD-AEAAD3D187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Thread/Process</a:t>
            </a:r>
            <a:endParaRPr lang="ko-KR" altLang="en-US" b="1" u="sng"/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295375B4-0CB0-DD3C-0842-1D99AFDD08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91513" cy="4525963"/>
          </a:xfrm>
        </p:spPr>
        <p:txBody>
          <a:bodyPr/>
          <a:lstStyle/>
          <a:p>
            <a:r>
              <a:rPr lang="en-US" altLang="ko-KR" sz="2800"/>
              <a:t>Both </a:t>
            </a:r>
          </a:p>
          <a:p>
            <a:pPr lvl="1"/>
            <a:r>
              <a:rPr lang="en-US" altLang="ko-KR" sz="2000"/>
              <a:t>Independent sequence of execution</a:t>
            </a:r>
          </a:p>
          <a:p>
            <a:r>
              <a:rPr lang="en-US" altLang="ko-KR" sz="2800"/>
              <a:t>Process </a:t>
            </a:r>
          </a:p>
          <a:p>
            <a:pPr lvl="1"/>
            <a:r>
              <a:rPr lang="en-US" altLang="ko-KR" sz="2000"/>
              <a:t>run in separate memory space</a:t>
            </a:r>
          </a:p>
          <a:p>
            <a:r>
              <a:rPr lang="en-US" altLang="ko-KR" sz="2800"/>
              <a:t>Thread</a:t>
            </a:r>
          </a:p>
          <a:p>
            <a:pPr lvl="1"/>
            <a:r>
              <a:rPr lang="en-US" altLang="ko-KR" sz="2000"/>
              <a:t>Run in shared memory space in a process</a:t>
            </a:r>
          </a:p>
          <a:p>
            <a:pPr lvl="1"/>
            <a:r>
              <a:rPr lang="en-US" altLang="ko-KR" sz="2000"/>
              <a:t>One process may have multiple threads</a:t>
            </a:r>
          </a:p>
          <a:p>
            <a:endParaRPr lang="en-US" altLang="ko-KR" sz="2400"/>
          </a:p>
          <a:p>
            <a:r>
              <a:rPr lang="en-US" altLang="ko-KR" sz="2400"/>
              <a:t>Multithreaded Program</a:t>
            </a:r>
          </a:p>
          <a:p>
            <a:pPr lvl="1"/>
            <a:r>
              <a:rPr lang="en-US" altLang="ko-KR" sz="2000"/>
              <a:t>a program running with multiple threads that is executed simultaneously</a:t>
            </a:r>
            <a:endParaRPr lang="ko-KR" altLang="en-US" sz="2400"/>
          </a:p>
        </p:txBody>
      </p:sp>
      <p:pic>
        <p:nvPicPr>
          <p:cNvPr id="22532" name="Picture 2" descr="http://upload.wikimedia.org/wikipedia/commons/thumb/a/a5/Multithreaded_process.svg/220px-Multithreaded_process.svg.png">
            <a:extLst>
              <a:ext uri="{FF2B5EF4-FFF2-40B4-BE49-F238E27FC236}">
                <a16:creationId xmlns:a16="http://schemas.microsoft.com/office/drawing/2014/main" id="{D8C43BC2-1EA4-FC47-6CF4-E46E7F23D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908050"/>
            <a:ext cx="20955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직사각형 4">
            <a:extLst>
              <a:ext uri="{FF2B5EF4-FFF2-40B4-BE49-F238E27FC236}">
                <a16:creationId xmlns:a16="http://schemas.microsoft.com/office/drawing/2014/main" id="{C4ED8AC0-3809-7744-528F-4D7948178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852738"/>
            <a:ext cx="25384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/>
              <a:t>A process with two threads of execution on a single processor</a:t>
            </a:r>
            <a:endParaRPr lang="ko-KR" alt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227150D0-1AAE-D63A-A811-7C2846250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What is Parallel Computing?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36EE084E-396C-8A49-6759-A8AEFC90F5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9913" y="1492250"/>
            <a:ext cx="8001000" cy="5105400"/>
          </a:xfrm>
        </p:spPr>
        <p:txBody>
          <a:bodyPr/>
          <a:lstStyle/>
          <a:p>
            <a:r>
              <a:rPr lang="en-US" altLang="ko-KR" sz="2400" b="1">
                <a:solidFill>
                  <a:srgbClr val="006600"/>
                </a:solidFill>
              </a:rPr>
              <a:t>Parallel computing</a:t>
            </a:r>
          </a:p>
          <a:p>
            <a:pPr lvl="1"/>
            <a:r>
              <a:rPr lang="en-US" altLang="ko-KR" sz="2000"/>
              <a:t>using multiple processors in parallel to solve problems more quickly than with a single processor</a:t>
            </a:r>
          </a:p>
          <a:p>
            <a:r>
              <a:rPr lang="en-US" altLang="ko-KR" sz="2400"/>
              <a:t>Examples of parallel machines: </a:t>
            </a:r>
          </a:p>
          <a:p>
            <a:pPr lvl="1"/>
            <a:r>
              <a:rPr lang="en-US" altLang="ko-KR" sz="2000"/>
              <a:t>A </a:t>
            </a:r>
            <a:r>
              <a:rPr lang="en-US" altLang="ko-KR" sz="2000" b="1">
                <a:solidFill>
                  <a:srgbClr val="006600"/>
                </a:solidFill>
              </a:rPr>
              <a:t>cluster computer</a:t>
            </a:r>
            <a:r>
              <a:rPr lang="en-US" altLang="ko-KR" sz="2000"/>
              <a:t> that contains multiple PCs combined together with a high speed network </a:t>
            </a:r>
          </a:p>
          <a:p>
            <a:pPr lvl="1"/>
            <a:r>
              <a:rPr lang="en-US" altLang="ko-KR" sz="2000"/>
              <a:t>A </a:t>
            </a:r>
            <a:r>
              <a:rPr lang="en-US" altLang="ko-KR" sz="2000" b="1">
                <a:solidFill>
                  <a:srgbClr val="006600"/>
                </a:solidFill>
              </a:rPr>
              <a:t>shared memory multiprocessor</a:t>
            </a:r>
            <a:r>
              <a:rPr lang="en-US" altLang="ko-KR" sz="2000"/>
              <a:t> by connecting multiple processors to a single memory system</a:t>
            </a:r>
          </a:p>
          <a:p>
            <a:pPr lvl="1"/>
            <a:r>
              <a:rPr lang="en-US" altLang="ko-KR" sz="2000"/>
              <a:t>A </a:t>
            </a:r>
            <a:r>
              <a:rPr lang="en-US" altLang="ko-KR" sz="2000" b="1">
                <a:solidFill>
                  <a:srgbClr val="006600"/>
                </a:solidFill>
              </a:rPr>
              <a:t>Chip Multi-Processor</a:t>
            </a:r>
            <a:r>
              <a:rPr lang="en-US" altLang="ko-KR" sz="2000"/>
              <a:t> (CMP) contains multiple processors (called cores) on a single chip</a:t>
            </a:r>
          </a:p>
          <a:p>
            <a:r>
              <a:rPr lang="en-US" altLang="ko-KR" sz="2400"/>
              <a:t>Concurrent execution comes from desire for performance; unlike the inherent concurrency in a multi-user distributed system</a:t>
            </a:r>
          </a:p>
          <a:p>
            <a:endParaRPr lang="en-US" altLang="ko-KR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제목 1">
            <a:extLst>
              <a:ext uri="{FF2B5EF4-FFF2-40B4-BE49-F238E27FC236}">
                <a16:creationId xmlns:a16="http://schemas.microsoft.com/office/drawing/2014/main" id="{33045FD0-D166-0A5D-041F-3708C4BBA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Parallelism vs Concurrency</a:t>
            </a:r>
            <a:endParaRPr lang="ko-KR" altLang="en-US" b="1" u="sng"/>
          </a:p>
        </p:txBody>
      </p:sp>
      <p:sp>
        <p:nvSpPr>
          <p:cNvPr id="24578" name="내용 개체 틀 2">
            <a:extLst>
              <a:ext uri="{FF2B5EF4-FFF2-40B4-BE49-F238E27FC236}">
                <a16:creationId xmlns:a16="http://schemas.microsoft.com/office/drawing/2014/main" id="{20F5714A-21E1-A6E0-B957-2B6228A9F2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/>
              <a:t>Parallel Programming</a:t>
            </a:r>
          </a:p>
          <a:p>
            <a:pPr lvl="1"/>
            <a:r>
              <a:rPr lang="en-US" altLang="ko-KR" sz="2400"/>
              <a:t>Using additional computational resources to produce an answer faster</a:t>
            </a:r>
          </a:p>
          <a:p>
            <a:pPr lvl="1"/>
            <a:r>
              <a:rPr lang="en-US" altLang="ko-KR" sz="2400"/>
              <a:t>Problem of using extra resources effectively? </a:t>
            </a:r>
          </a:p>
          <a:p>
            <a:pPr lvl="1"/>
            <a:r>
              <a:rPr lang="en-US" altLang="ko-KR" sz="2400"/>
              <a:t>Example </a:t>
            </a:r>
          </a:p>
          <a:p>
            <a:pPr lvl="2"/>
            <a:r>
              <a:rPr lang="en-US" altLang="ko-KR" sz="2100"/>
              <a:t>summing up all the numbers in an array with multiple n processors </a:t>
            </a:r>
          </a:p>
          <a:p>
            <a:pPr lvl="1">
              <a:buFont typeface="Wingdings" pitchFamily="2" charset="2"/>
              <a:buNone/>
            </a:pPr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제목 1">
            <a:extLst>
              <a:ext uri="{FF2B5EF4-FFF2-40B4-BE49-F238E27FC236}">
                <a16:creationId xmlns:a16="http://schemas.microsoft.com/office/drawing/2014/main" id="{517498D0-B631-437D-434A-C6CA843BE9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Parallelism vs Concurrency</a:t>
            </a:r>
            <a:endParaRPr lang="ko-KR" altLang="en-US" dirty="0"/>
          </a:p>
        </p:txBody>
      </p:sp>
      <p:sp>
        <p:nvSpPr>
          <p:cNvPr id="25602" name="내용 개체 틀 2">
            <a:extLst>
              <a:ext uri="{FF2B5EF4-FFF2-40B4-BE49-F238E27FC236}">
                <a16:creationId xmlns:a16="http://schemas.microsoft.com/office/drawing/2014/main" id="{61ACEA4E-69C5-30A7-8F44-0D4BB4998A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/>
              <a:t>Concurrent Programming</a:t>
            </a:r>
          </a:p>
          <a:p>
            <a:pPr lvl="1"/>
            <a:r>
              <a:rPr lang="en-US" altLang="ko-KR" sz="2400"/>
              <a:t>Correctly and efficiently controlling access by multiple threads to shared resources</a:t>
            </a:r>
          </a:p>
          <a:p>
            <a:pPr lvl="1"/>
            <a:r>
              <a:rPr lang="en-US" altLang="ko-KR" sz="2400"/>
              <a:t>Problem of preventing a bad interleaving of operations from different threads</a:t>
            </a:r>
          </a:p>
          <a:p>
            <a:pPr lvl="1"/>
            <a:r>
              <a:rPr lang="en-US" altLang="ko-KR" sz="2400"/>
              <a:t>Example</a:t>
            </a:r>
          </a:p>
          <a:p>
            <a:pPr lvl="2"/>
            <a:r>
              <a:rPr lang="en-US" altLang="ko-KR" sz="2100"/>
              <a:t>Implementation of dictionary with hashtable </a:t>
            </a:r>
          </a:p>
          <a:p>
            <a:pPr lvl="3"/>
            <a:r>
              <a:rPr lang="en-US" altLang="ko-KR" sz="1800"/>
              <a:t>operations insert, update, lookup, delete occur simultaneously (concurrently)</a:t>
            </a:r>
          </a:p>
          <a:p>
            <a:pPr lvl="3"/>
            <a:r>
              <a:rPr lang="en-US" altLang="ko-KR" sz="1800"/>
              <a:t>Multiple threads access the same hashtable</a:t>
            </a:r>
          </a:p>
          <a:p>
            <a:pPr lvl="2"/>
            <a:r>
              <a:rPr lang="en-US" altLang="ko-KR" sz="2100"/>
              <a:t>Web Visit Counter</a:t>
            </a:r>
          </a:p>
          <a:p>
            <a:pPr lvl="2"/>
            <a:endParaRPr lang="ko-KR" altLang="en-US" sz="2100"/>
          </a:p>
          <a:p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930716-A272-4702-A1C0-29476ED84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783357"/>
            <a:ext cx="6541289" cy="4525963"/>
          </a:xfrm>
        </p:spPr>
        <p:txBody>
          <a:bodyPr/>
          <a:lstStyle/>
          <a:p>
            <a:r>
              <a:rPr lang="en-US" altLang="ko-Kore-KR" sz="2400" b="1" dirty="0"/>
              <a:t>Concurrency (Concurrent Programming)</a:t>
            </a:r>
          </a:p>
          <a:p>
            <a:pPr lvl="1"/>
            <a:r>
              <a:rPr kumimoji="1" lang="en-US" altLang="ko-Kore-KR" sz="2000" dirty="0"/>
              <a:t>A program is organized so multiple tasks can make progress during overlapping time periods</a:t>
            </a:r>
          </a:p>
          <a:p>
            <a:pPr marL="457200" lvl="1" indent="0">
              <a:buNone/>
            </a:pPr>
            <a:r>
              <a:rPr lang="en-US" altLang="ko-Kore-KR" sz="2000" dirty="0"/>
              <a:t>  (but, not necessarily at the exact same instant)</a:t>
            </a:r>
          </a:p>
          <a:p>
            <a:pPr lvl="1"/>
            <a:r>
              <a:rPr lang="en-US" altLang="ko-Kore-KR" sz="2000" dirty="0"/>
              <a:t>Logically simultaneous execution</a:t>
            </a:r>
          </a:p>
          <a:p>
            <a:pPr lvl="1"/>
            <a:r>
              <a:rPr lang="en-US" altLang="ko-Kore-KR" sz="2000" dirty="0"/>
              <a:t>Can be interleaved execution on a single CPU </a:t>
            </a:r>
          </a:p>
          <a:p>
            <a:pPr lvl="1"/>
            <a:r>
              <a:rPr kumimoji="1" lang="en-US" altLang="ko-Kore-KR" sz="2000" dirty="0"/>
              <a:t>Goal: managing many tasks</a:t>
            </a:r>
            <a:endParaRPr kumimoji="1" lang="en-US" altLang="ko-Kore-KR" sz="2400" dirty="0"/>
          </a:p>
          <a:p>
            <a:r>
              <a:rPr kumimoji="1" lang="en-US" altLang="ko-Kore-KR" sz="2400" b="1" dirty="0"/>
              <a:t>Parallelism (Parallel Programming)</a:t>
            </a:r>
          </a:p>
          <a:p>
            <a:pPr lvl="1"/>
            <a:r>
              <a:rPr lang="en-US" altLang="ko-Kore-KR" sz="2000" dirty="0"/>
              <a:t>Multiple tasks execute at the exact same time</a:t>
            </a:r>
          </a:p>
          <a:p>
            <a:pPr lvl="1"/>
            <a:r>
              <a:rPr kumimoji="1" lang="en-US" altLang="ko-Kore-KR" sz="2000" dirty="0"/>
              <a:t>Physically simultaneous execution</a:t>
            </a:r>
          </a:p>
          <a:p>
            <a:pPr lvl="1"/>
            <a:r>
              <a:rPr lang="en-US" altLang="ko-Kore-KR" sz="2000" dirty="0"/>
              <a:t>Requires multiple cores/processors</a:t>
            </a:r>
          </a:p>
          <a:p>
            <a:pPr lvl="1"/>
            <a:r>
              <a:rPr kumimoji="1" lang="en-US" altLang="ko-Kore-KR" sz="2000" dirty="0"/>
              <a:t>Goal: speed up computation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9B754-547D-7063-519C-55C62269C09A}"/>
              </a:ext>
            </a:extLst>
          </p:cNvPr>
          <p:cNvSpPr txBox="1"/>
          <p:nvPr/>
        </p:nvSpPr>
        <p:spPr>
          <a:xfrm>
            <a:off x="179512" y="260648"/>
            <a:ext cx="8784976" cy="1200329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ore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is about dealing with lots of things at once. </a:t>
            </a:r>
          </a:p>
          <a:p>
            <a:r>
              <a:rPr kumimoji="1" lang="en-US" altLang="ko-Kore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Parallelism is about doing lots of things at once.                  </a:t>
            </a:r>
          </a:p>
          <a:p>
            <a:r>
              <a:rPr lang="en-US" altLang="ko-Kore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- Rob Pike (Co-creator of Go language)</a:t>
            </a:r>
            <a:endParaRPr kumimoji="1" lang="ko-Kore-KR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7DE21D-FF3C-A10F-B445-E36B43D8C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891" y="2060848"/>
            <a:ext cx="2495207" cy="168281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AA2FB6-9990-2A1D-D1D2-80BC4597B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793" y="4653136"/>
            <a:ext cx="2495207" cy="168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62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제목 1">
            <a:extLst>
              <a:ext uri="{FF2B5EF4-FFF2-40B4-BE49-F238E27FC236}">
                <a16:creationId xmlns:a16="http://schemas.microsoft.com/office/drawing/2014/main" id="{25C0645E-1176-0884-E5C4-315A2455D9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Parallelism vs Concurrency</a:t>
            </a:r>
            <a:endParaRPr lang="ko-KR" altLang="en-US"/>
          </a:p>
        </p:txBody>
      </p:sp>
      <p:sp>
        <p:nvSpPr>
          <p:cNvPr id="26626" name="내용 개체 틀 2">
            <a:extLst>
              <a:ext uri="{FF2B5EF4-FFF2-40B4-BE49-F238E27FC236}">
                <a16:creationId xmlns:a16="http://schemas.microsoft.com/office/drawing/2014/main" id="{11C97F40-0E0E-C546-23A2-C675E75078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Often Used interchangeably</a:t>
            </a:r>
          </a:p>
          <a:p>
            <a:endParaRPr lang="en-US" altLang="ko-KR"/>
          </a:p>
          <a:p>
            <a:r>
              <a:rPr lang="en-US" altLang="ko-KR"/>
              <a:t>In practice, the distinction between parallelism and concurrency is not absolute</a:t>
            </a:r>
          </a:p>
          <a:p>
            <a:endParaRPr lang="en-US" altLang="ko-KR"/>
          </a:p>
          <a:p>
            <a:r>
              <a:rPr lang="en-US" altLang="ko-KR"/>
              <a:t>Many multithreaded programs have aspects of both</a:t>
            </a:r>
          </a:p>
          <a:p>
            <a:pPr lvl="1">
              <a:buFont typeface="Wingdings" pitchFamily="2" charset="2"/>
              <a:buNone/>
            </a:pPr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제목 1">
            <a:extLst>
              <a:ext uri="{FF2B5EF4-FFF2-40B4-BE49-F238E27FC236}">
                <a16:creationId xmlns:a16="http://schemas.microsoft.com/office/drawing/2014/main" id="{0844D91F-8A2C-4C75-5FAF-9C4CE5A84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Parallel Programming Techniques</a:t>
            </a:r>
            <a:endParaRPr lang="ko-KR" altLang="en-US" sz="3600" b="1" u="sng"/>
          </a:p>
        </p:txBody>
      </p:sp>
      <p:sp>
        <p:nvSpPr>
          <p:cNvPr id="27650" name="내용 개체 틀 2">
            <a:extLst>
              <a:ext uri="{FF2B5EF4-FFF2-40B4-BE49-F238E27FC236}">
                <a16:creationId xmlns:a16="http://schemas.microsoft.com/office/drawing/2014/main" id="{4F82165F-69C8-C611-E309-EAB2930074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Shared Memory</a:t>
            </a:r>
          </a:p>
          <a:p>
            <a:pPr lvl="1"/>
            <a:r>
              <a:rPr lang="en-US" altLang="ko-KR" sz="2000"/>
              <a:t>OpenMP, pthreads</a:t>
            </a:r>
          </a:p>
          <a:p>
            <a:endParaRPr lang="en-US" altLang="ko-KR" sz="2400"/>
          </a:p>
          <a:p>
            <a:r>
              <a:rPr lang="en-US" altLang="ko-KR" sz="2400"/>
              <a:t>Distributed Memory</a:t>
            </a:r>
          </a:p>
          <a:p>
            <a:pPr lvl="1"/>
            <a:r>
              <a:rPr lang="en-US" altLang="ko-KR" sz="2000"/>
              <a:t>MPI</a:t>
            </a:r>
          </a:p>
          <a:p>
            <a:pPr lvl="1"/>
            <a:endParaRPr lang="en-US" altLang="ko-KR" sz="2000"/>
          </a:p>
          <a:p>
            <a:r>
              <a:rPr lang="en-US" altLang="ko-KR" sz="2000"/>
              <a:t>Distributed/Shared Memory</a:t>
            </a:r>
          </a:p>
          <a:p>
            <a:pPr lvl="1"/>
            <a:r>
              <a:rPr lang="en-US" altLang="ko-KR" sz="2000"/>
              <a:t>Hybrid (MPI+OpenMP)</a:t>
            </a:r>
          </a:p>
          <a:p>
            <a:pPr lvl="1"/>
            <a:endParaRPr lang="en-US" altLang="ko-KR" sz="2000"/>
          </a:p>
          <a:p>
            <a:r>
              <a:rPr lang="en-US" altLang="ko-KR" sz="2400"/>
              <a:t>GPU Parallel Programming</a:t>
            </a:r>
          </a:p>
          <a:p>
            <a:pPr lvl="1"/>
            <a:r>
              <a:rPr lang="en-US" altLang="ko-KR" sz="2000"/>
              <a:t>CUDA programming (NVIDIA)</a:t>
            </a:r>
          </a:p>
          <a:p>
            <a:pPr lvl="1"/>
            <a:r>
              <a:rPr lang="en-US" altLang="ko-KR" sz="2000"/>
              <a:t>OpenCL</a:t>
            </a:r>
            <a:endParaRPr lang="en-US" altLang="ko-KR" sz="1600"/>
          </a:p>
          <a:p>
            <a:pPr lvl="1"/>
            <a:endParaRPr lang="ko-KR" altLang="en-US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제목 1">
            <a:extLst>
              <a:ext uri="{FF2B5EF4-FFF2-40B4-BE49-F238E27FC236}">
                <a16:creationId xmlns:a16="http://schemas.microsoft.com/office/drawing/2014/main" id="{E80EC560-C3D4-F6C7-BCD4-243EB1072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Parallel Processing Systems</a:t>
            </a:r>
            <a:endParaRPr lang="ko-KR" altLang="en-US" b="1" u="sng"/>
          </a:p>
        </p:txBody>
      </p:sp>
      <p:sp>
        <p:nvSpPr>
          <p:cNvPr id="28674" name="내용 개체 틀 2">
            <a:extLst>
              <a:ext uri="{FF2B5EF4-FFF2-40B4-BE49-F238E27FC236}">
                <a16:creationId xmlns:a16="http://schemas.microsoft.com/office/drawing/2014/main" id="{DAF1203A-21B8-3165-1E66-C3E40A1B82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23988"/>
            <a:ext cx="8229600" cy="4525962"/>
          </a:xfrm>
        </p:spPr>
        <p:txBody>
          <a:bodyPr/>
          <a:lstStyle/>
          <a:p>
            <a:r>
              <a:rPr lang="en-US" altLang="ko-KR" sz="2800"/>
              <a:t>Small-Scale Multicore Environment</a:t>
            </a:r>
          </a:p>
          <a:p>
            <a:pPr lvl="1"/>
            <a:r>
              <a:rPr lang="en-US" altLang="ko-KR" sz="2000"/>
              <a:t>Notebook, Workstation, Server</a:t>
            </a:r>
          </a:p>
          <a:p>
            <a:pPr lvl="1"/>
            <a:r>
              <a:rPr lang="en-US" altLang="ko-KR" sz="2000"/>
              <a:t>OS supports multicore</a:t>
            </a:r>
          </a:p>
          <a:p>
            <a:pPr lvl="1"/>
            <a:r>
              <a:rPr lang="en-US" altLang="ko-KR" sz="2000"/>
              <a:t>POSIX threads (pthread) , win32 thread</a:t>
            </a:r>
          </a:p>
          <a:p>
            <a:pPr lvl="1"/>
            <a:r>
              <a:rPr lang="en-US" altLang="ko-KR" sz="2000"/>
              <a:t>GPGPU-based supercomputer</a:t>
            </a:r>
          </a:p>
          <a:p>
            <a:pPr lvl="1"/>
            <a:r>
              <a:rPr lang="en-US" altLang="ko-KR" sz="2000"/>
              <a:t>Development of CUDA/OpenCL/GPGPU </a:t>
            </a:r>
          </a:p>
          <a:p>
            <a:endParaRPr lang="en-US" altLang="ko-KR" sz="2800"/>
          </a:p>
          <a:p>
            <a:r>
              <a:rPr lang="en-US" altLang="ko-KR" sz="2800"/>
              <a:t>Large-Scale Multicore Environment</a:t>
            </a:r>
          </a:p>
          <a:p>
            <a:pPr lvl="1"/>
            <a:r>
              <a:rPr lang="en-US" altLang="ko-KR" sz="2000"/>
              <a:t>Supercomputer : more than 10,000 cores</a:t>
            </a:r>
          </a:p>
          <a:p>
            <a:pPr lvl="1"/>
            <a:r>
              <a:rPr lang="en-US" altLang="ko-KR" sz="2000"/>
              <a:t>Clusters</a:t>
            </a:r>
          </a:p>
          <a:p>
            <a:pPr lvl="1"/>
            <a:r>
              <a:rPr lang="en-US" altLang="ko-KR" sz="2000"/>
              <a:t>Servers</a:t>
            </a:r>
          </a:p>
          <a:p>
            <a:pPr lvl="1"/>
            <a:r>
              <a:rPr lang="en-US" altLang="ko-KR" sz="2000"/>
              <a:t>Grid Computing</a:t>
            </a:r>
            <a:endParaRPr lang="ko-KR" altLang="en-US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제목 1">
            <a:extLst>
              <a:ext uri="{FF2B5EF4-FFF2-40B4-BE49-F238E27FC236}">
                <a16:creationId xmlns:a16="http://schemas.microsoft.com/office/drawing/2014/main" id="{0A89388D-82DC-2DD4-D14B-44F356AEE4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/>
              <a:t>Parallel Computing vs. Distributed Computing</a:t>
            </a:r>
            <a:endParaRPr lang="ko-KR" altLang="en-US" sz="2800" b="1" u="sng"/>
          </a:p>
        </p:txBody>
      </p:sp>
      <p:sp>
        <p:nvSpPr>
          <p:cNvPr id="29698" name="내용 개체 틀 2">
            <a:extLst>
              <a:ext uri="{FF2B5EF4-FFF2-40B4-BE49-F238E27FC236}">
                <a16:creationId xmlns:a16="http://schemas.microsoft.com/office/drawing/2014/main" id="{A4211671-EAD2-69B5-42E4-DD495D1A01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Parallel Computing</a:t>
            </a:r>
          </a:p>
          <a:p>
            <a:pPr lvl="1"/>
            <a:r>
              <a:rPr lang="en-US" altLang="ko-KR" sz="2000"/>
              <a:t>all processors may have access to a shared memory to exchange information between processors.</a:t>
            </a:r>
          </a:p>
          <a:p>
            <a:pPr lvl="1"/>
            <a:r>
              <a:rPr lang="en-US" altLang="ko-KR" sz="2000"/>
              <a:t>more tightly coupled to multi-threading</a:t>
            </a:r>
          </a:p>
          <a:p>
            <a:pPr lvl="1"/>
            <a:endParaRPr lang="en-US" altLang="ko-KR" sz="2400"/>
          </a:p>
          <a:p>
            <a:r>
              <a:rPr lang="en-US" altLang="ko-KR" sz="2800"/>
              <a:t>Distributed Computing</a:t>
            </a:r>
          </a:p>
          <a:p>
            <a:pPr lvl="1"/>
            <a:r>
              <a:rPr lang="en-US" altLang="ko-KR" sz="2000"/>
              <a:t>multiple computers communicate through network</a:t>
            </a:r>
          </a:p>
          <a:p>
            <a:pPr lvl="1"/>
            <a:r>
              <a:rPr lang="en-US" altLang="ko-KR" sz="2000"/>
              <a:t>each processor has its own private memory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2000"/>
              <a:t>   (distributed memory). </a:t>
            </a:r>
          </a:p>
          <a:p>
            <a:pPr lvl="1"/>
            <a:r>
              <a:rPr lang="en-US" altLang="ko-KR" sz="2000"/>
              <a:t>executing sub-tasks on different machines and then merging the results.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제목 1">
            <a:extLst>
              <a:ext uri="{FF2B5EF4-FFF2-40B4-BE49-F238E27FC236}">
                <a16:creationId xmlns:a16="http://schemas.microsoft.com/office/drawing/2014/main" id="{2369B5CA-688A-2F82-0447-BA614E927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/>
              <a:t>Parallel Computing vs. Distributed Computing</a:t>
            </a:r>
            <a:endParaRPr lang="ko-KR" altLang="en-US" sz="2800" b="1" u="sng"/>
          </a:p>
        </p:txBody>
      </p:sp>
      <p:sp>
        <p:nvSpPr>
          <p:cNvPr id="30722" name="내용 개체 틀 2">
            <a:extLst>
              <a:ext uri="{FF2B5EF4-FFF2-40B4-BE49-F238E27FC236}">
                <a16:creationId xmlns:a16="http://schemas.microsoft.com/office/drawing/2014/main" id="{46B90907-2E47-0AEC-8BBC-9EF7870918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5589588"/>
            <a:ext cx="8229600" cy="1079500"/>
          </a:xfrm>
        </p:spPr>
        <p:txBody>
          <a:bodyPr/>
          <a:lstStyle/>
          <a:p>
            <a:r>
              <a:rPr lang="en-US" altLang="ko-KR"/>
              <a:t>No Clear Distinction </a:t>
            </a:r>
          </a:p>
        </p:txBody>
      </p:sp>
      <p:pic>
        <p:nvPicPr>
          <p:cNvPr id="30723" name="Picture 4">
            <a:extLst>
              <a:ext uri="{FF2B5EF4-FFF2-40B4-BE49-F238E27FC236}">
                <a16:creationId xmlns:a16="http://schemas.microsoft.com/office/drawing/2014/main" id="{F47C4475-7313-CC72-0B34-1C6A20A5D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" t="32448" r="13264" b="3613"/>
          <a:stretch>
            <a:fillRect/>
          </a:stretch>
        </p:blipFill>
        <p:spPr bwMode="auto">
          <a:xfrm>
            <a:off x="827088" y="1557338"/>
            <a:ext cx="3313112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TextBox 4">
            <a:extLst>
              <a:ext uri="{FF2B5EF4-FFF2-40B4-BE49-F238E27FC236}">
                <a16:creationId xmlns:a16="http://schemas.microsoft.com/office/drawing/2014/main" id="{FD75EC97-904F-4654-F8A8-0FE6B08BD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1628775"/>
            <a:ext cx="2601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/>
              <a:t>Distributed Computing</a:t>
            </a:r>
            <a:endParaRPr lang="ko-KR" altLang="en-US" sz="1800" b="1"/>
          </a:p>
        </p:txBody>
      </p:sp>
      <p:sp>
        <p:nvSpPr>
          <p:cNvPr id="30725" name="TextBox 5">
            <a:extLst>
              <a:ext uri="{FF2B5EF4-FFF2-40B4-BE49-F238E27FC236}">
                <a16:creationId xmlns:a16="http://schemas.microsoft.com/office/drawing/2014/main" id="{45A44895-6D58-C40B-1D3D-EC91ED9CF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508500"/>
            <a:ext cx="2181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/>
              <a:t>Parallel Computing</a:t>
            </a:r>
            <a:endParaRPr lang="ko-KR" altLang="en-US" sz="18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제목 1">
            <a:extLst>
              <a:ext uri="{FF2B5EF4-FFF2-40B4-BE49-F238E27FC236}">
                <a16:creationId xmlns:a16="http://schemas.microsoft.com/office/drawing/2014/main" id="{A23A585A-9962-850F-F740-09D403CCEB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Cluster Computing vs. Grid Computing</a:t>
            </a:r>
            <a:endParaRPr lang="ko-KR" altLang="en-US" sz="3200" b="1" u="sng"/>
          </a:p>
        </p:txBody>
      </p:sp>
      <p:sp>
        <p:nvSpPr>
          <p:cNvPr id="31746" name="내용 개체 틀 2">
            <a:extLst>
              <a:ext uri="{FF2B5EF4-FFF2-40B4-BE49-F238E27FC236}">
                <a16:creationId xmlns:a16="http://schemas.microsoft.com/office/drawing/2014/main" id="{1A427B23-54A6-8D44-1875-611E353360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r>
              <a:rPr lang="en-US" altLang="ko-KR"/>
              <a:t>Cluster Computing</a:t>
            </a:r>
          </a:p>
          <a:p>
            <a:pPr lvl="1"/>
            <a:r>
              <a:rPr lang="en-US" altLang="ko-KR" sz="2000"/>
              <a:t>a set of loosely connected computers that work together so that in many respects they can be viewed as a single system</a:t>
            </a:r>
          </a:p>
          <a:p>
            <a:pPr lvl="1"/>
            <a:r>
              <a:rPr lang="en-US" altLang="ko-KR" sz="2000"/>
              <a:t>good price / performance</a:t>
            </a:r>
          </a:p>
          <a:p>
            <a:pPr lvl="1"/>
            <a:r>
              <a:rPr lang="en-US" altLang="ko-KR" sz="2000"/>
              <a:t>memory not shared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Grid Computing</a:t>
            </a:r>
          </a:p>
          <a:p>
            <a:pPr lvl="1"/>
            <a:r>
              <a:rPr lang="en-US" altLang="ko-KR" sz="2000"/>
              <a:t>federation of computer resources from multiple locations to reach a common goal (a large scale distributed system)</a:t>
            </a:r>
          </a:p>
          <a:p>
            <a:pPr lvl="1"/>
            <a:r>
              <a:rPr lang="en-US" altLang="ko-KR" sz="2000"/>
              <a:t>grids tend to be more loosely coupled, heterogeneous, and geographically dispersed</a:t>
            </a:r>
            <a:endParaRPr lang="ko-KR" altLang="en-US" sz="2000"/>
          </a:p>
        </p:txBody>
      </p:sp>
      <p:pic>
        <p:nvPicPr>
          <p:cNvPr id="31747" name="Picture 2" descr="File:MEGWARE.CLIC.jpg">
            <a:extLst>
              <a:ext uri="{FF2B5EF4-FFF2-40B4-BE49-F238E27FC236}">
                <a16:creationId xmlns:a16="http://schemas.microsoft.com/office/drawing/2014/main" id="{FA1CF319-6BEB-24BA-4627-3711ED754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2781300"/>
            <a:ext cx="201612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제목 1">
            <a:extLst>
              <a:ext uri="{FF2B5EF4-FFF2-40B4-BE49-F238E27FC236}">
                <a16:creationId xmlns:a16="http://schemas.microsoft.com/office/drawing/2014/main" id="{0F9EA1F7-BEE2-09F4-41E1-8789C1466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Cluster Computing vs. Grid Computing</a:t>
            </a:r>
            <a:endParaRPr lang="ko-KR" altLang="en-US" sz="3200"/>
          </a:p>
        </p:txBody>
      </p:sp>
      <p:sp>
        <p:nvSpPr>
          <p:cNvPr id="32770" name="내용 개체 틀 2">
            <a:extLst>
              <a:ext uri="{FF2B5EF4-FFF2-40B4-BE49-F238E27FC236}">
                <a16:creationId xmlns:a16="http://schemas.microsoft.com/office/drawing/2014/main" id="{6BA5DDFA-069B-77FA-E54A-6F3F2523A7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2771" name="Picture 2" descr="http://www.csa.com/discoveryguides/grid/images/gridcomp.gif">
            <a:extLst>
              <a:ext uri="{FF2B5EF4-FFF2-40B4-BE49-F238E27FC236}">
                <a16:creationId xmlns:a16="http://schemas.microsoft.com/office/drawing/2014/main" id="{DAEF0905-4ED5-BA15-C419-695FC4867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628775"/>
            <a:ext cx="6992937" cy="4941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제목 1">
            <a:extLst>
              <a:ext uri="{FF2B5EF4-FFF2-40B4-BE49-F238E27FC236}">
                <a16:creationId xmlns:a16="http://schemas.microsoft.com/office/drawing/2014/main" id="{FD79C9C8-6484-F8E5-91D0-BE36F5467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15888"/>
            <a:ext cx="8856662" cy="1143000"/>
          </a:xfrm>
        </p:spPr>
        <p:txBody>
          <a:bodyPr/>
          <a:lstStyle/>
          <a:p>
            <a:r>
              <a:rPr lang="en-US" altLang="ko-KR" sz="3200" b="1" u="sng"/>
              <a:t>Example of Grid Computing (Folding@Home)</a:t>
            </a:r>
            <a:endParaRPr lang="ko-KR" altLang="en-US" sz="3200" b="1" u="sng"/>
          </a:p>
        </p:txBody>
      </p:sp>
      <p:pic>
        <p:nvPicPr>
          <p:cNvPr id="33794" name="그림 5">
            <a:extLst>
              <a:ext uri="{FF2B5EF4-FFF2-40B4-BE49-F238E27FC236}">
                <a16:creationId xmlns:a16="http://schemas.microsoft.com/office/drawing/2014/main" id="{7B4C08A9-4BD1-DA78-B181-B55D65FF3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052513"/>
            <a:ext cx="7345363" cy="567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5" name="Picture 6">
            <a:extLst>
              <a:ext uri="{FF2B5EF4-FFF2-40B4-BE49-F238E27FC236}">
                <a16:creationId xmlns:a16="http://schemas.microsoft.com/office/drawing/2014/main" id="{16F97C20-1158-5642-9B7D-BF2B363F6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738" y="4365625"/>
            <a:ext cx="5002212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제목 1">
            <a:extLst>
              <a:ext uri="{FF2B5EF4-FFF2-40B4-BE49-F238E27FC236}">
                <a16:creationId xmlns:a16="http://schemas.microsoft.com/office/drawing/2014/main" id="{CF608245-E52F-4D09-1C15-0B361D6B7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274638"/>
            <a:ext cx="8856662" cy="1143000"/>
          </a:xfrm>
        </p:spPr>
        <p:txBody>
          <a:bodyPr/>
          <a:lstStyle/>
          <a:p>
            <a:r>
              <a:rPr lang="en-US" altLang="ko-KR" sz="3200" b="1" u="sng"/>
              <a:t>Example of Grid Computing (Folding@Home)</a:t>
            </a:r>
            <a:endParaRPr lang="ko-KR" altLang="en-US" sz="3200" b="1" u="sng"/>
          </a:p>
        </p:txBody>
      </p:sp>
      <p:pic>
        <p:nvPicPr>
          <p:cNvPr id="34818" name="그림 3">
            <a:extLst>
              <a:ext uri="{FF2B5EF4-FFF2-40B4-BE49-F238E27FC236}">
                <a16:creationId xmlns:a16="http://schemas.microsoft.com/office/drawing/2014/main" id="{1B478F69-F69F-F72D-DAFA-F37DB39D1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628775"/>
            <a:ext cx="4060825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그림 4">
            <a:extLst>
              <a:ext uri="{FF2B5EF4-FFF2-40B4-BE49-F238E27FC236}">
                <a16:creationId xmlns:a16="http://schemas.microsoft.com/office/drawing/2014/main" id="{4684244A-EB04-C516-B8FA-9866C51F4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628775"/>
            <a:ext cx="4062412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그림 8">
            <a:extLst>
              <a:ext uri="{FF2B5EF4-FFF2-40B4-BE49-F238E27FC236}">
                <a16:creationId xmlns:a16="http://schemas.microsoft.com/office/drawing/2014/main" id="{1D875F64-2A43-73A4-3DE4-52A5C163E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675" y="4105275"/>
            <a:ext cx="4067175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그림 9">
            <a:extLst>
              <a:ext uri="{FF2B5EF4-FFF2-40B4-BE49-F238E27FC236}">
                <a16:creationId xmlns:a16="http://schemas.microsoft.com/office/drawing/2014/main" id="{E4C6F52A-070C-3436-61B1-FBE8519AB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105275"/>
            <a:ext cx="4056063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제목 1">
            <a:extLst>
              <a:ext uri="{FF2B5EF4-FFF2-40B4-BE49-F238E27FC236}">
                <a16:creationId xmlns:a16="http://schemas.microsoft.com/office/drawing/2014/main" id="{A3851C5A-B629-DB8B-AB53-2C1E94F824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Cloud Computing</a:t>
            </a:r>
            <a:endParaRPr lang="ko-KR" altLang="en-US" b="1" u="sng"/>
          </a:p>
        </p:txBody>
      </p:sp>
      <p:sp>
        <p:nvSpPr>
          <p:cNvPr id="35842" name="내용 개체 틀 2">
            <a:extLst>
              <a:ext uri="{FF2B5EF4-FFF2-40B4-BE49-F238E27FC236}">
                <a16:creationId xmlns:a16="http://schemas.microsoft.com/office/drawing/2014/main" id="{01189C04-6437-56B6-D5B0-5BDD27E788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143125"/>
            <a:ext cx="8229600" cy="4525963"/>
          </a:xfrm>
        </p:spPr>
        <p:txBody>
          <a:bodyPr/>
          <a:lstStyle/>
          <a:p>
            <a:r>
              <a:rPr lang="en-US" altLang="ko-KR" sz="2400"/>
              <a:t>shares networked computing resources rather than having local servers or personal devices to handle applications.</a:t>
            </a:r>
          </a:p>
          <a:p>
            <a:endParaRPr lang="en-US" altLang="ko-KR" sz="2400"/>
          </a:p>
          <a:p>
            <a:r>
              <a:rPr lang="en-US" altLang="ko-KR" sz="2400"/>
              <a:t>“Cloud” is used as a metaphor for “Internet" </a:t>
            </a:r>
          </a:p>
          <a:p>
            <a:pPr>
              <a:buFont typeface="Wingdings" pitchFamily="2" charset="2"/>
              <a:buNone/>
            </a:pPr>
            <a:r>
              <a:rPr lang="en-US" altLang="ko-KR" sz="2400"/>
              <a:t>   meaning "a type of Internet-based computing,“ </a:t>
            </a:r>
          </a:p>
          <a:p>
            <a:endParaRPr lang="en-US" altLang="ko-KR" sz="2400"/>
          </a:p>
          <a:p>
            <a:r>
              <a:rPr lang="en-US" altLang="ko-KR" sz="2400"/>
              <a:t>different services - such as servers, storage and applications - are delivered to an user’s computers and smart phones through the Internet.</a:t>
            </a:r>
            <a:endParaRPr lang="ko-KR" altLang="en-US" sz="2400"/>
          </a:p>
        </p:txBody>
      </p:sp>
      <p:pic>
        <p:nvPicPr>
          <p:cNvPr id="35843" name="Picture 2" descr="http://www.onbile.com/info/wp-content/uploads/2011/11/cloudcomputing.jpg">
            <a:extLst>
              <a:ext uri="{FF2B5EF4-FFF2-40B4-BE49-F238E27FC236}">
                <a16:creationId xmlns:a16="http://schemas.microsoft.com/office/drawing/2014/main" id="{8184EBF8-300B-714F-240C-2E2C77328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71438"/>
            <a:ext cx="2060575" cy="2062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제목 1">
            <a:extLst>
              <a:ext uri="{FF2B5EF4-FFF2-40B4-BE49-F238E27FC236}">
                <a16:creationId xmlns:a16="http://schemas.microsoft.com/office/drawing/2014/main" id="{8FBA372F-5214-6D7C-6EB6-FA3E68A8CB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Good Parallel Program</a:t>
            </a:r>
            <a:endParaRPr lang="ko-KR" altLang="en-US" b="1" u="sng"/>
          </a:p>
        </p:txBody>
      </p:sp>
      <p:sp>
        <p:nvSpPr>
          <p:cNvPr id="36866" name="내용 개체 틀 2">
            <a:extLst>
              <a:ext uri="{FF2B5EF4-FFF2-40B4-BE49-F238E27FC236}">
                <a16:creationId xmlns:a16="http://schemas.microsoft.com/office/drawing/2014/main" id="{48343940-80E2-0BFD-3F82-21CB1971E4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Writing good parallel programs</a:t>
            </a:r>
          </a:p>
          <a:p>
            <a:pPr lvl="1"/>
            <a:r>
              <a:rPr lang="en-US" altLang="ko-KR"/>
              <a:t>Correct (Result)</a:t>
            </a:r>
          </a:p>
          <a:p>
            <a:pPr lvl="1"/>
            <a:r>
              <a:rPr lang="en-US" altLang="ko-KR"/>
              <a:t>Good Performance</a:t>
            </a:r>
          </a:p>
          <a:p>
            <a:pPr lvl="1"/>
            <a:r>
              <a:rPr lang="en-US" altLang="ko-KR"/>
              <a:t>Scalability</a:t>
            </a:r>
          </a:p>
          <a:p>
            <a:pPr lvl="1"/>
            <a:r>
              <a:rPr lang="en-US" altLang="ko-KR"/>
              <a:t>Load Balance</a:t>
            </a:r>
          </a:p>
          <a:p>
            <a:pPr lvl="1"/>
            <a:r>
              <a:rPr lang="en-US" altLang="ko-KR"/>
              <a:t>Portability</a:t>
            </a:r>
          </a:p>
          <a:p>
            <a:pPr lvl="1"/>
            <a:r>
              <a:rPr lang="en-US" altLang="ko-KR"/>
              <a:t>Hardware Specific Utilization</a:t>
            </a:r>
          </a:p>
          <a:p>
            <a:endParaRPr lang="ko-K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제목 1">
            <a:extLst>
              <a:ext uri="{FF2B5EF4-FFF2-40B4-BE49-F238E27FC236}">
                <a16:creationId xmlns:a16="http://schemas.microsoft.com/office/drawing/2014/main" id="{EA1FFA5A-4BDB-6E71-341A-5D0F78E206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Moore’s Law : Review</a:t>
            </a:r>
            <a:endParaRPr lang="ko-KR" altLang="en-US" b="1" u="sng"/>
          </a:p>
        </p:txBody>
      </p:sp>
      <p:sp>
        <p:nvSpPr>
          <p:cNvPr id="16386" name="내용 개체 틀 2">
            <a:extLst>
              <a:ext uri="{FF2B5EF4-FFF2-40B4-BE49-F238E27FC236}">
                <a16:creationId xmlns:a16="http://schemas.microsoft.com/office/drawing/2014/main" id="{326FC599-4262-2DBC-A682-DBD13745E0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r>
              <a:rPr lang="en-US" altLang="ko-KR" sz="2000"/>
              <a:t>Doubling of the number of transistors on integrated circuits roughly every two years.</a:t>
            </a:r>
          </a:p>
          <a:p>
            <a:r>
              <a:rPr lang="en-US" altLang="ko-KR" sz="2000"/>
              <a:t>Microprocessors have become smaller, denser, and more powerful.</a:t>
            </a:r>
          </a:p>
          <a:p>
            <a:r>
              <a:rPr lang="en-US" altLang="ko-KR" sz="2000"/>
              <a:t>processing speed, memory capacity, sensors and even the number and size of pixels in digital cameras.All of these are improving at (roughly) exponential rates</a:t>
            </a:r>
            <a:endParaRPr lang="ko-KR" altLang="en-US" sz="2000"/>
          </a:p>
        </p:txBody>
      </p:sp>
      <p:pic>
        <p:nvPicPr>
          <p:cNvPr id="16387" name="Picture 5">
            <a:extLst>
              <a:ext uri="{FF2B5EF4-FFF2-40B4-BE49-F238E27FC236}">
                <a16:creationId xmlns:a16="http://schemas.microsoft.com/office/drawing/2014/main" id="{D72F6761-BCC4-8058-2889-A4EAE5B1D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" t="13606" r="11356" b="14433"/>
          <a:stretch>
            <a:fillRect/>
          </a:stretch>
        </p:blipFill>
        <p:spPr bwMode="auto">
          <a:xfrm>
            <a:off x="2124075" y="3570288"/>
            <a:ext cx="3816350" cy="313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제목 1">
            <a:extLst>
              <a:ext uri="{FF2B5EF4-FFF2-40B4-BE49-F238E27FC236}">
                <a16:creationId xmlns:a16="http://schemas.microsoft.com/office/drawing/2014/main" id="{0CDB35A9-6117-E847-C4A3-B9C4436F4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Computer Hardware Trend</a:t>
            </a:r>
            <a:endParaRPr lang="ko-KR" altLang="en-US" b="1" u="sng"/>
          </a:p>
        </p:txBody>
      </p:sp>
      <p:sp>
        <p:nvSpPr>
          <p:cNvPr id="17410" name="내용 개체 틀 2">
            <a:extLst>
              <a:ext uri="{FF2B5EF4-FFF2-40B4-BE49-F238E27FC236}">
                <a16:creationId xmlns:a16="http://schemas.microsoft.com/office/drawing/2014/main" id="{3C4DC337-3CBA-8094-7E78-A0ECAE256C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r>
              <a:rPr lang="en-US" altLang="ko-KR" sz="2000"/>
              <a:t>Chip density is continuing </a:t>
            </a:r>
          </a:p>
          <a:p>
            <a:pPr>
              <a:buFont typeface="Wingdings" pitchFamily="2" charset="2"/>
              <a:buNone/>
            </a:pPr>
            <a:r>
              <a:rPr lang="en-US" altLang="ko-KR" sz="2000"/>
              <a:t>    increase ~2x every 2years	</a:t>
            </a:r>
          </a:p>
          <a:p>
            <a:pPr lvl="1"/>
            <a:r>
              <a:rPr lang="en-US" altLang="ko-KR" sz="1600"/>
              <a:t>Clock speed is not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/>
              <a:t>(in high clock speed, power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/>
              <a:t>consumption and heat generation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/>
              <a:t>is too high to be tolerated.)</a:t>
            </a:r>
          </a:p>
          <a:p>
            <a:pPr lvl="1"/>
            <a:r>
              <a:rPr lang="en-US" altLang="ko-KR" sz="1600"/>
              <a:t># of cores may double instead</a:t>
            </a:r>
          </a:p>
          <a:p>
            <a:r>
              <a:rPr lang="en-US" altLang="ko-KR" sz="2000"/>
              <a:t>No more hidden parallelism</a:t>
            </a:r>
          </a:p>
          <a:p>
            <a:pPr>
              <a:buFont typeface="Wingdings" pitchFamily="2" charset="2"/>
              <a:buNone/>
            </a:pPr>
            <a:r>
              <a:rPr lang="en-US" altLang="ko-KR" sz="2000"/>
              <a:t> (ILP;instruction level parallelism)</a:t>
            </a:r>
          </a:p>
          <a:p>
            <a:pPr>
              <a:buFont typeface="Wingdings" pitchFamily="2" charset="2"/>
              <a:buNone/>
            </a:pPr>
            <a:r>
              <a:rPr lang="en-US" altLang="ko-KR" sz="2000"/>
              <a:t>  to be found</a:t>
            </a:r>
          </a:p>
          <a:p>
            <a:pPr>
              <a:buFont typeface="Wingdings" pitchFamily="2" charset="2"/>
              <a:buNone/>
            </a:pPr>
            <a:endParaRPr lang="en-US" altLang="ko-KR" sz="1400"/>
          </a:p>
          <a:p>
            <a:r>
              <a:rPr lang="en-US" altLang="ko-KR" sz="2000"/>
              <a:t>Transistor# still rising</a:t>
            </a:r>
          </a:p>
          <a:p>
            <a:r>
              <a:rPr lang="en-US" altLang="ko-KR" sz="2000"/>
              <a:t>Clock speed flattening sharply</a:t>
            </a:r>
          </a:p>
          <a:p>
            <a:endParaRPr lang="en-US" altLang="ko-KR" sz="2000"/>
          </a:p>
          <a:p>
            <a:r>
              <a:rPr lang="en-US" altLang="ko-KR" sz="2000"/>
              <a:t>Need Multicore programming!</a:t>
            </a:r>
            <a:endParaRPr lang="ko-KR" altLang="en-US" sz="2000"/>
          </a:p>
        </p:txBody>
      </p:sp>
      <p:pic>
        <p:nvPicPr>
          <p:cNvPr id="17411" name="Picture 4" descr="CPUBurton">
            <a:extLst>
              <a:ext uri="{FF2B5EF4-FFF2-40B4-BE49-F238E27FC236}">
                <a16:creationId xmlns:a16="http://schemas.microsoft.com/office/drawing/2014/main" id="{00CB3C4A-6384-67CF-A87E-019E37F2E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628775"/>
            <a:ext cx="4629150" cy="451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 Box 5">
            <a:extLst>
              <a:ext uri="{FF2B5EF4-FFF2-40B4-BE49-F238E27FC236}">
                <a16:creationId xmlns:a16="http://schemas.microsoft.com/office/drawing/2014/main" id="{291871E5-2EF2-C359-CFCE-B3CD826D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6280150"/>
            <a:ext cx="302577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/>
              <a:t>Source: Intel, Microsoft (Sutter) and Stanford (Olukotun, Hammond)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제목 1">
            <a:extLst>
              <a:ext uri="{FF2B5EF4-FFF2-40B4-BE49-F238E27FC236}">
                <a16:creationId xmlns:a16="http://schemas.microsoft.com/office/drawing/2014/main" id="{4D04C76C-5CC5-CF8C-17CF-938B99C4A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434" name="내용 개체 틀 2">
            <a:extLst>
              <a:ext uri="{FF2B5EF4-FFF2-40B4-BE49-F238E27FC236}">
                <a16:creationId xmlns:a16="http://schemas.microsoft.com/office/drawing/2014/main" id="{3A8031C8-6236-2CE9-D107-4D17737712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60A14CBD-2197-C394-44DF-9843AE4C4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3" t="13747" r="8693" b="1060"/>
          <a:stretch>
            <a:fillRect/>
          </a:stretch>
        </p:blipFill>
        <p:spPr bwMode="auto">
          <a:xfrm>
            <a:off x="576263" y="115888"/>
            <a:ext cx="8099425" cy="675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06CA8E3C-F914-7787-C89C-53255993B3D4}"/>
              </a:ext>
            </a:extLst>
          </p:cNvPr>
          <p:cNvCxnSpPr>
            <a:cxnSpLocks/>
          </p:cNvCxnSpPr>
          <p:nvPr/>
        </p:nvCxnSpPr>
        <p:spPr>
          <a:xfrm>
            <a:off x="5360660" y="1886352"/>
            <a:ext cx="3311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981FEB7D-83E1-18BD-9FA4-14529BF9765C}"/>
              </a:ext>
            </a:extLst>
          </p:cNvPr>
          <p:cNvCxnSpPr>
            <a:cxnSpLocks/>
          </p:cNvCxnSpPr>
          <p:nvPr/>
        </p:nvCxnSpPr>
        <p:spPr>
          <a:xfrm>
            <a:off x="611560" y="2060848"/>
            <a:ext cx="1800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B57C5AE7-45CC-6C62-6F1B-92306DF94298}"/>
              </a:ext>
            </a:extLst>
          </p:cNvPr>
          <p:cNvCxnSpPr>
            <a:cxnSpLocks/>
          </p:cNvCxnSpPr>
          <p:nvPr/>
        </p:nvCxnSpPr>
        <p:spPr>
          <a:xfrm>
            <a:off x="611560" y="2447176"/>
            <a:ext cx="10081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44C8E92C-E277-27BE-CEE4-50D8D2F03A8F}"/>
              </a:ext>
            </a:extLst>
          </p:cNvPr>
          <p:cNvCxnSpPr>
            <a:cxnSpLocks/>
          </p:cNvCxnSpPr>
          <p:nvPr/>
        </p:nvCxnSpPr>
        <p:spPr>
          <a:xfrm>
            <a:off x="4932040" y="2271152"/>
            <a:ext cx="34487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05401EB9-2F81-4960-5CBC-DECA259CE6F6}"/>
              </a:ext>
            </a:extLst>
          </p:cNvPr>
          <p:cNvCxnSpPr>
            <a:cxnSpLocks/>
          </p:cNvCxnSpPr>
          <p:nvPr/>
        </p:nvCxnSpPr>
        <p:spPr>
          <a:xfrm>
            <a:off x="2843808" y="2836932"/>
            <a:ext cx="553699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8FA8AE55-2DBF-1D46-330A-3374B3E55BF2}"/>
              </a:ext>
            </a:extLst>
          </p:cNvPr>
          <p:cNvCxnSpPr>
            <a:cxnSpLocks/>
          </p:cNvCxnSpPr>
          <p:nvPr/>
        </p:nvCxnSpPr>
        <p:spPr>
          <a:xfrm>
            <a:off x="664900" y="3217932"/>
            <a:ext cx="78568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E99A6044-F7C2-B150-481F-06404041A394}"/>
              </a:ext>
            </a:extLst>
          </p:cNvPr>
          <p:cNvCxnSpPr>
            <a:cxnSpLocks/>
          </p:cNvCxnSpPr>
          <p:nvPr/>
        </p:nvCxnSpPr>
        <p:spPr>
          <a:xfrm>
            <a:off x="649660" y="3043044"/>
            <a:ext cx="269820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587C99EB-2093-0EDF-E8D9-B74E64820A63}"/>
              </a:ext>
            </a:extLst>
          </p:cNvPr>
          <p:cNvCxnSpPr>
            <a:cxnSpLocks/>
          </p:cNvCxnSpPr>
          <p:nvPr/>
        </p:nvCxnSpPr>
        <p:spPr>
          <a:xfrm>
            <a:off x="6948264" y="2060848"/>
            <a:ext cx="15121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D3E66D87-25A1-9C08-6FFE-49B9BD4BF1D6}"/>
              </a:ext>
            </a:extLst>
          </p:cNvPr>
          <p:cNvCxnSpPr>
            <a:cxnSpLocks/>
          </p:cNvCxnSpPr>
          <p:nvPr/>
        </p:nvCxnSpPr>
        <p:spPr>
          <a:xfrm>
            <a:off x="680080" y="2263532"/>
            <a:ext cx="417995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id="{E53ACB60-AF84-7B3F-0E3E-1C6F8322EE67}"/>
              </a:ext>
            </a:extLst>
          </p:cNvPr>
          <p:cNvCxnSpPr>
            <a:cxnSpLocks/>
          </p:cNvCxnSpPr>
          <p:nvPr/>
        </p:nvCxnSpPr>
        <p:spPr>
          <a:xfrm>
            <a:off x="7884368" y="3036208"/>
            <a:ext cx="5836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제목 1">
            <a:extLst>
              <a:ext uri="{FF2B5EF4-FFF2-40B4-BE49-F238E27FC236}">
                <a16:creationId xmlns:a16="http://schemas.microsoft.com/office/drawing/2014/main" id="{F47DD93C-3E11-4C70-C29D-36163F7783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Examples of Parallel Computer</a:t>
            </a:r>
            <a:endParaRPr lang="ko-KR" altLang="en-US" b="1" u="sng"/>
          </a:p>
        </p:txBody>
      </p:sp>
      <p:sp>
        <p:nvSpPr>
          <p:cNvPr id="19458" name="내용 개체 틀 2">
            <a:extLst>
              <a:ext uri="{FF2B5EF4-FFF2-40B4-BE49-F238E27FC236}">
                <a16:creationId xmlns:a16="http://schemas.microsoft.com/office/drawing/2014/main" id="{4639504E-E5AC-0CE8-2034-236C949302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Chip MultiProcessor (CMP)</a:t>
            </a:r>
          </a:p>
          <a:p>
            <a:pPr lvl="1"/>
            <a:r>
              <a:rPr lang="en-US" altLang="ko-KR" sz="2400"/>
              <a:t>Intel Core Duo</a:t>
            </a:r>
          </a:p>
          <a:p>
            <a:pPr lvl="1"/>
            <a:r>
              <a:rPr lang="en-US" altLang="ko-KR" sz="2400"/>
              <a:t>AMD Dual Core</a:t>
            </a:r>
          </a:p>
          <a:p>
            <a:r>
              <a:rPr lang="en-US" altLang="ko-KR" sz="2800"/>
              <a:t>Symmetric Multiprocessor (SMP)</a:t>
            </a:r>
          </a:p>
          <a:p>
            <a:pPr lvl="1"/>
            <a:r>
              <a:rPr lang="en-US" altLang="ko-KR" sz="2400"/>
              <a:t>Sun Fire E25K</a:t>
            </a:r>
          </a:p>
          <a:p>
            <a:r>
              <a:rPr lang="en-US" altLang="ko-KR" sz="2800"/>
              <a:t>Heterogeneous Chips</a:t>
            </a:r>
          </a:p>
          <a:p>
            <a:pPr lvl="1"/>
            <a:r>
              <a:rPr lang="en-US" altLang="ko-KR" sz="2400"/>
              <a:t>Cell Processor</a:t>
            </a:r>
          </a:p>
          <a:p>
            <a:r>
              <a:rPr lang="en-US" altLang="ko-KR" sz="2800"/>
              <a:t>Clusters</a:t>
            </a:r>
          </a:p>
          <a:p>
            <a:r>
              <a:rPr lang="en-US" altLang="ko-KR" sz="2800"/>
              <a:t>Supercomputers</a:t>
            </a:r>
            <a:endParaRPr lang="ko-KR" altLang="en-US"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제목 1">
            <a:extLst>
              <a:ext uri="{FF2B5EF4-FFF2-40B4-BE49-F238E27FC236}">
                <a16:creationId xmlns:a16="http://schemas.microsoft.com/office/drawing/2014/main" id="{9A0AA1B6-A5F5-3003-BC3E-DB912FF76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Generic SMP</a:t>
            </a:r>
            <a:endParaRPr lang="ko-KR" altLang="en-US" b="1" u="sng"/>
          </a:p>
        </p:txBody>
      </p:sp>
      <p:sp>
        <p:nvSpPr>
          <p:cNvPr id="22530" name="내용 개체 틀 2">
            <a:extLst>
              <a:ext uri="{FF2B5EF4-FFF2-40B4-BE49-F238E27FC236}">
                <a16:creationId xmlns:a16="http://schemas.microsoft.com/office/drawing/2014/main" id="{AA7E1151-A54B-B82F-FE5E-7D43EA70BF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Symmetric MultiProcessor (SMP) System</a:t>
            </a:r>
          </a:p>
          <a:p>
            <a:pPr lvl="1"/>
            <a:r>
              <a:rPr lang="en-US" altLang="ko-KR" sz="2000"/>
              <a:t>multiprocessor hardware architecture </a:t>
            </a:r>
          </a:p>
          <a:p>
            <a:pPr lvl="1"/>
            <a:r>
              <a:rPr lang="en-US" altLang="ko-KR" sz="2000"/>
              <a:t>two or more identical processors are connected to a single shared memory</a:t>
            </a:r>
          </a:p>
          <a:p>
            <a:pPr lvl="1"/>
            <a:r>
              <a:rPr lang="en-US" altLang="ko-KR" sz="2000"/>
              <a:t>controlled by a single OS instance</a:t>
            </a:r>
          </a:p>
          <a:p>
            <a:pPr lvl="1"/>
            <a:r>
              <a:rPr lang="en-US" altLang="ko-KR" sz="2000"/>
              <a:t>Most common multiprocessor systems today use an SMP architecture</a:t>
            </a:r>
            <a:endParaRPr lang="en-US" altLang="ko-KR"/>
          </a:p>
          <a:p>
            <a:pPr lvl="1"/>
            <a:r>
              <a:rPr lang="en-US" altLang="ko-KR" sz="2000"/>
              <a:t>Both Multicore and multi-CPU </a:t>
            </a:r>
          </a:p>
          <a:p>
            <a:pPr lvl="1"/>
            <a:r>
              <a:rPr lang="en-US" altLang="ko-KR" sz="2000"/>
              <a:t>Single logical memory image</a:t>
            </a:r>
          </a:p>
          <a:p>
            <a:pPr lvl="1"/>
            <a:r>
              <a:rPr lang="en-US" altLang="ko-KR" sz="2000"/>
              <a:t>Shared bus often bottleneck</a:t>
            </a:r>
            <a:endParaRPr lang="ko-KR" altLang="en-US" sz="2000"/>
          </a:p>
        </p:txBody>
      </p:sp>
      <p:pic>
        <p:nvPicPr>
          <p:cNvPr id="22531" name="Picture 6" descr="File:SMP - Symmetric Multiprocessor System.svg">
            <a:extLst>
              <a:ext uri="{FF2B5EF4-FFF2-40B4-BE49-F238E27FC236}">
                <a16:creationId xmlns:a16="http://schemas.microsoft.com/office/drawing/2014/main" id="{8B5AA316-EAC8-FD18-7DA3-A3A9F7E4D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638" y="4076700"/>
            <a:ext cx="3810000" cy="24479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제목 1">
            <a:extLst>
              <a:ext uri="{FF2B5EF4-FFF2-40B4-BE49-F238E27FC236}">
                <a16:creationId xmlns:a16="http://schemas.microsoft.com/office/drawing/2014/main" id="{159A33E8-A176-3DD0-93AA-769944A573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GPGPU : NVIDIA GPU</a:t>
            </a:r>
            <a:endParaRPr lang="ko-KR" altLang="en-US" b="1" u="sng"/>
          </a:p>
        </p:txBody>
      </p:sp>
      <p:sp>
        <p:nvSpPr>
          <p:cNvPr id="23554" name="내용 개체 틀 2">
            <a:extLst>
              <a:ext uri="{FF2B5EF4-FFF2-40B4-BE49-F238E27FC236}">
                <a16:creationId xmlns:a16="http://schemas.microsoft.com/office/drawing/2014/main" id="{3D7259DC-9647-BF48-A402-08DA523D63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Tesla K20 </a:t>
            </a:r>
          </a:p>
          <a:p>
            <a:pPr lvl="1"/>
            <a:r>
              <a:rPr lang="en-US" altLang="ko-KR" sz="2000"/>
              <a:t>GPU : 1 Kepler GK110</a:t>
            </a:r>
          </a:p>
          <a:p>
            <a:pPr lvl="1"/>
            <a:r>
              <a:rPr lang="en-US" altLang="ko-KR" sz="2000"/>
              <a:t>2496 cores; 706MHz</a:t>
            </a:r>
          </a:p>
          <a:p>
            <a:pPr lvl="1"/>
            <a:r>
              <a:rPr lang="en-US" altLang="ko-KR" sz="2000"/>
              <a:t>Tpeak 3.52Tflop/s – 32bit floating point</a:t>
            </a:r>
          </a:p>
          <a:p>
            <a:pPr lvl="1"/>
            <a:r>
              <a:rPr lang="en-US" altLang="ko-KR" sz="2000"/>
              <a:t>Tpeak 1.17Tflop/s – 64bit floating point</a:t>
            </a:r>
          </a:p>
          <a:p>
            <a:endParaRPr lang="en-US" altLang="ko-KR" sz="2400"/>
          </a:p>
          <a:p>
            <a:r>
              <a:rPr lang="en-US" altLang="ko-KR" sz="2400"/>
              <a:t>GTX 680</a:t>
            </a:r>
          </a:p>
          <a:p>
            <a:pPr lvl="1"/>
            <a:r>
              <a:rPr lang="en-US" altLang="ko-KR" sz="2000"/>
              <a:t>1536 CUDA cores; 1.0GHz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제목 1">
            <a:extLst>
              <a:ext uri="{FF2B5EF4-FFF2-40B4-BE49-F238E27FC236}">
                <a16:creationId xmlns:a16="http://schemas.microsoft.com/office/drawing/2014/main" id="{5F2C56FF-160E-4E70-3B77-9244612C4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Hybrid Programming Model</a:t>
            </a:r>
            <a:endParaRPr lang="ko-KR" altLang="en-US" b="1" u="sng"/>
          </a:p>
        </p:txBody>
      </p:sp>
      <p:sp>
        <p:nvSpPr>
          <p:cNvPr id="24578" name="내용 개체 틀 2">
            <a:extLst>
              <a:ext uri="{FF2B5EF4-FFF2-40B4-BE49-F238E27FC236}">
                <a16:creationId xmlns:a16="http://schemas.microsoft.com/office/drawing/2014/main" id="{F1102969-D939-50F1-BCE3-FCF24C0E7F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Main CPU performs hard to parallelize portion</a:t>
            </a:r>
          </a:p>
          <a:p>
            <a:r>
              <a:rPr lang="en-US" altLang="ko-KR" sz="2800"/>
              <a:t>Attached processor (GPU) performs compute intensive parts</a:t>
            </a:r>
            <a:endParaRPr lang="ko-KR" altLang="en-US" sz="2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53FFA841-9952-8D92-0B86-35C8013B723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2971800"/>
            <a:ext cx="8001000" cy="1111250"/>
          </a:xfrm>
        </p:spPr>
        <p:txBody>
          <a:bodyPr/>
          <a:lstStyle/>
          <a:p>
            <a:r>
              <a:rPr lang="en-US" altLang="ko-KR" b="1"/>
              <a:t>Why writing (fast) parallel programs is hard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0025C2C7-FB6E-2C93-8289-7D0496C8E9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8513" y="630238"/>
            <a:ext cx="7345362" cy="422275"/>
          </a:xfrm>
        </p:spPr>
        <p:txBody>
          <a:bodyPr/>
          <a:lstStyle/>
          <a:p>
            <a:r>
              <a:rPr lang="en-US" altLang="ko-KR" sz="3600" b="1" u="sng"/>
              <a:t>Principles of Parallel Computing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04E062EB-E18D-1FF1-5F25-E2BBA18272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03350"/>
            <a:ext cx="8001000" cy="2889250"/>
          </a:xfrm>
        </p:spPr>
        <p:txBody>
          <a:bodyPr/>
          <a:lstStyle/>
          <a:p>
            <a:r>
              <a:rPr lang="en-US" altLang="ko-KR" sz="2800"/>
              <a:t>Finding enough parallelism  (Amdahl’s Law)</a:t>
            </a:r>
          </a:p>
          <a:p>
            <a:r>
              <a:rPr lang="en-US" altLang="ko-KR" sz="2800"/>
              <a:t>granularity</a:t>
            </a:r>
          </a:p>
          <a:p>
            <a:r>
              <a:rPr lang="en-US" altLang="ko-KR" sz="2800"/>
              <a:t>Locality</a:t>
            </a:r>
          </a:p>
          <a:p>
            <a:r>
              <a:rPr lang="en-US" altLang="ko-KR" sz="2800"/>
              <a:t>Load balance</a:t>
            </a:r>
          </a:p>
          <a:p>
            <a:r>
              <a:rPr lang="en-US" altLang="ko-KR" sz="2800"/>
              <a:t>Coordination and synchronization</a:t>
            </a:r>
          </a:p>
        </p:txBody>
      </p:sp>
      <p:sp>
        <p:nvSpPr>
          <p:cNvPr id="28675" name="Text Box 4">
            <a:extLst>
              <a:ext uri="{FF2B5EF4-FFF2-40B4-BE49-F238E27FC236}">
                <a16:creationId xmlns:a16="http://schemas.microsoft.com/office/drawing/2014/main" id="{30333F9B-03B9-5B14-EE7C-68E41016C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4283075"/>
            <a:ext cx="7112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800">
                <a:solidFill>
                  <a:schemeClr val="tx2"/>
                </a:solidFill>
                <a:latin typeface="Times" pitchFamily="18" charset="0"/>
              </a:rPr>
              <a:t>All of these things makes parallel programming even harder than sequential programming.</a:t>
            </a:r>
          </a:p>
        </p:txBody>
      </p:sp>
      <p:sp>
        <p:nvSpPr>
          <p:cNvPr id="28676" name="AutoShape 5">
            <a:extLst>
              <a:ext uri="{FF2B5EF4-FFF2-40B4-BE49-F238E27FC236}">
                <a16:creationId xmlns:a16="http://schemas.microsoft.com/office/drawing/2014/main" id="{092DB7AC-B617-EA55-64F8-9F5A8FC5D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4435475"/>
            <a:ext cx="473075" cy="381000"/>
          </a:xfrm>
          <a:prstGeom prst="rightArrow">
            <a:avLst>
              <a:gd name="adj1" fmla="val 50000"/>
              <a:gd name="adj2" fmla="val 3104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50DF82C6-7D06-A436-C467-773AA01A4A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8513" y="549275"/>
            <a:ext cx="6802437" cy="422275"/>
          </a:xfrm>
        </p:spPr>
        <p:txBody>
          <a:bodyPr/>
          <a:lstStyle/>
          <a:p>
            <a:r>
              <a:rPr lang="en-US" altLang="ko-KR" sz="4000" b="1" u="sng"/>
              <a:t>Overhead of Parallelism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8A1E8585-D572-5C37-DE5D-D2B1BBA35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96975"/>
            <a:ext cx="8001000" cy="4333875"/>
          </a:xfrm>
        </p:spPr>
        <p:txBody>
          <a:bodyPr/>
          <a:lstStyle/>
          <a:p>
            <a:r>
              <a:rPr lang="en-US" altLang="ko-KR" sz="2000"/>
              <a:t>Given enough parallel work, this is the biggest barrier to getting desired speedup</a:t>
            </a:r>
          </a:p>
          <a:p>
            <a:endParaRPr lang="en-US" altLang="ko-KR" sz="2000"/>
          </a:p>
          <a:p>
            <a:r>
              <a:rPr lang="en-US" altLang="ko-KR" sz="2000"/>
              <a:t>Parallelism overheads include:</a:t>
            </a:r>
          </a:p>
          <a:p>
            <a:pPr lvl="1"/>
            <a:r>
              <a:rPr lang="en-US" altLang="ko-KR" sz="1800"/>
              <a:t>cost of starting a thread or process</a:t>
            </a:r>
          </a:p>
          <a:p>
            <a:pPr lvl="1"/>
            <a:r>
              <a:rPr lang="en-US" altLang="ko-KR" sz="1800"/>
              <a:t>cost of communicating shared data</a:t>
            </a:r>
          </a:p>
          <a:p>
            <a:pPr lvl="1"/>
            <a:r>
              <a:rPr lang="en-US" altLang="ko-KR" sz="1800"/>
              <a:t>cost of synchronizing</a:t>
            </a:r>
          </a:p>
          <a:p>
            <a:pPr lvl="1"/>
            <a:r>
              <a:rPr lang="en-US" altLang="ko-KR" sz="1800"/>
              <a:t>extra (redundant) computation</a:t>
            </a:r>
          </a:p>
          <a:p>
            <a:pPr lvl="1"/>
            <a:endParaRPr lang="en-US" altLang="ko-KR" sz="1800"/>
          </a:p>
          <a:p>
            <a:r>
              <a:rPr lang="en-US" altLang="ko-KR" sz="2000"/>
              <a:t>Each of these can be in the range of milliseconds   (=millions of flops) on some systems</a:t>
            </a:r>
          </a:p>
          <a:p>
            <a:endParaRPr lang="en-US" altLang="ko-KR" sz="2000"/>
          </a:p>
          <a:p>
            <a:r>
              <a:rPr lang="en-US" altLang="ko-KR" sz="2000"/>
              <a:t>Tradeoff: Algorithm needs sufficiently large units of work to run fast in parallel (I.e. large granularity), but not so large that there is not enough parallel work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제목 1">
            <a:extLst>
              <a:ext uri="{FF2B5EF4-FFF2-40B4-BE49-F238E27FC236}">
                <a16:creationId xmlns:a16="http://schemas.microsoft.com/office/drawing/2014/main" id="{8287F2AA-391D-6ECC-1D8D-2F715EBB5B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Summary</a:t>
            </a:r>
            <a:endParaRPr lang="ko-KR" altLang="en-US" b="1" u="sng"/>
          </a:p>
        </p:txBody>
      </p:sp>
      <p:sp>
        <p:nvSpPr>
          <p:cNvPr id="25602" name="내용 개체 틀 2">
            <a:extLst>
              <a:ext uri="{FF2B5EF4-FFF2-40B4-BE49-F238E27FC236}">
                <a16:creationId xmlns:a16="http://schemas.microsoft.com/office/drawing/2014/main" id="{115EADDB-5EFC-CC92-8C2E-872502C999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57338"/>
            <a:ext cx="8229600" cy="4525962"/>
          </a:xfrm>
        </p:spPr>
        <p:txBody>
          <a:bodyPr/>
          <a:lstStyle/>
          <a:p>
            <a:r>
              <a:rPr lang="en-US" altLang="ko-KR" sz="2400"/>
              <a:t>All computers are now parallel computers!</a:t>
            </a:r>
          </a:p>
          <a:p>
            <a:endParaRPr lang="en-US" altLang="ko-KR" sz="2400"/>
          </a:p>
          <a:p>
            <a:r>
              <a:rPr lang="en-US" altLang="ko-KR" sz="2400"/>
              <a:t>Multi-core processors represent an important new trend in computer architecture.</a:t>
            </a:r>
          </a:p>
          <a:p>
            <a:pPr lvl="1"/>
            <a:r>
              <a:rPr lang="en-US" altLang="ko-KR" sz="2000"/>
              <a:t>Decreased power consumption and heat generation.</a:t>
            </a:r>
            <a:endParaRPr lang="en-US" altLang="ko-KR" sz="2400"/>
          </a:p>
          <a:p>
            <a:pPr lvl="1"/>
            <a:r>
              <a:rPr lang="en-US" altLang="ko-KR" sz="2000"/>
              <a:t>Minimized wire lengths and interconnect latencies.</a:t>
            </a:r>
          </a:p>
          <a:p>
            <a:endParaRPr lang="en-US" altLang="ko-KR" sz="2400"/>
          </a:p>
          <a:p>
            <a:r>
              <a:rPr lang="en-US" altLang="ko-KR" sz="2400"/>
              <a:t>They enable true thread-level parallelism with great energy efficiency and scalability.</a:t>
            </a:r>
          </a:p>
          <a:p>
            <a:endParaRPr lang="ko-KR" altLang="en-US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제목 1">
            <a:extLst>
              <a:ext uri="{FF2B5EF4-FFF2-40B4-BE49-F238E27FC236}">
                <a16:creationId xmlns:a16="http://schemas.microsoft.com/office/drawing/2014/main" id="{75C41551-D5EF-565E-CF18-DA1924630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Summary</a:t>
            </a:r>
            <a:endParaRPr lang="ko-KR" altLang="en-US" b="1" u="sng"/>
          </a:p>
        </p:txBody>
      </p:sp>
      <p:sp>
        <p:nvSpPr>
          <p:cNvPr id="26626" name="내용 개체 틀 2">
            <a:extLst>
              <a:ext uri="{FF2B5EF4-FFF2-40B4-BE49-F238E27FC236}">
                <a16:creationId xmlns:a16="http://schemas.microsoft.com/office/drawing/2014/main" id="{1E4A5F1D-BF82-30D2-C105-25817F5045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To utilize their full potential, applications will need to move from a single to a multi-threaded model.</a:t>
            </a:r>
          </a:p>
          <a:p>
            <a:pPr lvl="1"/>
            <a:r>
              <a:rPr lang="en-US" altLang="ko-KR" sz="1800"/>
              <a:t>Parallel programming techniques likely to gain importance.</a:t>
            </a:r>
          </a:p>
          <a:p>
            <a:pPr lvl="1"/>
            <a:r>
              <a:rPr lang="en-US" altLang="ko-KR" sz="1800"/>
              <a:t>Hardware/Software</a:t>
            </a:r>
          </a:p>
          <a:p>
            <a:endParaRPr lang="en-US" altLang="ko-KR" sz="2400"/>
          </a:p>
          <a:p>
            <a:r>
              <a:rPr lang="en-US" altLang="ko-KR" sz="2400"/>
              <a:t>the software industry needs to get back into the state where existing applications run faster on new hardware.</a:t>
            </a:r>
          </a:p>
          <a:p>
            <a:endParaRPr lang="ko-KR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2928</TotalTime>
  <Words>1500</Words>
  <Application>Microsoft Macintosh PowerPoint</Application>
  <PresentationFormat>화면 슬라이드 쇼(4:3)</PresentationFormat>
  <Paragraphs>268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5" baseType="lpstr">
      <vt:lpstr>굴림</vt:lpstr>
      <vt:lpstr>맑은 고딕</vt:lpstr>
      <vt:lpstr>Arial</vt:lpstr>
      <vt:lpstr>Times</vt:lpstr>
      <vt:lpstr>Times New Roman</vt:lpstr>
      <vt:lpstr>Wingdings</vt:lpstr>
      <vt:lpstr>네모의 미</vt:lpstr>
      <vt:lpstr>Lecture 2-1 : Introduction to Multicore Computing</vt:lpstr>
      <vt:lpstr>Multicore Processor</vt:lpstr>
      <vt:lpstr>Intel Multicore CPU (Recent)</vt:lpstr>
      <vt:lpstr>Apple CPUs: M1 (2021) , M3 (2023) </vt:lpstr>
      <vt:lpstr>Apple M4 CPU (2024)</vt:lpstr>
      <vt:lpstr>Apple Unified Memory</vt:lpstr>
      <vt:lpstr>Multicore Processor</vt:lpstr>
      <vt:lpstr>Manycore processor (GPU)</vt:lpstr>
      <vt:lpstr>Manycore processor (GPU)</vt:lpstr>
      <vt:lpstr>Parallel Applications</vt:lpstr>
      <vt:lpstr>Thread/Process</vt:lpstr>
      <vt:lpstr>What is Parallel Computing?</vt:lpstr>
      <vt:lpstr>Parallelism vs Concurrency</vt:lpstr>
      <vt:lpstr>Parallelism vs Concurrency</vt:lpstr>
      <vt:lpstr>PowerPoint 프레젠테이션</vt:lpstr>
      <vt:lpstr>Parallelism vs Concurrency</vt:lpstr>
      <vt:lpstr>Parallel Programming Techniques</vt:lpstr>
      <vt:lpstr>Parallel Processing Systems</vt:lpstr>
      <vt:lpstr>Parallel Computing vs. Distributed Computing</vt:lpstr>
      <vt:lpstr>Parallel Computing vs. Distributed Computing</vt:lpstr>
      <vt:lpstr>Cluster Computing vs. Grid Computing</vt:lpstr>
      <vt:lpstr>Cluster Computing vs. Grid Computing</vt:lpstr>
      <vt:lpstr>Example of Grid Computing (Folding@Home)</vt:lpstr>
      <vt:lpstr>Example of Grid Computing (Folding@Home)</vt:lpstr>
      <vt:lpstr>Cloud Computing</vt:lpstr>
      <vt:lpstr>Good Parallel Program</vt:lpstr>
      <vt:lpstr>Moore’s Law : Review</vt:lpstr>
      <vt:lpstr>Computer Hardware Trend</vt:lpstr>
      <vt:lpstr>PowerPoint 프레젠테이션</vt:lpstr>
      <vt:lpstr>Examples of Parallel Computer</vt:lpstr>
      <vt:lpstr>Generic SMP</vt:lpstr>
      <vt:lpstr>GPGPU : NVIDIA GPU</vt:lpstr>
      <vt:lpstr>Hybrid Programming Model</vt:lpstr>
      <vt:lpstr>Why writing (fast) parallel programs is hard</vt:lpstr>
      <vt:lpstr>Principles of Parallel Computing</vt:lpstr>
      <vt:lpstr>Overhead of Parallelism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Microsoft Office User</cp:lastModifiedBy>
  <cp:revision>141</cp:revision>
  <dcterms:created xsi:type="dcterms:W3CDTF">2008-03-06T00:32:01Z</dcterms:created>
  <dcterms:modified xsi:type="dcterms:W3CDTF">2026-03-11T01:38:44Z</dcterms:modified>
</cp:coreProperties>
</file>