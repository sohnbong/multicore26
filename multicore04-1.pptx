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55" r:id="rId1"/>
  </p:sldMasterIdLst>
  <p:notesMasterIdLst>
    <p:notesMasterId r:id="rId59"/>
  </p:notesMasterIdLst>
  <p:sldIdLst>
    <p:sldId id="346" r:id="rId2"/>
    <p:sldId id="347" r:id="rId3"/>
    <p:sldId id="349" r:id="rId4"/>
    <p:sldId id="350" r:id="rId5"/>
    <p:sldId id="351" r:id="rId6"/>
    <p:sldId id="352" r:id="rId7"/>
    <p:sldId id="353" r:id="rId8"/>
    <p:sldId id="354" r:id="rId9"/>
    <p:sldId id="355" r:id="rId10"/>
    <p:sldId id="356" r:id="rId11"/>
    <p:sldId id="357" r:id="rId12"/>
    <p:sldId id="358" r:id="rId13"/>
    <p:sldId id="402" r:id="rId14"/>
    <p:sldId id="386" r:id="rId15"/>
    <p:sldId id="388" r:id="rId16"/>
    <p:sldId id="387" r:id="rId17"/>
    <p:sldId id="360" r:id="rId18"/>
    <p:sldId id="361" r:id="rId19"/>
    <p:sldId id="362" r:id="rId20"/>
    <p:sldId id="403" r:id="rId21"/>
    <p:sldId id="404" r:id="rId22"/>
    <p:sldId id="405" r:id="rId23"/>
    <p:sldId id="406" r:id="rId24"/>
    <p:sldId id="363" r:id="rId25"/>
    <p:sldId id="365" r:id="rId26"/>
    <p:sldId id="366" r:id="rId27"/>
    <p:sldId id="367" r:id="rId28"/>
    <p:sldId id="368" r:id="rId29"/>
    <p:sldId id="369" r:id="rId30"/>
    <p:sldId id="370" r:id="rId31"/>
    <p:sldId id="371" r:id="rId32"/>
    <p:sldId id="372" r:id="rId33"/>
    <p:sldId id="373" r:id="rId34"/>
    <p:sldId id="374" r:id="rId35"/>
    <p:sldId id="375" r:id="rId36"/>
    <p:sldId id="376" r:id="rId37"/>
    <p:sldId id="377" r:id="rId38"/>
    <p:sldId id="378" r:id="rId39"/>
    <p:sldId id="380" r:id="rId40"/>
    <p:sldId id="381" r:id="rId41"/>
    <p:sldId id="382" r:id="rId42"/>
    <p:sldId id="384" r:id="rId43"/>
    <p:sldId id="383" r:id="rId44"/>
    <p:sldId id="389" r:id="rId45"/>
    <p:sldId id="390" r:id="rId46"/>
    <p:sldId id="391" r:id="rId47"/>
    <p:sldId id="392" r:id="rId48"/>
    <p:sldId id="385" r:id="rId49"/>
    <p:sldId id="393" r:id="rId50"/>
    <p:sldId id="394" r:id="rId51"/>
    <p:sldId id="401" r:id="rId52"/>
    <p:sldId id="395" r:id="rId53"/>
    <p:sldId id="396" r:id="rId54"/>
    <p:sldId id="399" r:id="rId55"/>
    <p:sldId id="398" r:id="rId56"/>
    <p:sldId id="400" r:id="rId57"/>
    <p:sldId id="397" r:id="rId58"/>
  </p:sldIdLst>
  <p:sldSz cx="9144000" cy="6858000" type="screen4x3"/>
  <p:notesSz cx="7099300" cy="102346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EC9BA1D7-825D-A355-D246-68D7BAEB85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E26C71-5369-F202-EBCB-A4A7FF77F85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EDCD68EF-8BA2-A344-9169-24134341C25C}" type="datetimeFigureOut">
              <a:rPr lang="ko-KR" altLang="en-US"/>
              <a:pPr>
                <a:defRPr/>
              </a:pPr>
              <a:t>2026. 3. 22.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FAB36C44-8299-9876-DFC4-026165C896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FA0D0964-B8B2-DB37-9EDB-845E9CF89A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E571D1-77B7-CD7D-7384-4858C93B345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3FC490-DD5A-379B-7D03-16ACAC1773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4AAE8EF-E34F-124D-BE9D-E7E9FD996D1D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FA72863-E815-A258-155B-8358124B7969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2F69F82D-B553-C258-A08F-CFA18DA09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C8C0862-6FAE-45B1-0840-1595040E6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03ED26D8-5C56-2CD9-7E00-E5AA3860A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1D50D4C9-A0C7-7A15-7231-F96A2A5B3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B638CCD2-AF86-BCEE-E18F-BCE5CA781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764D0B8B-55E0-80A6-9D9A-031F5479C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34C64C80-5E2F-D93C-52A2-52452C3A0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8DB1203D-B712-1392-F0B6-871A040121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1CAABC64-8A8A-C7FF-C839-BEA7162F0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3C1A9131-BC5B-6AC3-72E7-41EDB1A6EF14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55F12448-BC63-F54F-CAFC-EA0B3335F1A3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D4898A19-464E-6E93-9C41-B5D8423FEF93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4EDDA4CD-9CA2-9770-E4BA-CDF702C5FA6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8E9A8C89-4A4D-8295-11B8-5D4F304E5757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2E9E2ABF-DA89-7190-C720-701AFCAB664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F150A33C-A27A-2ABD-48E3-190D240837FE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08A15976-E301-358E-B621-FD9DE5F3F9F7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40AC8411-1B11-7D65-6491-359ED0B14D6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39F28824-2E1D-8DEC-20BF-2FDECACD4B5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1182DB7D-4872-B913-9FE8-CD8465EA6B7A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953C4D75-9DD8-1C42-1DDB-45A7834C737D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144A0DF9-12DB-F67F-3B86-3212849C554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021A9A82-152D-B51E-20F8-E803EE235FAB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9B04C9EE-5351-8F87-7D9A-F188D39AF250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11291" name="Rectangle 2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292" name="Rectangle 2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36400D82-120D-C765-6A38-B6AEA71C4C3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4F6D5B5A-CDB1-631A-0309-063FF24452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1BCFDF7F-ABCA-A128-7C30-4DBC3FD6C5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1DC7BC-5C9B-A147-8093-0EADF49428D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3461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001F2A3D-A871-E6B3-94B2-E32BC2B587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CF6B4682-4316-EE24-126C-6345D284A2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5102BA2A-0EA7-1CA7-A6B9-02FCF624AD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167313-A246-C348-B658-69E557C4BC2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802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2009BDA1-2CBF-96A0-F8AA-29D15C519A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3F4FD166-D253-D199-D8E7-4A4C7E401C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4BEF18B0-24D8-F342-5F71-47962DB4E5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65BF58-14E8-4041-98AA-727C60246E1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0781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6D96BC66-44E5-4DC0-3E83-153D827E8B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6B0CB238-27BD-8D9A-10CE-02018438B1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4A7D15BF-0AA1-C536-A7EA-FEA71A470E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847B0D-1E94-AE4D-A2C3-7D677A6890B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00486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5B572E32-3CD2-EBE9-EE4D-ED2AD476A1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CA82EB79-8C0E-9056-1A3E-99129069CC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3F9944B6-96BE-246C-7DB3-F7F0FF998A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4605DC-BBBC-6A40-A1AA-92F8D0A8049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922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C5D0A4DB-2ACC-445A-2942-1E6B5C97C3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1AC29242-445E-3F8C-BD04-0D44BC4BAC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F642C340-401C-9877-4087-E32D8F6B1C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9D788A-50FB-E043-A527-0F206E53E25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08010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7F44BFE4-4A6E-676F-F7DC-F9DF7A0257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AEB2450B-FD0C-2837-571B-1228503049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451DB1F9-A09B-9074-38CF-5CF72DCEBF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4405D6-068B-7E40-A652-BA8108DCF7C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68319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2906B763-AE05-B1BF-7A66-0E1FACD7A2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A4786D6A-C5C9-FB24-6172-84C89019D1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AC64C47D-916D-70B9-FA0D-EC06A4DFCC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62C158-FD9B-AE49-8661-68A65C8CC9F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34344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BFE3AC20-CD52-1277-C857-B0F175000F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FA219C55-1E11-F48E-6C72-0F721CD02C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DBB33240-536A-4B75-14D2-FC52B967D6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7303C8-8317-C444-B850-15A583DAE8B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21551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336624A0-DD76-6CDC-6A32-2799DB4029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E6CB873D-7D02-B915-0F35-D0350F6B44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01F9D969-6208-B22C-96D1-20DD61424B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1A3A90-92F4-9049-ACDD-3CD4C967AF8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50477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DB04E6E7-A2BE-551A-6861-358A9E4C5B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680010EC-92E8-7E65-8695-013BA31965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29A86706-F33A-0B07-EA22-47A8F38B3A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5177BD-EA9F-494A-AEEC-D50CBF8A757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314184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E4975153-4E26-E552-E915-86FEBCF428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3E012EA5-3288-CF39-6896-3603814070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B463071D-5251-AD29-2F5F-2403C5AF0F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C39B21-F017-3847-A0BA-030DEEFC208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7233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FFF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2E245632-9D49-B2A9-3F16-FE5975C375B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10243" name="Rectangle 3">
              <a:extLst>
                <a:ext uri="{FF2B5EF4-FFF2-40B4-BE49-F238E27FC236}">
                  <a16:creationId xmlns:a16="http://schemas.microsoft.com/office/drawing/2014/main" id="{52BADC20-A1A4-872B-C9D0-A40F3C8CA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4" name="Rectangle 4">
              <a:extLst>
                <a:ext uri="{FF2B5EF4-FFF2-40B4-BE49-F238E27FC236}">
                  <a16:creationId xmlns:a16="http://schemas.microsoft.com/office/drawing/2014/main" id="{4B7CF626-FEBA-0E73-B060-185D63409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5" name="Rectangle 5">
              <a:extLst>
                <a:ext uri="{FF2B5EF4-FFF2-40B4-BE49-F238E27FC236}">
                  <a16:creationId xmlns:a16="http://schemas.microsoft.com/office/drawing/2014/main" id="{2F3E1E36-2655-4798-AB0C-F1701E781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6" name="Rectangle 6">
              <a:extLst>
                <a:ext uri="{FF2B5EF4-FFF2-40B4-BE49-F238E27FC236}">
                  <a16:creationId xmlns:a16="http://schemas.microsoft.com/office/drawing/2014/main" id="{AB1C93D9-C085-A312-BA99-BD5A7DB6E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7" name="Rectangle 7">
              <a:extLst>
                <a:ext uri="{FF2B5EF4-FFF2-40B4-BE49-F238E27FC236}">
                  <a16:creationId xmlns:a16="http://schemas.microsoft.com/office/drawing/2014/main" id="{46145E16-9E7E-57DB-025F-E755F65F8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8" name="Rectangle 8">
              <a:extLst>
                <a:ext uri="{FF2B5EF4-FFF2-40B4-BE49-F238E27FC236}">
                  <a16:creationId xmlns:a16="http://schemas.microsoft.com/office/drawing/2014/main" id="{01E74A95-0E55-A197-FB4E-01AD5A6D1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75306C6E-A487-BBCF-7032-FCD5511BB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0" name="Rectangle 10">
              <a:extLst>
                <a:ext uri="{FF2B5EF4-FFF2-40B4-BE49-F238E27FC236}">
                  <a16:creationId xmlns:a16="http://schemas.microsoft.com/office/drawing/2014/main" id="{EA0DD77E-01ED-2D82-A98F-37A57B496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77FFC89F-EFA9-06B5-A3CD-ADDC809AE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2" name="Rectangle 12">
              <a:extLst>
                <a:ext uri="{FF2B5EF4-FFF2-40B4-BE49-F238E27FC236}">
                  <a16:creationId xmlns:a16="http://schemas.microsoft.com/office/drawing/2014/main" id="{F6468AB1-D110-04A0-E77D-CAE58F8FE7F0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3" name="Rectangle 13">
              <a:extLst>
                <a:ext uri="{FF2B5EF4-FFF2-40B4-BE49-F238E27FC236}">
                  <a16:creationId xmlns:a16="http://schemas.microsoft.com/office/drawing/2014/main" id="{AF76102C-BAD6-AF00-5EA2-ABC2E5AD4EEC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4" name="Line 14">
              <a:extLst>
                <a:ext uri="{FF2B5EF4-FFF2-40B4-BE49-F238E27FC236}">
                  <a16:creationId xmlns:a16="http://schemas.microsoft.com/office/drawing/2014/main" id="{02A6DE93-BA71-ABA4-65D4-EEB47FD4BD54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5" name="Line 15">
              <a:extLst>
                <a:ext uri="{FF2B5EF4-FFF2-40B4-BE49-F238E27FC236}">
                  <a16:creationId xmlns:a16="http://schemas.microsoft.com/office/drawing/2014/main" id="{C5F476FC-DEDB-B99F-74C2-1F1AC817A261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6" name="Line 16">
              <a:extLst>
                <a:ext uri="{FF2B5EF4-FFF2-40B4-BE49-F238E27FC236}">
                  <a16:creationId xmlns:a16="http://schemas.microsoft.com/office/drawing/2014/main" id="{CD45B6BC-C671-1906-A430-A3E4EA2EBC05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7" name="Line 17">
              <a:extLst>
                <a:ext uri="{FF2B5EF4-FFF2-40B4-BE49-F238E27FC236}">
                  <a16:creationId xmlns:a16="http://schemas.microsoft.com/office/drawing/2014/main" id="{376D9E28-E627-6EDF-46C8-F12406CD131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8" name="Line 18">
              <a:extLst>
                <a:ext uri="{FF2B5EF4-FFF2-40B4-BE49-F238E27FC236}">
                  <a16:creationId xmlns:a16="http://schemas.microsoft.com/office/drawing/2014/main" id="{5CB13057-A7ED-2333-0A23-8B7EDEEA547B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9" name="Line 19">
              <a:extLst>
                <a:ext uri="{FF2B5EF4-FFF2-40B4-BE49-F238E27FC236}">
                  <a16:creationId xmlns:a16="http://schemas.microsoft.com/office/drawing/2014/main" id="{9FA2CB2E-E5D3-F94C-7ED4-B130B7FE3611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0" name="Line 20">
              <a:extLst>
                <a:ext uri="{FF2B5EF4-FFF2-40B4-BE49-F238E27FC236}">
                  <a16:creationId xmlns:a16="http://schemas.microsoft.com/office/drawing/2014/main" id="{2A79425A-0444-935B-106C-7780A572CF0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1" name="Line 21">
              <a:extLst>
                <a:ext uri="{FF2B5EF4-FFF2-40B4-BE49-F238E27FC236}">
                  <a16:creationId xmlns:a16="http://schemas.microsoft.com/office/drawing/2014/main" id="{852BE006-FFA2-8DB9-7FC4-1FB827BA8C6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2" name="Line 22">
              <a:extLst>
                <a:ext uri="{FF2B5EF4-FFF2-40B4-BE49-F238E27FC236}">
                  <a16:creationId xmlns:a16="http://schemas.microsoft.com/office/drawing/2014/main" id="{66098EC8-7EE4-2446-64F2-2B78DC21E0A3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3" name="Line 23">
              <a:extLst>
                <a:ext uri="{FF2B5EF4-FFF2-40B4-BE49-F238E27FC236}">
                  <a16:creationId xmlns:a16="http://schemas.microsoft.com/office/drawing/2014/main" id="{2E1C7422-D82F-C923-B630-BE688EB672F6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4" name="Line 24">
              <a:extLst>
                <a:ext uri="{FF2B5EF4-FFF2-40B4-BE49-F238E27FC236}">
                  <a16:creationId xmlns:a16="http://schemas.microsoft.com/office/drawing/2014/main" id="{B115737C-20AB-C66E-E630-159652B44E4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5" name="Line 25">
              <a:extLst>
                <a:ext uri="{FF2B5EF4-FFF2-40B4-BE49-F238E27FC236}">
                  <a16:creationId xmlns:a16="http://schemas.microsoft.com/office/drawing/2014/main" id="{C8977A74-147D-3E2B-5703-6587B385445D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6" name="Line 26">
              <a:extLst>
                <a:ext uri="{FF2B5EF4-FFF2-40B4-BE49-F238E27FC236}">
                  <a16:creationId xmlns:a16="http://schemas.microsoft.com/office/drawing/2014/main" id="{35B3C201-0A11-5D8C-2BBC-037635E6BA12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1027" name="Rectangle 27">
            <a:extLst>
              <a:ext uri="{FF2B5EF4-FFF2-40B4-BE49-F238E27FC236}">
                <a16:creationId xmlns:a16="http://schemas.microsoft.com/office/drawing/2014/main" id="{C9C6C9FC-88B0-05D9-838D-0F5D7B0B63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28">
            <a:extLst>
              <a:ext uri="{FF2B5EF4-FFF2-40B4-BE49-F238E27FC236}">
                <a16:creationId xmlns:a16="http://schemas.microsoft.com/office/drawing/2014/main" id="{D2488A94-DA87-3FA9-B211-9913DEB9E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69" name="Rectangle 29">
            <a:extLst>
              <a:ext uri="{FF2B5EF4-FFF2-40B4-BE49-F238E27FC236}">
                <a16:creationId xmlns:a16="http://schemas.microsoft.com/office/drawing/2014/main" id="{3AFB4698-4E39-0D73-7460-FFE31ADEA99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0" name="Rectangle 30">
            <a:extLst>
              <a:ext uri="{FF2B5EF4-FFF2-40B4-BE49-F238E27FC236}">
                <a16:creationId xmlns:a16="http://schemas.microsoft.com/office/drawing/2014/main" id="{30064035-6F74-9BCC-7DB5-F1A0560A880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1" name="Rectangle 31">
            <a:extLst>
              <a:ext uri="{FF2B5EF4-FFF2-40B4-BE49-F238E27FC236}">
                <a16:creationId xmlns:a16="http://schemas.microsoft.com/office/drawing/2014/main" id="{3B1ABEE2-B3F5-75BF-C6C2-65C1612C455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B6DBF930-27F2-094F-A8F7-EB1FCA0E3261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6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  <p:sldLayoutId id="2147484092" r:id="rId9"/>
    <p:sldLayoutId id="2147484093" r:id="rId10"/>
    <p:sldLayoutId id="2147484094" r:id="rId11"/>
    <p:sldLayoutId id="2147484095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9pPr>
    </p:titleStyle>
    <p:bodyStyle>
      <a:lvl1pPr marL="342900" indent="-342900" algn="l" rtl="0" eaLnBrk="0" fontAlgn="t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n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t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kumimoji="1" sz="23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DFDA20F-4DBD-0A84-D59D-B35E43173A1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ko-KR" sz="3600" b="1" dirty="0"/>
              <a:t>Lecture 4 :</a:t>
            </a:r>
            <a:br>
              <a:rPr lang="en-US" altLang="ko-KR" sz="3600" b="1" dirty="0"/>
            </a:br>
            <a:r>
              <a:rPr lang="en-US" altLang="ko-KR" sz="3600" b="1" dirty="0"/>
              <a:t>Basics of </a:t>
            </a:r>
            <a:br>
              <a:rPr lang="en-US" altLang="ko-KR" sz="3600" b="1" dirty="0"/>
            </a:br>
            <a:r>
              <a:rPr lang="en-US" altLang="ko-KR" sz="3600" b="1" dirty="0"/>
              <a:t>JAVA Thread Programming</a:t>
            </a:r>
          </a:p>
        </p:txBody>
      </p:sp>
      <p:sp>
        <p:nvSpPr>
          <p:cNvPr id="3075" name="TextBox 2">
            <a:extLst>
              <a:ext uri="{FF2B5EF4-FFF2-40B4-BE49-F238E27FC236}">
                <a16:creationId xmlns:a16="http://schemas.microsoft.com/office/drawing/2014/main" id="{7DD93DAF-0946-E186-AF4E-5A431AA28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1938" y="6021288"/>
            <a:ext cx="483497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 dirty="0"/>
              <a:t>Courtesy : MIT Prof. </a:t>
            </a:r>
            <a:r>
              <a:rPr lang="en-US" altLang="ko-KR" sz="1200" dirty="0" err="1"/>
              <a:t>Amarasinghe</a:t>
            </a:r>
            <a:r>
              <a:rPr lang="en-US" altLang="ko-KR" sz="1200" dirty="0"/>
              <a:t> and Dr. Rabbah’s course note</a:t>
            </a:r>
          </a:p>
          <a:p>
            <a:pPr eaLnBrk="1" hangingPunct="1"/>
            <a:r>
              <a:rPr lang="en-US" altLang="ko-KR" sz="1200" dirty="0"/>
              <a:t>               Prof. Dr. Alois </a:t>
            </a:r>
            <a:r>
              <a:rPr lang="en-US" altLang="ko-KR" sz="1200" dirty="0" err="1"/>
              <a:t>Schütte’s</a:t>
            </a:r>
            <a:r>
              <a:rPr lang="en-US" altLang="ko-KR" sz="1200" dirty="0"/>
              <a:t> lecture notes</a:t>
            </a:r>
          </a:p>
          <a:p>
            <a:pPr eaLnBrk="1" hangingPunct="1"/>
            <a:r>
              <a:rPr lang="en-US" altLang="ko-KR" sz="1200" dirty="0"/>
              <a:t>              Java in </a:t>
            </a:r>
            <a:r>
              <a:rPr lang="en-US" altLang="ko-KR" sz="1200" dirty="0" err="1"/>
              <a:t>Jenkov.com</a:t>
            </a:r>
            <a:r>
              <a:rPr lang="en-US" altLang="ko-KR" sz="1200" dirty="0"/>
              <a:t> (Jacob </a:t>
            </a:r>
            <a:r>
              <a:rPr lang="en-US" altLang="ko-KR" sz="1200" dirty="0" err="1"/>
              <a:t>Jenkov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제목 1">
            <a:extLst>
              <a:ext uri="{FF2B5EF4-FFF2-40B4-BE49-F238E27FC236}">
                <a16:creationId xmlns:a16="http://schemas.microsoft.com/office/drawing/2014/main" id="{6178D9C3-6FF3-CF80-0245-AF597207C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Process</a:t>
            </a:r>
            <a:endParaRPr lang="ko-KR" altLang="en-US" b="1" u="sng"/>
          </a:p>
        </p:txBody>
      </p:sp>
      <p:sp>
        <p:nvSpPr>
          <p:cNvPr id="4099" name="내용 개체 틀 2">
            <a:extLst>
              <a:ext uri="{FF2B5EF4-FFF2-40B4-BE49-F238E27FC236}">
                <a16:creationId xmlns:a16="http://schemas.microsoft.com/office/drawing/2014/main" id="{5722E8A0-BA66-7A5C-C80E-D19E22F2F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Process</a:t>
            </a:r>
          </a:p>
          <a:p>
            <a:pPr lvl="1"/>
            <a:r>
              <a:rPr lang="en-US" altLang="ko-KR"/>
              <a:t>Operating system abstraction to represent what is needed to run a single program</a:t>
            </a:r>
          </a:p>
          <a:p>
            <a:pPr lvl="1"/>
            <a:r>
              <a:rPr lang="en-US" altLang="ko-KR"/>
              <a:t>a sequential stream of execution in its own address space</a:t>
            </a:r>
          </a:p>
          <a:p>
            <a:pPr lvl="1"/>
            <a:r>
              <a:rPr lang="en-US" altLang="ko-KR"/>
              <a:t>program in execution</a:t>
            </a:r>
          </a:p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30C5933E-25FF-F290-53E6-91314FF19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Switch from process to process</a:t>
            </a:r>
            <a:endParaRPr lang="ko-KR" altLang="en-US" b="1" u="sng"/>
          </a:p>
        </p:txBody>
      </p:sp>
      <p:pic>
        <p:nvPicPr>
          <p:cNvPr id="5123" name="Picture 2">
            <a:extLst>
              <a:ext uri="{FF2B5EF4-FFF2-40B4-BE49-F238E27FC236}">
                <a16:creationId xmlns:a16="http://schemas.microsoft.com/office/drawing/2014/main" id="{9529739D-0E89-653F-854F-24BCD47C048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916113"/>
            <a:ext cx="5521325" cy="4525962"/>
          </a:xfrm>
          <a:noFill/>
        </p:spPr>
      </p:pic>
      <p:pic>
        <p:nvPicPr>
          <p:cNvPr id="5124" name="Picture 3">
            <a:extLst>
              <a:ext uri="{FF2B5EF4-FFF2-40B4-BE49-F238E27FC236}">
                <a16:creationId xmlns:a16="http://schemas.microsoft.com/office/drawing/2014/main" id="{AF851915-7B18-3D66-14C0-E94D1540D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1844675"/>
            <a:ext cx="2305050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TextBox 5">
            <a:extLst>
              <a:ext uri="{FF2B5EF4-FFF2-40B4-BE49-F238E27FC236}">
                <a16:creationId xmlns:a16="http://schemas.microsoft.com/office/drawing/2014/main" id="{B0527077-A995-BA91-5A7F-49986A131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5732463"/>
            <a:ext cx="6524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b="1"/>
              <a:t>PCB</a:t>
            </a:r>
            <a:endParaRPr lang="ko-KR" altLang="en-US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D83E6746-7207-E6AE-F0B9-F6E64DB39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UNIX process</a:t>
            </a:r>
            <a:endParaRPr lang="ko-KR" altLang="en-US" b="1" u="sng"/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B0859D8B-DFD4-4AD6-7250-AD74CD9F7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Every process, except process 0, is created by the fork() system call</a:t>
            </a:r>
          </a:p>
          <a:p>
            <a:pPr lvl="1"/>
            <a:r>
              <a:rPr lang="en-US" altLang="ko-KR"/>
              <a:t>fork() allocates entry in process table and assigns a unique PID to the child process</a:t>
            </a:r>
          </a:p>
          <a:p>
            <a:pPr lvl="1"/>
            <a:r>
              <a:rPr lang="en-US" altLang="ko-KR"/>
              <a:t>child gets a copy of process image of parent</a:t>
            </a:r>
          </a:p>
          <a:p>
            <a:pPr lvl="1"/>
            <a:r>
              <a:rPr lang="en-US" altLang="ko-KR"/>
              <a:t>both child and parent are executing the same code following fork()</a:t>
            </a:r>
          </a:p>
          <a:p>
            <a:pPr lvl="1"/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F8DE1404-64A9-0EAB-0C65-8C213A13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Process Creation</a:t>
            </a:r>
            <a:endParaRPr lang="ko-KR" altLang="en-US" b="1" u="sng"/>
          </a:p>
        </p:txBody>
      </p:sp>
      <p:sp>
        <p:nvSpPr>
          <p:cNvPr id="7171" name="내용 개체 틀 2">
            <a:extLst>
              <a:ext uri="{FF2B5EF4-FFF2-40B4-BE49-F238E27FC236}">
                <a16:creationId xmlns:a16="http://schemas.microsoft.com/office/drawing/2014/main" id="{12A4A40F-BF09-4050-715A-97ED65291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main () 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  int pid;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  cout&lt;&lt; “just one process so far”&lt;&lt;endl;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  pid= fork();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  if (pid==0)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cout&lt;&lt;“im the child“&lt;&lt; endl;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  else if (pid&gt; 0) 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cout&lt;&lt;“im the parent”&lt;&lt; endl;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cout&lt;&lt; “fork failed”&lt;&lt; endl;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>
            <a:extLst>
              <a:ext uri="{FF2B5EF4-FFF2-40B4-BE49-F238E27FC236}">
                <a16:creationId xmlns:a16="http://schemas.microsoft.com/office/drawing/2014/main" id="{4745304B-B2B9-575A-72E3-5B868E54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Threads</a:t>
            </a:r>
            <a:endParaRPr lang="ko-KR" altLang="en-US" b="1" u="sng"/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65596BDF-98B6-E391-B674-97B1C7EC1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Definition</a:t>
            </a:r>
          </a:p>
          <a:p>
            <a:pPr lvl="1"/>
            <a:r>
              <a:rPr lang="en-US" altLang="ko-KR" sz="2000"/>
              <a:t>single sequential flow of control within a program</a:t>
            </a:r>
          </a:p>
          <a:p>
            <a:pPr lvl="1"/>
            <a:r>
              <a:rPr lang="en-US" altLang="ko-KR" sz="2000"/>
              <a:t>A thread runs within the context of a program’s process and takes advantage of the resources allocated for that process and it’s environment</a:t>
            </a:r>
            <a:endParaRPr lang="ko-KR" altLang="en-US" sz="2400"/>
          </a:p>
          <a:p>
            <a:r>
              <a:rPr lang="en-US" altLang="ko-KR" sz="2400"/>
              <a:t>Each thread is comprised of (from OS perspective)</a:t>
            </a:r>
          </a:p>
          <a:p>
            <a:pPr lvl="1"/>
            <a:r>
              <a:rPr lang="en-US" altLang="ko-KR" sz="2000"/>
              <a:t>Program counter</a:t>
            </a:r>
          </a:p>
          <a:p>
            <a:pPr lvl="1"/>
            <a:r>
              <a:rPr lang="en-US" altLang="ko-KR" sz="2000"/>
              <a:t>Register set</a:t>
            </a:r>
          </a:p>
          <a:p>
            <a:pPr lvl="1"/>
            <a:r>
              <a:rPr lang="en-US" altLang="ko-KR" sz="2000"/>
              <a:t>Stack</a:t>
            </a:r>
          </a:p>
          <a:p>
            <a:r>
              <a:rPr lang="en-US" altLang="ko-KR" sz="2400"/>
              <a:t>Threads belonging to the same process share</a:t>
            </a:r>
          </a:p>
          <a:p>
            <a:pPr lvl="1"/>
            <a:r>
              <a:rPr lang="en-US" altLang="ko-KR" sz="2000"/>
              <a:t>Code section</a:t>
            </a:r>
          </a:p>
          <a:p>
            <a:pPr lvl="1"/>
            <a:r>
              <a:rPr lang="en-US" altLang="ko-KR" sz="2000"/>
              <a:t>Data section</a:t>
            </a:r>
          </a:p>
          <a:p>
            <a:pPr lvl="1"/>
            <a:r>
              <a:rPr lang="en-US" altLang="ko-KR" sz="2000"/>
              <a:t>OS resources such as open files</a:t>
            </a:r>
            <a:endParaRPr lang="ko-KR" alt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>
            <a:extLst>
              <a:ext uri="{FF2B5EF4-FFF2-40B4-BE49-F238E27FC236}">
                <a16:creationId xmlns:a16="http://schemas.microsoft.com/office/drawing/2014/main" id="{BFB3F17D-2F76-231A-A508-55F478CFF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Single and multithreaded program</a:t>
            </a:r>
            <a:endParaRPr lang="ko-KR" altLang="en-US" sz="3600" b="1" u="sng"/>
          </a:p>
        </p:txBody>
      </p:sp>
      <p:sp>
        <p:nvSpPr>
          <p:cNvPr id="9219" name="내용 개체 틀 2">
            <a:extLst>
              <a:ext uri="{FF2B5EF4-FFF2-40B4-BE49-F238E27FC236}">
                <a16:creationId xmlns:a16="http://schemas.microsoft.com/office/drawing/2014/main" id="{E08EE2B1-BF1C-C6B9-CD42-4D25503F3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220" name="Picture 2">
            <a:extLst>
              <a:ext uri="{FF2B5EF4-FFF2-40B4-BE49-F238E27FC236}">
                <a16:creationId xmlns:a16="http://schemas.microsoft.com/office/drawing/2014/main" id="{F9381ECE-3C7F-BCB2-73B8-6924E29F2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989138"/>
            <a:ext cx="7596188" cy="439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D8E26E8D-C974-4658-F91C-580BFBF2A912}"/>
              </a:ext>
            </a:extLst>
          </p:cNvPr>
          <p:cNvSpPr/>
          <p:nvPr/>
        </p:nvSpPr>
        <p:spPr>
          <a:xfrm>
            <a:off x="4356100" y="1971675"/>
            <a:ext cx="3455988" cy="7191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222" name="TextBox 5">
            <a:extLst>
              <a:ext uri="{FF2B5EF4-FFF2-40B4-BE49-F238E27FC236}">
                <a16:creationId xmlns:a16="http://schemas.microsoft.com/office/drawing/2014/main" id="{9448340E-8787-BE3B-3452-5C8F64238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1628775"/>
            <a:ext cx="2638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b="1">
                <a:solidFill>
                  <a:srgbClr val="FF0000"/>
                </a:solidFill>
              </a:rPr>
              <a:t>Shared among threads</a:t>
            </a:r>
            <a:endParaRPr lang="ko-KR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>
            <a:extLst>
              <a:ext uri="{FF2B5EF4-FFF2-40B4-BE49-F238E27FC236}">
                <a16:creationId xmlns:a16="http://schemas.microsoft.com/office/drawing/2014/main" id="{251A46D2-44C6-11FC-8990-71C5B0854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Multi-process vs Multi-thread</a:t>
            </a:r>
            <a:endParaRPr lang="ko-KR" altLang="en-US" b="1" u="sng"/>
          </a:p>
        </p:txBody>
      </p:sp>
      <p:sp>
        <p:nvSpPr>
          <p:cNvPr id="10243" name="내용 개체 틀 2">
            <a:extLst>
              <a:ext uri="{FF2B5EF4-FFF2-40B4-BE49-F238E27FC236}">
                <a16:creationId xmlns:a16="http://schemas.microsoft.com/office/drawing/2014/main" id="{DA38FE38-910B-4465-F8D1-5E09B8697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Process</a:t>
            </a:r>
          </a:p>
          <a:p>
            <a:pPr lvl="1"/>
            <a:r>
              <a:rPr lang="en-US" altLang="ko-KR" sz="2400"/>
              <a:t>Child process gets a copy of parents variables </a:t>
            </a:r>
          </a:p>
          <a:p>
            <a:pPr lvl="1"/>
            <a:r>
              <a:rPr lang="en-US" altLang="ko-KR" sz="2400"/>
              <a:t>Relatively expensive to start </a:t>
            </a:r>
          </a:p>
          <a:p>
            <a:pPr lvl="1"/>
            <a:r>
              <a:rPr lang="en-US" altLang="ko-KR" sz="2400"/>
              <a:t>Don't have to worry about concurrent access to variables</a:t>
            </a:r>
          </a:p>
          <a:p>
            <a:endParaRPr lang="en-US" altLang="ko-KR" sz="2800"/>
          </a:p>
          <a:p>
            <a:r>
              <a:rPr lang="en-US" altLang="ko-KR" sz="2800"/>
              <a:t>Thread</a:t>
            </a:r>
          </a:p>
          <a:p>
            <a:pPr lvl="1"/>
            <a:r>
              <a:rPr lang="en-US" altLang="ko-KR" sz="2400"/>
              <a:t>Child process shares parent’s variables </a:t>
            </a:r>
          </a:p>
          <a:p>
            <a:pPr lvl="1"/>
            <a:r>
              <a:rPr lang="en-US" altLang="ko-KR" sz="2400"/>
              <a:t>Relatively cheap to start </a:t>
            </a:r>
          </a:p>
          <a:p>
            <a:pPr lvl="1"/>
            <a:r>
              <a:rPr lang="en-US" altLang="ko-KR" sz="2400"/>
              <a:t>Concurrent access to variables is an issue</a:t>
            </a:r>
            <a:endParaRPr lang="ko-KR" alt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417C7277-651B-7E38-FF6D-80E7B3DA0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Implementing processes -the OS view</a:t>
            </a:r>
            <a:endParaRPr lang="ko-KR" altLang="en-US" sz="3200" u="sng"/>
          </a:p>
        </p:txBody>
      </p:sp>
      <p:sp>
        <p:nvSpPr>
          <p:cNvPr id="11267" name="내용 개체 틀 2">
            <a:extLst>
              <a:ext uri="{FF2B5EF4-FFF2-40B4-BE49-F238E27FC236}">
                <a16:creationId xmlns:a16="http://schemas.microsoft.com/office/drawing/2014/main" id="{A5312793-4803-0D72-13B6-B2C44332F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1268" name="Picture 2">
            <a:extLst>
              <a:ext uri="{FF2B5EF4-FFF2-40B4-BE49-F238E27FC236}">
                <a16:creationId xmlns:a16="http://schemas.microsoft.com/office/drawing/2014/main" id="{EC32ABC3-DDB2-85D7-F4F9-040917E4D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484313"/>
            <a:ext cx="8393112" cy="482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3">
            <a:extLst>
              <a:ext uri="{FF2B5EF4-FFF2-40B4-BE49-F238E27FC236}">
                <a16:creationId xmlns:a16="http://schemas.microsoft.com/office/drawing/2014/main" id="{2801DFD4-EF5E-AC98-9F3C-3B9A8AF42147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altLang="ko-KR" b="1"/>
              <a:t>Programming JAVA threads</a:t>
            </a:r>
            <a:endParaRPr lang="ko-KR" altLang="en-US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8A77C25F-3BAE-8E79-F63A-2DB839E60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JAVA Threading Models</a:t>
            </a:r>
            <a:endParaRPr lang="ko-KR" altLang="en-US" b="1" u="sng"/>
          </a:p>
        </p:txBody>
      </p:sp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B4D89904-0A83-927B-9677-BB2408005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Java has threads built-in (java.lang.thread)</a:t>
            </a:r>
          </a:p>
          <a:p>
            <a:r>
              <a:rPr lang="en-US" altLang="ko-KR" sz="2800"/>
              <a:t>Applications consist of at least one thread </a:t>
            </a:r>
          </a:p>
          <a:p>
            <a:pPr lvl="1"/>
            <a:r>
              <a:rPr lang="en-US" altLang="ko-KR" sz="2400"/>
              <a:t>Often called ‘main’</a:t>
            </a:r>
          </a:p>
          <a:p>
            <a:r>
              <a:rPr lang="en-US" altLang="ko-KR" sz="2800"/>
              <a:t>The Java Virtual Machine creates the initial thread which executes the main method of the class passed to the JVM</a:t>
            </a:r>
          </a:p>
          <a:p>
            <a:r>
              <a:rPr lang="en-US" altLang="ko-KR" sz="2800"/>
              <a:t>The methods executed by the ‘main’ thread can then create other threads</a:t>
            </a:r>
          </a:p>
          <a:p>
            <a:endParaRPr lang="en-US" altLang="ko-KR" sz="2800"/>
          </a:p>
          <a:p>
            <a:pPr lvl="1"/>
            <a:endParaRPr lang="en-US" altLang="ko-KR" sz="2400"/>
          </a:p>
          <a:p>
            <a:endParaRPr lang="en-US" altLang="ko-KR" sz="2800"/>
          </a:p>
          <a:p>
            <a:endParaRPr lang="en-US" altLang="ko-KR" sz="2800"/>
          </a:p>
          <a:p>
            <a:endParaRPr lang="ko-KR" altLang="en-US"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>
            <a:extLst>
              <a:ext uri="{FF2B5EF4-FFF2-40B4-BE49-F238E27FC236}">
                <a16:creationId xmlns:a16="http://schemas.microsoft.com/office/drawing/2014/main" id="{6544CC7B-F093-41A7-99E0-5F1608125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Creating Threads : method 1</a:t>
            </a:r>
            <a:endParaRPr lang="ko-KR" altLang="en-US" b="1" u="sng"/>
          </a:p>
        </p:txBody>
      </p:sp>
      <p:sp>
        <p:nvSpPr>
          <p:cNvPr id="14339" name="내용 개체 틀 2">
            <a:extLst>
              <a:ext uri="{FF2B5EF4-FFF2-40B4-BE49-F238E27FC236}">
                <a16:creationId xmlns:a16="http://schemas.microsoft.com/office/drawing/2014/main" id="{0AEF5FFB-2696-BD53-D452-0CB9486DE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A Thread class manages a single sequential thread of control. </a:t>
            </a:r>
            <a:endParaRPr lang="ko-KR" altLang="en-US" sz="2000"/>
          </a:p>
        </p:txBody>
      </p:sp>
      <p:pic>
        <p:nvPicPr>
          <p:cNvPr id="14340" name="Picture 3">
            <a:extLst>
              <a:ext uri="{FF2B5EF4-FFF2-40B4-BE49-F238E27FC236}">
                <a16:creationId xmlns:a16="http://schemas.microsoft.com/office/drawing/2014/main" id="{1993C1A5-35EE-5C50-28CE-7F9FEF025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989138"/>
            <a:ext cx="1531937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4">
            <a:extLst>
              <a:ext uri="{FF2B5EF4-FFF2-40B4-BE49-F238E27FC236}">
                <a16:creationId xmlns:a16="http://schemas.microsoft.com/office/drawing/2014/main" id="{5E124208-5566-C117-FD8F-2E3DB432E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2997200"/>
            <a:ext cx="5040313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TextBox 6">
            <a:extLst>
              <a:ext uri="{FF2B5EF4-FFF2-40B4-BE49-F238E27FC236}">
                <a16:creationId xmlns:a16="http://schemas.microsoft.com/office/drawing/2014/main" id="{96D142AD-D129-1346-BD03-A64DC4386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2349500"/>
            <a:ext cx="5054600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/>
              <a:t>The Thread class executes instructions from </a:t>
            </a:r>
          </a:p>
          <a:p>
            <a:pPr eaLnBrk="1" hangingPunct="1"/>
            <a:r>
              <a:rPr lang="en-US" altLang="ko-KR"/>
              <a:t>its method </a:t>
            </a:r>
            <a:r>
              <a:rPr lang="en-US" altLang="ko-KR" b="1"/>
              <a:t>run().</a:t>
            </a:r>
          </a:p>
          <a:p>
            <a:pPr eaLnBrk="1" hangingPunct="1"/>
            <a:endParaRPr lang="ko-KR" altLang="en-US"/>
          </a:p>
        </p:txBody>
      </p:sp>
      <p:sp>
        <p:nvSpPr>
          <p:cNvPr id="14343" name="TextBox 7">
            <a:extLst>
              <a:ext uri="{FF2B5EF4-FFF2-40B4-BE49-F238E27FC236}">
                <a16:creationId xmlns:a16="http://schemas.microsoft.com/office/drawing/2014/main" id="{EED5963B-9CAE-384C-395F-DE40F8F82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4797425"/>
            <a:ext cx="40449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MyThread t = new MyThread();</a:t>
            </a:r>
          </a:p>
          <a:p>
            <a:pPr eaLnBrk="1" hangingPunct="1"/>
            <a:r>
              <a:rPr lang="en-US" altLang="ko-KR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t.start();</a:t>
            </a:r>
            <a:endParaRPr lang="ko-KR" altLang="en-US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344" name="TextBox 8">
            <a:extLst>
              <a:ext uri="{FF2B5EF4-FFF2-40B4-BE49-F238E27FC236}">
                <a16:creationId xmlns:a16="http://schemas.microsoft.com/office/drawing/2014/main" id="{9E14AFDE-9FF0-7FC2-0975-D4F80FA986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8" y="5602288"/>
            <a:ext cx="60388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dirty="0"/>
              <a:t>Note: the invocation returns immediately to the caller</a:t>
            </a:r>
          </a:p>
          <a:p>
            <a:pPr eaLnBrk="1" hangingPunct="1"/>
            <a:endParaRPr lang="ko-KR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76A6D7-0BFD-BDA4-19BF-12C29E64B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579296" cy="1143000"/>
          </a:xfrm>
        </p:spPr>
        <p:txBody>
          <a:bodyPr/>
          <a:lstStyle/>
          <a:p>
            <a:r>
              <a:rPr kumimoji="1" lang="en-US" altLang="ko-Kore-KR" b="1" u="sng" dirty="0"/>
              <a:t>(</a:t>
            </a:r>
            <a:r>
              <a:rPr lang="en-US" altLang="ko-Kore-KR" b="1" u="sng" dirty="0"/>
              <a:t>method 1) anonymous subclass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FC19D0-FD73-0256-21EA-D3433C743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/>
              <a:t>You can also create </a:t>
            </a:r>
          </a:p>
          <a:p>
            <a:pPr marL="0" indent="0">
              <a:buNone/>
            </a:pPr>
            <a:r>
              <a:rPr lang="en-US" altLang="ko-Kore-KR" dirty="0"/>
              <a:t>   </a:t>
            </a:r>
            <a:r>
              <a:rPr kumimoji="1" lang="en-US" altLang="ko-Kore-KR" dirty="0"/>
              <a:t>an anonymous subclass of </a:t>
            </a:r>
            <a:r>
              <a:rPr kumimoji="1" lang="en-US" altLang="ko-Kore-KR" b="1" dirty="0">
                <a:latin typeface="Courier New" panose="02070309020205020404" pitchFamily="49" charset="0"/>
                <a:cs typeface="Courier New" panose="02070309020205020404" pitchFamily="49" charset="0"/>
              </a:rPr>
              <a:t>Thread</a:t>
            </a:r>
          </a:p>
          <a:p>
            <a:endParaRPr lang="en-US" altLang="ko-Kore-K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ko-Kore-KR" dirty="0"/>
              <a:t>example code</a:t>
            </a:r>
            <a:endParaRPr lang="en-US" altLang="ko-Kore-K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Thread t = new Thread() {</a:t>
            </a:r>
          </a:p>
          <a:p>
            <a:pPr marL="0" indent="0">
              <a:buNone/>
            </a:pPr>
            <a:r>
              <a:rPr kumimoji="1"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public void run() {</a:t>
            </a:r>
          </a:p>
          <a:p>
            <a:pPr marL="0" indent="0">
              <a:buNone/>
            </a:pP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ore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(“Thread Running”);</a:t>
            </a:r>
          </a:p>
          <a:p>
            <a:pPr marL="0" indent="0">
              <a:buNone/>
            </a:pPr>
            <a:r>
              <a:rPr kumimoji="1"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ko-Kore-KR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ore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t.start</a:t>
            </a: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kumimoji="1" lang="ko-Kore-KR" alt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471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>
            <a:extLst>
              <a:ext uri="{FF2B5EF4-FFF2-40B4-BE49-F238E27FC236}">
                <a16:creationId xmlns:a16="http://schemas.microsoft.com/office/drawing/2014/main" id="{D4933272-B5A7-1E66-E555-B4FFE6ABB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example1</a:t>
            </a:r>
            <a:endParaRPr lang="ko-KR" altLang="en-US" b="1" u="sn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B5DED5-C3FE-292E-0295-409308025D25}"/>
              </a:ext>
            </a:extLst>
          </p:cNvPr>
          <p:cNvSpPr txBox="1"/>
          <p:nvPr/>
        </p:nvSpPr>
        <p:spPr>
          <a:xfrm>
            <a:off x="971550" y="1477963"/>
            <a:ext cx="7283450" cy="504666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// ThreadDemo.java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ThreadDemo</a:t>
            </a:r>
            <a:endParaRPr lang="en-US" altLang="ko-KR" sz="14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public static void main (String []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args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MyThread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mt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new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MyThread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();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mt.start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();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for 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0;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 50;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++)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System.out.println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("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" +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+ ",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*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" +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*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MyThread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extends Thread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public void run ()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for 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count = 1, row = 1; row &lt; 20; row++, count++)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for 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0;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 count;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++)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System.out.print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('*');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System.out.print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('\n');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  <a:endParaRPr lang="ko-KR" altLang="en-US" sz="14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>
            <a:extLst>
              <a:ext uri="{FF2B5EF4-FFF2-40B4-BE49-F238E27FC236}">
                <a16:creationId xmlns:a16="http://schemas.microsoft.com/office/drawing/2014/main" id="{A0299858-EF18-B7BE-9886-497FEB804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Thread Names</a:t>
            </a:r>
            <a:endParaRPr lang="ko-KR" altLang="en-US" b="1" u="sng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15BE13A4-4271-C2A4-F937-8F7CC7222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/>
          <a:lstStyle/>
          <a:p>
            <a:endParaRPr lang="ko-KR" altLang="en-US" sz="2400" dirty="0"/>
          </a:p>
          <a:p>
            <a:r>
              <a:rPr lang="en-US" altLang="ko-KR" sz="2400" dirty="0"/>
              <a:t>All threads have a name to be printed out.</a:t>
            </a:r>
          </a:p>
          <a:p>
            <a:r>
              <a:rPr lang="en-US" altLang="ko-KR" sz="2400" dirty="0"/>
              <a:t>The default name is of the format: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Thread-No</a:t>
            </a:r>
          </a:p>
          <a:p>
            <a:pPr lvl="1"/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Thread-1, Thread-2, …</a:t>
            </a:r>
          </a:p>
          <a:p>
            <a:r>
              <a:rPr lang="en-US" altLang="ko-KR" sz="2400" dirty="0"/>
              <a:t>User-</a:t>
            </a:r>
            <a:r>
              <a:rPr lang="en-US" altLang="ko-KR" sz="2400" dirty="0" err="1"/>
              <a:t>deinfed</a:t>
            </a:r>
            <a:r>
              <a:rPr lang="en-US" altLang="ko-KR" sz="2400" dirty="0"/>
              <a:t> names can be given thru constructor:</a:t>
            </a:r>
          </a:p>
          <a:p>
            <a:endParaRPr lang="en-US" altLang="ko-KR" sz="2400" dirty="0"/>
          </a:p>
          <a:p>
            <a:pPr lvl="1">
              <a:buFont typeface="Wingdings" pitchFamily="2" charset="2"/>
              <a:buNone/>
            </a:pP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Thread </a:t>
            </a: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myThread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new Thread(“</a:t>
            </a: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HappyThread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”);</a:t>
            </a:r>
          </a:p>
          <a:p>
            <a:pPr lvl="1">
              <a:buFont typeface="Wingdings" pitchFamily="2" charset="2"/>
              <a:buNone/>
            </a:pPr>
            <a:endParaRPr lang="en-US" altLang="ko-KR" sz="1800" dirty="0"/>
          </a:p>
          <a:p>
            <a:r>
              <a:rPr lang="en-US" altLang="ko-KR" sz="2400" dirty="0"/>
              <a:t>Or using the “</a:t>
            </a:r>
            <a:r>
              <a:rPr lang="en-US" altLang="ko-K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setName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aString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ko-KR" sz="2400" dirty="0"/>
              <a:t>”method.</a:t>
            </a:r>
          </a:p>
          <a:p>
            <a:r>
              <a:rPr lang="en-US" altLang="ko-KR" sz="2400" dirty="0"/>
              <a:t>There is a method in Thread class, called “</a:t>
            </a:r>
            <a:r>
              <a:rPr lang="en-US" altLang="ko-KR" sz="2400" dirty="0" err="1"/>
              <a:t>getName</a:t>
            </a:r>
            <a:r>
              <a:rPr lang="en-US" altLang="ko-KR" sz="2400" dirty="0"/>
              <a:t>()”, to obtain a thread’s name</a:t>
            </a:r>
          </a:p>
          <a:p>
            <a:endParaRPr lang="ko-KR" alt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811378F9-D0A2-C922-9BB3-57FA9E3E3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example2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70A5EB-2725-D3C7-59C2-4AEB2EEC5D3E}"/>
              </a:ext>
            </a:extLst>
          </p:cNvPr>
          <p:cNvSpPr txBox="1"/>
          <p:nvPr/>
        </p:nvSpPr>
        <p:spPr>
          <a:xfrm>
            <a:off x="385763" y="1335088"/>
            <a:ext cx="5915025" cy="547846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public class Loop3 extends Thread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public Loop3(String name) {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super(name); // pass name to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superclass</a:t>
            </a:r>
            <a:endParaRPr lang="en-US" altLang="ko-KR" sz="14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}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public void run() { </a:t>
            </a:r>
          </a:p>
          <a:p>
            <a:pPr>
              <a:defRPr/>
            </a:pPr>
            <a:r>
              <a:rPr lang="nn-NO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for(int i = 1; i &lt;= 10000; i++)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{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System.out.println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getName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 + " (" +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+ ")");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try {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sleep(10);   // sleep for 10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milisecs</a:t>
            </a:r>
            <a:endParaRPr lang="en-US" altLang="ko-KR" sz="14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}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catch(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InterruptedException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e) {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}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}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}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public static void main(String[]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args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 {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Loop3 t1 = new Loop3("Thread 1");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Loop3 t2 = new Loop3("Thread 2");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Loop3 t3 = new Loop3("Thread 3");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t1.start();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t2.start();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t3.start();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}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  <a:endParaRPr lang="ko-KR" altLang="en-US" sz="14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5A7A62-C7C6-4E36-B36E-7CEB0B1AC5CF}"/>
              </a:ext>
            </a:extLst>
          </p:cNvPr>
          <p:cNvSpPr txBox="1"/>
          <p:nvPr/>
        </p:nvSpPr>
        <p:spPr>
          <a:xfrm>
            <a:off x="6588125" y="1616075"/>
            <a:ext cx="2079625" cy="28924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java Loop3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…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 1 (100)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 2 (98)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 3 (97)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 1 (101)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 3 (98)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 2 (99)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 1 (102)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 3 (99)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 2 (100)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 1 (103)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…</a:t>
            </a:r>
            <a:endParaRPr lang="ko-KR" altLang="en-US" sz="14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</p:txBody>
      </p:sp>
      <p:sp>
        <p:nvSpPr>
          <p:cNvPr id="17413" name="TextBox 5">
            <a:extLst>
              <a:ext uri="{FF2B5EF4-FFF2-40B4-BE49-F238E27FC236}">
                <a16:creationId xmlns:a16="http://schemas.microsoft.com/office/drawing/2014/main" id="{12FE774E-142C-265B-D8B5-20465B372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1196975"/>
            <a:ext cx="11588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/>
              <a:t>&lt;output&gt;</a:t>
            </a:r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>
            <a:extLst>
              <a:ext uri="{FF2B5EF4-FFF2-40B4-BE49-F238E27FC236}">
                <a16:creationId xmlns:a16="http://schemas.microsoft.com/office/drawing/2014/main" id="{6B38DFB5-5DC7-08C4-DA64-A0BD46992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Creating Threads : method 2</a:t>
            </a:r>
            <a:endParaRPr lang="ko-KR" altLang="en-US"/>
          </a:p>
        </p:txBody>
      </p:sp>
      <p:sp>
        <p:nvSpPr>
          <p:cNvPr id="18435" name="내용 개체 틀 2">
            <a:extLst>
              <a:ext uri="{FF2B5EF4-FFF2-40B4-BE49-F238E27FC236}">
                <a16:creationId xmlns:a16="http://schemas.microsoft.com/office/drawing/2014/main" id="{988804A6-93C7-7E60-2916-BC322684E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Since Java does not permit multiple inheritance, we often implement the </a:t>
            </a:r>
            <a:r>
              <a:rPr lang="en-US" altLang="ko-KR" sz="2400" b="1"/>
              <a:t>run() method in a class not derived from Thread but from the interface Runnable.</a:t>
            </a:r>
          </a:p>
          <a:p>
            <a:endParaRPr lang="ko-KR" altLang="en-US" sz="2400"/>
          </a:p>
        </p:txBody>
      </p:sp>
      <p:pic>
        <p:nvPicPr>
          <p:cNvPr id="18436" name="Picture 2">
            <a:extLst>
              <a:ext uri="{FF2B5EF4-FFF2-40B4-BE49-F238E27FC236}">
                <a16:creationId xmlns:a16="http://schemas.microsoft.com/office/drawing/2014/main" id="{C76AFBFE-9F3B-92C4-469C-E78EEA89B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3068960"/>
            <a:ext cx="6575425" cy="358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>
            <a:extLst>
              <a:ext uri="{FF2B5EF4-FFF2-40B4-BE49-F238E27FC236}">
                <a16:creationId xmlns:a16="http://schemas.microsoft.com/office/drawing/2014/main" id="{EB2FBA21-E14A-D826-DF1A-4B6A12121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Creating &amp; Executing Threads, (Runnable)</a:t>
            </a:r>
            <a:endParaRPr lang="ko-KR" altLang="en-US" sz="3200" u="sng"/>
          </a:p>
        </p:txBody>
      </p:sp>
      <p:sp>
        <p:nvSpPr>
          <p:cNvPr id="19459" name="내용 개체 틀 2">
            <a:extLst>
              <a:ext uri="{FF2B5EF4-FFF2-40B4-BE49-F238E27FC236}">
                <a16:creationId xmlns:a16="http://schemas.microsoft.com/office/drawing/2014/main" id="{868B0339-C9D7-7874-26F8-67CE33B3D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Runnable interface has single method</a:t>
            </a:r>
          </a:p>
          <a:p>
            <a:pPr lvl="1"/>
            <a:r>
              <a:rPr lang="en-US" altLang="ko-KR" sz="2800"/>
              <a:t>public void run()</a:t>
            </a:r>
          </a:p>
          <a:p>
            <a:r>
              <a:rPr lang="en-US" altLang="ko-KR" sz="3200"/>
              <a:t>Implement a Runnable and define run()</a:t>
            </a:r>
          </a:p>
          <a:p>
            <a:endParaRPr lang="ko-KR" altLang="en-US" sz="3200"/>
          </a:p>
          <a:p>
            <a:pPr>
              <a:buFont typeface="Wingdings" pitchFamily="2" charset="2"/>
              <a:buNone/>
            </a:pPr>
            <a:r>
              <a:rPr lang="en-US" altLang="ko-KR" sz="18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en-US" altLang="ko-KR" sz="3200"/>
          </a:p>
          <a:p>
            <a:pPr lvl="1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D130D-769D-A38C-39E4-BE4C6A490ECB}"/>
              </a:ext>
            </a:extLst>
          </p:cNvPr>
          <p:cNvSpPr txBox="1"/>
          <p:nvPr/>
        </p:nvSpPr>
        <p:spPr>
          <a:xfrm>
            <a:off x="900113" y="3789363"/>
            <a:ext cx="6526212" cy="20304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MyRunnable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implements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Runnable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public void run() {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System.out.println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(“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MyRunnable.run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()”);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//other methods and data for this class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}</a:t>
            </a:r>
          </a:p>
          <a:p>
            <a:pPr>
              <a:defRPr/>
            </a:pPr>
            <a:endParaRPr lang="ko-KR" altLang="en-US" dirty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>
            <a:extLst>
              <a:ext uri="{FF2B5EF4-FFF2-40B4-BE49-F238E27FC236}">
                <a16:creationId xmlns:a16="http://schemas.microsoft.com/office/drawing/2014/main" id="{C4CA53C0-5F12-3096-BB8F-C0A265CEB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Creating &amp; Executing Threads, (Runnable)</a:t>
            </a:r>
            <a:endParaRPr lang="ko-KR" altLang="en-US" sz="3200"/>
          </a:p>
        </p:txBody>
      </p:sp>
      <p:sp>
        <p:nvSpPr>
          <p:cNvPr id="20483" name="내용 개체 틀 2">
            <a:extLst>
              <a:ext uri="{FF2B5EF4-FFF2-40B4-BE49-F238E27FC236}">
                <a16:creationId xmlns:a16="http://schemas.microsoft.com/office/drawing/2014/main" id="{34ECDF0D-9F12-5C31-0187-9146CE331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  <a:p>
            <a:pPr>
              <a:buFont typeface="Wingdings" pitchFamily="2" charset="2"/>
              <a:buNone/>
            </a:pPr>
            <a:r>
              <a:rPr lang="en-US" altLang="ko-KR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>
              <a:buFont typeface="Wingdings" pitchFamily="2" charset="2"/>
              <a:buNone/>
            </a:pPr>
            <a:endParaRPr lang="en-US" altLang="ko-KR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endParaRPr lang="en-US" altLang="ko-KR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endParaRPr lang="en-US" altLang="ko-KR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endParaRPr lang="en-US" altLang="ko-KR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endParaRPr lang="en-US" altLang="ko-KR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endParaRPr lang="en-US" altLang="ko-KR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2000"/>
              <a:t>Thread’s run() method invokes the Runnable’s run() method</a:t>
            </a:r>
          </a:p>
          <a:p>
            <a:pPr>
              <a:buFont typeface="Wingdings" pitchFamily="2" charset="2"/>
              <a:buNone/>
            </a:pPr>
            <a:endParaRPr lang="ko-KR" alt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C506C3-8749-D671-EDCB-3A5AA874DA91}"/>
              </a:ext>
            </a:extLst>
          </p:cNvPr>
          <p:cNvSpPr txBox="1"/>
          <p:nvPr/>
        </p:nvSpPr>
        <p:spPr>
          <a:xfrm>
            <a:off x="684213" y="1844675"/>
            <a:ext cx="6249987" cy="23082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Main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public static void main(String[]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args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MyRunnable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myrun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= new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MyRunnable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Thread t1 = new Thread(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myrun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t1.start();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System.out.println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(“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InsideMain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()”);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}</a:t>
            </a:r>
            <a:endParaRPr lang="ko-KR" altLang="en-US" dirty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32AE8-02B2-472E-FD0E-AB04AAC82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/>
          <a:lstStyle/>
          <a:p>
            <a:r>
              <a:rPr kumimoji="1" lang="en-US" altLang="ko-Kore-KR" b="1" u="sng" dirty="0"/>
              <a:t>(method 2) three ways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42A3C2-8DFE-685F-127D-BDCFC61C5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075240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ko-Kore-KR" dirty="0"/>
              <a:t>1. Create a </a:t>
            </a:r>
            <a:r>
              <a:rPr lang="en-US" altLang="ko-Kore-KR" b="1" u="sng" dirty="0"/>
              <a:t>Java class</a:t>
            </a:r>
            <a:r>
              <a:rPr lang="en-US" altLang="ko-Kore-KR" b="1" dirty="0"/>
              <a:t> </a:t>
            </a:r>
            <a:r>
              <a:rPr lang="en-US" altLang="ko-Kore-KR" dirty="0"/>
              <a:t>that implements</a:t>
            </a:r>
          </a:p>
          <a:p>
            <a:pPr marL="0" indent="0">
              <a:buNone/>
            </a:pPr>
            <a:r>
              <a:rPr lang="en-US" altLang="ko-Kore-KR" dirty="0"/>
              <a:t>   the Runnable interface</a:t>
            </a:r>
          </a:p>
          <a:p>
            <a:pPr marL="514350" indent="-514350">
              <a:buAutoNum type="arabicPeriod"/>
            </a:pPr>
            <a:endParaRPr lang="en-US" altLang="ko-Kore-KR" dirty="0"/>
          </a:p>
          <a:p>
            <a:pPr marL="0" indent="0">
              <a:buNone/>
            </a:pPr>
            <a:r>
              <a:rPr kumimoji="1" lang="en-US" altLang="ko-Kore-KR" dirty="0"/>
              <a:t>2. Create </a:t>
            </a:r>
            <a:r>
              <a:rPr kumimoji="1" lang="en-US" altLang="ko-Kore-KR" b="1" dirty="0"/>
              <a:t>an </a:t>
            </a:r>
            <a:r>
              <a:rPr kumimoji="1" lang="en-US" altLang="ko-Kore-KR" b="1" u="sng" dirty="0"/>
              <a:t>anonymous class</a:t>
            </a:r>
            <a:r>
              <a:rPr kumimoji="1" lang="en-US" altLang="ko-Kore-KR" b="1" dirty="0"/>
              <a:t> </a:t>
            </a:r>
            <a:r>
              <a:rPr kumimoji="1" lang="en-US" altLang="ko-Kore-KR" dirty="0"/>
              <a:t>that</a:t>
            </a:r>
          </a:p>
          <a:p>
            <a:pPr marL="0" indent="0">
              <a:buNone/>
            </a:pPr>
            <a:r>
              <a:rPr lang="en-US" altLang="ko-Kore-KR" dirty="0"/>
              <a:t>   </a:t>
            </a:r>
            <a:r>
              <a:rPr kumimoji="1" lang="en-US" altLang="ko-Kore-KR" dirty="0"/>
              <a:t> implements the Runnable interface</a:t>
            </a:r>
          </a:p>
          <a:p>
            <a:pPr marL="514350" indent="-514350">
              <a:buAutoNum type="arabicPeriod"/>
            </a:pPr>
            <a:endParaRPr lang="en-US" altLang="ko-Kore-KR" dirty="0"/>
          </a:p>
          <a:p>
            <a:pPr marL="0" indent="0">
              <a:buNone/>
            </a:pPr>
            <a:r>
              <a:rPr lang="en-US" altLang="ko-Kore-KR" dirty="0"/>
              <a:t>3. Create a </a:t>
            </a:r>
            <a:r>
              <a:rPr lang="en-US" altLang="ko-Kore-KR" b="1" u="sng" dirty="0"/>
              <a:t>Java Lambda expression</a:t>
            </a:r>
            <a:r>
              <a:rPr lang="en-US" altLang="ko-Kore-KR" b="1" dirty="0"/>
              <a:t> </a:t>
            </a:r>
            <a:r>
              <a:rPr lang="en-US" altLang="ko-Kore-KR" dirty="0"/>
              <a:t>that     </a:t>
            </a:r>
          </a:p>
          <a:p>
            <a:pPr marL="0" indent="0">
              <a:buNone/>
            </a:pPr>
            <a:r>
              <a:rPr lang="en-US" altLang="ko-Kore-KR" dirty="0"/>
              <a:t>    implements the Runnable interface</a:t>
            </a:r>
            <a:endParaRPr kumimoji="1" lang="en-US" altLang="ko-Kore-KR" dirty="0"/>
          </a:p>
          <a:p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402722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42A3C2-8DFE-685F-127D-BDCFC61C5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77"/>
            <a:ext cx="8435280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ko-Kore-KR" sz="2000" b="1" dirty="0">
                <a:latin typeface="+mj-lt"/>
                <a:cs typeface="Courier New" panose="02070309020205020404" pitchFamily="49" charset="0"/>
              </a:rPr>
              <a:t>1. Java Class implements Runnable</a:t>
            </a:r>
          </a:p>
          <a:p>
            <a:pPr marL="0" indent="0">
              <a:buNone/>
            </a:pPr>
            <a:endParaRPr kumimoji="1"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ore-KR" sz="2000" b="1" dirty="0">
                <a:latin typeface="+mj-lt"/>
                <a:cs typeface="Courier New" panose="02070309020205020404" pitchFamily="49" charset="0"/>
              </a:rPr>
              <a:t>2. Anonymous implementation of Runnable</a:t>
            </a:r>
          </a:p>
          <a:p>
            <a:pPr marL="0" indent="0">
              <a:buNone/>
            </a:pPr>
            <a:endParaRPr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ore-KR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C4F123-A56B-2D25-CDF6-42374BCA1267}"/>
              </a:ext>
            </a:extLst>
          </p:cNvPr>
          <p:cNvSpPr txBox="1"/>
          <p:nvPr/>
        </p:nvSpPr>
        <p:spPr>
          <a:xfrm>
            <a:off x="539552" y="1412776"/>
            <a:ext cx="8077200" cy="2308324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MyRunnable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Runnable {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public void run(){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MyRunnable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running");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MyRunnable</a:t>
            </a:r>
            <a:r>
              <a:rPr kumimoji="1"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 = new </a:t>
            </a:r>
            <a:r>
              <a:rPr kumimoji="1"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MyRunnable</a:t>
            </a:r>
            <a:r>
              <a:rPr kumimoji="1"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endParaRPr kumimoji="1"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Thread t = new Thread 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(r);</a:t>
            </a:r>
          </a:p>
          <a:p>
            <a:pPr marL="0" indent="0">
              <a:buNone/>
            </a:pPr>
            <a:r>
              <a:rPr kumimoji="1"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t.start</a:t>
            </a:r>
            <a:r>
              <a:rPr kumimoji="1"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kumimoji="1" lang="ko-Kore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9ECFE2-F7F2-89B0-016A-21824DB4E3CB}"/>
              </a:ext>
            </a:extLst>
          </p:cNvPr>
          <p:cNvSpPr txBox="1"/>
          <p:nvPr/>
        </p:nvSpPr>
        <p:spPr>
          <a:xfrm>
            <a:off x="533400" y="4265801"/>
            <a:ext cx="8077200" cy="2062103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Runnable r = new Runnable() {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public void run(){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MyRunnable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running");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Thread t = new Thread 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(r);</a:t>
            </a:r>
          </a:p>
          <a:p>
            <a:pPr marL="0" indent="0">
              <a:buNone/>
            </a:pPr>
            <a:r>
              <a:rPr kumimoji="1"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t.start</a:t>
            </a:r>
            <a:r>
              <a:rPr kumimoji="1"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kumimoji="1" lang="ko-Kore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562105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6700A2-F7D7-5723-E23C-3487D0682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77"/>
            <a:ext cx="8507288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ko-Kore-KR" sz="2000" b="1" dirty="0">
                <a:latin typeface="+mj-lt"/>
                <a:cs typeface="Courier New" panose="02070309020205020404" pitchFamily="49" charset="0"/>
              </a:rPr>
              <a:t>3. Lambda Implementation of Runnable (conciseness, readability)</a:t>
            </a:r>
          </a:p>
          <a:p>
            <a:pPr marL="0" indent="0">
              <a:buNone/>
            </a:pPr>
            <a:endParaRPr lang="en-US" altLang="ko-Kore-KR" sz="2000" b="1" dirty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ore-KR" sz="2000" b="1" dirty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ore-KR" sz="2000" b="1" dirty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ore-KR" sz="2000" b="1" dirty="0">
              <a:latin typeface="+mj-lt"/>
              <a:cs typeface="Courier New" panose="02070309020205020404" pitchFamily="49" charset="0"/>
            </a:endParaRPr>
          </a:p>
          <a:p>
            <a:r>
              <a:rPr lang="en-US" altLang="ko-Kore-KR" sz="2000" b="1" dirty="0">
                <a:latin typeface="+mj-lt"/>
                <a:cs typeface="Courier New" panose="02070309020205020404" pitchFamily="49" charset="0"/>
              </a:rPr>
              <a:t>Comparison</a:t>
            </a:r>
          </a:p>
          <a:p>
            <a:pPr marL="0" indent="0">
              <a:buNone/>
            </a:pPr>
            <a:endParaRPr lang="en-US" altLang="ko-Kore-KR" sz="2000" b="1" dirty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ore-KR" sz="2000" b="1" dirty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1950EA-01D3-42D8-D204-9A1CB254151F}"/>
              </a:ext>
            </a:extLst>
          </p:cNvPr>
          <p:cNvSpPr txBox="1"/>
          <p:nvPr/>
        </p:nvSpPr>
        <p:spPr>
          <a:xfrm>
            <a:off x="561256" y="1412776"/>
            <a:ext cx="8147248" cy="1077218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Runnable r = () -&gt; {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MyRunnable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running"); };</a:t>
            </a:r>
          </a:p>
          <a:p>
            <a:pPr marL="0" indent="0">
              <a:buNone/>
            </a:pPr>
            <a:endParaRPr kumimoji="1"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Thread t = new Thread 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(r);</a:t>
            </a:r>
          </a:p>
          <a:p>
            <a:pPr marL="0" indent="0">
              <a:buNone/>
            </a:pPr>
            <a:r>
              <a:rPr kumimoji="1"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t.start</a:t>
            </a:r>
            <a:r>
              <a:rPr kumimoji="1"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kumimoji="1" lang="ko-Kore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980882-9A29-7019-0F2B-28041E8B2B0D}"/>
              </a:ext>
            </a:extLst>
          </p:cNvPr>
          <p:cNvSpPr txBox="1"/>
          <p:nvPr/>
        </p:nvSpPr>
        <p:spPr>
          <a:xfrm>
            <a:off x="538626" y="3273946"/>
            <a:ext cx="8425862" cy="3293209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Traditional way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Thread t1 = new Thread(new Runnable() {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@Override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public void run() {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("Thread 1");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}); </a:t>
            </a:r>
          </a:p>
          <a:p>
            <a:pPr marL="0" indent="0">
              <a:buNone/>
            </a:pPr>
            <a:endParaRPr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Lambda way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Thread t2 = new Thread( () -&gt;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("Thread 2") ); </a:t>
            </a:r>
          </a:p>
          <a:p>
            <a:pPr marL="0" indent="0">
              <a:buNone/>
            </a:pPr>
            <a:endParaRPr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t1.start();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t2.start();</a:t>
            </a:r>
            <a:endParaRPr kumimoji="1" lang="ko-Kore-KR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594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1BBA9C-7F8C-CDD7-8FEE-C75AE8A9B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ore-KR" b="1" u="sng" dirty="0"/>
              <a:t>Calling run() vs start()?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327414-BCA7-B393-4ABF-5CA0F945E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/>
          <a:lstStyle/>
          <a:p>
            <a:r>
              <a:rPr kumimoji="1" lang="en-US" altLang="ko-Kore-KR" dirty="0"/>
              <a:t>Common mistake</a:t>
            </a:r>
          </a:p>
          <a:p>
            <a:endParaRPr lang="en-US" altLang="ko-Kore-KR" dirty="0"/>
          </a:p>
          <a:p>
            <a:endParaRPr kumimoji="1" lang="en-US" altLang="ko-Kore-KR" dirty="0"/>
          </a:p>
          <a:p>
            <a:pPr lvl="1"/>
            <a:r>
              <a:rPr lang="en-US" altLang="ko-Kore-K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newThread.run</a:t>
            </a:r>
            <a:r>
              <a:rPr lang="en-US" altLang="ko-Kore-K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ko-Kore-KR" sz="2000" dirty="0"/>
              <a:t>: executed by original thread</a:t>
            </a:r>
          </a:p>
          <a:p>
            <a:pPr lvl="1"/>
            <a:r>
              <a:rPr lang="en-US" altLang="ko-Kore-K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newThread.start</a:t>
            </a:r>
            <a:r>
              <a:rPr lang="en-US" altLang="ko-Kore-K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ko-Kore-KR" sz="2000" dirty="0"/>
              <a:t>: executed by newly created thread </a:t>
            </a:r>
          </a:p>
          <a:p>
            <a:pPr marL="0" indent="0">
              <a:buNone/>
            </a:pPr>
            <a:r>
              <a:rPr kumimoji="1" lang="en-US" altLang="ko-Kore-KR" dirty="0"/>
              <a:t>	</a:t>
            </a:r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3FA817-CC5B-49BD-D444-BAC63C1173D6}"/>
              </a:ext>
            </a:extLst>
          </p:cNvPr>
          <p:cNvSpPr txBox="1"/>
          <p:nvPr/>
        </p:nvSpPr>
        <p:spPr>
          <a:xfrm>
            <a:off x="561256" y="2351782"/>
            <a:ext cx="8147248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Thread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newThread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new Thread(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MyRunnable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()); </a:t>
            </a:r>
          </a:p>
          <a:p>
            <a:pPr marL="0" indent="0">
              <a:buNone/>
            </a:pP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newThread.run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 //should be start();</a:t>
            </a:r>
            <a:endParaRPr kumimoji="1" lang="ko-Kore-KR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121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>
            <a:extLst>
              <a:ext uri="{FF2B5EF4-FFF2-40B4-BE49-F238E27FC236}">
                <a16:creationId xmlns:a16="http://schemas.microsoft.com/office/drawing/2014/main" id="{C61B962F-34CE-0815-1960-2E4E722BA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Example : Self-starting Threads</a:t>
            </a:r>
            <a:endParaRPr lang="ko-KR" altLang="en-US" sz="4000" b="1" u="sng"/>
          </a:p>
        </p:txBody>
      </p:sp>
      <p:sp>
        <p:nvSpPr>
          <p:cNvPr id="19459" name="내용 개체 틀 2">
            <a:extLst>
              <a:ext uri="{FF2B5EF4-FFF2-40B4-BE49-F238E27FC236}">
                <a16:creationId xmlns:a16="http://schemas.microsoft.com/office/drawing/2014/main" id="{0B7D310E-7427-C893-A644-8153C7A9155E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class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AutoRun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implements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Runnable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public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AutoRun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new Thread(this).start();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public void run()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AutoRun.run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()”);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class Main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public static void main(String[]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AutoRunt1 = new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AutoRun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InsideMain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()”);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}</a:t>
            </a:r>
            <a:endParaRPr lang="ko-KR" altLang="en-US" sz="18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BC4ED409-3140-840C-36A9-D5A3E8752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Thread Life-Cycle</a:t>
            </a:r>
            <a:endParaRPr lang="ko-KR" altLang="en-US" b="1" u="sng"/>
          </a:p>
        </p:txBody>
      </p:sp>
      <p:sp>
        <p:nvSpPr>
          <p:cNvPr id="22531" name="내용 개체 틀 2">
            <a:extLst>
              <a:ext uri="{FF2B5EF4-FFF2-40B4-BE49-F238E27FC236}">
                <a16:creationId xmlns:a16="http://schemas.microsoft.com/office/drawing/2014/main" id="{28566EC3-BB37-AEED-4A40-6D5DD642C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2532" name="Picture 2">
            <a:extLst>
              <a:ext uri="{FF2B5EF4-FFF2-40B4-BE49-F238E27FC236}">
                <a16:creationId xmlns:a16="http://schemas.microsoft.com/office/drawing/2014/main" id="{5F04E891-AC3A-03CA-3597-61311879C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484313"/>
            <a:ext cx="8713788" cy="448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제목 1">
            <a:extLst>
              <a:ext uri="{FF2B5EF4-FFF2-40B4-BE49-F238E27FC236}">
                <a16:creationId xmlns:a16="http://schemas.microsoft.com/office/drawing/2014/main" id="{BB9B66C8-02FE-B1D6-34B8-63B714C5C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Alive States</a:t>
            </a:r>
            <a:endParaRPr lang="ko-KR" altLang="en-US" b="1" u="sng"/>
          </a:p>
        </p:txBody>
      </p:sp>
      <p:sp>
        <p:nvSpPr>
          <p:cNvPr id="23555" name="내용 개체 틀 2">
            <a:extLst>
              <a:ext uri="{FF2B5EF4-FFF2-40B4-BE49-F238E27FC236}">
                <a16:creationId xmlns:a16="http://schemas.microsoft.com/office/drawing/2014/main" id="{8BD4D148-1527-B09E-CB77-BD00FF149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Once started, an </a:t>
            </a:r>
            <a:r>
              <a:rPr lang="en-US" altLang="ko-KR" sz="2000" b="1"/>
              <a:t>alivethread has a number of substates</a:t>
            </a:r>
          </a:p>
          <a:p>
            <a:endParaRPr lang="ko-KR" altLang="en-US" sz="2000"/>
          </a:p>
        </p:txBody>
      </p:sp>
      <p:pic>
        <p:nvPicPr>
          <p:cNvPr id="23556" name="Picture 2">
            <a:extLst>
              <a:ext uri="{FF2B5EF4-FFF2-40B4-BE49-F238E27FC236}">
                <a16:creationId xmlns:a16="http://schemas.microsoft.com/office/drawing/2014/main" id="{FB36AF66-74F1-2B88-A17B-27CFD5BDD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2133600"/>
            <a:ext cx="8948738" cy="426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>
            <a:extLst>
              <a:ext uri="{FF2B5EF4-FFF2-40B4-BE49-F238E27FC236}">
                <a16:creationId xmlns:a16="http://schemas.microsoft.com/office/drawing/2014/main" id="{4BE81B23-C411-7492-3ED7-F053DA282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Thread Priority</a:t>
            </a:r>
            <a:endParaRPr lang="ko-KR" altLang="en-US" b="1" u="sng"/>
          </a:p>
        </p:txBody>
      </p:sp>
      <p:sp>
        <p:nvSpPr>
          <p:cNvPr id="24579" name="내용 개체 틀 2">
            <a:extLst>
              <a:ext uri="{FF2B5EF4-FFF2-40B4-BE49-F238E27FC236}">
                <a16:creationId xmlns:a16="http://schemas.microsoft.com/office/drawing/2014/main" id="{BC563FCA-8597-F0CE-A0E9-23EF39D5C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All Java threads have a priority value, currently between 1 and 10.</a:t>
            </a:r>
          </a:p>
          <a:p>
            <a:r>
              <a:rPr lang="en-US" altLang="ko-KR" sz="2800"/>
              <a:t>Priority can be changed at any time </a:t>
            </a:r>
          </a:p>
          <a:p>
            <a:pPr lvl="1"/>
            <a:r>
              <a:rPr lang="en-US" altLang="ko-KR" sz="2000">
                <a:latin typeface="Courier New" panose="02070309020205020404" pitchFamily="49" charset="0"/>
                <a:cs typeface="Courier New" panose="02070309020205020404" pitchFamily="49" charset="0"/>
              </a:rPr>
              <a:t>setPriority(int newPriority)</a:t>
            </a:r>
          </a:p>
          <a:p>
            <a:r>
              <a:rPr lang="en-US" altLang="ko-KR" sz="2800"/>
              <a:t>Initial priority is that of the creating thread </a:t>
            </a:r>
          </a:p>
          <a:p>
            <a:r>
              <a:rPr lang="en-US" altLang="ko-KR" sz="2800"/>
              <a:t>Preemptive scheduling</a:t>
            </a:r>
          </a:p>
          <a:p>
            <a:pPr lvl="1"/>
            <a:r>
              <a:rPr lang="en-US" altLang="ko-KR" sz="2000"/>
              <a:t>JVM gives preference to higher priority threads. (Not guaranteed)</a:t>
            </a:r>
          </a:p>
          <a:p>
            <a:endParaRPr lang="en-US" altLang="ko-KR" sz="3200"/>
          </a:p>
          <a:p>
            <a:pPr lvl="1"/>
            <a:endParaRPr lang="en-US" altLang="ko-KR" sz="2400"/>
          </a:p>
          <a:p>
            <a:endParaRPr lang="ko-KR" altLang="en-US" sz="2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제목 1">
            <a:extLst>
              <a:ext uri="{FF2B5EF4-FFF2-40B4-BE49-F238E27FC236}">
                <a16:creationId xmlns:a16="http://schemas.microsoft.com/office/drawing/2014/main" id="{4C948C5D-96EF-D860-08FA-DEF225B58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yield</a:t>
            </a:r>
            <a:endParaRPr lang="ko-KR" altLang="en-US" b="1" u="sng"/>
          </a:p>
        </p:txBody>
      </p:sp>
      <p:sp>
        <p:nvSpPr>
          <p:cNvPr id="25603" name="내용 개체 틀 2">
            <a:extLst>
              <a:ext uri="{FF2B5EF4-FFF2-40B4-BE49-F238E27FC236}">
                <a16:creationId xmlns:a16="http://schemas.microsoft.com/office/drawing/2014/main" id="{9A0DF48A-4811-8BBC-07F0-A93A059F6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Release the right of CPU</a:t>
            </a:r>
          </a:p>
          <a:p>
            <a:r>
              <a:rPr lang="en-US" altLang="ko-KR"/>
              <a:t>static void yield()</a:t>
            </a:r>
          </a:p>
          <a:p>
            <a:pPr lvl="1"/>
            <a:r>
              <a:rPr lang="en-US" altLang="ko-KR" sz="2800"/>
              <a:t>allows the scheduler to select another runnable thread (of the same priority)</a:t>
            </a:r>
          </a:p>
          <a:p>
            <a:pPr lvl="1"/>
            <a:r>
              <a:rPr lang="en-US" altLang="ko-KR" sz="2800"/>
              <a:t>no guarantees as to which thread</a:t>
            </a:r>
          </a:p>
          <a:p>
            <a:pPr lvl="1"/>
            <a:endParaRPr lang="en-US" altLang="ko-KR" sz="2800"/>
          </a:p>
          <a:p>
            <a:pPr lvl="1"/>
            <a:endParaRPr lang="en-US" altLang="ko-KR"/>
          </a:p>
          <a:p>
            <a:endParaRPr lang="ko-KR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제목 1">
            <a:extLst>
              <a:ext uri="{FF2B5EF4-FFF2-40B4-BE49-F238E27FC236}">
                <a16:creationId xmlns:a16="http://schemas.microsoft.com/office/drawing/2014/main" id="{9EE06DF7-478E-676D-82FE-85426311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6627" name="내용 개체 틀 2">
            <a:extLst>
              <a:ext uri="{FF2B5EF4-FFF2-40B4-BE49-F238E27FC236}">
                <a16:creationId xmlns:a16="http://schemas.microsoft.com/office/drawing/2014/main" id="{5B702EDA-3DFB-EF9B-A028-39D6FDC9E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6628" name="Picture 2">
            <a:extLst>
              <a:ext uri="{FF2B5EF4-FFF2-40B4-BE49-F238E27FC236}">
                <a16:creationId xmlns:a16="http://schemas.microsoft.com/office/drawing/2014/main" id="{E9476573-B95E-140C-B8CE-597851D14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0"/>
            <a:ext cx="89265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>
            <a:extLst>
              <a:ext uri="{FF2B5EF4-FFF2-40B4-BE49-F238E27FC236}">
                <a16:creationId xmlns:a16="http://schemas.microsoft.com/office/drawing/2014/main" id="{6B15C0CE-925D-9BF9-BAFC-FEA95835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Thread identity</a:t>
            </a:r>
            <a:endParaRPr lang="ko-KR" altLang="en-US" b="1" u="sng"/>
          </a:p>
        </p:txBody>
      </p:sp>
      <p:sp>
        <p:nvSpPr>
          <p:cNvPr id="27651" name="내용 개체 틀 2">
            <a:extLst>
              <a:ext uri="{FF2B5EF4-FFF2-40B4-BE49-F238E27FC236}">
                <a16:creationId xmlns:a16="http://schemas.microsoft.com/office/drawing/2014/main" id="{E3F000B7-AF3A-8D06-B946-C98D19474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Thread.currentThread()</a:t>
            </a:r>
          </a:p>
          <a:p>
            <a:pPr lvl="1"/>
            <a:r>
              <a:rPr lang="en-US" altLang="ko-KR" sz="2400"/>
              <a:t>Returns reference to the running thread</a:t>
            </a:r>
          </a:p>
          <a:p>
            <a:r>
              <a:rPr lang="en-US" altLang="ko-KR" sz="2800"/>
              <a:t>Compare running thread with created thread</a:t>
            </a:r>
          </a:p>
          <a:p>
            <a:endParaRPr lang="en-US" altLang="ko-KR" sz="2800"/>
          </a:p>
          <a:p>
            <a:pPr>
              <a:buFont typeface="Wingdings" pitchFamily="2" charset="2"/>
              <a:buNone/>
            </a:pPr>
            <a:r>
              <a:rPr lang="en-US" altLang="ko-KR" sz="18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ko-KR" altLang="en-US" sz="2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7F3BF5-5E45-3167-6A78-B51801742C51}"/>
              </a:ext>
            </a:extLst>
          </p:cNvPr>
          <p:cNvSpPr txBox="1"/>
          <p:nvPr/>
        </p:nvSpPr>
        <p:spPr>
          <a:xfrm>
            <a:off x="1331913" y="3500438"/>
            <a:ext cx="4872037" cy="17541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AutoRun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implements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Runnable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private Thread _me;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public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AutoRun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_me = new Thread(this);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_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me.start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}</a:t>
            </a:r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제목 1">
            <a:extLst>
              <a:ext uri="{FF2B5EF4-FFF2-40B4-BE49-F238E27FC236}">
                <a16:creationId xmlns:a16="http://schemas.microsoft.com/office/drawing/2014/main" id="{F4F54E22-8104-0CBB-E35E-89A637566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7651" name="내용 개체 틀 2">
            <a:extLst>
              <a:ext uri="{FF2B5EF4-FFF2-40B4-BE49-F238E27FC236}">
                <a16:creationId xmlns:a16="http://schemas.microsoft.com/office/drawing/2014/main" id="{23E58F06-8709-5BCB-49AD-F466BD042510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endParaRPr lang="ko-KR" altLang="en-US" sz="1800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 public void run()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   if 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(_me ==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Thread.currentThread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())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ko-KR" sz="18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altLang="ko-KR" sz="1800" dirty="0" err="1">
                <a:latin typeface="Courier New" pitchFamily="49" charset="0"/>
                <a:cs typeface="Courier New" pitchFamily="49" charset="0"/>
              </a:rPr>
              <a:t>AutoRun.run</a:t>
            </a: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()”);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 class Main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   public static void main(String[] </a:t>
            </a:r>
            <a:r>
              <a:rPr lang="en-US" altLang="ko-KR" sz="18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ko-KR" sz="1800" dirty="0" err="1">
                <a:latin typeface="Courier New" pitchFamily="49" charset="0"/>
                <a:cs typeface="Courier New" pitchFamily="49" charset="0"/>
              </a:rPr>
              <a:t>AutoRun</a:t>
            </a: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t1 = new </a:t>
            </a:r>
            <a:r>
              <a:rPr lang="en-US" altLang="ko-KR" sz="1800" dirty="0" err="1">
                <a:latin typeface="Courier New" pitchFamily="49" charset="0"/>
                <a:cs typeface="Courier New" pitchFamily="49" charset="0"/>
              </a:rPr>
              <a:t>AutoRun</a:t>
            </a: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(); // printout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     t1.run(); //no printout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ko-KR" sz="18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altLang="ko-KR" sz="1800" dirty="0" err="1">
                <a:latin typeface="Courier New" pitchFamily="49" charset="0"/>
                <a:cs typeface="Courier New" pitchFamily="49" charset="0"/>
              </a:rPr>
              <a:t>InsideMain</a:t>
            </a: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()”);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 }</a:t>
            </a:r>
            <a:endParaRPr lang="ko-KR" altLang="en-US" sz="18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제목 1">
            <a:extLst>
              <a:ext uri="{FF2B5EF4-FFF2-40B4-BE49-F238E27FC236}">
                <a16:creationId xmlns:a16="http://schemas.microsoft.com/office/drawing/2014/main" id="{398EF82A-ECB7-3580-4BF1-894A79317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Thread sleep, suspend, resume</a:t>
            </a:r>
            <a:endParaRPr lang="ko-KR" altLang="en-US" sz="4000" b="1" u="sng"/>
          </a:p>
        </p:txBody>
      </p:sp>
      <p:sp>
        <p:nvSpPr>
          <p:cNvPr id="29699" name="내용 개체 틀 2">
            <a:extLst>
              <a:ext uri="{FF2B5EF4-FFF2-40B4-BE49-F238E27FC236}">
                <a16:creationId xmlns:a16="http://schemas.microsoft.com/office/drawing/2014/main" id="{B5728E31-38AE-71CC-52CB-0BB4E7386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  <a:cs typeface="Courier New" panose="02070309020205020404" pitchFamily="49" charset="0"/>
              </a:rPr>
              <a:t>static void sleep(long millis)</a:t>
            </a:r>
          </a:p>
          <a:p>
            <a:pPr lvl="1"/>
            <a:r>
              <a:rPr lang="en-US" altLang="ko-KR" sz="2800"/>
              <a:t>Blocks this thread for at least the time specified </a:t>
            </a:r>
          </a:p>
          <a:p>
            <a:pPr lvl="1"/>
            <a:endParaRPr lang="en-US" altLang="ko-KR" sz="2800"/>
          </a:p>
          <a:p>
            <a:r>
              <a:rPr lang="en-US" altLang="ko-KR" sz="2400" b="1">
                <a:latin typeface="Courier New" panose="02070309020205020404" pitchFamily="49" charset="0"/>
                <a:cs typeface="Courier New" panose="02070309020205020404" pitchFamily="49" charset="0"/>
              </a:rPr>
              <a:t>void stop(), void suspend(), void resume()</a:t>
            </a:r>
          </a:p>
          <a:p>
            <a:pPr lvl="1"/>
            <a:r>
              <a:rPr lang="en-US" altLang="ko-KR"/>
              <a:t>Deprecated!</a:t>
            </a:r>
            <a:endParaRPr lang="ko-KR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제목 1">
            <a:extLst>
              <a:ext uri="{FF2B5EF4-FFF2-40B4-BE49-F238E27FC236}">
                <a16:creationId xmlns:a16="http://schemas.microsoft.com/office/drawing/2014/main" id="{4DA570A6-CF98-D57B-EF91-445571A4E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Thread Waiting &amp; Status Check </a:t>
            </a:r>
            <a:endParaRPr lang="ko-KR" altLang="en-US" sz="4000" u="sng"/>
          </a:p>
        </p:txBody>
      </p:sp>
      <p:sp>
        <p:nvSpPr>
          <p:cNvPr id="30723" name="내용 개체 틀 2">
            <a:extLst>
              <a:ext uri="{FF2B5EF4-FFF2-40B4-BE49-F238E27FC236}">
                <a16:creationId xmlns:a16="http://schemas.microsoft.com/office/drawing/2014/main" id="{4DE25682-5549-BD11-7E2E-0C191342B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>
                <a:latin typeface="Courier New" panose="02070309020205020404" pitchFamily="49" charset="0"/>
                <a:cs typeface="Courier New" panose="02070309020205020404" pitchFamily="49" charset="0"/>
              </a:rPr>
              <a:t>void join(), void join(long), void join(long, int)</a:t>
            </a:r>
          </a:p>
          <a:p>
            <a:pPr lvl="1"/>
            <a:r>
              <a:rPr lang="en-US" altLang="ko-KR" sz="1800"/>
              <a:t>One thread (A) can wait for another thread (B) to end </a:t>
            </a:r>
          </a:p>
          <a:p>
            <a:endParaRPr lang="ko-KR" altLang="en-US" sz="2000"/>
          </a:p>
          <a:p>
            <a:pPr>
              <a:buFont typeface="Wingdings" pitchFamily="2" charset="2"/>
              <a:buNone/>
            </a:pPr>
            <a:r>
              <a:rPr lang="en-US" altLang="ko-KR" sz="2000"/>
              <a:t>      // in thread A</a:t>
            </a:r>
          </a:p>
          <a:p>
            <a:pPr>
              <a:buFont typeface="Wingdings" pitchFamily="2" charset="2"/>
              <a:buNone/>
            </a:pPr>
            <a:r>
              <a:rPr lang="en-US" altLang="ko-KR" sz="2000"/>
              <a:t>      threadB.join()</a:t>
            </a:r>
          </a:p>
          <a:p>
            <a:pPr>
              <a:buFont typeface="Wingdings" pitchFamily="2" charset="2"/>
              <a:buNone/>
            </a:pPr>
            <a:endParaRPr lang="en-US" altLang="ko-KR" sz="2000"/>
          </a:p>
          <a:p>
            <a:r>
              <a:rPr lang="en-US" altLang="ko-KR" sz="2000" b="1">
                <a:latin typeface="Courier New" panose="02070309020205020404" pitchFamily="49" charset="0"/>
                <a:cs typeface="Courier New" panose="02070309020205020404" pitchFamily="49" charset="0"/>
              </a:rPr>
              <a:t>boolean isAlive()</a:t>
            </a:r>
          </a:p>
          <a:p>
            <a:pPr lvl="1"/>
            <a:r>
              <a:rPr lang="en-US" altLang="ko-KR" sz="1800"/>
              <a:t>returns true if the thread has been started and not stopped</a:t>
            </a:r>
          </a:p>
          <a:p>
            <a:endParaRPr lang="en-US" altLang="ko-KR" sz="2000"/>
          </a:p>
          <a:p>
            <a:endParaRPr lang="ko-KR" alt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제목 1">
            <a:extLst>
              <a:ext uri="{FF2B5EF4-FFF2-40B4-BE49-F238E27FC236}">
                <a16:creationId xmlns:a16="http://schemas.microsoft.com/office/drawing/2014/main" id="{01E1CCA1-1E8E-2A94-40B9-CC8773CB5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Joining a Thread</a:t>
            </a:r>
            <a:endParaRPr lang="ko-KR" altLang="en-US" b="1" u="sng"/>
          </a:p>
        </p:txBody>
      </p:sp>
      <p:sp>
        <p:nvSpPr>
          <p:cNvPr id="30723" name="내용 개체 틀 2">
            <a:extLst>
              <a:ext uri="{FF2B5EF4-FFF2-40B4-BE49-F238E27FC236}">
                <a16:creationId xmlns:a16="http://schemas.microsoft.com/office/drawing/2014/main" id="{AFF0D28F-BD5A-6570-64DD-576B957D6F9C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public class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JoinThr</a:t>
            </a:r>
            <a:endParaRPr lang="en-US" altLang="ko-KR" sz="1800" b="1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static public void main(String s[])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MyThread1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Thread_a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; // Define a Thread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MyThread2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Thread_b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; // Define another Thread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Thread_a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= new MyThread1();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Thread_b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= new MyThread2(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Thread_a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);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// Start the threads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("Starting the threads...");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Thread_a.start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();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Thread_b.start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}</a:t>
            </a:r>
            <a:endParaRPr lang="ko-KR" altLang="en-US" sz="18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제목 1">
            <a:extLst>
              <a:ext uri="{FF2B5EF4-FFF2-40B4-BE49-F238E27FC236}">
                <a16:creationId xmlns:a16="http://schemas.microsoft.com/office/drawing/2014/main" id="{27F7955E-7342-99C9-88D5-05D7BB5D9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Joining a Thread : MyThread1</a:t>
            </a:r>
            <a:endParaRPr lang="ko-KR" altLang="en-US" u="sng"/>
          </a:p>
        </p:txBody>
      </p:sp>
      <p:sp>
        <p:nvSpPr>
          <p:cNvPr id="31747" name="내용 개체 틀 2">
            <a:extLst>
              <a:ext uri="{FF2B5EF4-FFF2-40B4-BE49-F238E27FC236}">
                <a16:creationId xmlns:a16="http://schemas.microsoft.com/office/drawing/2014/main" id="{9D673F2E-4F03-38DB-828A-69B8F9EAC897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// Thread class that just prints a message 5 times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class MyThread1 extends Thread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public void run(){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getName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() + " is running...");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for (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&lt;4;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++)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  try { // Sleep a bit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    sleep(500);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  }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  catch (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InterruptedException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e) {}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Hellothere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, from"+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getName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} </a:t>
            </a:r>
            <a:endParaRPr lang="ko-KR" altLang="en-US" sz="18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제목 1">
            <a:extLst>
              <a:ext uri="{FF2B5EF4-FFF2-40B4-BE49-F238E27FC236}">
                <a16:creationId xmlns:a16="http://schemas.microsoft.com/office/drawing/2014/main" id="{0565089E-AA6A-2563-8418-024AA9ED5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Joining a Thread : MyThread2</a:t>
            </a:r>
            <a:endParaRPr lang="ko-KR" altLang="en-US" u="sng"/>
          </a:p>
        </p:txBody>
      </p:sp>
      <p:sp>
        <p:nvSpPr>
          <p:cNvPr id="32771" name="내용 개체 틀 2">
            <a:extLst>
              <a:ext uri="{FF2B5EF4-FFF2-40B4-BE49-F238E27FC236}">
                <a16:creationId xmlns:a16="http://schemas.microsoft.com/office/drawing/2014/main" id="{740A0800-605C-D379-9BC7-C02F194CF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4425"/>
          </a:xfr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class MyThread2 extends Thread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i="1" dirty="0">
                <a:latin typeface="Courier New" pitchFamily="49" charset="0"/>
                <a:cs typeface="Courier New" pitchFamily="49" charset="0"/>
              </a:rPr>
              <a:t>  private Thread wait4me; // Thread to wait for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// Constructor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MyThread2(Thread target)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super();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i="1" dirty="0">
                <a:latin typeface="Courier New" pitchFamily="49" charset="0"/>
                <a:cs typeface="Courier New" pitchFamily="49" charset="0"/>
              </a:rPr>
              <a:t>    wait4me = target;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public void run(){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getName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() + " is waiting for " +   wait4me.getName() + "...");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try { // wait for target thread to finish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wait4me.join();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}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catch (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InterruptedException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e) {}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// …</a:t>
            </a:r>
            <a:endParaRPr lang="ko-KR" altLang="en-US" sz="18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제목 1">
            <a:extLst>
              <a:ext uri="{FF2B5EF4-FFF2-40B4-BE49-F238E27FC236}">
                <a16:creationId xmlns:a16="http://schemas.microsoft.com/office/drawing/2014/main" id="{AFAF31F8-6640-9F43-4C05-5EA9049E0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Joining a Thread : MyThread2</a:t>
            </a:r>
            <a:endParaRPr lang="ko-KR" altLang="en-US" u="sng"/>
          </a:p>
        </p:txBody>
      </p:sp>
      <p:sp>
        <p:nvSpPr>
          <p:cNvPr id="33795" name="내용 개체 틀 2">
            <a:extLst>
              <a:ext uri="{FF2B5EF4-FFF2-40B4-BE49-F238E27FC236}">
                <a16:creationId xmlns:a16="http://schemas.microsoft.com/office/drawing/2014/main" id="{001A2953-ECBB-9E48-55C1-9B8F3D3008A7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endParaRPr lang="ko-KR" altLang="en-US" sz="1800" b="1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(wait4me.getName() + "has  finished...");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// Print message 4 times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for (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&lt;4;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++)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try { // Sleep a bit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  sleep(500);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}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catch (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InterruptedException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e) {}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Hellothere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, from " +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getName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}</a:t>
            </a:r>
            <a:endParaRPr lang="ko-KR" altLang="en-US" sz="18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제목 1">
            <a:extLst>
              <a:ext uri="{FF2B5EF4-FFF2-40B4-BE49-F238E27FC236}">
                <a16:creationId xmlns:a16="http://schemas.microsoft.com/office/drawing/2014/main" id="{EE1C02F8-B828-1DD2-6038-EC928BE03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Output result</a:t>
            </a:r>
            <a:endParaRPr lang="ko-KR" altLang="en-US" b="1" u="sng"/>
          </a:p>
        </p:txBody>
      </p:sp>
      <p:sp>
        <p:nvSpPr>
          <p:cNvPr id="34819" name="내용 개체 틀 2">
            <a:extLst>
              <a:ext uri="{FF2B5EF4-FFF2-40B4-BE49-F238E27FC236}">
                <a16:creationId xmlns:a16="http://schemas.microsoft.com/office/drawing/2014/main" id="{87B90595-9DD5-B549-0B00-FF4487E47E50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endParaRPr lang="ko-KR" altLang="en-US" sz="2000" b="1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Hello There, From Thread-4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Hello There, From Thread-4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Hello There, From Thread-4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Hello There, From Thread-4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Thread-4 has finished..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Hello There, From Thread-5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Hello There, From Thread-5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Hello There, From Thread-5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Hello There, From Thread-5</a:t>
            </a:r>
            <a:endParaRPr lang="ko-KR" altLang="en-US" sz="20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제목 1">
            <a:extLst>
              <a:ext uri="{FF2B5EF4-FFF2-40B4-BE49-F238E27FC236}">
                <a16:creationId xmlns:a16="http://schemas.microsoft.com/office/drawing/2014/main" id="{B966C97A-E030-C7E1-A259-0FEE96FD3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Thread synchronization</a:t>
            </a:r>
            <a:endParaRPr lang="ko-KR" altLang="en-US" b="1" u="sng"/>
          </a:p>
        </p:txBody>
      </p:sp>
      <p:sp>
        <p:nvSpPr>
          <p:cNvPr id="36867" name="내용 개체 틀 2">
            <a:extLst>
              <a:ext uri="{FF2B5EF4-FFF2-40B4-BE49-F238E27FC236}">
                <a16:creationId xmlns:a16="http://schemas.microsoft.com/office/drawing/2014/main" id="{AE57F9B4-B09C-A828-CDA7-D543951C4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35975" cy="4525963"/>
          </a:xfrm>
        </p:spPr>
        <p:txBody>
          <a:bodyPr/>
          <a:lstStyle/>
          <a:p>
            <a:r>
              <a:rPr lang="en-US" altLang="ko-KR"/>
              <a:t>The advantage of threads is that they allow many things to happen at the same time </a:t>
            </a:r>
          </a:p>
          <a:p>
            <a:r>
              <a:rPr lang="en-US" altLang="ko-KR"/>
              <a:t>The problem with threads is that they allow many things to happen at the same time </a:t>
            </a:r>
          </a:p>
          <a:p>
            <a:r>
              <a:rPr lang="en-US" altLang="ko-KR"/>
              <a:t>Safety</a:t>
            </a:r>
          </a:p>
          <a:p>
            <a:pPr lvl="1"/>
            <a:r>
              <a:rPr lang="en-US" altLang="ko-KR" sz="2800"/>
              <a:t>Nothing bad ever happens </a:t>
            </a:r>
          </a:p>
          <a:p>
            <a:pPr lvl="1"/>
            <a:r>
              <a:rPr lang="en-US" altLang="ko-KR" sz="2800"/>
              <a:t>no race condition </a:t>
            </a:r>
          </a:p>
          <a:p>
            <a:r>
              <a:rPr lang="en-US" altLang="ko-KR" sz="3200"/>
              <a:t>Liveness</a:t>
            </a:r>
          </a:p>
          <a:p>
            <a:pPr lvl="1"/>
            <a:r>
              <a:rPr lang="en-US" altLang="ko-KR" sz="2800"/>
              <a:t>Something eventually happens : no deadlock</a:t>
            </a:r>
          </a:p>
          <a:p>
            <a:pPr lvl="1"/>
            <a:endParaRPr lang="en-US" altLang="ko-KR" sz="2800"/>
          </a:p>
          <a:p>
            <a:pPr lvl="1"/>
            <a:endParaRPr lang="en-US" altLang="ko-KR" sz="2800"/>
          </a:p>
          <a:p>
            <a:pPr lvl="1"/>
            <a:endParaRPr lang="en-US" altLang="ko-KR"/>
          </a:p>
          <a:p>
            <a:endParaRPr lang="en-US" altLang="ko-KR"/>
          </a:p>
          <a:p>
            <a:endParaRPr lang="ko-KR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제목 1">
            <a:extLst>
              <a:ext uri="{FF2B5EF4-FFF2-40B4-BE49-F238E27FC236}">
                <a16:creationId xmlns:a16="http://schemas.microsoft.com/office/drawing/2014/main" id="{3012945B-2EF2-AD98-72C1-1B567DD9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Race condition example</a:t>
            </a:r>
            <a:endParaRPr lang="ko-KR" altLang="en-US" b="1" u="sng"/>
          </a:p>
        </p:txBody>
      </p:sp>
      <p:sp>
        <p:nvSpPr>
          <p:cNvPr id="36867" name="내용 개체 틀 2">
            <a:extLst>
              <a:ext uri="{FF2B5EF4-FFF2-40B4-BE49-F238E27FC236}">
                <a16:creationId xmlns:a16="http://schemas.microsoft.com/office/drawing/2014/main" id="{9F4A6CF3-074A-3774-1421-B2154F2E8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628775"/>
            <a:ext cx="8229600" cy="3600450"/>
          </a:xfr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endParaRPr lang="ko-KR" altLang="en-US" sz="2400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ko-KR" sz="2400" b="1" dirty="0">
                <a:latin typeface="Courier New" pitchFamily="49" charset="0"/>
                <a:cs typeface="Courier New" pitchFamily="49" charset="0"/>
              </a:rPr>
              <a:t>class Account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4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ko-KR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2400" b="1" dirty="0">
                <a:latin typeface="Courier New" pitchFamily="49" charset="0"/>
                <a:cs typeface="Courier New" pitchFamily="49" charset="0"/>
              </a:rPr>
              <a:t> balance;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400" b="1" dirty="0">
                <a:latin typeface="Courier New" pitchFamily="49" charset="0"/>
                <a:cs typeface="Courier New" pitchFamily="49" charset="0"/>
              </a:rPr>
              <a:t>  public void deposit(</a:t>
            </a:r>
            <a:r>
              <a:rPr lang="en-US" altLang="ko-KR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2400" b="1" dirty="0" err="1">
                <a:latin typeface="Courier New" pitchFamily="49" charset="0"/>
                <a:cs typeface="Courier New" pitchFamily="49" charset="0"/>
              </a:rPr>
              <a:t>val</a:t>
            </a:r>
            <a:r>
              <a:rPr lang="en-US" altLang="ko-KR" sz="24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400" b="1" dirty="0">
                <a:latin typeface="Courier New" pitchFamily="49" charset="0"/>
                <a:cs typeface="Courier New" pitchFamily="49" charset="0"/>
              </a:rPr>
              <a:t> 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400" b="1" dirty="0">
                <a:latin typeface="Courier New" pitchFamily="49" charset="0"/>
                <a:cs typeface="Courier New" pitchFamily="49" charset="0"/>
              </a:rPr>
              <a:t>    balance = balance + </a:t>
            </a:r>
            <a:r>
              <a:rPr lang="en-US" altLang="ko-KR" sz="2400" b="1" dirty="0" err="1">
                <a:latin typeface="Courier New" pitchFamily="49" charset="0"/>
                <a:cs typeface="Courier New" pitchFamily="49" charset="0"/>
              </a:rPr>
              <a:t>val</a:t>
            </a:r>
            <a:r>
              <a:rPr lang="en-US" altLang="ko-KR" sz="2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400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400" b="1" dirty="0">
                <a:latin typeface="Courier New" pitchFamily="49" charset="0"/>
                <a:cs typeface="Courier New" pitchFamily="49" charset="0"/>
              </a:rPr>
              <a:t>}</a:t>
            </a:r>
            <a:endParaRPr lang="ko-KR" altLang="en-US" sz="24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제목 1">
            <a:extLst>
              <a:ext uri="{FF2B5EF4-FFF2-40B4-BE49-F238E27FC236}">
                <a16:creationId xmlns:a16="http://schemas.microsoft.com/office/drawing/2014/main" id="{D300056F-F1CC-6718-0755-D025A6A97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Thread Synchronization</a:t>
            </a:r>
            <a:endParaRPr lang="ko-KR" altLang="en-US" b="1" u="sng"/>
          </a:p>
        </p:txBody>
      </p:sp>
      <p:pic>
        <p:nvPicPr>
          <p:cNvPr id="38915" name="Picture 2">
            <a:extLst>
              <a:ext uri="{FF2B5EF4-FFF2-40B4-BE49-F238E27FC236}">
                <a16:creationId xmlns:a16="http://schemas.microsoft.com/office/drawing/2014/main" id="{0EDDB629-5FD0-DE9D-CD66-5D39F5AE5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63" y="1412875"/>
            <a:ext cx="7964487" cy="536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제목 1">
            <a:extLst>
              <a:ext uri="{FF2B5EF4-FFF2-40B4-BE49-F238E27FC236}">
                <a16:creationId xmlns:a16="http://schemas.microsoft.com/office/drawing/2014/main" id="{D70D3328-521D-89A7-68AF-8FD7360A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Synchronized JAVA methods</a:t>
            </a:r>
            <a:endParaRPr lang="ko-KR" altLang="en-US" b="1" u="sng"/>
          </a:p>
        </p:txBody>
      </p:sp>
      <p:sp>
        <p:nvSpPr>
          <p:cNvPr id="39939" name="내용 개체 틀 2">
            <a:extLst>
              <a:ext uri="{FF2B5EF4-FFF2-40B4-BE49-F238E27FC236}">
                <a16:creationId xmlns:a16="http://schemas.microsoft.com/office/drawing/2014/main" id="{C661F453-6B28-324A-5FFA-E80C5A66E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We can control access to an object by using the </a:t>
            </a:r>
            <a:r>
              <a:rPr lang="en-US" altLang="ko-KR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synchronized</a:t>
            </a:r>
            <a:r>
              <a:rPr lang="en-US" altLang="ko-KR"/>
              <a:t> keyword</a:t>
            </a:r>
          </a:p>
          <a:p>
            <a:r>
              <a:rPr lang="en-US" altLang="ko-KR"/>
              <a:t>Using the </a:t>
            </a:r>
            <a:r>
              <a:rPr lang="en-US" altLang="ko-KR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synchronized</a:t>
            </a:r>
            <a:r>
              <a:rPr lang="en-US" altLang="ko-KR"/>
              <a:t> keyword will force the lock on the object to be used</a:t>
            </a:r>
          </a:p>
          <a:p>
            <a:endParaRPr lang="en-US" altLang="ko-KR"/>
          </a:p>
          <a:p>
            <a:endParaRPr lang="en-US" altLang="ko-KR"/>
          </a:p>
          <a:p>
            <a:endParaRPr lang="ko-KR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제목 1">
            <a:extLst>
              <a:ext uri="{FF2B5EF4-FFF2-40B4-BE49-F238E27FC236}">
                <a16:creationId xmlns:a16="http://schemas.microsoft.com/office/drawing/2014/main" id="{76CD2307-B5DB-2DA7-71B8-D01B96855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Synchronized Access to Shared Data</a:t>
            </a:r>
            <a:endParaRPr lang="ko-KR" altLang="en-US" sz="3600" u="sng"/>
          </a:p>
        </p:txBody>
      </p:sp>
      <p:sp>
        <p:nvSpPr>
          <p:cNvPr id="40963" name="내용 개체 틀 2">
            <a:extLst>
              <a:ext uri="{FF2B5EF4-FFF2-40B4-BE49-F238E27FC236}">
                <a16:creationId xmlns:a16="http://schemas.microsoft.com/office/drawing/2014/main" id="{6FE85C26-18E5-72C7-79FB-9EA2B898A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0964" name="Picture 2">
            <a:extLst>
              <a:ext uri="{FF2B5EF4-FFF2-40B4-BE49-F238E27FC236}">
                <a16:creationId xmlns:a16="http://schemas.microsoft.com/office/drawing/2014/main" id="{0646EF30-716C-63BB-4983-5F2FA8405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755775"/>
            <a:ext cx="8280400" cy="42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제목 1">
            <a:extLst>
              <a:ext uri="{FF2B5EF4-FFF2-40B4-BE49-F238E27FC236}">
                <a16:creationId xmlns:a16="http://schemas.microsoft.com/office/drawing/2014/main" id="{E96086CF-11B7-7A4E-6D0D-ABF014089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Example1 : Need for Sync</a:t>
            </a:r>
            <a:endParaRPr lang="ko-KR" altLang="en-US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83AC2B-F547-227B-7550-5279C07E35E0}"/>
              </a:ext>
            </a:extLst>
          </p:cNvPr>
          <p:cNvSpPr txBox="1"/>
          <p:nvPr/>
        </p:nvSpPr>
        <p:spPr>
          <a:xfrm>
            <a:off x="468313" y="1484313"/>
            <a:ext cx="5791200" cy="29702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// NeedForSynchronizationDemo.java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NeedForSynchronizationDemo</a:t>
            </a:r>
            <a:endParaRPr lang="en-US" altLang="ko-KR" sz="11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public static void main (String []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args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ft = new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tt1 = new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(ft, "Deposit Thread");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tt2 = new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(ft, "Withdrawal Thread");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tt1.start ();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tt2.start ();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endParaRPr lang="en-US" altLang="ko-KR" sz="11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public static String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public static double amount;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제목 1">
            <a:extLst>
              <a:ext uri="{FF2B5EF4-FFF2-40B4-BE49-F238E27FC236}">
                <a16:creationId xmlns:a16="http://schemas.microsoft.com/office/drawing/2014/main" id="{DF40142A-AF21-2B74-0C55-94F907C33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3011" name="내용 개체 틀 2">
            <a:extLst>
              <a:ext uri="{FF2B5EF4-FFF2-40B4-BE49-F238E27FC236}">
                <a16:creationId xmlns:a16="http://schemas.microsoft.com/office/drawing/2014/main" id="{2EEC3A80-AEB0-588E-7D20-8B5F1C377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7AC0ED-84F3-FE03-C699-0544939F7611}"/>
              </a:ext>
            </a:extLst>
          </p:cNvPr>
          <p:cNvSpPr txBox="1"/>
          <p:nvPr/>
        </p:nvSpPr>
        <p:spPr>
          <a:xfrm>
            <a:off x="468313" y="119063"/>
            <a:ext cx="6046787" cy="66944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extends Thread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private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ft;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ft, String name)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super (name); // Save thread's name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this.ft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ft; // Save reference to financial transaction object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public void run ()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for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0;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 100;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++)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if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getName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().equals ("Deposit Thread"))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// Start of deposit thread's critical code section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"Deposit";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try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Thread.sleep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Math.random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() * 1000));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catch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InterruptedException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e) {}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ft.amount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2000.0;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System.out.println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+ " " +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ft.amount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// End of deposit thread's critical code section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else{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// Start of withdrawal thread's critical code section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"Withdrawal";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try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Thread.sleep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Math.random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() * 1000));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catch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InterruptedException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e) {}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ft.amount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250.0;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System.out.println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+ " " +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ft.amount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// End of withdrawal thread's critical code section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  <a:endParaRPr lang="ko-KR" altLang="en-US" sz="11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endParaRPr lang="ko-KR" altLang="en-US" sz="1100" dirty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제목 1">
            <a:extLst>
              <a:ext uri="{FF2B5EF4-FFF2-40B4-BE49-F238E27FC236}">
                <a16:creationId xmlns:a16="http://schemas.microsoft.com/office/drawing/2014/main" id="{85917DCB-F9D4-0787-4E9F-B47AAE1D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Example2 : Synchronized</a:t>
            </a:r>
            <a:endParaRPr lang="ko-KR" altLang="en-US"/>
          </a:p>
        </p:txBody>
      </p:sp>
      <p:sp>
        <p:nvSpPr>
          <p:cNvPr id="44035" name="내용 개체 틀 2">
            <a:extLst>
              <a:ext uri="{FF2B5EF4-FFF2-40B4-BE49-F238E27FC236}">
                <a16:creationId xmlns:a16="http://schemas.microsoft.com/office/drawing/2014/main" id="{0A38B41D-538C-6FE1-45C1-4C817AD7D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FF3D9B-03CC-E5C8-AA93-B38B0A55B9E0}"/>
              </a:ext>
            </a:extLst>
          </p:cNvPr>
          <p:cNvSpPr txBox="1"/>
          <p:nvPr/>
        </p:nvSpPr>
        <p:spPr>
          <a:xfrm>
            <a:off x="684213" y="1484313"/>
            <a:ext cx="5791200" cy="41560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// SynchronizationDemo2.java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SynchronizationDemo2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public static void main (String []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args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ft = new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tt1 = new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(ft, "Deposit Thread");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tt2 = new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(ft, "Withdrawal Thread");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tt1.start ();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tt2.start ();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endParaRPr lang="en-US" altLang="ko-KR" sz="11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private String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private double amount;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synchronized void update (String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, double amount)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this.transName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this.amount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amount;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System.out.println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this.transName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+ " " +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this.amount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</a:p>
          <a:p>
            <a:pPr>
              <a:defRPr/>
            </a:pPr>
            <a:endParaRPr lang="ko-KR" altLang="en-US" sz="11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제목 1">
            <a:extLst>
              <a:ext uri="{FF2B5EF4-FFF2-40B4-BE49-F238E27FC236}">
                <a16:creationId xmlns:a16="http://schemas.microsoft.com/office/drawing/2014/main" id="{0552EA5D-46BB-42C2-3459-CEC49C434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5059" name="내용 개체 틀 2">
            <a:extLst>
              <a:ext uri="{FF2B5EF4-FFF2-40B4-BE49-F238E27FC236}">
                <a16:creationId xmlns:a16="http://schemas.microsoft.com/office/drawing/2014/main" id="{535F1ADE-5210-3E3F-2324-6A8B3424A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7A650B-B5A0-45A3-5F75-628A77BE912E}"/>
              </a:ext>
            </a:extLst>
          </p:cNvPr>
          <p:cNvSpPr txBox="1"/>
          <p:nvPr/>
        </p:nvSpPr>
        <p:spPr>
          <a:xfrm>
            <a:off x="611188" y="1773238"/>
            <a:ext cx="6046787" cy="29702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extends Thread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private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ft;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ft, String name)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super (name); // Save thread's name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this.ft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ft; // Save reference to financial transaction object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public void run ()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for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0;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 100;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++)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if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getName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().equals ("Deposit Thread"))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ft.update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("Deposit", 2000.0);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else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ft.update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("Withdrawal", 250.0);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  <a:endParaRPr lang="ko-KR" altLang="en-US" sz="1100" dirty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제목 1">
            <a:extLst>
              <a:ext uri="{FF2B5EF4-FFF2-40B4-BE49-F238E27FC236}">
                <a16:creationId xmlns:a16="http://schemas.microsoft.com/office/drawing/2014/main" id="{DDB72D99-2188-B721-79A3-8BF61A002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Synchronized Lock Object</a:t>
            </a:r>
            <a:endParaRPr lang="ko-KR" altLang="en-US" b="1" u="sng"/>
          </a:p>
        </p:txBody>
      </p:sp>
      <p:sp>
        <p:nvSpPr>
          <p:cNvPr id="46083" name="내용 개체 틀 2">
            <a:extLst>
              <a:ext uri="{FF2B5EF4-FFF2-40B4-BE49-F238E27FC236}">
                <a16:creationId xmlns:a16="http://schemas.microsoft.com/office/drawing/2014/main" id="{DC057AD4-4877-8ED2-6968-297E16253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Every Java object has an associated lock acquired via</a:t>
            </a:r>
          </a:p>
          <a:p>
            <a:r>
              <a:rPr lang="en-US" altLang="ko-KR"/>
              <a:t>synchronized statements (block)   </a:t>
            </a:r>
            <a:r>
              <a:rPr lang="en-US" altLang="ko-KR" sz="18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synchronized(anObject){ 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execute code while holding anObject's lock 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altLang="ko-KR"/>
              <a:t>Only one thread can hold a lock at a time</a:t>
            </a:r>
          </a:p>
          <a:p>
            <a:r>
              <a:rPr lang="en-US" altLang="ko-KR"/>
              <a:t>Lock granularity: small critical section is better for concurrency </a:t>
            </a:r>
            <a:r>
              <a:rPr lang="en-US" altLang="ko-KR" b="1"/>
              <a:t>object</a:t>
            </a:r>
          </a:p>
          <a:p>
            <a:endParaRPr lang="ko-KR" altLang="en-US"/>
          </a:p>
        </p:txBody>
      </p:sp>
      <p:pic>
        <p:nvPicPr>
          <p:cNvPr id="46084" name="Picture 2">
            <a:extLst>
              <a:ext uri="{FF2B5EF4-FFF2-40B4-BE49-F238E27FC236}">
                <a16:creationId xmlns:a16="http://schemas.microsoft.com/office/drawing/2014/main" id="{603CE2B4-5F5B-1C16-E78B-433DE321E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5" y="5373688"/>
            <a:ext cx="1930400" cy="123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제목 1">
            <a:extLst>
              <a:ext uri="{FF2B5EF4-FFF2-40B4-BE49-F238E27FC236}">
                <a16:creationId xmlns:a16="http://schemas.microsoft.com/office/drawing/2014/main" id="{26CF70E4-228D-A337-AC9F-5A2F0B31F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Example 3 : synchronized lock obj</a:t>
            </a:r>
            <a:endParaRPr lang="ko-KR" altLang="en-US" sz="3600" b="1" u="sng"/>
          </a:p>
        </p:txBody>
      </p:sp>
      <p:sp>
        <p:nvSpPr>
          <p:cNvPr id="47107" name="내용 개체 틀 2">
            <a:extLst>
              <a:ext uri="{FF2B5EF4-FFF2-40B4-BE49-F238E27FC236}">
                <a16:creationId xmlns:a16="http://schemas.microsoft.com/office/drawing/2014/main" id="{3F049774-E308-03BB-9EA7-9AA2A9C00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0DB08B-B49D-C10E-4DF9-A8CD4C4FB81F}"/>
              </a:ext>
            </a:extLst>
          </p:cNvPr>
          <p:cNvSpPr txBox="1"/>
          <p:nvPr/>
        </p:nvSpPr>
        <p:spPr>
          <a:xfrm>
            <a:off x="684213" y="1628775"/>
            <a:ext cx="5791200" cy="297021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SynchronizationDemo1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public static void main (String []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args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ft = new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tt1 = new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(ft, "Deposit Thread");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tt2 = new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(ft, "Withdrawal Thread");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tt1.start ();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tt2.start ();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endParaRPr lang="en-US" altLang="ko-KR" sz="11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public static String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public static double amount;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</a:p>
          <a:p>
            <a:pPr>
              <a:defRPr/>
            </a:pPr>
            <a:endParaRPr lang="ko-KR" altLang="en-US" sz="11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제목 1">
            <a:extLst>
              <a:ext uri="{FF2B5EF4-FFF2-40B4-BE49-F238E27FC236}">
                <a16:creationId xmlns:a16="http://schemas.microsoft.com/office/drawing/2014/main" id="{4372F175-9974-454A-96C1-A4F69FA9A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8131" name="내용 개체 틀 2">
            <a:extLst>
              <a:ext uri="{FF2B5EF4-FFF2-40B4-BE49-F238E27FC236}">
                <a16:creationId xmlns:a16="http://schemas.microsoft.com/office/drawing/2014/main" id="{43252108-DD91-81CE-364B-4D8E7DB4F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0FC55-B9A9-D996-E2C2-FEE4EB711D66}"/>
              </a:ext>
            </a:extLst>
          </p:cNvPr>
          <p:cNvSpPr txBox="1"/>
          <p:nvPr/>
        </p:nvSpPr>
        <p:spPr>
          <a:xfrm>
            <a:off x="827088" y="385763"/>
            <a:ext cx="6132512" cy="63563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extends Thread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private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ft;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ft, String name)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super (name); // Save thread's name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this.ft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ft; // Save reference to financial transaction object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public void run ()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for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0;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 100;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++){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if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getName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().equals ("Deposit Thread"))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synchronized (ft){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"Deposit";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try{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Thread.sleep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Math.random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() * 1000));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catch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InterruptedException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e) {}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ft.amount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2000.0;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System.out.println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+ " " +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ft.amount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else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synchronized (ft){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"Withdrawal";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try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Thread.sleep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Math.random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() * 1000));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catch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InterruptedException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e) {}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ft.amount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250.0;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System.out.println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+ " " +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ft.amount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  <a:endParaRPr lang="ko-KR" altLang="en-US" sz="1100" dirty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제목 1">
            <a:extLst>
              <a:ext uri="{FF2B5EF4-FFF2-40B4-BE49-F238E27FC236}">
                <a16:creationId xmlns:a16="http://schemas.microsoft.com/office/drawing/2014/main" id="{FE4730C6-0839-347E-C328-D7942FB14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Condition Variables</a:t>
            </a:r>
            <a:endParaRPr lang="ko-KR" altLang="en-US" b="1" u="sng"/>
          </a:p>
        </p:txBody>
      </p:sp>
      <p:sp>
        <p:nvSpPr>
          <p:cNvPr id="49155" name="내용 개체 틀 2">
            <a:extLst>
              <a:ext uri="{FF2B5EF4-FFF2-40B4-BE49-F238E27FC236}">
                <a16:creationId xmlns:a16="http://schemas.microsoft.com/office/drawing/2014/main" id="{2CA779A5-A576-8676-F745-87338D5D2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lock (synchronized)</a:t>
            </a:r>
          </a:p>
          <a:p>
            <a:pPr lvl="1"/>
            <a:r>
              <a:rPr lang="en-US" altLang="ko-KR" sz="2000"/>
              <a:t>control thread access to data</a:t>
            </a:r>
          </a:p>
          <a:p>
            <a:r>
              <a:rPr lang="en-US" altLang="ko-KR"/>
              <a:t>condition variable (wait,notify/notifyall)</a:t>
            </a:r>
          </a:p>
          <a:p>
            <a:pPr lvl="1"/>
            <a:r>
              <a:rPr lang="en-US" altLang="ko-KR" sz="2000"/>
              <a:t>synchronization primitives that enable threads to wait until a particular condition occurs. </a:t>
            </a:r>
          </a:p>
          <a:p>
            <a:pPr lvl="1"/>
            <a:r>
              <a:rPr lang="en-US" altLang="ko-KR" sz="2000"/>
              <a:t>enable threads to atomically release a lock and enter the sleeping state.</a:t>
            </a:r>
          </a:p>
          <a:p>
            <a:pPr lvl="1"/>
            <a:r>
              <a:rPr lang="en-US" altLang="ko-KR" sz="2000"/>
              <a:t>Without condition variables</a:t>
            </a:r>
          </a:p>
          <a:p>
            <a:pPr lvl="2"/>
            <a:r>
              <a:rPr lang="en-US" altLang="ko-KR" sz="1700"/>
              <a:t>the programmer would need to have threads continually polling (possibly in a critical section), to check if the condition is met. </a:t>
            </a:r>
          </a:p>
          <a:p>
            <a:pPr lvl="2"/>
            <a:r>
              <a:rPr lang="en-US" altLang="ko-KR" sz="1700"/>
              <a:t>A condition variable is a way to achieve the same goal without polling.</a:t>
            </a:r>
          </a:p>
          <a:p>
            <a:pPr lvl="1"/>
            <a:r>
              <a:rPr lang="en-US" altLang="ko-KR" sz="2000"/>
              <a:t>A condition variable is always used in conjunction with a mutex lock.</a:t>
            </a:r>
          </a:p>
          <a:p>
            <a:endParaRPr lang="ko-KR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제목 1">
            <a:extLst>
              <a:ext uri="{FF2B5EF4-FFF2-40B4-BE49-F238E27FC236}">
                <a16:creationId xmlns:a16="http://schemas.microsoft.com/office/drawing/2014/main" id="{4EB9B27E-0A24-B976-2196-CBC4C965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>
                <a:latin typeface="Courier New" panose="02070309020205020404" pitchFamily="49" charset="0"/>
                <a:cs typeface="Courier New" panose="02070309020205020404" pitchFamily="49" charset="0"/>
              </a:rPr>
              <a:t>wait()</a:t>
            </a:r>
            <a:r>
              <a:rPr lang="en-US" altLang="ko-KR" b="1" u="sng"/>
              <a:t>and </a:t>
            </a:r>
            <a:r>
              <a:rPr lang="en-US" altLang="ko-KR" b="1" u="sng">
                <a:latin typeface="Courier New" panose="02070309020205020404" pitchFamily="49" charset="0"/>
                <a:cs typeface="Courier New" panose="02070309020205020404" pitchFamily="49" charset="0"/>
              </a:rPr>
              <a:t>notify()</a:t>
            </a:r>
            <a:endParaRPr lang="ko-KR" altLang="en-US" b="1" u="sng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0179" name="내용 개체 틀 2">
            <a:extLst>
              <a:ext uri="{FF2B5EF4-FFF2-40B4-BE49-F238E27FC236}">
                <a16:creationId xmlns:a16="http://schemas.microsoft.com/office/drawing/2014/main" id="{C28B04AA-512A-1C7B-1A6F-54AF4D26D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141663"/>
            <a:ext cx="8229600" cy="27686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  <a:cs typeface="Courier New" panose="02070309020205020404" pitchFamily="49" charset="0"/>
              </a:rPr>
              <a:t>wait()</a:t>
            </a:r>
          </a:p>
          <a:p>
            <a:pPr lvl="1"/>
            <a:r>
              <a:rPr lang="en-US" altLang="ko-KR" sz="2000"/>
              <a:t>If no interrupt (normal case), current thread is blocked</a:t>
            </a:r>
          </a:p>
          <a:p>
            <a:pPr lvl="1"/>
            <a:r>
              <a:rPr lang="en-US" altLang="ko-KR" sz="2000"/>
              <a:t>The thread is placed into wait set associated with the object</a:t>
            </a:r>
          </a:p>
          <a:p>
            <a:pPr lvl="1"/>
            <a:r>
              <a:rPr lang="en-US" altLang="ko-KR" sz="2000"/>
              <a:t>Synchronization lock for the object is released</a:t>
            </a:r>
          </a:p>
          <a:p>
            <a:r>
              <a:rPr lang="en-US" altLang="ko-KR" sz="2400" b="1">
                <a:latin typeface="Courier New" panose="02070309020205020404" pitchFamily="49" charset="0"/>
                <a:cs typeface="Courier New" panose="02070309020205020404" pitchFamily="49" charset="0"/>
              </a:rPr>
              <a:t>notify()</a:t>
            </a:r>
          </a:p>
          <a:p>
            <a:pPr lvl="1"/>
            <a:r>
              <a:rPr lang="en-US" altLang="ko-KR" sz="2000"/>
              <a:t>One thread, say T, is removed from wait set, if exists.</a:t>
            </a:r>
          </a:p>
          <a:p>
            <a:pPr lvl="1"/>
            <a:r>
              <a:rPr lang="en-US" altLang="ko-KR" sz="2000"/>
              <a:t>T retains the lock for the object</a:t>
            </a:r>
          </a:p>
          <a:p>
            <a:pPr lvl="1"/>
            <a:r>
              <a:rPr lang="en-US" altLang="ko-KR" sz="2000"/>
              <a:t>T is resumed from waiting status.</a:t>
            </a:r>
          </a:p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D17B19-8601-75C3-ED46-96743515E584}"/>
              </a:ext>
            </a:extLst>
          </p:cNvPr>
          <p:cNvSpPr txBox="1"/>
          <p:nvPr/>
        </p:nvSpPr>
        <p:spPr>
          <a:xfrm>
            <a:off x="250825" y="1412875"/>
            <a:ext cx="8456613" cy="17541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public class Object {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…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public final void wait() throws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InterruptedException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{…}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public final void notify() { …}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public final void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notifall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 { …}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  <a:endParaRPr lang="ko-KR" altLang="en-US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제목 1">
            <a:extLst>
              <a:ext uri="{FF2B5EF4-FFF2-40B4-BE49-F238E27FC236}">
                <a16:creationId xmlns:a16="http://schemas.microsoft.com/office/drawing/2014/main" id="{BEDCBF5A-9815-3476-8929-17D6D90D3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Example : Garage Parking</a:t>
            </a:r>
            <a:endParaRPr lang="ko-KR" altLang="en-US" b="1" u="sng"/>
          </a:p>
        </p:txBody>
      </p:sp>
      <p:sp>
        <p:nvSpPr>
          <p:cNvPr id="51203" name="내용 개체 틀 2">
            <a:extLst>
              <a:ext uri="{FF2B5EF4-FFF2-40B4-BE49-F238E27FC236}">
                <a16:creationId xmlns:a16="http://schemas.microsoft.com/office/drawing/2014/main" id="{11E90744-79CB-648C-B102-FCCFBAEB2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The actual state of a parking garage is defined by the number of free parking places. </a:t>
            </a:r>
          </a:p>
          <a:p>
            <a:r>
              <a:rPr lang="en-US" altLang="ko-KR" sz="2000"/>
              <a:t>Cars are modelled by thread whereby a car can enter or leave the parking garage</a:t>
            </a:r>
          </a:p>
          <a:p>
            <a:r>
              <a:rPr lang="en-US" altLang="ko-KR" sz="2000"/>
              <a:t>each of these methods changes the actual state of the garage:</a:t>
            </a:r>
          </a:p>
          <a:p>
            <a:pPr lvl="1"/>
            <a:r>
              <a:rPr lang="en-US" altLang="ko-KR" sz="1600"/>
              <a:t>When a car enters, the number of free places is decremented; leaving implies incrementing the free places.</a:t>
            </a:r>
          </a:p>
          <a:p>
            <a:pPr lvl="1"/>
            <a:r>
              <a:rPr lang="en-US" altLang="ko-KR" sz="1600"/>
              <a:t>The number of free places can not be decremented, if the parking garage has become full (free places == 0)</a:t>
            </a:r>
          </a:p>
          <a:p>
            <a:pPr lvl="1"/>
            <a:r>
              <a:rPr lang="en-US" altLang="ko-KR" sz="1600"/>
              <a:t>A parking garage can simultaneously be used by more than one car (each changing the state), therefore methods enter() and leave() have to be marked as synchronized.</a:t>
            </a:r>
            <a:endParaRPr lang="ko-KR" altLang="en-US" sz="16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제목 1">
            <a:extLst>
              <a:ext uri="{FF2B5EF4-FFF2-40B4-BE49-F238E27FC236}">
                <a16:creationId xmlns:a16="http://schemas.microsoft.com/office/drawing/2014/main" id="{2A99FB5F-AC5B-079B-FC86-C3AD3ECC9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Example : Garage Parking</a:t>
            </a:r>
            <a:endParaRPr lang="ko-KR" altLang="en-US" b="1" u="sng"/>
          </a:p>
        </p:txBody>
      </p:sp>
      <p:sp>
        <p:nvSpPr>
          <p:cNvPr id="52227" name="내용 개체 틀 2">
            <a:extLst>
              <a:ext uri="{FF2B5EF4-FFF2-40B4-BE49-F238E27FC236}">
                <a16:creationId xmlns:a16="http://schemas.microsoft.com/office/drawing/2014/main" id="{18ABCB8F-300C-6DB8-9A11-6F4309417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9F386C-322C-C716-DA78-3E9E9EEED847}"/>
              </a:ext>
            </a:extLst>
          </p:cNvPr>
          <p:cNvSpPr txBox="1"/>
          <p:nvPr/>
        </p:nvSpPr>
        <p:spPr>
          <a:xfrm>
            <a:off x="539750" y="1700213"/>
            <a:ext cx="6627813" cy="4402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ParkingGarage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private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places;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public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ParkingGarage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places) 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if (places &lt; 0)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places = 0;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this.places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places;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public synchronized void enter() { // enter parking garage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while (places == 0) 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try 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wait();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} catch 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InterruptedException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e) {}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places--;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public synchronized void leave() { // leave parking garage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places++;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notify();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  <a:endParaRPr lang="ko-KR" altLang="en-US" sz="14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제목 1">
            <a:extLst>
              <a:ext uri="{FF2B5EF4-FFF2-40B4-BE49-F238E27FC236}">
                <a16:creationId xmlns:a16="http://schemas.microsoft.com/office/drawing/2014/main" id="{4ECBAD4E-48D0-0843-AD52-CE097AD4F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Example : Garage Parking</a:t>
            </a:r>
            <a:endParaRPr lang="ko-KR" altLang="en-US"/>
          </a:p>
        </p:txBody>
      </p:sp>
      <p:sp>
        <p:nvSpPr>
          <p:cNvPr id="53251" name="내용 개체 틀 2">
            <a:extLst>
              <a:ext uri="{FF2B5EF4-FFF2-40B4-BE49-F238E27FC236}">
                <a16:creationId xmlns:a16="http://schemas.microsoft.com/office/drawing/2014/main" id="{56E7138B-7224-6A73-AD43-B3F9A9274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94C894-27C9-DD2B-82BF-58FD7F4D9A77}"/>
              </a:ext>
            </a:extLst>
          </p:cNvPr>
          <p:cNvSpPr txBox="1"/>
          <p:nvPr/>
        </p:nvSpPr>
        <p:spPr>
          <a:xfrm>
            <a:off x="468313" y="1700213"/>
            <a:ext cx="8561387" cy="48323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Car extends Thread 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private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ParkingGarage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parkingGarage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public Car(String name,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ParkingGarage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p) 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super(name);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this.parkingGarage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p;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start();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public void run() 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while (true) 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try 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sleep((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Math.random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 * 10000)); // drive before parking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} catch 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InterruptedException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e) {}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parkingGarage.enter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System.out.println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getName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()+": entered");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try 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sleep((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Math.random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 * 20000)); // stay within the parking garage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} catch 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InterruptedException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e) {}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parkingGarage.leave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System.out.println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getName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()+": left");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  <a:endParaRPr lang="ko-KR" altLang="en-US" sz="14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제목 1">
            <a:extLst>
              <a:ext uri="{FF2B5EF4-FFF2-40B4-BE49-F238E27FC236}">
                <a16:creationId xmlns:a16="http://schemas.microsoft.com/office/drawing/2014/main" id="{AD5A9247-2FB4-E458-357A-4618DD5B4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Example : Garage Parking</a:t>
            </a:r>
            <a:endParaRPr lang="ko-KR" altLang="en-US"/>
          </a:p>
        </p:txBody>
      </p:sp>
      <p:sp>
        <p:nvSpPr>
          <p:cNvPr id="54275" name="내용 개체 틀 2">
            <a:extLst>
              <a:ext uri="{FF2B5EF4-FFF2-40B4-BE49-F238E27FC236}">
                <a16:creationId xmlns:a16="http://schemas.microsoft.com/office/drawing/2014/main" id="{B991DF53-C16B-E974-B1DF-EAAE489D4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00C654-C710-6583-B3AE-211B00E485BC}"/>
              </a:ext>
            </a:extLst>
          </p:cNvPr>
          <p:cNvSpPr txBox="1"/>
          <p:nvPr/>
        </p:nvSpPr>
        <p:spPr>
          <a:xfrm>
            <a:off x="627063" y="1700213"/>
            <a:ext cx="7905750" cy="23082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public class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ParkingGarageOperation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{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public static void main(String[]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args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){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ParkingGarage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parkingGarage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new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ParkingGarage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(10);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for (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=1;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&lt;= 40;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++) {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Car c = new Car("Car "+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,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parkingGarage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  <a:endParaRPr lang="ko-KR" altLang="en-US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제목 1">
            <a:extLst>
              <a:ext uri="{FF2B5EF4-FFF2-40B4-BE49-F238E27FC236}">
                <a16:creationId xmlns:a16="http://schemas.microsoft.com/office/drawing/2014/main" id="{9771D709-1E93-1842-A0B1-108A98181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Example : Garage Parking</a:t>
            </a:r>
            <a:endParaRPr lang="ko-KR" altLang="en-US"/>
          </a:p>
        </p:txBody>
      </p:sp>
      <p:sp>
        <p:nvSpPr>
          <p:cNvPr id="55299" name="내용 개체 틀 2">
            <a:extLst>
              <a:ext uri="{FF2B5EF4-FFF2-40B4-BE49-F238E27FC236}">
                <a16:creationId xmlns:a16="http://schemas.microsoft.com/office/drawing/2014/main" id="{B9FEF469-12D3-469F-7F62-59BC17FC9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output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2297E-EA94-156D-0C43-D06B30F35147}"/>
              </a:ext>
            </a:extLst>
          </p:cNvPr>
          <p:cNvSpPr txBox="1"/>
          <p:nvPr/>
        </p:nvSpPr>
        <p:spPr>
          <a:xfrm>
            <a:off x="684213" y="2205038"/>
            <a:ext cx="4181475" cy="39703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$ java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ParkingGarageOperation</a:t>
            </a:r>
            <a:endParaRPr lang="en-US" altLang="ko-KR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Car 38: entered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Car 21: entered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Car 12: entered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Car 22: entered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Car 23: left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Car 5: entered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Car 32: entered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Car 28: entered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Car 18: entered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Car 5: left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Car 37: entered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Car 22: left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Car 35: entered</a:t>
            </a:r>
            <a:endParaRPr lang="ko-KR" altLang="en-US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네모의 미">
  <a:themeElements>
    <a:clrScheme name="네모의 미 1">
      <a:dk1>
        <a:srgbClr val="000000"/>
      </a:dk1>
      <a:lt1>
        <a:srgbClr val="FFFFBF"/>
      </a:lt1>
      <a:dk2>
        <a:srgbClr val="666633"/>
      </a:dk2>
      <a:lt2>
        <a:srgbClr val="969696"/>
      </a:lt2>
      <a:accent1>
        <a:srgbClr val="99CC00"/>
      </a:accent1>
      <a:accent2>
        <a:srgbClr val="247C41"/>
      </a:accent2>
      <a:accent3>
        <a:srgbClr val="FFFFDC"/>
      </a:accent3>
      <a:accent4>
        <a:srgbClr val="000000"/>
      </a:accent4>
      <a:accent5>
        <a:srgbClr val="CAE2AA"/>
      </a:accent5>
      <a:accent6>
        <a:srgbClr val="20703A"/>
      </a:accent6>
      <a:hlink>
        <a:srgbClr val="EBA9D0"/>
      </a:hlink>
      <a:folHlink>
        <a:srgbClr val="CFBA7D"/>
      </a:folHlink>
    </a:clrScheme>
    <a:fontScheme name="네모의 미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네모의 미 1">
        <a:dk1>
          <a:srgbClr val="000000"/>
        </a:dk1>
        <a:lt1>
          <a:srgbClr val="FFFFBF"/>
        </a:lt1>
        <a:dk2>
          <a:srgbClr val="666633"/>
        </a:dk2>
        <a:lt2>
          <a:srgbClr val="969696"/>
        </a:lt2>
        <a:accent1>
          <a:srgbClr val="99CC00"/>
        </a:accent1>
        <a:accent2>
          <a:srgbClr val="247C41"/>
        </a:accent2>
        <a:accent3>
          <a:srgbClr val="FFFFDC"/>
        </a:accent3>
        <a:accent4>
          <a:srgbClr val="000000"/>
        </a:accent4>
        <a:accent5>
          <a:srgbClr val="CAE2AA"/>
        </a:accent5>
        <a:accent6>
          <a:srgbClr val="20703A"/>
        </a:accent6>
        <a:hlink>
          <a:srgbClr val="EBA9D0"/>
        </a:hlink>
        <a:folHlink>
          <a:srgbClr val="CFBA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D26F5E"/>
        </a:accent1>
        <a:accent2>
          <a:srgbClr val="6164DF"/>
        </a:accent2>
        <a:accent3>
          <a:srgbClr val="FFFFFF"/>
        </a:accent3>
        <a:accent4>
          <a:srgbClr val="000000"/>
        </a:accent4>
        <a:accent5>
          <a:srgbClr val="E5BBB6"/>
        </a:accent5>
        <a:accent6>
          <a:srgbClr val="575ACA"/>
        </a:accent6>
        <a:hlink>
          <a:srgbClr val="FFCC66"/>
        </a:hlink>
        <a:folHlink>
          <a:srgbClr val="51AF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3">
        <a:dk1>
          <a:srgbClr val="000000"/>
        </a:dk1>
        <a:lt1>
          <a:srgbClr val="D8F1CD"/>
        </a:lt1>
        <a:dk2>
          <a:srgbClr val="003300"/>
        </a:dk2>
        <a:lt2>
          <a:srgbClr val="969696"/>
        </a:lt2>
        <a:accent1>
          <a:srgbClr val="FF9966"/>
        </a:accent1>
        <a:accent2>
          <a:srgbClr val="2F7171"/>
        </a:accent2>
        <a:accent3>
          <a:srgbClr val="E9F7E3"/>
        </a:accent3>
        <a:accent4>
          <a:srgbClr val="000000"/>
        </a:accent4>
        <a:accent5>
          <a:srgbClr val="FFCAB8"/>
        </a:accent5>
        <a:accent6>
          <a:srgbClr val="2A6666"/>
        </a:accent6>
        <a:hlink>
          <a:srgbClr val="32C69C"/>
        </a:hlink>
        <a:folHlink>
          <a:srgbClr val="B8AA9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4">
        <a:dk1>
          <a:srgbClr val="000000"/>
        </a:dk1>
        <a:lt1>
          <a:srgbClr val="CFE1F9"/>
        </a:lt1>
        <a:dk2>
          <a:srgbClr val="000066"/>
        </a:dk2>
        <a:lt2>
          <a:srgbClr val="969696"/>
        </a:lt2>
        <a:accent1>
          <a:srgbClr val="9966FF"/>
        </a:accent1>
        <a:accent2>
          <a:srgbClr val="6164DF"/>
        </a:accent2>
        <a:accent3>
          <a:srgbClr val="E4EEFB"/>
        </a:accent3>
        <a:accent4>
          <a:srgbClr val="000000"/>
        </a:accent4>
        <a:accent5>
          <a:srgbClr val="CAB8FF"/>
        </a:accent5>
        <a:accent6>
          <a:srgbClr val="575ACA"/>
        </a:accent6>
        <a:hlink>
          <a:srgbClr val="EBA9A9"/>
        </a:hlink>
        <a:folHlink>
          <a:srgbClr val="42A8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5">
        <a:dk1>
          <a:srgbClr val="000000"/>
        </a:dk1>
        <a:lt1>
          <a:srgbClr val="F6DB90"/>
        </a:lt1>
        <a:dk2>
          <a:srgbClr val="663300"/>
        </a:dk2>
        <a:lt2>
          <a:srgbClr val="969696"/>
        </a:lt2>
        <a:accent1>
          <a:srgbClr val="99CC00"/>
        </a:accent1>
        <a:accent2>
          <a:srgbClr val="5F50BA"/>
        </a:accent2>
        <a:accent3>
          <a:srgbClr val="FAEAC6"/>
        </a:accent3>
        <a:accent4>
          <a:srgbClr val="000000"/>
        </a:accent4>
        <a:accent5>
          <a:srgbClr val="CAE2AA"/>
        </a:accent5>
        <a:accent6>
          <a:srgbClr val="5548A8"/>
        </a:accent6>
        <a:hlink>
          <a:srgbClr val="C57233"/>
        </a:hlink>
        <a:folHlink>
          <a:srgbClr val="BAAD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6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B2B2B2"/>
        </a:accent1>
        <a:accent2>
          <a:srgbClr val="777777"/>
        </a:accent2>
        <a:accent3>
          <a:srgbClr val="F3F3F3"/>
        </a:accent3>
        <a:accent4>
          <a:srgbClr val="000000"/>
        </a:accent4>
        <a:accent5>
          <a:srgbClr val="D5D5D5"/>
        </a:accent5>
        <a:accent6>
          <a:srgbClr val="6B6B6B"/>
        </a:accent6>
        <a:hlink>
          <a:srgbClr val="96969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네모의 미</Template>
  <TotalTime>3259</TotalTime>
  <Words>3873</Words>
  <Application>Microsoft Macintosh PowerPoint</Application>
  <PresentationFormat>화면 슬라이드 쇼(4:3)</PresentationFormat>
  <Paragraphs>688</Paragraphs>
  <Slides>57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57</vt:i4>
      </vt:variant>
    </vt:vector>
  </HeadingPairs>
  <TitlesOfParts>
    <vt:vector size="63" baseType="lpstr">
      <vt:lpstr>굴림</vt:lpstr>
      <vt:lpstr>맑은 고딕</vt:lpstr>
      <vt:lpstr>Arial</vt:lpstr>
      <vt:lpstr>Courier New</vt:lpstr>
      <vt:lpstr>Wingdings</vt:lpstr>
      <vt:lpstr>네모의 미</vt:lpstr>
      <vt:lpstr>Lecture 4 : Basics of  JAVA Thread Programming</vt:lpstr>
      <vt:lpstr>Process</vt:lpstr>
      <vt:lpstr>Switch from process to process</vt:lpstr>
      <vt:lpstr>UNIX process</vt:lpstr>
      <vt:lpstr>Process Creation</vt:lpstr>
      <vt:lpstr>Threads</vt:lpstr>
      <vt:lpstr>Single and multithreaded program</vt:lpstr>
      <vt:lpstr>Multi-process vs Multi-thread</vt:lpstr>
      <vt:lpstr>Implementing processes -the OS view</vt:lpstr>
      <vt:lpstr>Programming JAVA threads</vt:lpstr>
      <vt:lpstr>JAVA Threading Models</vt:lpstr>
      <vt:lpstr>Creating Threads : method 1</vt:lpstr>
      <vt:lpstr>(method 1) anonymous subclass</vt:lpstr>
      <vt:lpstr>example1</vt:lpstr>
      <vt:lpstr>Thread Names</vt:lpstr>
      <vt:lpstr>example2</vt:lpstr>
      <vt:lpstr>Creating Threads : method 2</vt:lpstr>
      <vt:lpstr>Creating &amp; Executing Threads, (Runnable)</vt:lpstr>
      <vt:lpstr>Creating &amp; Executing Threads, (Runnable)</vt:lpstr>
      <vt:lpstr>(method 2) three ways</vt:lpstr>
      <vt:lpstr>PowerPoint 프레젠테이션</vt:lpstr>
      <vt:lpstr>PowerPoint 프레젠테이션</vt:lpstr>
      <vt:lpstr>Calling run() vs start()?</vt:lpstr>
      <vt:lpstr>Example : Self-starting Threads</vt:lpstr>
      <vt:lpstr>Thread Life-Cycle</vt:lpstr>
      <vt:lpstr>Alive States</vt:lpstr>
      <vt:lpstr>Thread Priority</vt:lpstr>
      <vt:lpstr>yield</vt:lpstr>
      <vt:lpstr>PowerPoint 프레젠테이션</vt:lpstr>
      <vt:lpstr>Thread identity</vt:lpstr>
      <vt:lpstr>PowerPoint 프레젠테이션</vt:lpstr>
      <vt:lpstr>Thread sleep, suspend, resume</vt:lpstr>
      <vt:lpstr>Thread Waiting &amp; Status Check </vt:lpstr>
      <vt:lpstr>Joining a Thread</vt:lpstr>
      <vt:lpstr>Joining a Thread : MyThread1</vt:lpstr>
      <vt:lpstr>Joining a Thread : MyThread2</vt:lpstr>
      <vt:lpstr>Joining a Thread : MyThread2</vt:lpstr>
      <vt:lpstr>Output result</vt:lpstr>
      <vt:lpstr>Thread synchronization</vt:lpstr>
      <vt:lpstr>Race condition example</vt:lpstr>
      <vt:lpstr>Thread Synchronization</vt:lpstr>
      <vt:lpstr>Synchronized JAVA methods</vt:lpstr>
      <vt:lpstr>Synchronized Access to Shared Data</vt:lpstr>
      <vt:lpstr>Example1 : Need for Sync</vt:lpstr>
      <vt:lpstr>PowerPoint 프레젠테이션</vt:lpstr>
      <vt:lpstr>Example2 : Synchronized</vt:lpstr>
      <vt:lpstr>PowerPoint 프레젠테이션</vt:lpstr>
      <vt:lpstr>Synchronized Lock Object</vt:lpstr>
      <vt:lpstr>Example 3 : synchronized lock obj</vt:lpstr>
      <vt:lpstr>PowerPoint 프레젠테이션</vt:lpstr>
      <vt:lpstr>Condition Variables</vt:lpstr>
      <vt:lpstr>wait()and notify()</vt:lpstr>
      <vt:lpstr>Example : Garage Parking</vt:lpstr>
      <vt:lpstr>Example : Garage Parking</vt:lpstr>
      <vt:lpstr>Example : Garage Parking</vt:lpstr>
      <vt:lpstr>Example : Garage Parking</vt:lpstr>
      <vt:lpstr>Example : Garage Parking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(English-Only Lecture)</dc:title>
  <dc:creator>손호경</dc:creator>
  <cp:lastModifiedBy>Microsoft Office User</cp:lastModifiedBy>
  <cp:revision>208</cp:revision>
  <dcterms:created xsi:type="dcterms:W3CDTF">2008-03-06T00:32:01Z</dcterms:created>
  <dcterms:modified xsi:type="dcterms:W3CDTF">2026-03-22T14:50:06Z</dcterms:modified>
</cp:coreProperties>
</file>