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17"/>
  </p:notesMasterIdLst>
  <p:sldIdLst>
    <p:sldId id="346" r:id="rId2"/>
    <p:sldId id="408" r:id="rId3"/>
    <p:sldId id="409" r:id="rId4"/>
    <p:sldId id="410" r:id="rId5"/>
    <p:sldId id="411" r:id="rId6"/>
    <p:sldId id="418" r:id="rId7"/>
    <p:sldId id="412" r:id="rId8"/>
    <p:sldId id="413" r:id="rId9"/>
    <p:sldId id="414" r:id="rId10"/>
    <p:sldId id="419" r:id="rId11"/>
    <p:sldId id="417" r:id="rId12"/>
    <p:sldId id="415" r:id="rId13"/>
    <p:sldId id="416" r:id="rId14"/>
    <p:sldId id="420" r:id="rId15"/>
    <p:sldId id="421" r:id="rId16"/>
  </p:sldIdLst>
  <p:sldSz cx="9144000" cy="6858000" type="screen4x3"/>
  <p:notesSz cx="7099300" cy="102346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44"/>
    <p:restoredTop sz="94694"/>
  </p:normalViewPr>
  <p:slideViewPr>
    <p:cSldViewPr>
      <p:cViewPr varScale="1">
        <p:scale>
          <a:sx n="121" d="100"/>
          <a:sy n="121" d="100"/>
        </p:scale>
        <p:origin x="44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C9BA1D7-825D-A355-D246-68D7BAEB85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E26C71-5369-F202-EBCB-A4A7FF77F85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DCD68EF-8BA2-A344-9169-24134341C25C}" type="datetimeFigureOut">
              <a:rPr lang="ko-KR" altLang="en-US"/>
              <a:pPr>
                <a:defRPr/>
              </a:pPr>
              <a:t>2026. 4. 5.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FAB36C44-8299-9876-DFC4-026165C896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FA0D0964-B8B2-DB37-9EDB-845E9CF89A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E571D1-77B7-CD7D-7384-4858C93B345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3FC490-DD5A-379B-7D03-16ACAC1773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4AAE8EF-E34F-124D-BE9D-E7E9FD996D1D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FA72863-E815-A258-155B-8358124B796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2F69F82D-B553-C258-A08F-CFA18DA09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C8C0862-6FAE-45B1-0840-1595040E6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03ED26D8-5C56-2CD9-7E00-E5AA3860A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1D50D4C9-A0C7-7A15-7231-F96A2A5B3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B638CCD2-AF86-BCEE-E18F-BCE5CA781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764D0B8B-55E0-80A6-9D9A-031F5479C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34C64C80-5E2F-D93C-52A2-52452C3A0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8DB1203D-B712-1392-F0B6-871A04012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1CAABC64-8A8A-C7FF-C839-BEA7162F0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3C1A9131-BC5B-6AC3-72E7-41EDB1A6EF14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55F12448-BC63-F54F-CAFC-EA0B3335F1A3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D4898A19-464E-6E93-9C41-B5D8423FEF93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4EDDA4CD-9CA2-9770-E4BA-CDF702C5FA6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8E9A8C89-4A4D-8295-11B8-5D4F304E5757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2E9E2ABF-DA89-7190-C720-701AFCAB664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F150A33C-A27A-2ABD-48E3-190D240837FE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08A15976-E301-358E-B621-FD9DE5F3F9F7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40AC8411-1B11-7D65-6491-359ED0B14D6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39F28824-2E1D-8DEC-20BF-2FDECACD4B5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1182DB7D-4872-B913-9FE8-CD8465EA6B7A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953C4D75-9DD8-1C42-1DDB-45A7834C737D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144A0DF9-12DB-F67F-3B86-3212849C554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021A9A82-152D-B51E-20F8-E803EE235FAB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9B04C9EE-5351-8F87-7D9A-F188D39AF250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36400D82-120D-C765-6A38-B6AEA71C4C3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4F6D5B5A-CDB1-631A-0309-063FF24452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1BCFDF7F-ABCA-A128-7C30-4DBC3FD6C5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1DC7BC-5C9B-A147-8093-0EADF49428D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3461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001F2A3D-A871-E6B3-94B2-E32BC2B587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CF6B4682-4316-EE24-126C-6345D284A2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5102BA2A-0EA7-1CA7-A6B9-02FCF624AD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167313-A246-C348-B658-69E557C4BC2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802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2009BDA1-2CBF-96A0-F8AA-29D15C519A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3F4FD166-D253-D199-D8E7-4A4C7E401C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4BEF18B0-24D8-F342-5F71-47962DB4E5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65BF58-14E8-4041-98AA-727C60246E1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0781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6D96BC66-44E5-4DC0-3E83-153D827E8B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6B0CB238-27BD-8D9A-10CE-02018438B1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4A7D15BF-0AA1-C536-A7EA-FEA71A470E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847B0D-1E94-AE4D-A2C3-7D677A6890B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00486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5B572E32-3CD2-EBE9-EE4D-ED2AD476A1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CA82EB79-8C0E-9056-1A3E-99129069CC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3F9944B6-96BE-246C-7DB3-F7F0FF998A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4605DC-BBBC-6A40-A1AA-92F8D0A8049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922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C5D0A4DB-2ACC-445A-2942-1E6B5C97C3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1AC29242-445E-3F8C-BD04-0D44BC4BAC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F642C340-401C-9877-4087-E32D8F6B1C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9D788A-50FB-E043-A527-0F206E53E25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08010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7F44BFE4-4A6E-676F-F7DC-F9DF7A0257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AEB2450B-FD0C-2837-571B-1228503049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451DB1F9-A09B-9074-38CF-5CF72DCEBF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4405D6-068B-7E40-A652-BA8108DCF7C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68319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2906B763-AE05-B1BF-7A66-0E1FACD7A2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A4786D6A-C5C9-FB24-6172-84C89019D1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AC64C47D-916D-70B9-FA0D-EC06A4DFCC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62C158-FD9B-AE49-8661-68A65C8CC9F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34344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BFE3AC20-CD52-1277-C857-B0F175000F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FA219C55-1E11-F48E-6C72-0F721CD02C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DBB33240-536A-4B75-14D2-FC52B967D6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7303C8-8317-C444-B850-15A583DAE8B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21551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336624A0-DD76-6CDC-6A32-2799DB4029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E6CB873D-7D02-B915-0F35-D0350F6B44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01F9D969-6208-B22C-96D1-20DD61424B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1A3A90-92F4-9049-ACDD-3CD4C967AF8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50477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DB04E6E7-A2BE-551A-6861-358A9E4C5B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680010EC-92E8-7E65-8695-013BA31965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29A86706-F33A-0B07-EA22-47A8F38B3A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5177BD-EA9F-494A-AEEC-D50CBF8A757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31418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E4975153-4E26-E552-E915-86FEBCF428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3E012EA5-3288-CF39-6896-3603814070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B463071D-5251-AD29-2F5F-2403C5AF0F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C39B21-F017-3847-A0BA-030DEEFC208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7233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2E245632-9D49-B2A9-3F16-FE5975C375B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243" name="Rectangle 3">
              <a:extLst>
                <a:ext uri="{FF2B5EF4-FFF2-40B4-BE49-F238E27FC236}">
                  <a16:creationId xmlns:a16="http://schemas.microsoft.com/office/drawing/2014/main" id="{52BADC20-A1A4-872B-C9D0-A40F3C8CA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4" name="Rectangle 4">
              <a:extLst>
                <a:ext uri="{FF2B5EF4-FFF2-40B4-BE49-F238E27FC236}">
                  <a16:creationId xmlns:a16="http://schemas.microsoft.com/office/drawing/2014/main" id="{4B7CF626-FEBA-0E73-B060-185D63409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2F3E1E36-2655-4798-AB0C-F1701E781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6" name="Rectangle 6">
              <a:extLst>
                <a:ext uri="{FF2B5EF4-FFF2-40B4-BE49-F238E27FC236}">
                  <a16:creationId xmlns:a16="http://schemas.microsoft.com/office/drawing/2014/main" id="{AB1C93D9-C085-A312-BA99-BD5A7DB6E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7" name="Rectangle 7">
              <a:extLst>
                <a:ext uri="{FF2B5EF4-FFF2-40B4-BE49-F238E27FC236}">
                  <a16:creationId xmlns:a16="http://schemas.microsoft.com/office/drawing/2014/main" id="{46145E16-9E7E-57DB-025F-E755F65F8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8" name="Rectangle 8">
              <a:extLst>
                <a:ext uri="{FF2B5EF4-FFF2-40B4-BE49-F238E27FC236}">
                  <a16:creationId xmlns:a16="http://schemas.microsoft.com/office/drawing/2014/main" id="{01E74A95-0E55-A197-FB4E-01AD5A6D1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75306C6E-A487-BBCF-7032-FCD5511BB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0" name="Rectangle 10">
              <a:extLst>
                <a:ext uri="{FF2B5EF4-FFF2-40B4-BE49-F238E27FC236}">
                  <a16:creationId xmlns:a16="http://schemas.microsoft.com/office/drawing/2014/main" id="{EA0DD77E-01ED-2D82-A98F-37A57B496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77FFC89F-EFA9-06B5-A3CD-ADDC809AE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2" name="Rectangle 12">
              <a:extLst>
                <a:ext uri="{FF2B5EF4-FFF2-40B4-BE49-F238E27FC236}">
                  <a16:creationId xmlns:a16="http://schemas.microsoft.com/office/drawing/2014/main" id="{F6468AB1-D110-04A0-E77D-CAE58F8FE7F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3" name="Rectangle 13">
              <a:extLst>
                <a:ext uri="{FF2B5EF4-FFF2-40B4-BE49-F238E27FC236}">
                  <a16:creationId xmlns:a16="http://schemas.microsoft.com/office/drawing/2014/main" id="{AF76102C-BAD6-AF00-5EA2-ABC2E5AD4EEC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4" name="Line 14">
              <a:extLst>
                <a:ext uri="{FF2B5EF4-FFF2-40B4-BE49-F238E27FC236}">
                  <a16:creationId xmlns:a16="http://schemas.microsoft.com/office/drawing/2014/main" id="{02A6DE93-BA71-ABA4-65D4-EEB47FD4BD54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5" name="Line 15">
              <a:extLst>
                <a:ext uri="{FF2B5EF4-FFF2-40B4-BE49-F238E27FC236}">
                  <a16:creationId xmlns:a16="http://schemas.microsoft.com/office/drawing/2014/main" id="{C5F476FC-DEDB-B99F-74C2-1F1AC817A26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6" name="Line 16">
              <a:extLst>
                <a:ext uri="{FF2B5EF4-FFF2-40B4-BE49-F238E27FC236}">
                  <a16:creationId xmlns:a16="http://schemas.microsoft.com/office/drawing/2014/main" id="{CD45B6BC-C671-1906-A430-A3E4EA2EBC05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7" name="Line 17">
              <a:extLst>
                <a:ext uri="{FF2B5EF4-FFF2-40B4-BE49-F238E27FC236}">
                  <a16:creationId xmlns:a16="http://schemas.microsoft.com/office/drawing/2014/main" id="{376D9E28-E627-6EDF-46C8-F12406CD131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8" name="Line 18">
              <a:extLst>
                <a:ext uri="{FF2B5EF4-FFF2-40B4-BE49-F238E27FC236}">
                  <a16:creationId xmlns:a16="http://schemas.microsoft.com/office/drawing/2014/main" id="{5CB13057-A7ED-2333-0A23-8B7EDEEA547B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9" name="Line 19">
              <a:extLst>
                <a:ext uri="{FF2B5EF4-FFF2-40B4-BE49-F238E27FC236}">
                  <a16:creationId xmlns:a16="http://schemas.microsoft.com/office/drawing/2014/main" id="{9FA2CB2E-E5D3-F94C-7ED4-B130B7FE3611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0" name="Line 20">
              <a:extLst>
                <a:ext uri="{FF2B5EF4-FFF2-40B4-BE49-F238E27FC236}">
                  <a16:creationId xmlns:a16="http://schemas.microsoft.com/office/drawing/2014/main" id="{2A79425A-0444-935B-106C-7780A572CF0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1" name="Line 21">
              <a:extLst>
                <a:ext uri="{FF2B5EF4-FFF2-40B4-BE49-F238E27FC236}">
                  <a16:creationId xmlns:a16="http://schemas.microsoft.com/office/drawing/2014/main" id="{852BE006-FFA2-8DB9-7FC4-1FB827BA8C6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2" name="Line 22">
              <a:extLst>
                <a:ext uri="{FF2B5EF4-FFF2-40B4-BE49-F238E27FC236}">
                  <a16:creationId xmlns:a16="http://schemas.microsoft.com/office/drawing/2014/main" id="{66098EC8-7EE4-2446-64F2-2B78DC21E0A3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3" name="Line 23">
              <a:extLst>
                <a:ext uri="{FF2B5EF4-FFF2-40B4-BE49-F238E27FC236}">
                  <a16:creationId xmlns:a16="http://schemas.microsoft.com/office/drawing/2014/main" id="{2E1C7422-D82F-C923-B630-BE688EB672F6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4" name="Line 24">
              <a:extLst>
                <a:ext uri="{FF2B5EF4-FFF2-40B4-BE49-F238E27FC236}">
                  <a16:creationId xmlns:a16="http://schemas.microsoft.com/office/drawing/2014/main" id="{B115737C-20AB-C66E-E630-159652B44E4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5" name="Line 25">
              <a:extLst>
                <a:ext uri="{FF2B5EF4-FFF2-40B4-BE49-F238E27FC236}">
                  <a16:creationId xmlns:a16="http://schemas.microsoft.com/office/drawing/2014/main" id="{C8977A74-147D-3E2B-5703-6587B385445D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6" name="Line 26">
              <a:extLst>
                <a:ext uri="{FF2B5EF4-FFF2-40B4-BE49-F238E27FC236}">
                  <a16:creationId xmlns:a16="http://schemas.microsoft.com/office/drawing/2014/main" id="{35B3C201-0A11-5D8C-2BBC-037635E6BA12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C9C6C9FC-88B0-05D9-838D-0F5D7B0B63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D2488A94-DA87-3FA9-B211-9913DEB9E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3AFB4698-4E39-0D73-7460-FFE31ADEA99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30064035-6F74-9BCC-7DB5-F1A0560A880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3B1ABEE2-B3F5-75BF-C6C2-65C1612C45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B6DBF930-27F2-094F-A8F7-EB1FCA0E3261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2" r:id="rId9"/>
    <p:sldLayoutId id="2147484093" r:id="rId10"/>
    <p:sldLayoutId id="2147484094" r:id="rId11"/>
    <p:sldLayoutId id="2147484095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DFDA20F-4DBD-0A84-D59D-B35E43173A1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sz="3600" b="1" dirty="0"/>
              <a:t>Lecture 4-2 :</a:t>
            </a:r>
            <a:br>
              <a:rPr lang="en-US" altLang="ko-KR" sz="3600" b="1" dirty="0"/>
            </a:br>
            <a:r>
              <a:rPr lang="en-US" altLang="ko-KR" sz="3600" b="1" dirty="0"/>
              <a:t>JAVA Memory Model</a:t>
            </a:r>
            <a:br>
              <a:rPr lang="en-US" altLang="ko-KR" sz="3600" b="1" dirty="0"/>
            </a:br>
            <a:r>
              <a:rPr lang="en-US" altLang="ko-KR" sz="3600" b="1" dirty="0"/>
              <a:t>and volatile variable </a:t>
            </a:r>
          </a:p>
        </p:txBody>
      </p:sp>
      <p:sp>
        <p:nvSpPr>
          <p:cNvPr id="3075" name="TextBox 2">
            <a:extLst>
              <a:ext uri="{FF2B5EF4-FFF2-40B4-BE49-F238E27FC236}">
                <a16:creationId xmlns:a16="http://schemas.microsoft.com/office/drawing/2014/main" id="{7DD93DAF-0946-E186-AF4E-5A431AA28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1938" y="6021288"/>
            <a:ext cx="483497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 dirty="0"/>
              <a:t>Courtesy : MIT Prof. </a:t>
            </a:r>
            <a:r>
              <a:rPr lang="en-US" altLang="ko-KR" sz="1200" dirty="0" err="1"/>
              <a:t>Amarasinghe</a:t>
            </a:r>
            <a:r>
              <a:rPr lang="en-US" altLang="ko-KR" sz="1200" dirty="0"/>
              <a:t> and Dr. Rabbah’s course note</a:t>
            </a:r>
          </a:p>
          <a:p>
            <a:pPr eaLnBrk="1" hangingPunct="1"/>
            <a:r>
              <a:rPr lang="en-US" altLang="ko-KR" sz="1200" dirty="0"/>
              <a:t>               Prof. Dr. Alois </a:t>
            </a:r>
            <a:r>
              <a:rPr lang="en-US" altLang="ko-KR" sz="1200" dirty="0" err="1"/>
              <a:t>Schütte’s</a:t>
            </a:r>
            <a:r>
              <a:rPr lang="en-US" altLang="ko-KR" sz="1200" dirty="0"/>
              <a:t> lecture notes</a:t>
            </a:r>
          </a:p>
          <a:p>
            <a:pPr eaLnBrk="1" hangingPunct="1"/>
            <a:r>
              <a:rPr lang="en-US" altLang="ko-KR" sz="1200" dirty="0"/>
              <a:t>              Java in </a:t>
            </a:r>
            <a:r>
              <a:rPr lang="en-US" altLang="ko-KR" sz="1200" dirty="0" err="1"/>
              <a:t>Jenkov.com</a:t>
            </a:r>
            <a:r>
              <a:rPr lang="en-US" altLang="ko-KR" sz="1200" dirty="0"/>
              <a:t> (Jacob </a:t>
            </a:r>
            <a:r>
              <a:rPr lang="en-US" altLang="ko-KR" sz="1200" dirty="0" err="1"/>
              <a:t>Jenkov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9C7ECD-F798-6529-F0AA-C6BE1368B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Java Memory Model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812CB9-734F-DA68-3B87-FEBC94BFA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/>
          <a:lstStyle/>
          <a:p>
            <a:r>
              <a:rPr lang="en-US" altLang="ko-Kore-KR" dirty="0"/>
              <a:t>a set of rules on how JVM and HW interact with main memory</a:t>
            </a:r>
          </a:p>
          <a:p>
            <a:r>
              <a:rPr lang="en-US" altLang="ko-Kore-KR" dirty="0"/>
              <a:t>guarantees you get about visibility, ordering, and atomicity</a:t>
            </a:r>
          </a:p>
          <a:p>
            <a:endParaRPr lang="en-US" altLang="ko-Kore-KR" dirty="0"/>
          </a:p>
          <a:p>
            <a:r>
              <a:rPr lang="en-US" altLang="ko-Kore-KR" dirty="0"/>
              <a:t>primary purpose</a:t>
            </a:r>
          </a:p>
          <a:p>
            <a:pPr lvl="1"/>
            <a:r>
              <a:rPr lang="en-US" altLang="ko-Kore-KR" dirty="0"/>
              <a:t>ensure that shared variables are handled          consistently across different threads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540314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69886-DB69-3112-D862-B5E05C6A0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Core Problems: </a:t>
            </a:r>
            <a:br>
              <a:rPr kumimoji="1" lang="en-US" altLang="ko-Kore-KR" b="1" u="sng" dirty="0"/>
            </a:br>
            <a:r>
              <a:rPr kumimoji="1" lang="en-US" altLang="ko-Kore-KR" sz="2800" b="1" u="sng" dirty="0"/>
              <a:t>Why do we need JMM?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F92F9C-5256-F78C-8BCA-34E76CD73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/>
          <a:lstStyle/>
          <a:p>
            <a:r>
              <a:rPr lang="en-US" altLang="ko-Kore-KR" dirty="0"/>
              <a:t>Code is not just executed straight from     main memory.</a:t>
            </a:r>
          </a:p>
          <a:p>
            <a:endParaRPr kumimoji="1" lang="en-US" altLang="ko-Kore-KR" dirty="0"/>
          </a:p>
          <a:p>
            <a:r>
              <a:rPr lang="en-US" altLang="ko-Kore-KR" dirty="0"/>
              <a:t>t</a:t>
            </a:r>
            <a:r>
              <a:rPr kumimoji="1" lang="en-US" altLang="ko-Kore-KR" dirty="0"/>
              <a:t>o increase speed, </a:t>
            </a:r>
          </a:p>
          <a:p>
            <a:pPr marL="0" indent="0">
              <a:buNone/>
            </a:pPr>
            <a:r>
              <a:rPr lang="en-US" altLang="ko-Kore-KR" dirty="0"/>
              <a:t>  </a:t>
            </a:r>
            <a:r>
              <a:rPr kumimoji="1" lang="en-US" altLang="ko-Kore-KR" dirty="0"/>
              <a:t>they use </a:t>
            </a:r>
          </a:p>
          <a:p>
            <a:pPr lvl="1"/>
            <a:r>
              <a:rPr lang="en-US" altLang="ko-Kore-KR" dirty="0"/>
              <a:t>CPU caches</a:t>
            </a:r>
          </a:p>
          <a:p>
            <a:pPr lvl="1"/>
            <a:r>
              <a:rPr kumimoji="1" lang="en-US" altLang="ko-Kore-KR" dirty="0"/>
              <a:t>instruction reordering</a:t>
            </a:r>
          </a:p>
          <a:p>
            <a:pPr marL="457200" lvl="1" indent="0">
              <a:buNone/>
            </a:pPr>
            <a:r>
              <a:rPr lang="en-US" altLang="ko-Kore-KR" dirty="0"/>
              <a:t>   </a:t>
            </a:r>
            <a:endParaRPr kumimoji="1" lang="en-US" altLang="ko-Kore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D28E9A7-7F5D-B54A-D973-6B11C75BC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154" y="2204864"/>
            <a:ext cx="3176646" cy="2761607"/>
          </a:xfrm>
          <a:prstGeom prst="rect">
            <a:avLst/>
          </a:prstGeom>
        </p:spPr>
      </p:pic>
      <p:sp>
        <p:nvSpPr>
          <p:cNvPr id="8" name="사각형: 둥근 모서리 5">
            <a:extLst>
              <a:ext uri="{FF2B5EF4-FFF2-40B4-BE49-F238E27FC236}">
                <a16:creationId xmlns:a16="http://schemas.microsoft.com/office/drawing/2014/main" id="{3ABA233E-5D3D-6202-3833-65C3B54C6897}"/>
              </a:ext>
            </a:extLst>
          </p:cNvPr>
          <p:cNvSpPr/>
          <p:nvPr/>
        </p:nvSpPr>
        <p:spPr>
          <a:xfrm>
            <a:off x="908506" y="5257800"/>
            <a:ext cx="1791286" cy="160020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57150">
            <a:solidFill>
              <a:srgbClr val="938F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ore-KR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= b + c </a:t>
            </a:r>
          </a:p>
          <a:p>
            <a:pPr>
              <a:lnSpc>
                <a:spcPct val="120000"/>
              </a:lnSpc>
            </a:pPr>
            <a:r>
              <a:rPr lang="en-US" altLang="ko-Kore-KR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 = a + e</a:t>
            </a:r>
          </a:p>
          <a:p>
            <a:pPr>
              <a:lnSpc>
                <a:spcPct val="120000"/>
              </a:lnSpc>
            </a:pPr>
            <a:r>
              <a:rPr lang="en-US" altLang="ko-Kore-KR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ko-Kore-KR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= m + n </a:t>
            </a:r>
          </a:p>
          <a:p>
            <a:pPr>
              <a:lnSpc>
                <a:spcPct val="120000"/>
              </a:lnSpc>
            </a:pPr>
            <a:r>
              <a:rPr lang="en-US" altLang="ko-Kore-KR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x + z</a:t>
            </a:r>
            <a:endParaRPr lang="en-US" altLang="ko-KR" sz="14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사각형: 둥근 모서리 5">
            <a:extLst>
              <a:ext uri="{FF2B5EF4-FFF2-40B4-BE49-F238E27FC236}">
                <a16:creationId xmlns:a16="http://schemas.microsoft.com/office/drawing/2014/main" id="{CB69E862-2FE6-C301-2B41-9F1F0D305E44}"/>
              </a:ext>
            </a:extLst>
          </p:cNvPr>
          <p:cNvSpPr/>
          <p:nvPr/>
        </p:nvSpPr>
        <p:spPr>
          <a:xfrm>
            <a:off x="3716818" y="5257800"/>
            <a:ext cx="1791286" cy="160020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57150">
            <a:solidFill>
              <a:srgbClr val="938F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ore-KR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 = b + c</a:t>
            </a:r>
          </a:p>
          <a:p>
            <a:pPr>
              <a:lnSpc>
                <a:spcPct val="120000"/>
              </a:lnSpc>
            </a:pPr>
            <a:r>
              <a:rPr lang="en-US" altLang="ko-Kore-KR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ko-Kore-KR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 = m + n </a:t>
            </a:r>
          </a:p>
          <a:p>
            <a:pPr>
              <a:lnSpc>
                <a:spcPct val="120000"/>
              </a:lnSpc>
            </a:pPr>
            <a:r>
              <a:rPr lang="en-US" altLang="ko-Kore-KR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 = x + z</a:t>
            </a:r>
          </a:p>
          <a:p>
            <a:pPr>
              <a:lnSpc>
                <a:spcPct val="120000"/>
              </a:lnSpc>
            </a:pPr>
            <a:endParaRPr lang="en-US" altLang="ko-Kore-KR" sz="14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ko-Kore-KR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 = a + e </a:t>
            </a:r>
          </a:p>
        </p:txBody>
      </p:sp>
      <p:sp>
        <p:nvSpPr>
          <p:cNvPr id="10" name="화살표: 오른쪽 6">
            <a:extLst>
              <a:ext uri="{FF2B5EF4-FFF2-40B4-BE49-F238E27FC236}">
                <a16:creationId xmlns:a16="http://schemas.microsoft.com/office/drawing/2014/main" id="{F9710AAE-1AC6-24F1-9B05-1284F96831BE}"/>
              </a:ext>
            </a:extLst>
          </p:cNvPr>
          <p:cNvSpPr/>
          <p:nvPr/>
        </p:nvSpPr>
        <p:spPr>
          <a:xfrm>
            <a:off x="2892200" y="5703334"/>
            <a:ext cx="671688" cy="398907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52832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459099-F8B4-99C0-2C75-1B7B50A4C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Core Problems: </a:t>
            </a:r>
            <a:br>
              <a:rPr kumimoji="1" lang="en-US" altLang="ko-Kore-KR" b="1" u="sng" dirty="0"/>
            </a:br>
            <a:r>
              <a:rPr kumimoji="1" lang="en-US" altLang="ko-Kore-KR" sz="2800" b="1" u="sng" dirty="0"/>
              <a:t>Why do we need JMM?</a:t>
            </a:r>
            <a:endParaRPr kumimoji="1" lang="ko-Kore-KR" altLang="en-US" sz="2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76CA57-9037-87E9-A677-15C00D4E4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/>
              <a:t>In multi-threading, two major issues</a:t>
            </a:r>
          </a:p>
          <a:p>
            <a:pPr lvl="1"/>
            <a:r>
              <a:rPr lang="en-US" altLang="ko-Kore-KR" b="1" dirty="0"/>
              <a:t>Visibility</a:t>
            </a:r>
            <a:endParaRPr lang="en-US" altLang="ko-Kore-KR" dirty="0"/>
          </a:p>
          <a:p>
            <a:pPr lvl="2"/>
            <a:r>
              <a:rPr lang="en-US" altLang="ko-Kore-KR" dirty="0"/>
              <a:t>Thread A updates a value in its </a:t>
            </a:r>
          </a:p>
          <a:p>
            <a:pPr marL="914400" lvl="2" indent="0">
              <a:buNone/>
            </a:pPr>
            <a:r>
              <a:rPr lang="en-US" altLang="ko-Kore-KR" dirty="0"/>
              <a:t>   cache, but Thread B still sees </a:t>
            </a:r>
          </a:p>
          <a:p>
            <a:pPr marL="914400" lvl="2" indent="0">
              <a:buNone/>
            </a:pPr>
            <a:r>
              <a:rPr lang="en-US" altLang="ko-Kore-KR" dirty="0"/>
              <a:t>   the old value in RAM.</a:t>
            </a:r>
          </a:p>
          <a:p>
            <a:pPr lvl="1"/>
            <a:r>
              <a:rPr kumimoji="1" lang="en-US" altLang="ko-Kore-KR" b="1" dirty="0"/>
              <a:t>Ordering </a:t>
            </a:r>
            <a:r>
              <a:rPr kumimoji="1" lang="en-US" altLang="ko-Kore-KR" dirty="0"/>
              <a:t> </a:t>
            </a:r>
          </a:p>
          <a:p>
            <a:pPr lvl="2"/>
            <a:r>
              <a:rPr lang="en-US" altLang="ko-Kore-KR" dirty="0"/>
              <a:t>Thread B sees Thread A's operations in a different order than they were written.</a:t>
            </a:r>
            <a:endParaRPr kumimoji="1" lang="ko-Kore-KR" altLang="en-US" dirty="0"/>
          </a:p>
          <a:p>
            <a:endParaRPr kumimoji="1" lang="ko-Kore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3C2F2C8-C948-324B-0ACA-55617F0508D8}"/>
              </a:ext>
            </a:extLst>
          </p:cNvPr>
          <p:cNvSpPr/>
          <p:nvPr/>
        </p:nvSpPr>
        <p:spPr>
          <a:xfrm>
            <a:off x="6300192" y="2285999"/>
            <a:ext cx="2736304" cy="143103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57150">
            <a:solidFill>
              <a:srgbClr val="938F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boolean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flag = false;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Thread A: flag = true;</a:t>
            </a:r>
          </a:p>
          <a:p>
            <a:pPr>
              <a:lnSpc>
                <a:spcPct val="120000"/>
              </a:lnSpc>
            </a:pP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Thread B: while (!flag) {}  </a:t>
            </a:r>
          </a:p>
          <a:p>
            <a:pPr>
              <a:lnSpc>
                <a:spcPct val="120000"/>
              </a:lnSpc>
            </a:pP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// may loop forever!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사각형: 둥근 모서리 5">
            <a:extLst>
              <a:ext uri="{FF2B5EF4-FFF2-40B4-BE49-F238E27FC236}">
                <a16:creationId xmlns:a16="http://schemas.microsoft.com/office/drawing/2014/main" id="{46E1577C-13A5-D171-7F16-F7D620E727E4}"/>
              </a:ext>
            </a:extLst>
          </p:cNvPr>
          <p:cNvSpPr/>
          <p:nvPr/>
        </p:nvSpPr>
        <p:spPr>
          <a:xfrm>
            <a:off x="908506" y="5257800"/>
            <a:ext cx="3898776" cy="1325562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57150">
            <a:solidFill>
              <a:srgbClr val="938F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Apple SD Gothic Neo" panose="02000300000000000000" pitchFamily="2" charset="-127"/>
                <a:cs typeface="Courier New" panose="02070309020205020404" pitchFamily="49" charset="0"/>
              </a:rPr>
              <a:t>int x = 0, y = 0;</a:t>
            </a:r>
          </a:p>
          <a:p>
            <a:pPr>
              <a:lnSpc>
                <a:spcPct val="120000"/>
              </a:lnSpc>
            </a:pP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Thread A: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Apple SD Gothic Neo" panose="02000300000000000000" pitchFamily="2" charset="-127"/>
                <a:cs typeface="Courier New" panose="02070309020205020404" pitchFamily="49" charset="0"/>
              </a:rPr>
              <a:t>x = 1; r1 = y;</a:t>
            </a:r>
          </a:p>
          <a:p>
            <a:pPr>
              <a:lnSpc>
                <a:spcPct val="120000"/>
              </a:lnSpc>
            </a:pP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Thread B: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Apple SD Gothic Neo" panose="02000300000000000000" pitchFamily="2" charset="-127"/>
                <a:cs typeface="Courier New" panose="02070309020205020404" pitchFamily="49" charset="0"/>
              </a:rPr>
              <a:t>y = 1; r2 = x;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사각형: 둥근 모서리 5">
            <a:extLst>
              <a:ext uri="{FF2B5EF4-FFF2-40B4-BE49-F238E27FC236}">
                <a16:creationId xmlns:a16="http://schemas.microsoft.com/office/drawing/2014/main" id="{DA85D771-877E-0D29-22B7-2704C1A7C7AE}"/>
              </a:ext>
            </a:extLst>
          </p:cNvPr>
          <p:cNvSpPr/>
          <p:nvPr/>
        </p:nvSpPr>
        <p:spPr>
          <a:xfrm>
            <a:off x="4962872" y="5157192"/>
            <a:ext cx="3898776" cy="1656184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57150">
            <a:solidFill>
              <a:srgbClr val="938F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b="1" u="sng" dirty="0">
                <a:solidFill>
                  <a:srgbClr val="7030A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possible result:</a:t>
            </a:r>
          </a:p>
          <a:p>
            <a:pPr>
              <a:lnSpc>
                <a:spcPct val="120000"/>
              </a:lnSpc>
            </a:pPr>
            <a:endParaRPr lang="en-US" altLang="ko-KR" sz="1400" b="1" u="sng" dirty="0">
              <a:solidFill>
                <a:srgbClr val="7030A0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Apple SD Gothic Neo" panose="02000300000000000000" pitchFamily="2" charset="-127"/>
                <a:cs typeface="Courier New" panose="02070309020205020404" pitchFamily="49" charset="0"/>
              </a:rPr>
              <a:t>r1 = 0, r2 = 0  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❗ (due to reordering)</a:t>
            </a:r>
          </a:p>
          <a:p>
            <a:pPr>
              <a:lnSpc>
                <a:spcPct val="120000"/>
              </a:lnSpc>
            </a:pP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400" b="1" u="sng" dirty="0">
                <a:solidFill>
                  <a:srgbClr val="7030A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(this looks impossible, but JMM allows it unless synchronization is used)</a:t>
            </a:r>
          </a:p>
        </p:txBody>
      </p:sp>
    </p:spTree>
    <p:extLst>
      <p:ext uri="{BB962C8B-B14F-4D97-AF65-F5344CB8AC3E}">
        <p14:creationId xmlns:p14="http://schemas.microsoft.com/office/powerpoint/2010/main" val="3370544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B54192-7B72-258D-6A40-D447FD11C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Happens-Before Relationship</a:t>
            </a:r>
            <a:br>
              <a:rPr kumimoji="1" lang="en-US" altLang="ko-Kore-KR" b="1" u="sng" dirty="0"/>
            </a:br>
            <a:r>
              <a:rPr kumimoji="1" lang="en-US" altLang="ko-Kore-KR" sz="2800" b="1" u="sng" dirty="0"/>
              <a:t>(core concept of JMM)</a:t>
            </a:r>
            <a:endParaRPr kumimoji="1" lang="ko-Kore-KR" altLang="en-US" sz="2800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0F054A-3B95-C328-C25D-4A96CC8E5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795320" cy="4525963"/>
          </a:xfrm>
        </p:spPr>
        <p:txBody>
          <a:bodyPr/>
          <a:lstStyle/>
          <a:p>
            <a:r>
              <a:rPr lang="en-US" altLang="ko-Kore-KR" dirty="0"/>
              <a:t>Happens-before relationship guarantees</a:t>
            </a:r>
          </a:p>
          <a:p>
            <a:r>
              <a:rPr lang="en-US" altLang="ko-Kore-KR" b="1" dirty="0"/>
              <a:t>if Action A "happens-before" Action B,        then the results of A are visible to B</a:t>
            </a:r>
          </a:p>
          <a:p>
            <a:r>
              <a:rPr lang="en-US" altLang="ko-Kore-KR" b="1" dirty="0"/>
              <a:t>In JMM, "Happens-before"                         does not mean "happens before in time."</a:t>
            </a:r>
            <a:r>
              <a:rPr lang="en-US" altLang="ko-Kore-KR" dirty="0"/>
              <a:t> </a:t>
            </a:r>
          </a:p>
          <a:p>
            <a:pPr lvl="1"/>
            <a:r>
              <a:rPr lang="en-US" altLang="ko-Kore-KR" sz="2400" dirty="0"/>
              <a:t>It is a guarantee of </a:t>
            </a:r>
            <a:r>
              <a:rPr lang="en-US" altLang="ko-Kore-KR" sz="2400" b="1" dirty="0"/>
              <a:t>visibility</a:t>
            </a:r>
            <a:r>
              <a:rPr lang="en-US" altLang="ko-Kore-KR" sz="2400" dirty="0"/>
              <a:t> and </a:t>
            </a:r>
            <a:r>
              <a:rPr lang="en-US" altLang="ko-Kore-KR" sz="2400" b="1" dirty="0"/>
              <a:t>logical consistency</a:t>
            </a:r>
            <a:r>
              <a:rPr lang="en-US" altLang="ko-Kore-KR" sz="2400" dirty="0"/>
              <a:t>, not a physical restriction on the CPU's execution order</a:t>
            </a:r>
            <a:endParaRPr lang="en-US" altLang="ko-Kore-KR" sz="2400" b="1" dirty="0"/>
          </a:p>
        </p:txBody>
      </p:sp>
      <p:sp>
        <p:nvSpPr>
          <p:cNvPr id="4" name="사각형: 둥근 모서리 5">
            <a:extLst>
              <a:ext uri="{FF2B5EF4-FFF2-40B4-BE49-F238E27FC236}">
                <a16:creationId xmlns:a16="http://schemas.microsoft.com/office/drawing/2014/main" id="{26D6B5D9-93F7-9DA7-D6FA-BC77D8E98ECD}"/>
              </a:ext>
            </a:extLst>
          </p:cNvPr>
          <p:cNvSpPr/>
          <p:nvPr/>
        </p:nvSpPr>
        <p:spPr>
          <a:xfrm>
            <a:off x="251520" y="5617840"/>
            <a:ext cx="2818656" cy="69148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57150">
            <a:solidFill>
              <a:srgbClr val="938F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Apple SD Gothic Neo" panose="02000300000000000000" pitchFamily="2" charset="-127"/>
                <a:cs typeface="Courier New" panose="02070309020205020404" pitchFamily="49" charset="0"/>
              </a:rPr>
              <a:t>A happens-before B</a:t>
            </a:r>
            <a:endParaRPr lang="en-US" altLang="ko-KR" b="1" dirty="0">
              <a:solidFill>
                <a:schemeClr val="tx1">
                  <a:lumMod val="85000"/>
                  <a:lumOff val="1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사각형: 둥근 모서리 5">
            <a:extLst>
              <a:ext uri="{FF2B5EF4-FFF2-40B4-BE49-F238E27FC236}">
                <a16:creationId xmlns:a16="http://schemas.microsoft.com/office/drawing/2014/main" id="{0AEF6280-5E38-925E-2842-5EBF18735C14}"/>
              </a:ext>
            </a:extLst>
          </p:cNvPr>
          <p:cNvSpPr/>
          <p:nvPr/>
        </p:nvSpPr>
        <p:spPr>
          <a:xfrm>
            <a:off x="4081216" y="5661248"/>
            <a:ext cx="4955280" cy="69148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57150">
            <a:solidFill>
              <a:srgbClr val="938F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Apple SD Gothic Neo" panose="02000300000000000000" pitchFamily="2" charset="-127"/>
                <a:cs typeface="Courier New" panose="02070309020205020404" pitchFamily="49" charset="0"/>
              </a:rPr>
              <a:t>A’s changes are visible to B</a:t>
            </a:r>
          </a:p>
          <a:p>
            <a:pPr>
              <a:lnSpc>
                <a:spcPct val="120000"/>
              </a:lnSpc>
            </a:pP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Apple SD Gothic Neo" panose="02000300000000000000" pitchFamily="2" charset="-127"/>
                <a:cs typeface="Courier New" panose="02070309020205020404" pitchFamily="49" charset="0"/>
              </a:rPr>
              <a:t>A’s execution is ordered before B</a:t>
            </a:r>
            <a:endParaRPr lang="en-US" altLang="ko-KR" b="1" dirty="0">
              <a:solidFill>
                <a:schemeClr val="tx1">
                  <a:lumMod val="85000"/>
                  <a:lumOff val="1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화살표: 오른쪽 6">
            <a:extLst>
              <a:ext uri="{FF2B5EF4-FFF2-40B4-BE49-F238E27FC236}">
                <a16:creationId xmlns:a16="http://schemas.microsoft.com/office/drawing/2014/main" id="{6D81F4B9-EEDF-0E2C-6CFA-6F241439C065}"/>
              </a:ext>
            </a:extLst>
          </p:cNvPr>
          <p:cNvSpPr/>
          <p:nvPr/>
        </p:nvSpPr>
        <p:spPr>
          <a:xfrm>
            <a:off x="3203848" y="5764126"/>
            <a:ext cx="671688" cy="398907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00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B3CA5F-EF32-8E60-4863-E397D2603EB9}"/>
              </a:ext>
            </a:extLst>
          </p:cNvPr>
          <p:cNvSpPr txBox="1"/>
          <p:nvPr/>
        </p:nvSpPr>
        <p:spPr>
          <a:xfrm>
            <a:off x="395536" y="522920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b="1" dirty="0"/>
              <a:t>If:</a:t>
            </a:r>
            <a:endParaRPr kumimoji="1" lang="ko-Kore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90A49-AFE1-310E-57F9-74C2E28DDD3D}"/>
              </a:ext>
            </a:extLst>
          </p:cNvPr>
          <p:cNvSpPr txBox="1"/>
          <p:nvPr/>
        </p:nvSpPr>
        <p:spPr>
          <a:xfrm>
            <a:off x="4139952" y="5229200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ore-KR" b="1" dirty="0"/>
              <a:t>Then:</a:t>
            </a:r>
            <a:endParaRPr kumimoji="1" lang="ko-Kore-KR" altLang="en-US" b="1" dirty="0"/>
          </a:p>
        </p:txBody>
      </p:sp>
    </p:spTree>
    <p:extLst>
      <p:ext uri="{BB962C8B-B14F-4D97-AF65-F5344CB8AC3E}">
        <p14:creationId xmlns:p14="http://schemas.microsoft.com/office/powerpoint/2010/main" val="952143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1E079A-6D93-2460-F8E8-4A8021703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Happens-Before Rules</a:t>
            </a:r>
            <a:br>
              <a:rPr kumimoji="1" lang="en-US" altLang="ko-Kore-KR" b="1" u="sng" dirty="0"/>
            </a:br>
            <a:r>
              <a:rPr kumimoji="1" lang="en-US" altLang="ko-Kore-KR" sz="2800" b="1" u="sng" dirty="0"/>
              <a:t>guaranteed in JMM</a:t>
            </a:r>
            <a:endParaRPr kumimoji="1" lang="ko-Kore-KR" altLang="en-US" sz="2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A2053D-9585-7185-761F-953E22645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795320" cy="4525963"/>
          </a:xfrm>
        </p:spPr>
        <p:txBody>
          <a:bodyPr/>
          <a:lstStyle/>
          <a:p>
            <a:r>
              <a:rPr lang="en-US" altLang="ko-Kore-KR" b="1" dirty="0"/>
              <a:t>A. Program Order Rule</a:t>
            </a:r>
          </a:p>
          <a:p>
            <a:r>
              <a:rPr lang="en-US" altLang="ko-Kore-KR" b="1" dirty="0"/>
              <a:t>B. Monitor Lock Rule</a:t>
            </a:r>
          </a:p>
          <a:p>
            <a:r>
              <a:rPr lang="en-US" altLang="ko-Kore-KR" b="1" dirty="0"/>
              <a:t>C. Volatile Variable Rule (+ atomic variables)</a:t>
            </a:r>
          </a:p>
          <a:p>
            <a:r>
              <a:rPr lang="en-US" altLang="ko-Kore-KR" b="1" dirty="0"/>
              <a:t>D. Thread Start/Termination Rule</a:t>
            </a:r>
          </a:p>
          <a:p>
            <a:r>
              <a:rPr lang="en-US" altLang="ko-Kore-KR" b="1" dirty="0"/>
              <a:t>E. Transitivity Rule</a:t>
            </a:r>
            <a:endParaRPr lang="en-US" altLang="ko-Kore-KR" b="1" dirty="0">
              <a:effectLst/>
              <a:latin typeface="Google Sans"/>
            </a:endParaRPr>
          </a:p>
          <a:p>
            <a:endParaRPr lang="en-US" altLang="ko-Kore-KR" b="1" dirty="0"/>
          </a:p>
          <a:p>
            <a:endParaRPr lang="en-US" altLang="ko-Kore-KR" b="1" dirty="0"/>
          </a:p>
          <a:p>
            <a:endParaRPr lang="en-US" altLang="ko-Kore-KR" b="1" dirty="0"/>
          </a:p>
          <a:p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72203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1E079A-6D93-2460-F8E8-4A8021703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b="1" u="sng" dirty="0"/>
              <a:t>A. Program Order Rule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A2053D-9585-7185-761F-953E22645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ore-KR" u="sng" dirty="0"/>
              <a:t>Within a single thread, </a:t>
            </a:r>
          </a:p>
          <a:p>
            <a:pPr marL="0" indent="0">
              <a:buNone/>
            </a:pPr>
            <a:r>
              <a:rPr lang="en-US" altLang="ko-Kore-KR" dirty="0"/>
              <a:t>   each action </a:t>
            </a:r>
            <a:r>
              <a:rPr lang="en-US" altLang="ko-Kore-KR" b="1" i="1" dirty="0"/>
              <a:t>happens-before</a:t>
            </a:r>
            <a:r>
              <a:rPr lang="en-US" altLang="ko-Kore-KR" dirty="0"/>
              <a:t> every action</a:t>
            </a:r>
          </a:p>
          <a:p>
            <a:pPr marL="0" indent="0">
              <a:buNone/>
            </a:pPr>
            <a:r>
              <a:rPr lang="en-US" altLang="ko-Kore-KR" dirty="0"/>
              <a:t>   that comes later in the program order.</a:t>
            </a:r>
            <a:endParaRPr lang="en-US" altLang="ko-Kore-KR" b="1" dirty="0"/>
          </a:p>
          <a:p>
            <a:r>
              <a:rPr lang="en-US" altLang="ko-Kore-KR" b="1" dirty="0"/>
              <a:t>Meaning (As-If-Serial Semantics)</a:t>
            </a:r>
          </a:p>
          <a:p>
            <a:pPr lvl="1"/>
            <a:r>
              <a:rPr lang="en-US" altLang="ko-Kore-KR" dirty="0"/>
              <a:t>From the perspective of that single thread, the code behaves as if it's executed sequentially.</a:t>
            </a:r>
          </a:p>
          <a:p>
            <a:pPr lvl="1"/>
            <a:r>
              <a:rPr lang="en-US" altLang="ko-Kore-KR" dirty="0"/>
              <a:t>Reordering is Still Allowed </a:t>
            </a:r>
          </a:p>
          <a:p>
            <a:pPr lvl="2"/>
            <a:r>
              <a:rPr lang="en-US" altLang="ko-Kore-KR" dirty="0"/>
              <a:t>The JVM is allowed to physically reorder instructions even if a </a:t>
            </a:r>
            <a:r>
              <a:rPr lang="en-US" altLang="ko-Kore-KR" i="1" dirty="0"/>
              <a:t>happens-before</a:t>
            </a:r>
            <a:r>
              <a:rPr lang="en-US" altLang="ko-Kore-KR" dirty="0"/>
              <a:t> relationship exists, provided the reordering is </a:t>
            </a:r>
            <a:r>
              <a:rPr lang="en-US" altLang="ko-Kore-KR" b="1" dirty="0"/>
              <a:t>invisible to the thread</a:t>
            </a:r>
            <a:r>
              <a:rPr lang="en-US" altLang="ko-Kore-KR" dirty="0"/>
              <a:t>.</a:t>
            </a:r>
          </a:p>
          <a:p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105450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08E438-995F-6E1C-7F63-A45E6E411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b="1" u="sng" dirty="0"/>
              <a:t>B. Monitor Lock Rule</a:t>
            </a:r>
            <a:endParaRPr kumimoji="1" lang="ko-Kore-KR" altLang="en-US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1CE42E-F460-158A-6421-46F2FA359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/>
          <a:lstStyle/>
          <a:p>
            <a:r>
              <a:rPr lang="en-US" altLang="ko-Kore-KR" dirty="0"/>
              <a:t>An unlock on a monitor (leaving a synchronized block) </a:t>
            </a:r>
            <a:r>
              <a:rPr lang="en-US" altLang="ko-Kore-KR" b="1" i="1" dirty="0"/>
              <a:t>happens-before</a:t>
            </a:r>
            <a:r>
              <a:rPr lang="en-US" altLang="ko-Kore-KR" dirty="0"/>
              <a:t> every subsequent lock on that same monitor.</a:t>
            </a:r>
          </a:p>
          <a:p>
            <a:r>
              <a:rPr lang="en-US" altLang="ko-Kore-KR" b="1" dirty="0"/>
              <a:t>Guarantee</a:t>
            </a:r>
          </a:p>
          <a:p>
            <a:pPr lvl="1"/>
            <a:r>
              <a:rPr lang="en-US" altLang="ko-Kore-KR" sz="2400" dirty="0"/>
              <a:t>Everything a thread did while holding a lock is visible to the next thread that acquires the same lock.</a:t>
            </a:r>
          </a:p>
          <a:p>
            <a:endParaRPr kumimoji="1" lang="ko-Kore-KR" altLang="en-US" dirty="0"/>
          </a:p>
        </p:txBody>
      </p:sp>
      <p:sp>
        <p:nvSpPr>
          <p:cNvPr id="4" name="사각형: 둥근 모서리 5">
            <a:extLst>
              <a:ext uri="{FF2B5EF4-FFF2-40B4-BE49-F238E27FC236}">
                <a16:creationId xmlns:a16="http://schemas.microsoft.com/office/drawing/2014/main" id="{55A0DC04-365B-C219-5F20-058003A7FA08}"/>
              </a:ext>
            </a:extLst>
          </p:cNvPr>
          <p:cNvSpPr/>
          <p:nvPr/>
        </p:nvSpPr>
        <p:spPr>
          <a:xfrm>
            <a:off x="2555776" y="4392488"/>
            <a:ext cx="3528392" cy="2420888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57150">
            <a:solidFill>
              <a:srgbClr val="938F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Apple SD Gothic Neo" panose="02000300000000000000" pitchFamily="2" charset="-127"/>
                <a:cs typeface="Courier New" panose="02070309020205020404" pitchFamily="49" charset="0"/>
              </a:rPr>
              <a:t> synchronized(lock) {</a:t>
            </a:r>
          </a:p>
          <a:p>
            <a:pPr>
              <a:lnSpc>
                <a:spcPct val="120000"/>
              </a:lnSpc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Apple SD Gothic Neo" panose="02000300000000000000" pitchFamily="2" charset="-127"/>
                <a:cs typeface="Courier New" panose="02070309020205020404" pitchFamily="49" charset="0"/>
              </a:rPr>
              <a:t>     // A</a:t>
            </a:r>
          </a:p>
          <a:p>
            <a:pPr>
              <a:lnSpc>
                <a:spcPct val="120000"/>
              </a:lnSpc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Apple SD Gothic Neo" panose="02000300000000000000" pitchFamily="2" charset="-127"/>
                <a:cs typeface="Courier New" panose="02070309020205020404" pitchFamily="49" charset="0"/>
              </a:rPr>
              <a:t> }</a:t>
            </a:r>
          </a:p>
          <a:p>
            <a:pPr>
              <a:lnSpc>
                <a:spcPct val="120000"/>
              </a:lnSpc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Apple SD Gothic Neo" panose="02000300000000000000" pitchFamily="2" charset="-127"/>
                <a:cs typeface="Courier New" panose="02070309020205020404" pitchFamily="49" charset="0"/>
              </a:rPr>
              <a:t> // unlock</a:t>
            </a:r>
          </a:p>
          <a:p>
            <a:pPr>
              <a:lnSpc>
                <a:spcPct val="120000"/>
              </a:lnSpc>
            </a:pPr>
            <a:endParaRPr lang="en-US" altLang="ko-KR" sz="1600" b="1" dirty="0">
              <a:solidFill>
                <a:schemeClr val="tx1">
                  <a:lumMod val="85000"/>
                  <a:lumOff val="15000"/>
                </a:schemeClr>
              </a:solidFill>
              <a:latin typeface="Courier New" panose="02070309020205020404" pitchFamily="49" charset="0"/>
              <a:ea typeface="Apple SD Gothic Neo" panose="02000300000000000000" pitchFamily="2" charset="-127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Apple SD Gothic Neo" panose="02000300000000000000" pitchFamily="2" charset="-127"/>
                <a:cs typeface="Courier New" panose="02070309020205020404" pitchFamily="49" charset="0"/>
              </a:rPr>
              <a:t> synchronized(lock) {</a:t>
            </a:r>
          </a:p>
          <a:p>
            <a:pPr>
              <a:lnSpc>
                <a:spcPct val="120000"/>
              </a:lnSpc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Apple SD Gothic Neo" panose="02000300000000000000" pitchFamily="2" charset="-127"/>
                <a:cs typeface="Courier New" panose="02070309020205020404" pitchFamily="49" charset="0"/>
              </a:rPr>
              <a:t>     // B</a:t>
            </a:r>
          </a:p>
          <a:p>
            <a:pPr>
              <a:lnSpc>
                <a:spcPct val="120000"/>
              </a:lnSpc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Apple SD Gothic Neo" panose="02000300000000000000" pitchFamily="2" charset="-127"/>
                <a:cs typeface="Courier New" panose="02070309020205020404" pitchFamily="49" charset="0"/>
              </a:rPr>
              <a:t> }</a:t>
            </a:r>
            <a:endParaRPr lang="en-US" altLang="ko-KR" sz="1600" b="1" dirty="0">
              <a:solidFill>
                <a:schemeClr val="tx1">
                  <a:lumMod val="85000"/>
                  <a:lumOff val="1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240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100FF-7D77-9E83-99A2-72CCABE51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b="1" u="sng" dirty="0"/>
              <a:t>C. Volatile Variable Rule </a:t>
            </a:r>
            <a:br>
              <a:rPr lang="en-US" altLang="ko-Kore-KR" b="1" u="sng" dirty="0"/>
            </a:br>
            <a:r>
              <a:rPr lang="en-US" altLang="ko-Kore-KR" sz="2800" b="1" u="sng" dirty="0"/>
              <a:t>(+ atomic variables)</a:t>
            </a:r>
            <a:endParaRPr kumimoji="1" lang="ko-Kore-KR" altLang="en-US" sz="2800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3339AB-6701-E0B4-65E3-BC7F8E2AB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ore-KR" dirty="0"/>
              <a:t>A write to a volatile field </a:t>
            </a:r>
            <a:r>
              <a:rPr lang="en-US" altLang="ko-Kore-KR" i="1" dirty="0"/>
              <a:t>happens-before</a:t>
            </a:r>
            <a:r>
              <a:rPr lang="en-US" altLang="ko-Kore-KR" dirty="0"/>
              <a:t>   every subsequent read of that same field.</a:t>
            </a:r>
          </a:p>
          <a:p>
            <a:endParaRPr lang="en-US" altLang="ko-Kore-KR" dirty="0"/>
          </a:p>
          <a:p>
            <a:r>
              <a:rPr lang="en-US" altLang="ko-Kore-KR" b="1" dirty="0"/>
              <a:t>Guarantee</a:t>
            </a:r>
          </a:p>
          <a:p>
            <a:pPr lvl="1"/>
            <a:r>
              <a:rPr lang="en-US" altLang="ko-Kore-KR" b="1" dirty="0"/>
              <a:t>Rule 1:</a:t>
            </a:r>
            <a:r>
              <a:rPr lang="en-US" altLang="ko-Kore-KR" dirty="0"/>
              <a:t> Anything that happens </a:t>
            </a:r>
            <a:r>
              <a:rPr lang="en-US" altLang="ko-Kore-KR" i="1" dirty="0"/>
              <a:t>before</a:t>
            </a:r>
            <a:r>
              <a:rPr lang="en-US" altLang="ko-Kore-KR" dirty="0"/>
              <a:t> a volatile write in your code </a:t>
            </a:r>
            <a:r>
              <a:rPr lang="en-US" altLang="ko-Kore-KR" b="1" dirty="0"/>
              <a:t>cannot</a:t>
            </a:r>
            <a:r>
              <a:rPr lang="en-US" altLang="ko-Kore-KR" dirty="0"/>
              <a:t> be reordered to happen </a:t>
            </a:r>
            <a:r>
              <a:rPr lang="en-US" altLang="ko-Kore-KR" i="1" dirty="0"/>
              <a:t>after</a:t>
            </a:r>
            <a:r>
              <a:rPr lang="en-US" altLang="ko-Kore-KR" dirty="0"/>
              <a:t> it.</a:t>
            </a:r>
          </a:p>
          <a:p>
            <a:pPr lvl="1"/>
            <a:r>
              <a:rPr lang="en-US" altLang="ko-Kore-KR" b="1" dirty="0"/>
              <a:t>Rule 2:</a:t>
            </a:r>
            <a:r>
              <a:rPr lang="en-US" altLang="ko-Kore-KR" dirty="0"/>
              <a:t> Anything that happens </a:t>
            </a:r>
            <a:r>
              <a:rPr lang="en-US" altLang="ko-Kore-KR" i="1" dirty="0"/>
              <a:t>after</a:t>
            </a:r>
            <a:r>
              <a:rPr lang="en-US" altLang="ko-Kore-KR" dirty="0"/>
              <a:t> a volatile read in your code </a:t>
            </a:r>
            <a:r>
              <a:rPr lang="en-US" altLang="ko-Kore-KR" b="1" dirty="0"/>
              <a:t>cannot</a:t>
            </a:r>
            <a:r>
              <a:rPr lang="en-US" altLang="ko-Kore-KR" dirty="0"/>
              <a:t> be reordered to happen </a:t>
            </a:r>
            <a:r>
              <a:rPr lang="en-US" altLang="ko-Kore-KR" i="1" dirty="0"/>
              <a:t>before</a:t>
            </a:r>
            <a:r>
              <a:rPr lang="en-US" altLang="ko-Kore-KR" dirty="0"/>
              <a:t> it.</a:t>
            </a:r>
          </a:p>
          <a:p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860365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FECF2F-8040-6C85-0532-38F6256BA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사각형: 둥근 모서리 5">
            <a:extLst>
              <a:ext uri="{FF2B5EF4-FFF2-40B4-BE49-F238E27FC236}">
                <a16:creationId xmlns:a16="http://schemas.microsoft.com/office/drawing/2014/main" id="{7F89906F-3B74-03A5-6360-629DE7374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44624"/>
            <a:ext cx="8784976" cy="486720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57150">
            <a:solidFill>
              <a:srgbClr val="938F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ko-KR" sz="1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ReorderingDemo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 int data = 0;</a:t>
            </a:r>
          </a:p>
          <a:p>
            <a:pPr marL="0" indent="0">
              <a:buNone/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 volatile </a:t>
            </a:r>
            <a:r>
              <a:rPr lang="en-US" altLang="ko-KR" sz="1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ready = false; </a:t>
            </a:r>
          </a:p>
          <a:p>
            <a:pPr marL="0" indent="0">
              <a:buNone/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Note the volatile keyword</a:t>
            </a:r>
          </a:p>
          <a:p>
            <a:endParaRPr lang="en-US" altLang="ko-KR" sz="1600" b="1" dirty="0">
              <a:solidFill>
                <a:schemeClr val="tx1">
                  <a:lumMod val="85000"/>
                  <a:lumOff val="1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altLang="ko-KR" sz="1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writerThread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data = 42;        // (1) Normal Write</a:t>
            </a:r>
          </a:p>
          <a:p>
            <a:pPr marL="0" indent="0">
              <a:buNone/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ready = true;     // (2) Volatile Write (Release Barrier)</a:t>
            </a:r>
          </a:p>
          <a:p>
            <a:pPr marL="0" indent="0">
              <a:buNone/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altLang="ko-KR" sz="1600" b="1" dirty="0">
              <a:solidFill>
                <a:schemeClr val="tx1">
                  <a:lumMod val="85000"/>
                  <a:lumOff val="1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altLang="ko-KR" sz="1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readerThread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(ready) {      // (3) Volatile Read (Acquire Barrier)</a:t>
            </a:r>
          </a:p>
          <a:p>
            <a:pPr marL="0" indent="0">
              <a:buNone/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(data); // (4) Guaranteed to see 42</a:t>
            </a:r>
          </a:p>
          <a:p>
            <a:pPr marL="0" indent="0">
              <a:buNone/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97D565-30BE-A8A2-C11A-AA767AE5962B}"/>
              </a:ext>
            </a:extLst>
          </p:cNvPr>
          <p:cNvSpPr txBox="1"/>
          <p:nvPr/>
        </p:nvSpPr>
        <p:spPr>
          <a:xfrm>
            <a:off x="1" y="5024132"/>
            <a:ext cx="9324528" cy="175432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ore-KR" b="1" dirty="0"/>
              <a:t>Without volatile:</a:t>
            </a:r>
            <a:r>
              <a:rPr lang="en-US" altLang="ko-Kore-KR" dirty="0"/>
              <a:t> The compiler might flip (1) and (2) because they look independent. If ready becomes true before data is set to 42, the reader thread might print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ore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ore-KR" b="1" dirty="0"/>
              <a:t>With volatile:</a:t>
            </a:r>
            <a:r>
              <a:rPr lang="en-US" altLang="ko-Kore-KR" dirty="0"/>
              <a:t> Because (2) is a </a:t>
            </a:r>
            <a:r>
              <a:rPr lang="en-US" altLang="ko-Kore-KR" b="1" dirty="0"/>
              <a:t>Volatile Write</a:t>
            </a:r>
            <a:r>
              <a:rPr lang="en-US" altLang="ko-Kore-KR" dirty="0"/>
              <a:t>, the JMM guarantees that (1) stays above (2). Because (3) is a </a:t>
            </a:r>
            <a:r>
              <a:rPr lang="en-US" altLang="ko-Kore-KR" b="1" dirty="0"/>
              <a:t>Volatile Read</a:t>
            </a:r>
            <a:r>
              <a:rPr lang="en-US" altLang="ko-Kore-KR" dirty="0"/>
              <a:t>, it guarantees that (4) stays below (3)</a:t>
            </a:r>
          </a:p>
          <a:p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714646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846D44-F99A-7407-A7A3-490B64F11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Atomic operations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BE6ACA-125E-8D43-AD99-70B9D33D5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/>
          <a:lstStyle/>
          <a:p>
            <a:r>
              <a:rPr lang="en-US" altLang="ko-Kore-KR" b="1" dirty="0"/>
              <a:t>good for creating happens-before           relationships in high-performance code.</a:t>
            </a:r>
            <a:r>
              <a:rPr lang="en-US" altLang="ko-Kore-KR" dirty="0"/>
              <a:t> </a:t>
            </a:r>
          </a:p>
          <a:p>
            <a:endParaRPr lang="en-US" altLang="ko-Kore-KR" dirty="0"/>
          </a:p>
          <a:p>
            <a:r>
              <a:rPr lang="en-US" altLang="ko-Kore-KR" dirty="0"/>
              <a:t>provide </a:t>
            </a:r>
          </a:p>
          <a:p>
            <a:pPr lvl="1"/>
            <a:r>
              <a:rPr lang="en-US" altLang="ko-Kore-KR" b="1" dirty="0"/>
              <a:t>visibility of </a:t>
            </a:r>
            <a:r>
              <a:rPr lang="en-US" altLang="ko-Kore-KR" b="1" dirty="0">
                <a:latin typeface="Courier New" panose="02070309020205020404" pitchFamily="49" charset="0"/>
                <a:cs typeface="Courier New" panose="02070309020205020404" pitchFamily="49" charset="0"/>
              </a:rPr>
              <a:t>volatile</a:t>
            </a:r>
            <a:r>
              <a:rPr lang="en-US" altLang="ko-Kore-KR" dirty="0"/>
              <a:t> </a:t>
            </a:r>
          </a:p>
          <a:p>
            <a:pPr lvl="1"/>
            <a:r>
              <a:rPr lang="en-US" altLang="ko-Kore-KR" b="1" dirty="0"/>
              <a:t>thread-safety of </a:t>
            </a:r>
            <a:r>
              <a:rPr lang="en-US" altLang="ko-Kore-KR" b="1" dirty="0"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ko-Kore-KR" b="1" dirty="0"/>
              <a:t> </a:t>
            </a:r>
          </a:p>
          <a:p>
            <a:pPr marL="457200" lvl="1" indent="0">
              <a:buNone/>
            </a:pPr>
            <a:r>
              <a:rPr lang="en-US" altLang="ko-Kore-KR" dirty="0"/>
              <a:t>without putting thread into "blocked" or "waiting" state.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611600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49C3E6-4F36-D446-FA43-9928E050A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sz="3600" b="1" u="sng" dirty="0"/>
              <a:t>D. Thread Start/Termination Rules</a:t>
            </a:r>
            <a:endParaRPr kumimoji="1" lang="ko-Kore-KR" altLang="en-US" sz="3600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2FCF4B-1B9B-CE0E-9337-58775024C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altLang="ko-Kore-KR" b="1" dirty="0"/>
          </a:p>
          <a:p>
            <a:r>
              <a:rPr lang="en-US" altLang="ko-Kore-KR" b="1" dirty="0" err="1"/>
              <a:t>Thread.start</a:t>
            </a:r>
            <a:r>
              <a:rPr lang="en-US" altLang="ko-Kore-KR" b="1" dirty="0"/>
              <a:t>()</a:t>
            </a:r>
          </a:p>
          <a:p>
            <a:pPr lvl="1"/>
            <a:r>
              <a:rPr lang="en-US" altLang="ko-Kore-KR" dirty="0"/>
              <a:t>A call to </a:t>
            </a:r>
            <a:r>
              <a:rPr lang="en-US" altLang="ko-Kore-KR" dirty="0" err="1"/>
              <a:t>Thread.start</a:t>
            </a:r>
            <a:r>
              <a:rPr lang="en-US" altLang="ko-Kore-KR" dirty="0"/>
              <a:t>() </a:t>
            </a:r>
            <a:r>
              <a:rPr lang="en-US" altLang="ko-Kore-KR" i="1" dirty="0"/>
              <a:t>happens-before</a:t>
            </a:r>
            <a:r>
              <a:rPr lang="en-US" altLang="ko-Kore-KR" dirty="0"/>
              <a:t> any    action in the started thread.</a:t>
            </a:r>
          </a:p>
          <a:p>
            <a:pPr lvl="1"/>
            <a:r>
              <a:rPr lang="en-US" altLang="ko-Kore-KR" dirty="0"/>
              <a:t>All actions before start() are visible inside the new thread</a:t>
            </a:r>
          </a:p>
          <a:p>
            <a:endParaRPr lang="en-US" altLang="ko-Kore-KR" b="1" dirty="0"/>
          </a:p>
          <a:p>
            <a:r>
              <a:rPr lang="en-US" altLang="ko-Kore-KR" b="1" dirty="0" err="1"/>
              <a:t>t.join</a:t>
            </a:r>
            <a:r>
              <a:rPr lang="en-US" altLang="ko-Kore-KR" b="1" dirty="0"/>
              <a:t>()</a:t>
            </a:r>
          </a:p>
          <a:p>
            <a:pPr lvl="1"/>
            <a:r>
              <a:rPr lang="en-US" altLang="ko-Kore-KR" dirty="0"/>
              <a:t>All actions in thread t are visible after join</a:t>
            </a:r>
          </a:p>
          <a:p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419816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C5282-1A2B-7703-67B9-AA3E9BA0A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sz="4400" b="1" u="sng" dirty="0"/>
              <a:t>E. Transitivity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3819ED-AA12-E397-C11E-3C036618A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ore-KR" dirty="0">
                <a:effectLst/>
                <a:latin typeface="Google Sans Text"/>
              </a:rPr>
              <a:t>If Action A </a:t>
            </a:r>
            <a:r>
              <a:rPr lang="en-US" altLang="ko-Kore-KR" i="1" dirty="0">
                <a:effectLst/>
                <a:latin typeface="Google Sans Text"/>
              </a:rPr>
              <a:t>happens-before</a:t>
            </a:r>
            <a:r>
              <a:rPr lang="en-US" altLang="ko-Kore-KR" dirty="0">
                <a:effectLst/>
                <a:latin typeface="Google Sans Text"/>
              </a:rPr>
              <a:t> Action B, and </a:t>
            </a:r>
          </a:p>
          <a:p>
            <a:pPr marL="0" indent="0">
              <a:buNone/>
            </a:pPr>
            <a:r>
              <a:rPr lang="en-US" altLang="ko-Kore-KR" dirty="0">
                <a:latin typeface="Google Sans Text"/>
              </a:rPr>
              <a:t>    </a:t>
            </a:r>
            <a:r>
              <a:rPr lang="en-US" altLang="ko-Kore-KR" dirty="0">
                <a:effectLst/>
                <a:latin typeface="Google Sans Text"/>
              </a:rPr>
              <a:t>Action B </a:t>
            </a:r>
            <a:r>
              <a:rPr lang="en-US" altLang="ko-Kore-KR" i="1" dirty="0">
                <a:effectLst/>
                <a:latin typeface="Google Sans Text"/>
              </a:rPr>
              <a:t>happens-before</a:t>
            </a:r>
            <a:r>
              <a:rPr lang="en-US" altLang="ko-Kore-KR" dirty="0">
                <a:effectLst/>
                <a:latin typeface="Google Sans Text"/>
              </a:rPr>
              <a:t> Action C, </a:t>
            </a:r>
          </a:p>
          <a:p>
            <a:pPr marL="0" indent="0">
              <a:buNone/>
            </a:pPr>
            <a:r>
              <a:rPr lang="en-US" altLang="ko-Kore-KR" dirty="0">
                <a:latin typeface="Google Sans Text"/>
              </a:rPr>
              <a:t>    </a:t>
            </a:r>
            <a:r>
              <a:rPr lang="en-US" altLang="ko-Kore-KR" dirty="0">
                <a:effectLst/>
                <a:latin typeface="Google Sans Text"/>
              </a:rPr>
              <a:t>then Action A </a:t>
            </a:r>
            <a:r>
              <a:rPr lang="en-US" altLang="ko-Kore-KR" i="1" dirty="0">
                <a:effectLst/>
                <a:latin typeface="Google Sans Text"/>
              </a:rPr>
              <a:t>happens-before</a:t>
            </a:r>
            <a:r>
              <a:rPr lang="en-US" altLang="ko-Kore-KR" dirty="0">
                <a:effectLst/>
                <a:latin typeface="Google Sans Text"/>
              </a:rPr>
              <a:t> Action C</a:t>
            </a:r>
          </a:p>
          <a:p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833416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87CA8D-2C54-CB60-6444-9150A9A01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Synchronization mechanisms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1794E0-5AF5-754C-9F71-BF7C07593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b="1" dirty="0"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kumimoji="1" lang="en-US" altLang="ko-Kore-KR" dirty="0"/>
              <a:t> (lock) guarantees</a:t>
            </a:r>
          </a:p>
          <a:p>
            <a:pPr lvl="1"/>
            <a:r>
              <a:rPr lang="en-US" altLang="ko-Kore-KR" dirty="0"/>
              <a:t>Mutual exclusion</a:t>
            </a:r>
          </a:p>
          <a:p>
            <a:pPr lvl="1"/>
            <a:r>
              <a:rPr kumimoji="1" lang="en-US" altLang="ko-Kore-KR" dirty="0"/>
              <a:t>Visibility</a:t>
            </a:r>
          </a:p>
          <a:p>
            <a:pPr lvl="1"/>
            <a:r>
              <a:rPr lang="en-US" altLang="ko-Kore-KR" dirty="0"/>
              <a:t>Ordering</a:t>
            </a:r>
          </a:p>
          <a:p>
            <a:r>
              <a:rPr kumimoji="1" lang="en-US" altLang="ko-Kore-KR" b="1" dirty="0">
                <a:latin typeface="Courier New" panose="02070309020205020404" pitchFamily="49" charset="0"/>
                <a:cs typeface="Courier New" panose="02070309020205020404" pitchFamily="49" charset="0"/>
              </a:rPr>
              <a:t>volatile</a:t>
            </a:r>
          </a:p>
          <a:p>
            <a:pPr lvl="1"/>
            <a:r>
              <a:rPr lang="en-US" altLang="ko-Kore-KR" dirty="0"/>
              <a:t>Visibility </a:t>
            </a:r>
          </a:p>
          <a:p>
            <a:pPr lvl="2"/>
            <a:r>
              <a:rPr lang="en-US" altLang="ko-Kore-KR" dirty="0"/>
              <a:t>Changes to a volatile variable are consistently      visible to all threads</a:t>
            </a:r>
          </a:p>
          <a:p>
            <a:pPr lvl="1"/>
            <a:r>
              <a:rPr kumimoji="1" lang="en-US" altLang="ko-Kore-KR" dirty="0"/>
              <a:t>Ordering (no reordering across volatile)</a:t>
            </a:r>
          </a:p>
          <a:p>
            <a:pPr lvl="1"/>
            <a:r>
              <a:rPr lang="en-US" altLang="ko-Kore-KR" dirty="0"/>
              <a:t>No atomicity</a:t>
            </a:r>
            <a:endParaRPr kumimoji="1" lang="en-US" altLang="ko-Kore-KR" dirty="0"/>
          </a:p>
          <a:p>
            <a:pPr lvl="1"/>
            <a:endParaRPr kumimoji="1" lang="ko-Kore-KR" altLang="en-US" dirty="0"/>
          </a:p>
        </p:txBody>
      </p:sp>
      <p:sp>
        <p:nvSpPr>
          <p:cNvPr id="4" name="사각형: 둥근 모서리 5">
            <a:extLst>
              <a:ext uri="{FF2B5EF4-FFF2-40B4-BE49-F238E27FC236}">
                <a16:creationId xmlns:a16="http://schemas.microsoft.com/office/drawing/2014/main" id="{B10FA093-8313-C0D9-A615-06A74BCEBCE7}"/>
              </a:ext>
            </a:extLst>
          </p:cNvPr>
          <p:cNvSpPr/>
          <p:nvPr/>
        </p:nvSpPr>
        <p:spPr>
          <a:xfrm>
            <a:off x="4139952" y="2132856"/>
            <a:ext cx="5004048" cy="1872208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57150">
            <a:solidFill>
              <a:srgbClr val="938F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synchronized(lock) {</a:t>
            </a:r>
          </a:p>
          <a:p>
            <a:pPr>
              <a:lnSpc>
                <a:spcPct val="120000"/>
              </a:lnSpc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sharedVar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>
              <a:lnSpc>
                <a:spcPct val="120000"/>
              </a:lnSpc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120000"/>
              </a:lnSpc>
            </a:pPr>
            <a:endParaRPr lang="en-US" altLang="ko-KR" sz="1600" b="1" dirty="0">
              <a:solidFill>
                <a:schemeClr val="tx1">
                  <a:lumMod val="85000"/>
                  <a:lumOff val="1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Courier New" panose="02070309020205020404" pitchFamily="49" charset="0"/>
              </a:rPr>
              <a:t>Flush working memory -&gt; main memory on exit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Courier New" panose="02070309020205020404" pitchFamily="49" charset="0"/>
              </a:rPr>
              <a:t>Reload from main memory on entry</a:t>
            </a:r>
          </a:p>
        </p:txBody>
      </p:sp>
    </p:spTree>
    <p:extLst>
      <p:ext uri="{BB962C8B-B14F-4D97-AF65-F5344CB8AC3E}">
        <p14:creationId xmlns:p14="http://schemas.microsoft.com/office/powerpoint/2010/main" val="1659527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834767-E485-ED0F-0024-AEF807D8D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Summary Table</a:t>
            </a:r>
            <a:endParaRPr kumimoji="1" lang="ko-Kore-KR" altLang="en-US" b="1" u="sng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1C382276-2DC2-173E-AC3E-A0E96F9673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6423210"/>
              </p:ext>
            </p:extLst>
          </p:nvPr>
        </p:nvGraphicFramePr>
        <p:xfrm>
          <a:off x="457200" y="1600200"/>
          <a:ext cx="8229600" cy="21234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407191004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9350418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10992778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198171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/>
                        <a:t>Feature</a:t>
                      </a:r>
                      <a:endParaRPr lang="ko-Kore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/>
                        <a:t>Visibility</a:t>
                      </a:r>
                      <a:endParaRPr lang="ko-Kore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/>
                        <a:t>Ordering</a:t>
                      </a:r>
                      <a:endParaRPr lang="ko-Kore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/>
                        <a:t>Atomicity</a:t>
                      </a:r>
                      <a:endParaRPr lang="ko-Kore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6986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/>
                        <a:t>Normal field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ko-Kore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ko-Kore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/>
                        <a:t>partial</a:t>
                      </a:r>
                      <a:endParaRPr lang="ko-Kore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140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/>
                        <a:t>volatile</a:t>
                      </a:r>
                      <a:endParaRPr lang="ko-Kore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/>
                        <a:t>O</a:t>
                      </a:r>
                      <a:endParaRPr lang="ko-Kore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/>
                        <a:t>O</a:t>
                      </a:r>
                      <a:endParaRPr lang="ko-Kore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ko-Kore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382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/>
                        <a:t>Synchronized </a:t>
                      </a:r>
                    </a:p>
                    <a:p>
                      <a:pPr algn="ctr"/>
                      <a:r>
                        <a:rPr lang="en-US" altLang="ko-Kore-KR" b="1" dirty="0"/>
                        <a:t>(lock)</a:t>
                      </a:r>
                      <a:endParaRPr lang="ko-Kore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/>
                        <a:t>O</a:t>
                      </a:r>
                      <a:endParaRPr lang="ko-Kore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/>
                        <a:t>O</a:t>
                      </a:r>
                      <a:endParaRPr lang="ko-Kore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/>
                        <a:t>O</a:t>
                      </a:r>
                      <a:endParaRPr lang="ko-Kore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022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/>
                        <a:t>Atomic variables</a:t>
                      </a:r>
                      <a:endParaRPr lang="ko-Kore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/>
                        <a:t>O</a:t>
                      </a:r>
                      <a:endParaRPr lang="ko-Kore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/>
                        <a:t>O</a:t>
                      </a:r>
                      <a:endParaRPr lang="ko-Kore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/>
                        <a:t>O</a:t>
                      </a:r>
                      <a:endParaRPr lang="ko-Kore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22385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B044DBA-64F0-129D-DF95-0AC93A85AA04}"/>
              </a:ext>
            </a:extLst>
          </p:cNvPr>
          <p:cNvSpPr txBox="1"/>
          <p:nvPr/>
        </p:nvSpPr>
        <p:spPr>
          <a:xfrm>
            <a:off x="467544" y="3933056"/>
            <a:ext cx="83529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ore-KR" sz="2000" dirty="0"/>
              <a:t>If you properly use synchronization methods </a:t>
            </a:r>
          </a:p>
          <a:p>
            <a:r>
              <a:rPr kumimoji="1" lang="en-US" altLang="ko-Kore-KR" sz="2000" dirty="0"/>
              <a:t>    (synchronized(lock), atomic variables, or volatile),</a:t>
            </a:r>
          </a:p>
          <a:p>
            <a:r>
              <a:rPr lang="en-US" altLang="ko-Kore-KR" sz="2000" dirty="0"/>
              <a:t>    when accessing shared data,</a:t>
            </a:r>
          </a:p>
          <a:p>
            <a:endParaRPr lang="en-US" altLang="ko-Kore-KR" sz="2000" dirty="0"/>
          </a:p>
          <a:p>
            <a:r>
              <a:rPr kumimoji="1" lang="en-US" altLang="ko-Kore-KR" sz="2000" dirty="0"/>
              <a:t>race condition problems, visibility problems, reordering problems </a:t>
            </a:r>
          </a:p>
          <a:p>
            <a:r>
              <a:rPr lang="en-US" altLang="ko-Kore-KR" sz="2000" dirty="0"/>
              <a:t>Can be solved.</a:t>
            </a:r>
            <a:endParaRPr kumimoji="1" lang="ko-Kore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15008528"/>
      </p:ext>
    </p:extLst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3457</TotalTime>
  <Words>1042</Words>
  <Application>Microsoft Macintosh PowerPoint</Application>
  <PresentationFormat>화면 슬라이드 쇼(4:3)</PresentationFormat>
  <Paragraphs>177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Apple SD Gothic Neo</vt:lpstr>
      <vt:lpstr>Google Sans</vt:lpstr>
      <vt:lpstr>Google Sans Text</vt:lpstr>
      <vt:lpstr>굴림</vt:lpstr>
      <vt:lpstr>맑은 고딕</vt:lpstr>
      <vt:lpstr>Arial</vt:lpstr>
      <vt:lpstr>Courier New</vt:lpstr>
      <vt:lpstr>Wingdings</vt:lpstr>
      <vt:lpstr>네모의 미</vt:lpstr>
      <vt:lpstr>Lecture 4-2 : JAVA Memory Model and volatile variable </vt:lpstr>
      <vt:lpstr>Java Memory Model</vt:lpstr>
      <vt:lpstr>Core Problems:  Why do we need JMM?</vt:lpstr>
      <vt:lpstr>Core Problems:  Why do we need JMM?</vt:lpstr>
      <vt:lpstr>Happens-Before Relationship (core concept of JMM)</vt:lpstr>
      <vt:lpstr>Happens-Before Rules guaranteed in JMM</vt:lpstr>
      <vt:lpstr>A. Program Order Rule</vt:lpstr>
      <vt:lpstr>B. Monitor Lock Rule</vt:lpstr>
      <vt:lpstr>C. Volatile Variable Rule  (+ atomic variables)</vt:lpstr>
      <vt:lpstr>PowerPoint 프레젠테이션</vt:lpstr>
      <vt:lpstr>Atomic operations</vt:lpstr>
      <vt:lpstr>D. Thread Start/Termination Rules</vt:lpstr>
      <vt:lpstr>E. Transitivity</vt:lpstr>
      <vt:lpstr>Synchronization mechanisms</vt:lpstr>
      <vt:lpstr>Summary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Microsoft Office User</cp:lastModifiedBy>
  <cp:revision>213</cp:revision>
  <dcterms:created xsi:type="dcterms:W3CDTF">2008-03-06T00:32:01Z</dcterms:created>
  <dcterms:modified xsi:type="dcterms:W3CDTF">2026-04-05T12:03:40Z</dcterms:modified>
</cp:coreProperties>
</file>