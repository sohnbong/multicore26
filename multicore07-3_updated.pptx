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notesMasterIdLst>
    <p:notesMasterId r:id="rId36"/>
  </p:notesMasterIdLst>
  <p:sldIdLst>
    <p:sldId id="346" r:id="rId2"/>
    <p:sldId id="391" r:id="rId3"/>
    <p:sldId id="392" r:id="rId4"/>
    <p:sldId id="393" r:id="rId5"/>
    <p:sldId id="422" r:id="rId6"/>
    <p:sldId id="423" r:id="rId7"/>
    <p:sldId id="427" r:id="rId8"/>
    <p:sldId id="428" r:id="rId9"/>
    <p:sldId id="394" r:id="rId10"/>
    <p:sldId id="395" r:id="rId11"/>
    <p:sldId id="425" r:id="rId12"/>
    <p:sldId id="424" r:id="rId13"/>
    <p:sldId id="396" r:id="rId14"/>
    <p:sldId id="397" r:id="rId15"/>
    <p:sldId id="398" r:id="rId16"/>
    <p:sldId id="399" r:id="rId17"/>
    <p:sldId id="426" r:id="rId18"/>
    <p:sldId id="400" r:id="rId19"/>
    <p:sldId id="401" r:id="rId20"/>
    <p:sldId id="402" r:id="rId21"/>
    <p:sldId id="403" r:id="rId22"/>
    <p:sldId id="405" r:id="rId23"/>
    <p:sldId id="406" r:id="rId24"/>
    <p:sldId id="407" r:id="rId25"/>
    <p:sldId id="408" r:id="rId26"/>
    <p:sldId id="409" r:id="rId27"/>
    <p:sldId id="410" r:id="rId28"/>
    <p:sldId id="411" r:id="rId29"/>
    <p:sldId id="419" r:id="rId30"/>
    <p:sldId id="412" r:id="rId31"/>
    <p:sldId id="414" r:id="rId32"/>
    <p:sldId id="415" r:id="rId33"/>
    <p:sldId id="416" r:id="rId34"/>
    <p:sldId id="418" r:id="rId35"/>
  </p:sldIdLst>
  <p:sldSz cx="9144000" cy="6858000" type="screen4x3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26"/>
  </p:normalViewPr>
  <p:slideViewPr>
    <p:cSldViewPr>
      <p:cViewPr varScale="1">
        <p:scale>
          <a:sx n="121" d="100"/>
          <a:sy n="121" d="100"/>
        </p:scale>
        <p:origin x="1896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B9B87F8-8185-CB41-B7ED-EC50801736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2F5C29B-3995-D74C-AEEE-86853EEF4EB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5864DF1-3BC1-AD44-B62A-0E1FEE1170A8}" type="datetimeFigureOut">
              <a:rPr lang="ko-KR" altLang="en-US"/>
              <a:pPr>
                <a:defRPr/>
              </a:pPr>
              <a:t>2025. 6. 4.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9B25C184-A853-EA4C-8D93-C337BCE6C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30" tIns="44115" rIns="88230" bIns="4411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C5629C92-2BA9-6E4E-97E1-21A934D13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88230" tIns="44115" rIns="88230" bIns="4411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C406FA-3212-BF4A-A89B-3570534F9D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31338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 anchor="b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276D4B-5C50-2745-8ED7-300BCA278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31338"/>
            <a:ext cx="2946400" cy="495300"/>
          </a:xfrm>
          <a:prstGeom prst="rect">
            <a:avLst/>
          </a:prstGeom>
        </p:spPr>
        <p:txBody>
          <a:bodyPr vert="horz" wrap="square" lIns="88230" tIns="44115" rIns="88230" bIns="44115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3E792BD3-63B5-9046-BD6E-64F0E1EE126A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CE50376D-0928-902D-849C-DBCA194C54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spcBef>
                <a:spcPct val="0"/>
              </a:spcBef>
            </a:pPr>
            <a:fld id="{A357F14D-8BE2-374B-B27F-1234AE94C5ED}" type="slidenum">
              <a:rPr lang="zh-CN" altLang="en-US"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zh-CN">
              <a:latin typeface="굴림" panose="020B0600000101010101" pitchFamily="34" charset="-127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D03CE598-AF7E-C33C-8F53-AAFD5EBDF3D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9F13E93-7358-7B31-D164-B65B22625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6463" y="4716463"/>
            <a:ext cx="4984750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Global, constant, and texture memory spaces are persistent across kernels called by the same application.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112B1466-942F-58AE-C3F9-B8BA339061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spcBef>
                <a:spcPct val="0"/>
              </a:spcBef>
            </a:pPr>
            <a:fld id="{0CC45801-EFF3-D245-92DA-3272A6CA2EB8}" type="slidenum">
              <a:rPr lang="zh-CN" altLang="en-US"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US" altLang="zh-CN">
              <a:latin typeface="굴림" panose="020B0600000101010101" pitchFamily="34" charset="-127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312AB4-0092-3598-9869-81AB90AA010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6754123-E48E-9B49-2D5D-E6184F835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C767121-9571-0729-8CB9-192A0F4A8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15E2DE12-5DE7-9186-E78D-CF1FFA2FD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6CD9402-EB0F-A33C-AEEA-55CA3C385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E54AF326-591E-6392-A65C-B35E28556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C1D54641-4805-77BC-1684-318B6AF46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6B48182B-7ADD-F76B-D41B-BC303621F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7C7CB699-AAAA-D278-1257-FBB86F00F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15408F65-EEC3-8309-C094-1923B9337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D86B4D10-A1EC-8F5F-D360-C21E1058F4A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EE490151-BDE6-A5BC-A46A-075BD0214DA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6BB09D8C-6FF3-756E-4F1D-F7E0F1D07EB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9DDE7334-021F-B90F-9598-5B0480CBC99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CD45BB10-8258-A801-CF59-23708E94513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F3BC2D83-2D89-DC7F-CF3B-9C6758E127F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A8AAFF75-5D85-139B-C946-A741664544A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D3019032-822F-F17E-707C-71465469312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090AC8E9-697F-0945-4AB5-6C60462FA98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0A9EBB27-E4C3-77FD-24E0-2D2334DA156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77094D31-2F11-459F-C49F-38D2578A3B4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55168134-6A55-FB74-D0E6-D0B2FBA7BD6D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95BACEEE-B605-FBEC-D058-BE3870DB64F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19F9EC86-4F68-8380-8D1B-A683C1415B8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F13D3AC3-8DEE-45AD-3ED8-E4C34C549D4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3CAE6F42-135A-F330-1A92-96CE683C108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F29A3FC0-8D4E-CBFE-005C-B7C29AF7C0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DC9371D3-0BB8-AFD1-0784-704FE5E776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0ACD3-54B9-5C49-851C-4B9759C7ED6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71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37EEAD57-DC39-85E3-C60F-F15C9E404A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C59A318B-E5B0-761C-ADFB-1487F8462C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5B5BF315-F16E-DAEA-C887-39D93C7738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04E4CB-2D1F-4645-B55F-92E4CBB7231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004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778DFD5-7B62-1C5B-0417-88E30C9606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D16AECF9-E9B6-4D52-42CD-C9FBA3C693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A4153FED-6840-CB15-DCE8-A3736A7A29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2E5EB9-8908-944D-8F4F-38E3522D053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8873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9C56E1B-F46A-F1FC-7F0E-2087065939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87E6D71F-54EA-0547-B682-8131FC2988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B34DC67B-6A74-0A94-1942-CBFC8D4458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4A8603-27B6-9040-AA0C-698E65CE8EC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886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AF21ED37-6BD9-25AF-8C31-ECFEAF141B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424BA311-0009-7F90-DDD9-C804C6BCB4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8BEA8D71-6567-2409-5EE4-92DA658C8F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C0D021-863C-CF4F-8B01-65FD9D792BA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36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965D174E-D473-3E06-8F8A-2ADBC036B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1B5CE0DD-5453-857A-9057-3DEBAC7217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C13EE563-C854-42EC-F0B2-28D7D15C4B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9DC7D0-0909-B645-BBBC-2148DE6E566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0945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00779F1E-1186-6DA0-996F-EFE6D2CA3B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82494FD8-6618-32F8-39BA-37ED3DA2E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74A09003-2A18-BE8E-34B2-6A02E6B6DD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1D2BE1-2EF0-C64E-B5E7-DA289B2C28B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589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C0DF333F-E79B-44D1-1DD3-E1C42FC4A6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AEFDDE6E-907B-BB82-7455-B05328FA0B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7284BE75-49AE-327C-9705-67A9A8686A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A2BCEE-5138-D243-95C2-5F35B1405E6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375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1BF03B91-3C02-D0C5-78E4-26A92B819D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19AC306D-BBD5-0C38-BDED-1BE7CE5D83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0EAFD68A-FC18-8F80-BF9A-2FDE013063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C247AE-58B7-224C-8E59-49297411907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827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68AA084-D74B-880A-3321-10667EEEC9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CF85E9C6-B156-EA48-58B1-B69FC1D196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04D0291B-EB2A-5B5D-CE52-F847F8CC48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24D8B4-2344-EE47-80F7-8F569460EA5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7530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6A3376AC-FBA7-E12E-C870-7D67D7EBA8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439573D-E941-A99C-CF14-7CE6CAFD86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684E65DA-B64E-53BD-7492-AB32046666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80B1AE-1DDA-A94E-A607-DED39B0E09B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70855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79908835-F70C-0D67-73C5-B72D34A0FE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C13E1853-2205-026D-4841-12A9E5772C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9C7ED2CD-02B8-D174-4885-C6691D6C7A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A99447-6A4B-6B4A-945D-7DEDE15892F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5092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제목 및 텍스트/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3058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8305800" cy="2209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5800" y="3886200"/>
            <a:ext cx="8305800" cy="2209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236133-E79E-3AA4-ECA7-865E67198B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0" y="6248400"/>
            <a:ext cx="3962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David Kirk/NVIDIA and Wen-mei W. Hwu, 2007</a:t>
            </a:r>
          </a:p>
          <a:p>
            <a:pPr>
              <a:defRPr/>
            </a:pPr>
            <a:r>
              <a:rPr lang="en-US" altLang="zh-CN"/>
              <a:t>ECE 498AL, University of Illinois, Urbana-Champaign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6B9D42-ACC7-2238-E541-F70F650B82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F2B82A4-B33B-EC48-B89A-E34FDD7301E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8319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제목 및 내용/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3058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8305800" cy="2209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5800" y="3886200"/>
            <a:ext cx="8305800" cy="2209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F8703A-EFAE-FD9B-9415-CB18D376B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0" y="6248400"/>
            <a:ext cx="3962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David Kirk/NVIDIA and Wen-mei W. Hwu, 2007</a:t>
            </a:r>
          </a:p>
          <a:p>
            <a:pPr>
              <a:defRPr/>
            </a:pPr>
            <a:r>
              <a:rPr lang="en-US" altLang="zh-CN"/>
              <a:t>ECE 498AL, University of Illinois, Urbana-Champaign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318CE2-4EE5-ECA8-3430-60504E1DE2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0555B40-44F8-7D40-A72F-B2F1B3CCD45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063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F16D298C-EA7E-1E26-D2E1-36793D412D1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CD107053-A83B-7A13-93B9-58580BE5E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3" name="Rectangle 4">
              <a:extLst>
                <a:ext uri="{FF2B5EF4-FFF2-40B4-BE49-F238E27FC236}">
                  <a16:creationId xmlns:a16="http://schemas.microsoft.com/office/drawing/2014/main" id="{32265C04-5986-3656-FB18-BE22F9CFA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B4ECC447-66A0-6A41-84A3-CE1F89565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825EB317-038C-8800-F700-0391C8398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3E5704CC-82DC-FBE7-5CC8-FEF3C56E7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C7DB8CB6-684C-0D68-14B2-E427BAD91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45E09BB4-3A24-0141-8824-F871F844E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9" name="Rectangle 10">
              <a:extLst>
                <a:ext uri="{FF2B5EF4-FFF2-40B4-BE49-F238E27FC236}">
                  <a16:creationId xmlns:a16="http://schemas.microsoft.com/office/drawing/2014/main" id="{14C1C44C-2916-B19C-617A-733F728BC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AA1E8EA0-CD42-FB41-BDB6-ED022E4FD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91C6526F-EBFB-A238-177A-D4225785F4E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2" name="Rectangle 13">
              <a:extLst>
                <a:ext uri="{FF2B5EF4-FFF2-40B4-BE49-F238E27FC236}">
                  <a16:creationId xmlns:a16="http://schemas.microsoft.com/office/drawing/2014/main" id="{8F8A9EAA-244E-CDB4-AE2F-A348C4F27E5F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3" name="Line 14">
              <a:extLst>
                <a:ext uri="{FF2B5EF4-FFF2-40B4-BE49-F238E27FC236}">
                  <a16:creationId xmlns:a16="http://schemas.microsoft.com/office/drawing/2014/main" id="{DFEA9714-3590-793D-2EFE-9B326921A91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4" name="Line 15">
              <a:extLst>
                <a:ext uri="{FF2B5EF4-FFF2-40B4-BE49-F238E27FC236}">
                  <a16:creationId xmlns:a16="http://schemas.microsoft.com/office/drawing/2014/main" id="{45D48D77-8A15-F89E-C66C-D72313EAE40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5" name="Line 16">
              <a:extLst>
                <a:ext uri="{FF2B5EF4-FFF2-40B4-BE49-F238E27FC236}">
                  <a16:creationId xmlns:a16="http://schemas.microsoft.com/office/drawing/2014/main" id="{45C84546-3D9D-8CAA-AB62-8C7119E11E5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6" name="Line 17">
              <a:extLst>
                <a:ext uri="{FF2B5EF4-FFF2-40B4-BE49-F238E27FC236}">
                  <a16:creationId xmlns:a16="http://schemas.microsoft.com/office/drawing/2014/main" id="{53CBC668-BBC7-4E29-865F-3EA21402D1A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7" name="Line 18">
              <a:extLst>
                <a:ext uri="{FF2B5EF4-FFF2-40B4-BE49-F238E27FC236}">
                  <a16:creationId xmlns:a16="http://schemas.microsoft.com/office/drawing/2014/main" id="{7C770969-1550-385A-6A79-F05E75D6FDEC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8" name="Line 19">
              <a:extLst>
                <a:ext uri="{FF2B5EF4-FFF2-40B4-BE49-F238E27FC236}">
                  <a16:creationId xmlns:a16="http://schemas.microsoft.com/office/drawing/2014/main" id="{ADA8CB8D-274C-4222-7F82-6294DAA88AF6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9" name="Line 20">
              <a:extLst>
                <a:ext uri="{FF2B5EF4-FFF2-40B4-BE49-F238E27FC236}">
                  <a16:creationId xmlns:a16="http://schemas.microsoft.com/office/drawing/2014/main" id="{412B722F-8745-63FC-3A83-968106C88E2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0" name="Line 21">
              <a:extLst>
                <a:ext uri="{FF2B5EF4-FFF2-40B4-BE49-F238E27FC236}">
                  <a16:creationId xmlns:a16="http://schemas.microsoft.com/office/drawing/2014/main" id="{52842D8B-CCF4-EEDD-04F0-B2DDCF7FD8C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1" name="Line 22">
              <a:extLst>
                <a:ext uri="{FF2B5EF4-FFF2-40B4-BE49-F238E27FC236}">
                  <a16:creationId xmlns:a16="http://schemas.microsoft.com/office/drawing/2014/main" id="{0FA02B9F-5C0C-CEBB-31E9-EBB8E22372F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2" name="Line 23">
              <a:extLst>
                <a:ext uri="{FF2B5EF4-FFF2-40B4-BE49-F238E27FC236}">
                  <a16:creationId xmlns:a16="http://schemas.microsoft.com/office/drawing/2014/main" id="{4D3197C9-7B0D-47D2-2B5C-4732C015605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3" name="Line 24">
              <a:extLst>
                <a:ext uri="{FF2B5EF4-FFF2-40B4-BE49-F238E27FC236}">
                  <a16:creationId xmlns:a16="http://schemas.microsoft.com/office/drawing/2014/main" id="{8E19CCB4-1131-975E-CA8D-1D35DA244C4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4" name="Line 25">
              <a:extLst>
                <a:ext uri="{FF2B5EF4-FFF2-40B4-BE49-F238E27FC236}">
                  <a16:creationId xmlns:a16="http://schemas.microsoft.com/office/drawing/2014/main" id="{00983CAB-6C41-FE60-1031-F61F69A5BBB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5" name="Line 26">
              <a:extLst>
                <a:ext uri="{FF2B5EF4-FFF2-40B4-BE49-F238E27FC236}">
                  <a16:creationId xmlns:a16="http://schemas.microsoft.com/office/drawing/2014/main" id="{513E3C40-6FE9-56FA-A247-8F054184E377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780EC4D4-1668-6804-F9B4-8CF1786738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C90C3DB0-2DFD-1DFD-54DC-183C012BD3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7E240AE2-3290-5A4D-9B91-1F4B75DF2F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D2F5BFC6-1388-4443-BAAD-BF9ECA48EEB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08C0D83B-6D1C-FE43-987C-6E1713809AA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fld id="{9F498F1F-A44D-3048-8C55-CEAD3CEA41C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65" r:id="rId2"/>
    <p:sldLayoutId id="2147484166" r:id="rId3"/>
    <p:sldLayoutId id="2147484167" r:id="rId4"/>
    <p:sldLayoutId id="2147484168" r:id="rId5"/>
    <p:sldLayoutId id="2147484169" r:id="rId6"/>
    <p:sldLayoutId id="2147484170" r:id="rId7"/>
    <p:sldLayoutId id="2147484171" r:id="rId8"/>
    <p:sldLayoutId id="2147484172" r:id="rId9"/>
    <p:sldLayoutId id="2147484173" r:id="rId10"/>
    <p:sldLayoutId id="2147484174" r:id="rId11"/>
    <p:sldLayoutId id="2147484175" r:id="rId12"/>
    <p:sldLayoutId id="2147484177" r:id="rId13"/>
    <p:sldLayoutId id="2147484178" r:id="rId1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Relationship Id="rId9" Type="http://schemas.openxmlformats.org/officeDocument/2006/relationships/image" Target="../media/image1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CCAE9541-B22A-D84B-B054-FA9F59FC1C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3200" b="1"/>
              <a:t>Lecture 7-3 :</a:t>
            </a:r>
            <a:br>
              <a:rPr lang="en-US" altLang="ko-KR" sz="3200" b="1"/>
            </a:br>
            <a:r>
              <a:rPr lang="en-US" altLang="ko-KR" sz="3200" b="1"/>
              <a:t>CUDA Programming</a:t>
            </a:r>
          </a:p>
        </p:txBody>
      </p:sp>
      <p:sp>
        <p:nvSpPr>
          <p:cNvPr id="17410" name="직사각형 2">
            <a:extLst>
              <a:ext uri="{FF2B5EF4-FFF2-40B4-BE49-F238E27FC236}">
                <a16:creationId xmlns:a16="http://schemas.microsoft.com/office/drawing/2014/main" id="{8FDD8C2C-97FC-7099-B140-4E34CF4B2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6392863"/>
            <a:ext cx="53070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/>
              <a:t>Slide Courtesy : Dr. David Kirk and Dr. Wen-Mei Hwu and Mulphy Stein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9844389-9CD2-68C5-53B2-3AA8092D7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82000" cy="1066800"/>
          </a:xfrm>
        </p:spPr>
        <p:txBody>
          <a:bodyPr/>
          <a:lstStyle/>
          <a:p>
            <a:r>
              <a:rPr lang="en-US" altLang="zh-CN" sz="2800" b="1" u="sng">
                <a:ea typeface="宋体" panose="02010600030101010101" pitchFamily="2" charset="-122"/>
              </a:rPr>
              <a:t>CUDA Programming Model:</a:t>
            </a:r>
            <a:br>
              <a:rPr lang="en-US" altLang="zh-CN" sz="2800" b="1" u="sng">
                <a:ea typeface="宋体" panose="02010600030101010101" pitchFamily="2" charset="-122"/>
              </a:rPr>
            </a:br>
            <a:r>
              <a:rPr lang="en-US" altLang="zh-CN" sz="2800" b="1" u="sng">
                <a:ea typeface="宋体" panose="02010600030101010101" pitchFamily="2" charset="-122"/>
              </a:rPr>
              <a:t>A Highly Multithreaded Coprocessor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26D22C16-0314-162B-B2D2-C329E710E5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1138"/>
            <a:ext cx="8229600" cy="5005387"/>
          </a:xfrm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The GPU is viewed as a compute</a:t>
            </a: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 device </a:t>
            </a:r>
            <a:r>
              <a:rPr lang="en-US" altLang="zh-CN" sz="2400">
                <a:ea typeface="宋体" panose="02010600030101010101" pitchFamily="2" charset="-122"/>
              </a:rPr>
              <a:t>that: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Is a coprocessor to the CPU or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host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Has its own DRAM (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device memory</a:t>
            </a:r>
            <a:r>
              <a:rPr lang="en-US" altLang="zh-CN" sz="1800">
                <a:ea typeface="宋体" panose="02010600030101010101" pitchFamily="2" charset="-122"/>
              </a:rPr>
              <a:t>)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Runs many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threads</a:t>
            </a:r>
            <a:r>
              <a:rPr lang="en-US" altLang="zh-CN" sz="1800">
                <a:ea typeface="宋体" panose="02010600030101010101" pitchFamily="2" charset="-122"/>
              </a:rPr>
              <a:t>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in parallel</a:t>
            </a:r>
          </a:p>
          <a:p>
            <a:pPr marL="974725" lvl="1" indent="-403225">
              <a:lnSpc>
                <a:spcPct val="9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Data-parallel portions of an application are executed on the device as </a:t>
            </a: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kernels</a:t>
            </a:r>
            <a:r>
              <a:rPr lang="en-US" altLang="zh-CN" sz="2400">
                <a:ea typeface="宋体" panose="02010600030101010101" pitchFamily="2" charset="-122"/>
              </a:rPr>
              <a:t> which run in parallel on     many threads</a:t>
            </a:r>
          </a:p>
          <a:p>
            <a:pPr marL="457200" indent="-457200">
              <a:lnSpc>
                <a:spcPct val="90000"/>
              </a:lnSpc>
            </a:pPr>
            <a:endParaRPr lang="en-US" altLang="zh-CN" sz="240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Differences between GPU and CPU threads 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GPU threads are extremely lightweight</a:t>
            </a:r>
          </a:p>
          <a:p>
            <a:pPr marL="1431925" lvl="2" indent="-342900">
              <a:lnSpc>
                <a:spcPct val="90000"/>
              </a:lnSpc>
            </a:pPr>
            <a:r>
              <a:rPr lang="en-US" altLang="zh-CN" sz="1600">
                <a:ea typeface="宋体" panose="02010600030101010101" pitchFamily="2" charset="-122"/>
              </a:rPr>
              <a:t>Very little creation overhead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GPU needs 1000s of threads for full efficiency</a:t>
            </a:r>
          </a:p>
          <a:p>
            <a:pPr marL="1431925" lvl="2" indent="-342900">
              <a:lnSpc>
                <a:spcPct val="90000"/>
              </a:lnSpc>
            </a:pPr>
            <a:r>
              <a:rPr lang="en-US" altLang="zh-CN" sz="1600">
                <a:ea typeface="宋体" panose="02010600030101010101" pitchFamily="2" charset="-122"/>
              </a:rPr>
              <a:t>Multi-core CPU needs only a few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4912AEC0-E302-36F0-B460-A8B18D3BB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58200" cy="1066800"/>
          </a:xfrm>
        </p:spPr>
        <p:txBody>
          <a:bodyPr/>
          <a:lstStyle/>
          <a:p>
            <a:r>
              <a:rPr lang="en-US" altLang="zh-CN" sz="3200" b="1" u="sng">
                <a:ea typeface="宋体" panose="02010600030101010101" pitchFamily="2" charset="-122"/>
              </a:rPr>
              <a:t>Thread Batching: Grids and Blocks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FF99E8EF-B700-EB6E-774C-D26DCCBAF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00163"/>
            <a:ext cx="4495800" cy="5008562"/>
          </a:xfrm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A kernel is executed as a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grid of thread blocks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All threads share data memory space</a:t>
            </a:r>
          </a:p>
          <a:p>
            <a:pPr marL="457200" indent="-457200">
              <a:lnSpc>
                <a:spcPct val="90000"/>
              </a:lnSpc>
            </a:pPr>
            <a:endParaRPr lang="en-US" altLang="zh-CN" sz="200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A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thread block</a:t>
            </a:r>
            <a:r>
              <a:rPr lang="en-US" altLang="zh-CN" sz="2000">
                <a:ea typeface="宋体" panose="02010600030101010101" pitchFamily="2" charset="-122"/>
              </a:rPr>
              <a:t> is a batch of      threads that can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cooperate</a:t>
            </a:r>
            <a:r>
              <a:rPr lang="en-US" altLang="zh-CN" sz="2000">
                <a:ea typeface="宋体" panose="02010600030101010101" pitchFamily="2" charset="-122"/>
              </a:rPr>
              <a:t> with each other by: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Synchronizing their execution</a:t>
            </a:r>
          </a:p>
          <a:p>
            <a:pPr marL="1431925" lvl="2" indent="-342900">
              <a:lnSpc>
                <a:spcPct val="90000"/>
              </a:lnSpc>
            </a:pPr>
            <a:r>
              <a:rPr lang="en-US" altLang="zh-CN" sz="1600">
                <a:ea typeface="宋体" panose="02010600030101010101" pitchFamily="2" charset="-122"/>
              </a:rPr>
              <a:t>For shared memory accesses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Efficiently sharing data through a low latency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shared memory</a:t>
            </a:r>
            <a:endParaRPr lang="en-US" altLang="zh-CN" sz="180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</a:pPr>
            <a:endParaRPr lang="en-US" altLang="zh-CN" sz="200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Two threads from two different blocks cannot cooperate</a:t>
            </a:r>
          </a:p>
        </p:txBody>
      </p:sp>
      <p:grpSp>
        <p:nvGrpSpPr>
          <p:cNvPr id="19459" name="Group 4">
            <a:extLst>
              <a:ext uri="{FF2B5EF4-FFF2-40B4-BE49-F238E27FC236}">
                <a16:creationId xmlns:a16="http://schemas.microsoft.com/office/drawing/2014/main" id="{A629014E-5A8C-6D9A-FC88-A340BAB61511}"/>
              </a:ext>
            </a:extLst>
          </p:cNvPr>
          <p:cNvGrpSpPr>
            <a:grpSpLocks/>
          </p:cNvGrpSpPr>
          <p:nvPr/>
        </p:nvGrpSpPr>
        <p:grpSpPr bwMode="auto">
          <a:xfrm>
            <a:off x="5035550" y="1290638"/>
            <a:ext cx="4000500" cy="5307012"/>
            <a:chOff x="3034" y="690"/>
            <a:chExt cx="2555" cy="3390"/>
          </a:xfrm>
        </p:grpSpPr>
        <p:sp>
          <p:nvSpPr>
            <p:cNvPr id="19461" name="AutoShape 5">
              <a:extLst>
                <a:ext uri="{FF2B5EF4-FFF2-40B4-BE49-F238E27FC236}">
                  <a16:creationId xmlns:a16="http://schemas.microsoft.com/office/drawing/2014/main" id="{BD0D0FDC-F125-6382-9AFE-245C6AD3430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4" y="690"/>
              <a:ext cx="2555" cy="3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/>
            </a:p>
          </p:txBody>
        </p:sp>
        <p:sp>
          <p:nvSpPr>
            <p:cNvPr id="19462" name="Text Box 6">
              <a:extLst>
                <a:ext uri="{FF2B5EF4-FFF2-40B4-BE49-F238E27FC236}">
                  <a16:creationId xmlns:a16="http://schemas.microsoft.com/office/drawing/2014/main" id="{5D1F36A8-D39B-DE8C-1F74-C9080D014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7" y="693"/>
              <a:ext cx="671" cy="286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Host</a:t>
              </a:r>
              <a:endParaRPr lang="en-US" altLang="zh-CN" sz="18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63" name="Text Box 7">
              <a:extLst>
                <a:ext uri="{FF2B5EF4-FFF2-40B4-BE49-F238E27FC236}">
                  <a16:creationId xmlns:a16="http://schemas.microsoft.com/office/drawing/2014/main" id="{5ED6C495-7B23-C25F-E88A-0332B2327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9" y="1171"/>
              <a:ext cx="432" cy="336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Kernel 1</a:t>
              </a:r>
              <a:endParaRPr lang="en-US" altLang="zh-CN" sz="18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64" name="Text Box 8">
              <a:extLst>
                <a:ext uri="{FF2B5EF4-FFF2-40B4-BE49-F238E27FC236}">
                  <a16:creationId xmlns:a16="http://schemas.microsoft.com/office/drawing/2014/main" id="{1FA35A75-D3E3-0E1D-EB7C-9EE2F5E6D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5" y="2275"/>
              <a:ext cx="430" cy="334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Kernel 2</a:t>
              </a:r>
              <a:endParaRPr lang="en-US" altLang="zh-CN" sz="18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65" name="Line 9">
              <a:extLst>
                <a:ext uri="{FF2B5EF4-FFF2-40B4-BE49-F238E27FC236}">
                  <a16:creationId xmlns:a16="http://schemas.microsoft.com/office/drawing/2014/main" id="{F50FF57A-EB93-B22E-EAF1-960E6BD9D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8" y="1110"/>
              <a:ext cx="1" cy="1699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66" name="Text Box 10">
              <a:extLst>
                <a:ext uri="{FF2B5EF4-FFF2-40B4-BE49-F238E27FC236}">
                  <a16:creationId xmlns:a16="http://schemas.microsoft.com/office/drawing/2014/main" id="{0C1555AB-6C7C-EE61-5FC5-89C26180E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698"/>
              <a:ext cx="1759" cy="286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Device</a:t>
              </a:r>
              <a:endParaRPr lang="en-US" altLang="zh-CN" sz="18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9467" name="Group 11">
              <a:extLst>
                <a:ext uri="{FF2B5EF4-FFF2-40B4-BE49-F238E27FC236}">
                  <a16:creationId xmlns:a16="http://schemas.microsoft.com/office/drawing/2014/main" id="{4F84EBB8-D412-D4A9-F112-E8F853F90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7" y="957"/>
              <a:ext cx="1554" cy="1004"/>
              <a:chOff x="3820" y="4577"/>
              <a:chExt cx="4116" cy="2660"/>
            </a:xfrm>
          </p:grpSpPr>
          <p:sp>
            <p:nvSpPr>
              <p:cNvPr id="19522" name="Text Box 12">
                <a:extLst>
                  <a:ext uri="{FF2B5EF4-FFF2-40B4-BE49-F238E27FC236}">
                    <a16:creationId xmlns:a16="http://schemas.microsoft.com/office/drawing/2014/main" id="{FA829E43-52ED-235D-3B7B-8DBC4D7E87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0" y="4577"/>
                <a:ext cx="4116" cy="2660"/>
              </a:xfrm>
              <a:prstGeom prst="rect">
                <a:avLst/>
              </a:prstGeom>
              <a:solidFill>
                <a:srgbClr val="99FF66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fontAlgn="t" latinLnBrk="1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n"/>
                  <a:defRPr kumimoji="1" sz="3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1pPr>
                <a:lvl2pPr marL="742950" indent="-285750" fontAlgn="t" latinLnBrk="1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n"/>
                  <a:defRPr kumimoji="1" sz="26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2pPr>
                <a:lvl3pPr marL="1143000" indent="-228600" fontAlgn="t" latinLnBrk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kumimoji="1" sz="23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3pPr>
                <a:lvl4pPr marL="1600200" indent="-228600" fontAlgn="t" latinLnBrk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4pPr>
                <a:lvl5pPr marL="2057400" indent="-228600" fontAlgn="t" latinLnBrk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5pPr>
                <a:lvl6pPr marL="25146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6pPr>
                <a:lvl7pPr marL="29718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7pPr>
                <a:lvl8pPr marL="34290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8pPr>
                <a:lvl9pPr marL="38862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b="1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Grid 1</a:t>
                </a:r>
                <a:endParaRPr lang="en-US" altLang="zh-CN" sz="1800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9523" name="Group 13">
                <a:extLst>
                  <a:ext uri="{FF2B5EF4-FFF2-40B4-BE49-F238E27FC236}">
                    <a16:creationId xmlns:a16="http://schemas.microsoft.com/office/drawing/2014/main" id="{824CECBF-5682-7887-AD6D-A58A2B1933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5" y="5169"/>
                <a:ext cx="3785" cy="864"/>
                <a:chOff x="3997" y="5169"/>
                <a:chExt cx="3785" cy="864"/>
              </a:xfrm>
            </p:grpSpPr>
            <p:sp>
              <p:nvSpPr>
                <p:cNvPr id="19528" name="Text Box 14">
                  <a:extLst>
                    <a:ext uri="{FF2B5EF4-FFF2-40B4-BE49-F238E27FC236}">
                      <a16:creationId xmlns:a16="http://schemas.microsoft.com/office/drawing/2014/main" id="{FC339C77-ADA0-A864-F22E-2F4B23743C8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97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(0, 0)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29" name="Text Box 15">
                  <a:extLst>
                    <a:ext uri="{FF2B5EF4-FFF2-40B4-BE49-F238E27FC236}">
                      <a16:creationId xmlns:a16="http://schemas.microsoft.com/office/drawing/2014/main" id="{D2BD708D-5C78-526C-365A-F5ACD3B46D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99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(1, 0)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30" name="Text Box 16">
                  <a:extLst>
                    <a:ext uri="{FF2B5EF4-FFF2-40B4-BE49-F238E27FC236}">
                      <a16:creationId xmlns:a16="http://schemas.microsoft.com/office/drawing/2014/main" id="{57721411-7628-7C46-1568-00D891E2C3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01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(2, 0)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9524" name="Group 17">
                <a:extLst>
                  <a:ext uri="{FF2B5EF4-FFF2-40B4-BE49-F238E27FC236}">
                    <a16:creationId xmlns:a16="http://schemas.microsoft.com/office/drawing/2014/main" id="{CEBFD806-F9A6-52EE-918C-9102B83B82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5" y="6187"/>
                <a:ext cx="3785" cy="864"/>
                <a:chOff x="3997" y="5169"/>
                <a:chExt cx="3785" cy="864"/>
              </a:xfrm>
            </p:grpSpPr>
            <p:sp>
              <p:nvSpPr>
                <p:cNvPr id="19525" name="Text Box 18">
                  <a:extLst>
                    <a:ext uri="{FF2B5EF4-FFF2-40B4-BE49-F238E27FC236}">
                      <a16:creationId xmlns:a16="http://schemas.microsoft.com/office/drawing/2014/main" id="{286CFF7B-FC74-4681-D27E-B2028A5878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97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(0, 1)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26" name="Text Box 19">
                  <a:extLst>
                    <a:ext uri="{FF2B5EF4-FFF2-40B4-BE49-F238E27FC236}">
                      <a16:creationId xmlns:a16="http://schemas.microsoft.com/office/drawing/2014/main" id="{F4052564-4527-9DDF-7CFE-072A9726EC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99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(1, 1)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27" name="Text Box 20">
                  <a:extLst>
                    <a:ext uri="{FF2B5EF4-FFF2-40B4-BE49-F238E27FC236}">
                      <a16:creationId xmlns:a16="http://schemas.microsoft.com/office/drawing/2014/main" id="{5201E441-E909-9E47-20DE-9177B41498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01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(2, 1)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9468" name="Group 21">
              <a:extLst>
                <a:ext uri="{FF2B5EF4-FFF2-40B4-BE49-F238E27FC236}">
                  <a16:creationId xmlns:a16="http://schemas.microsoft.com/office/drawing/2014/main" id="{0B486FA4-A5DA-E7FA-5DB2-C8DFD0A5B5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1" y="2056"/>
              <a:ext cx="1306" cy="1416"/>
              <a:chOff x="4730" y="7615"/>
              <a:chExt cx="3458" cy="3752"/>
            </a:xfrm>
          </p:grpSpPr>
          <p:sp>
            <p:nvSpPr>
              <p:cNvPr id="19506" name="Text Box 22">
                <a:extLst>
                  <a:ext uri="{FF2B5EF4-FFF2-40B4-BE49-F238E27FC236}">
                    <a16:creationId xmlns:a16="http://schemas.microsoft.com/office/drawing/2014/main" id="{E8790C7F-B282-1B89-5238-2183575D90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30" y="7615"/>
                <a:ext cx="3458" cy="3752"/>
              </a:xfrm>
              <a:prstGeom prst="rect">
                <a:avLst/>
              </a:prstGeom>
              <a:solidFill>
                <a:srgbClr val="99FF66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fontAlgn="t" latinLnBrk="1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n"/>
                  <a:defRPr kumimoji="1" sz="3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1pPr>
                <a:lvl2pPr marL="742950" indent="-285750" fontAlgn="t" latinLnBrk="1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n"/>
                  <a:defRPr kumimoji="1" sz="26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2pPr>
                <a:lvl3pPr marL="1143000" indent="-228600" fontAlgn="t" latinLnBrk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kumimoji="1" sz="23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3pPr>
                <a:lvl4pPr marL="1600200" indent="-228600" fontAlgn="t" latinLnBrk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4pPr>
                <a:lvl5pPr marL="2057400" indent="-228600" fontAlgn="t" latinLnBrk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5pPr>
                <a:lvl6pPr marL="25146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6pPr>
                <a:lvl7pPr marL="29718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7pPr>
                <a:lvl8pPr marL="34290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8pPr>
                <a:lvl9pPr marL="38862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b="1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Grid 2</a:t>
                </a:r>
                <a:endParaRPr lang="en-US" altLang="zh-CN" sz="1800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9507" name="Group 23">
                <a:extLst>
                  <a:ext uri="{FF2B5EF4-FFF2-40B4-BE49-F238E27FC236}">
                    <a16:creationId xmlns:a16="http://schemas.microsoft.com/office/drawing/2014/main" id="{780E79B6-92BB-EDC1-868F-F1833B5741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02" y="8203"/>
                <a:ext cx="3114" cy="892"/>
                <a:chOff x="4391" y="8441"/>
                <a:chExt cx="3114" cy="892"/>
              </a:xfrm>
            </p:grpSpPr>
            <p:sp>
              <p:nvSpPr>
                <p:cNvPr id="19518" name="Text Box 24">
                  <a:extLst>
                    <a:ext uri="{FF2B5EF4-FFF2-40B4-BE49-F238E27FC236}">
                      <a16:creationId xmlns:a16="http://schemas.microsoft.com/office/drawing/2014/main" id="{E99563B6-9AAC-BE99-AC51-1396AC25E0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91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19" name="Text Box 25">
                  <a:extLst>
                    <a:ext uri="{FF2B5EF4-FFF2-40B4-BE49-F238E27FC236}">
                      <a16:creationId xmlns:a16="http://schemas.microsoft.com/office/drawing/2014/main" id="{31166179-2111-A880-302E-10AB951C51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9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20" name="Text Box 26">
                  <a:extLst>
                    <a:ext uri="{FF2B5EF4-FFF2-40B4-BE49-F238E27FC236}">
                      <a16:creationId xmlns:a16="http://schemas.microsoft.com/office/drawing/2014/main" id="{A1DB2378-CF31-8F28-E6E2-503301C5A8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07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21" name="Text Box 27">
                  <a:extLst>
                    <a:ext uri="{FF2B5EF4-FFF2-40B4-BE49-F238E27FC236}">
                      <a16:creationId xmlns:a16="http://schemas.microsoft.com/office/drawing/2014/main" id="{617A21CD-3031-D7DC-EDD6-0FE5FEA1A2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16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9508" name="Group 28">
                <a:extLst>
                  <a:ext uri="{FF2B5EF4-FFF2-40B4-BE49-F238E27FC236}">
                    <a16:creationId xmlns:a16="http://schemas.microsoft.com/office/drawing/2014/main" id="{9DA53128-DDA1-C529-5D0C-23C8263E0D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02" y="9253"/>
                <a:ext cx="3114" cy="892"/>
                <a:chOff x="4391" y="8441"/>
                <a:chExt cx="3114" cy="892"/>
              </a:xfrm>
            </p:grpSpPr>
            <p:sp>
              <p:nvSpPr>
                <p:cNvPr id="19514" name="Text Box 29">
                  <a:extLst>
                    <a:ext uri="{FF2B5EF4-FFF2-40B4-BE49-F238E27FC236}">
                      <a16:creationId xmlns:a16="http://schemas.microsoft.com/office/drawing/2014/main" id="{128C9868-F427-E6A4-3EE6-7A0BD7B04B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91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15" name="Text Box 30">
                  <a:extLst>
                    <a:ext uri="{FF2B5EF4-FFF2-40B4-BE49-F238E27FC236}">
                      <a16:creationId xmlns:a16="http://schemas.microsoft.com/office/drawing/2014/main" id="{2618DCB6-02A8-22D0-9072-FE288BE9A4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9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16" name="Text Box 31">
                  <a:extLst>
                    <a:ext uri="{FF2B5EF4-FFF2-40B4-BE49-F238E27FC236}">
                      <a16:creationId xmlns:a16="http://schemas.microsoft.com/office/drawing/2014/main" id="{FC262C64-1CB3-0EF8-5026-7AE1B6E508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07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17" name="Text Box 32">
                  <a:extLst>
                    <a:ext uri="{FF2B5EF4-FFF2-40B4-BE49-F238E27FC236}">
                      <a16:creationId xmlns:a16="http://schemas.microsoft.com/office/drawing/2014/main" id="{28AAE41F-2A60-221B-2879-B449D0031E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16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9509" name="Group 33">
                <a:extLst>
                  <a:ext uri="{FF2B5EF4-FFF2-40B4-BE49-F238E27FC236}">
                    <a16:creationId xmlns:a16="http://schemas.microsoft.com/office/drawing/2014/main" id="{7FD02D3D-13C0-8FD2-1AE8-0D415C8C43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02" y="10303"/>
                <a:ext cx="3114" cy="892"/>
                <a:chOff x="4391" y="8441"/>
                <a:chExt cx="3114" cy="892"/>
              </a:xfrm>
            </p:grpSpPr>
            <p:sp>
              <p:nvSpPr>
                <p:cNvPr id="19510" name="Text Box 34">
                  <a:extLst>
                    <a:ext uri="{FF2B5EF4-FFF2-40B4-BE49-F238E27FC236}">
                      <a16:creationId xmlns:a16="http://schemas.microsoft.com/office/drawing/2014/main" id="{D5C98578-294A-D656-3C8F-226D7D9B8C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91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11" name="Text Box 35">
                  <a:extLst>
                    <a:ext uri="{FF2B5EF4-FFF2-40B4-BE49-F238E27FC236}">
                      <a16:creationId xmlns:a16="http://schemas.microsoft.com/office/drawing/2014/main" id="{1D82C80B-0D80-8365-C581-2166AE1D7D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9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12" name="Text Box 36">
                  <a:extLst>
                    <a:ext uri="{FF2B5EF4-FFF2-40B4-BE49-F238E27FC236}">
                      <a16:creationId xmlns:a16="http://schemas.microsoft.com/office/drawing/2014/main" id="{C46425CC-DF41-EB3A-9BBB-4B73A30CC6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07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13" name="Text Box 37">
                  <a:extLst>
                    <a:ext uri="{FF2B5EF4-FFF2-40B4-BE49-F238E27FC236}">
                      <a16:creationId xmlns:a16="http://schemas.microsoft.com/office/drawing/2014/main" id="{11F57A35-FE6E-6778-A615-50F169DB58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16" y="8441"/>
                  <a:ext cx="689" cy="892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9469" name="Group 38">
              <a:extLst>
                <a:ext uri="{FF2B5EF4-FFF2-40B4-BE49-F238E27FC236}">
                  <a16:creationId xmlns:a16="http://schemas.microsoft.com/office/drawing/2014/main" id="{C71E0C56-2119-8C1E-A599-0BC90E3464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4" y="2782"/>
              <a:ext cx="1765" cy="1295"/>
              <a:chOff x="1972" y="8931"/>
              <a:chExt cx="4676" cy="3430"/>
            </a:xfrm>
          </p:grpSpPr>
          <p:sp>
            <p:nvSpPr>
              <p:cNvPr id="19478" name="Text Box 39">
                <a:extLst>
                  <a:ext uri="{FF2B5EF4-FFF2-40B4-BE49-F238E27FC236}">
                    <a16:creationId xmlns:a16="http://schemas.microsoft.com/office/drawing/2014/main" id="{02B84EBD-A4FB-0316-523D-C4E4CCA8FC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2" y="8931"/>
                <a:ext cx="4676" cy="3430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fontAlgn="t" latinLnBrk="1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n"/>
                  <a:defRPr kumimoji="1" sz="3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1pPr>
                <a:lvl2pPr marL="742950" indent="-285750" fontAlgn="t" latinLnBrk="1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n"/>
                  <a:defRPr kumimoji="1" sz="26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2pPr>
                <a:lvl3pPr marL="1143000" indent="-228600" fontAlgn="t" latinLnBrk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kumimoji="1" sz="23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3pPr>
                <a:lvl4pPr marL="1600200" indent="-228600" fontAlgn="t" latinLnBrk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4pPr>
                <a:lvl5pPr marL="2057400" indent="-228600" fontAlgn="t" latinLnBrk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5pPr>
                <a:lvl6pPr marL="25146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6pPr>
                <a:lvl7pPr marL="29718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7pPr>
                <a:lvl8pPr marL="34290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8pPr>
                <a:lvl9pPr marL="38862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b="1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Block (1, 1)</a:t>
                </a:r>
                <a:endParaRPr lang="en-US" altLang="zh-CN" sz="1800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9479" name="Group 40">
                <a:extLst>
                  <a:ext uri="{FF2B5EF4-FFF2-40B4-BE49-F238E27FC236}">
                    <a16:creationId xmlns:a16="http://schemas.microsoft.com/office/drawing/2014/main" id="{CA64138C-3878-A7F0-6CAA-6B56540E35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7" y="9559"/>
                <a:ext cx="4325" cy="2592"/>
                <a:chOff x="2630" y="11267"/>
                <a:chExt cx="4325" cy="2592"/>
              </a:xfrm>
            </p:grpSpPr>
            <p:grpSp>
              <p:nvGrpSpPr>
                <p:cNvPr id="19480" name="Group 41">
                  <a:extLst>
                    <a:ext uri="{FF2B5EF4-FFF2-40B4-BE49-F238E27FC236}">
                      <a16:creationId xmlns:a16="http://schemas.microsoft.com/office/drawing/2014/main" id="{318B3EF4-5859-16BB-2812-AB69EF19FFB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30" y="11267"/>
                  <a:ext cx="4325" cy="2592"/>
                  <a:chOff x="2160" y="10769"/>
                  <a:chExt cx="4325" cy="2592"/>
                </a:xfrm>
              </p:grpSpPr>
              <p:sp>
                <p:nvSpPr>
                  <p:cNvPr id="19499" name="Rectangle 42">
                    <a:extLst>
                      <a:ext uri="{FF2B5EF4-FFF2-40B4-BE49-F238E27FC236}">
                        <a16:creationId xmlns:a16="http://schemas.microsoft.com/office/drawing/2014/main" id="{21B60838-6FDF-633C-C2E1-F7DEA7F47E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60" y="10769"/>
                    <a:ext cx="4320" cy="2592"/>
                  </a:xfrm>
                  <a:prstGeom prst="rect">
                    <a:avLst/>
                  </a:prstGeom>
                  <a:solidFill>
                    <a:srgbClr val="FF66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1800"/>
                  </a:p>
                </p:txBody>
              </p:sp>
              <p:sp>
                <p:nvSpPr>
                  <p:cNvPr id="19500" name="Line 43">
                    <a:extLst>
                      <a:ext uri="{FF2B5EF4-FFF2-40B4-BE49-F238E27FC236}">
                        <a16:creationId xmlns:a16="http://schemas.microsoft.com/office/drawing/2014/main" id="{9FA488CD-E808-96EF-3887-BE8D86BB9B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0" y="11631"/>
                    <a:ext cx="4325" cy="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501" name="Line 44">
                    <a:extLst>
                      <a:ext uri="{FF2B5EF4-FFF2-40B4-BE49-F238E27FC236}">
                        <a16:creationId xmlns:a16="http://schemas.microsoft.com/office/drawing/2014/main" id="{FFD8F6B4-6CFA-4E61-F5CE-D9330170839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61" y="12497"/>
                    <a:ext cx="4324" cy="4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502" name="Line 45">
                    <a:extLst>
                      <a:ext uri="{FF2B5EF4-FFF2-40B4-BE49-F238E27FC236}">
                        <a16:creationId xmlns:a16="http://schemas.microsoft.com/office/drawing/2014/main" id="{DC5C9ADC-DAE4-06CF-3A98-D5FFF5D70D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24" y="10769"/>
                    <a:ext cx="1" cy="259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503" name="Line 46">
                    <a:extLst>
                      <a:ext uri="{FF2B5EF4-FFF2-40B4-BE49-F238E27FC236}">
                        <a16:creationId xmlns:a16="http://schemas.microsoft.com/office/drawing/2014/main" id="{D11F0FEF-7EB1-E2EE-816A-641CA48385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88" y="10769"/>
                    <a:ext cx="1" cy="259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504" name="Line 47">
                    <a:extLst>
                      <a:ext uri="{FF2B5EF4-FFF2-40B4-BE49-F238E27FC236}">
                        <a16:creationId xmlns:a16="http://schemas.microsoft.com/office/drawing/2014/main" id="{36F92B1C-5A2C-840D-780F-4C0D7E8A66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52" y="10769"/>
                    <a:ext cx="1" cy="259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505" name="Line 48">
                    <a:extLst>
                      <a:ext uri="{FF2B5EF4-FFF2-40B4-BE49-F238E27FC236}">
                        <a16:creationId xmlns:a16="http://schemas.microsoft.com/office/drawing/2014/main" id="{45C59065-D1DD-B7B2-F292-3533E16EBB0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616" y="10769"/>
                    <a:ext cx="1" cy="259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9481" name="Group 49">
                  <a:extLst>
                    <a:ext uri="{FF2B5EF4-FFF2-40B4-BE49-F238E27FC236}">
                      <a16:creationId xmlns:a16="http://schemas.microsoft.com/office/drawing/2014/main" id="{88FE3956-0E36-9D15-1DC0-364A010C28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56" y="12340"/>
                  <a:ext cx="4075" cy="448"/>
                  <a:chOff x="2364" y="10793"/>
                  <a:chExt cx="4075" cy="448"/>
                </a:xfrm>
              </p:grpSpPr>
              <p:sp>
                <p:nvSpPr>
                  <p:cNvPr id="19494" name="Text Box 50">
                    <a:extLst>
                      <a:ext uri="{FF2B5EF4-FFF2-40B4-BE49-F238E27FC236}">
                        <a16:creationId xmlns:a16="http://schemas.microsoft.com/office/drawing/2014/main" id="{73AA7B2A-EDC7-A751-7584-60CC9C6BC64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4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(0, 1)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5" name="Text Box 51">
                    <a:extLst>
                      <a:ext uri="{FF2B5EF4-FFF2-40B4-BE49-F238E27FC236}">
                        <a16:creationId xmlns:a16="http://schemas.microsoft.com/office/drawing/2014/main" id="{FE63F02E-8D19-E547-4B3E-B3020E42EC5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28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(1, 1)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6" name="Text Box 52">
                    <a:extLst>
                      <a:ext uri="{FF2B5EF4-FFF2-40B4-BE49-F238E27FC236}">
                        <a16:creationId xmlns:a16="http://schemas.microsoft.com/office/drawing/2014/main" id="{6F92FB06-2897-62BB-1F1B-9BA1C2FCCB8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3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(2, 1)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7" name="Text Box 53">
                    <a:extLst>
                      <a:ext uri="{FF2B5EF4-FFF2-40B4-BE49-F238E27FC236}">
                        <a16:creationId xmlns:a16="http://schemas.microsoft.com/office/drawing/2014/main" id="{82B00D3F-B8D4-45D3-0563-9AD223B2183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57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(3, 1)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8" name="Text Box 54">
                    <a:extLst>
                      <a:ext uri="{FF2B5EF4-FFF2-40B4-BE49-F238E27FC236}">
                        <a16:creationId xmlns:a16="http://schemas.microsoft.com/office/drawing/2014/main" id="{BDFFE78A-203D-EA6A-D50C-B32CD87FCC1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22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(4, 1)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9482" name="Group 55">
                  <a:extLst>
                    <a:ext uri="{FF2B5EF4-FFF2-40B4-BE49-F238E27FC236}">
                      <a16:creationId xmlns:a16="http://schemas.microsoft.com/office/drawing/2014/main" id="{1AE2E215-A801-3DB4-6A61-BFDD1AF0A6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56" y="13201"/>
                  <a:ext cx="4075" cy="448"/>
                  <a:chOff x="2364" y="10793"/>
                  <a:chExt cx="4075" cy="448"/>
                </a:xfrm>
              </p:grpSpPr>
              <p:sp>
                <p:nvSpPr>
                  <p:cNvPr id="19489" name="Text Box 56">
                    <a:extLst>
                      <a:ext uri="{FF2B5EF4-FFF2-40B4-BE49-F238E27FC236}">
                        <a16:creationId xmlns:a16="http://schemas.microsoft.com/office/drawing/2014/main" id="{5533538F-6228-8052-41FC-DE2141C6351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4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(0, 2)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0" name="Text Box 57">
                    <a:extLst>
                      <a:ext uri="{FF2B5EF4-FFF2-40B4-BE49-F238E27FC236}">
                        <a16:creationId xmlns:a16="http://schemas.microsoft.com/office/drawing/2014/main" id="{A1313F63-7459-853D-FAF0-39FAB00F4AC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28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(1, 2)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1" name="Text Box 58">
                    <a:extLst>
                      <a:ext uri="{FF2B5EF4-FFF2-40B4-BE49-F238E27FC236}">
                        <a16:creationId xmlns:a16="http://schemas.microsoft.com/office/drawing/2014/main" id="{80915EAA-6AA9-2FAC-4896-87F3C7B22BD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3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(2, 2)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2" name="Text Box 59">
                    <a:extLst>
                      <a:ext uri="{FF2B5EF4-FFF2-40B4-BE49-F238E27FC236}">
                        <a16:creationId xmlns:a16="http://schemas.microsoft.com/office/drawing/2014/main" id="{D968F92E-3A01-ED08-98C3-7ECDD350D00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57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(3, 2)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3" name="Text Box 60">
                    <a:extLst>
                      <a:ext uri="{FF2B5EF4-FFF2-40B4-BE49-F238E27FC236}">
                        <a16:creationId xmlns:a16="http://schemas.microsoft.com/office/drawing/2014/main" id="{5F081A12-0BFC-57EB-4B88-0B314CEAFFC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22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(4, 2)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9483" name="Group 61">
                  <a:extLst>
                    <a:ext uri="{FF2B5EF4-FFF2-40B4-BE49-F238E27FC236}">
                      <a16:creationId xmlns:a16="http://schemas.microsoft.com/office/drawing/2014/main" id="{438F3C75-9D93-EB72-9090-4A8B99F6CB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55" y="11479"/>
                  <a:ext cx="4075" cy="448"/>
                  <a:chOff x="2364" y="10793"/>
                  <a:chExt cx="4075" cy="448"/>
                </a:xfrm>
              </p:grpSpPr>
              <p:sp>
                <p:nvSpPr>
                  <p:cNvPr id="19484" name="Text Box 62">
                    <a:extLst>
                      <a:ext uri="{FF2B5EF4-FFF2-40B4-BE49-F238E27FC236}">
                        <a16:creationId xmlns:a16="http://schemas.microsoft.com/office/drawing/2014/main" id="{DFBFC38D-129B-5BB4-340D-9E5775849E3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4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(0, 0)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85" name="Text Box 63">
                    <a:extLst>
                      <a:ext uri="{FF2B5EF4-FFF2-40B4-BE49-F238E27FC236}">
                        <a16:creationId xmlns:a16="http://schemas.microsoft.com/office/drawing/2014/main" id="{7F323B43-5E49-4106-7AC6-090F171025E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28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(1, 0)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86" name="Text Box 64">
                    <a:extLst>
                      <a:ext uri="{FF2B5EF4-FFF2-40B4-BE49-F238E27FC236}">
                        <a16:creationId xmlns:a16="http://schemas.microsoft.com/office/drawing/2014/main" id="{2A86C822-21EB-C8DC-197A-9B177F862CA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3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(2, 0)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87" name="Text Box 65">
                    <a:extLst>
                      <a:ext uri="{FF2B5EF4-FFF2-40B4-BE49-F238E27FC236}">
                        <a16:creationId xmlns:a16="http://schemas.microsoft.com/office/drawing/2014/main" id="{B63EDD64-551C-40FA-41CD-E5C6574DCC5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57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(3, 0)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88" name="Text Box 66">
                    <a:extLst>
                      <a:ext uri="{FF2B5EF4-FFF2-40B4-BE49-F238E27FC236}">
                        <a16:creationId xmlns:a16="http://schemas.microsoft.com/office/drawing/2014/main" id="{C2228B8F-C557-FCF9-9A29-3C1F6BA0258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22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(4, 0)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19470" name="Line 67">
              <a:extLst>
                <a:ext uri="{FF2B5EF4-FFF2-40B4-BE49-F238E27FC236}">
                  <a16:creationId xmlns:a16="http://schemas.microsoft.com/office/drawing/2014/main" id="{B1439A3A-877A-30D4-07E9-B26FE3AF0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5" y="1277"/>
              <a:ext cx="3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71" name="Line 68">
              <a:extLst>
                <a:ext uri="{FF2B5EF4-FFF2-40B4-BE49-F238E27FC236}">
                  <a16:creationId xmlns:a16="http://schemas.microsoft.com/office/drawing/2014/main" id="{3DEBF825-B9A9-C6DA-2CEC-25901A38C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5" y="2380"/>
              <a:ext cx="43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72" name="Line 69">
              <a:extLst>
                <a:ext uri="{FF2B5EF4-FFF2-40B4-BE49-F238E27FC236}">
                  <a16:creationId xmlns:a16="http://schemas.microsoft.com/office/drawing/2014/main" id="{4AB8ED7D-35C1-2E9E-9576-7F6906DA60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4" y="1562"/>
              <a:ext cx="1068" cy="1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73" name="Line 70">
              <a:extLst>
                <a:ext uri="{FF2B5EF4-FFF2-40B4-BE49-F238E27FC236}">
                  <a16:creationId xmlns:a16="http://schemas.microsoft.com/office/drawing/2014/main" id="{86C6840D-9CE2-0CD0-3FC1-C681AF802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6" y="1562"/>
              <a:ext cx="243" cy="12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74" name="Line 71">
              <a:extLst>
                <a:ext uri="{FF2B5EF4-FFF2-40B4-BE49-F238E27FC236}">
                  <a16:creationId xmlns:a16="http://schemas.microsoft.com/office/drawing/2014/main" id="{DCCA562F-31A0-5259-B5EC-3D66BF499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8" y="1889"/>
              <a:ext cx="434" cy="8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75" name="Line 72">
              <a:extLst>
                <a:ext uri="{FF2B5EF4-FFF2-40B4-BE49-F238E27FC236}">
                  <a16:creationId xmlns:a16="http://schemas.microsoft.com/office/drawing/2014/main" id="{52D48674-D4A9-B93E-E879-A1E56DC6C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6" y="1895"/>
              <a:ext cx="100" cy="8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76" name="Line 73">
              <a:extLst>
                <a:ext uri="{FF2B5EF4-FFF2-40B4-BE49-F238E27FC236}">
                  <a16:creationId xmlns:a16="http://schemas.microsoft.com/office/drawing/2014/main" id="{75BB6A80-78C5-E901-D11C-B212F5C20B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0" y="2777"/>
              <a:ext cx="623" cy="1295"/>
            </a:xfrm>
            <a:prstGeom prst="line">
              <a:avLst/>
            </a:prstGeom>
            <a:noFill/>
            <a:ln w="9525">
              <a:solidFill>
                <a:srgbClr val="000000">
                  <a:alpha val="10196"/>
                </a:srgb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77" name="Line 74">
              <a:extLst>
                <a:ext uri="{FF2B5EF4-FFF2-40B4-BE49-F238E27FC236}">
                  <a16:creationId xmlns:a16="http://schemas.microsoft.com/office/drawing/2014/main" id="{6215F3EC-AD52-5AA1-A9F9-CEBB0D3B7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2777"/>
              <a:ext cx="153" cy="1300"/>
            </a:xfrm>
            <a:prstGeom prst="line">
              <a:avLst/>
            </a:prstGeom>
            <a:noFill/>
            <a:ln w="9525">
              <a:solidFill>
                <a:srgbClr val="000000">
                  <a:alpha val="10196"/>
                </a:srgb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460" name="Rectangle 76">
            <a:extLst>
              <a:ext uri="{FF2B5EF4-FFF2-40B4-BE49-F238E27FC236}">
                <a16:creationId xmlns:a16="http://schemas.microsoft.com/office/drawing/2014/main" id="{CF174A3B-4170-31FC-4A7C-1E792A110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6453188"/>
            <a:ext cx="167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Courtesy: NDVIA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1594206-9A25-F365-4647-FC243BF27F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391400" cy="1066800"/>
          </a:xfrm>
        </p:spPr>
        <p:txBody>
          <a:bodyPr/>
          <a:lstStyle/>
          <a:p>
            <a:r>
              <a:rPr lang="en-US" altLang="zh-CN" sz="3600" b="1" u="sng">
                <a:ea typeface="宋体" panose="02010600030101010101" pitchFamily="2" charset="-122"/>
              </a:rPr>
              <a:t>Block and Thread IDs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F9282C89-7F64-5C92-E91C-BCB75BD13C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4648200" cy="4572000"/>
          </a:xfrm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Threads and blocks have IDs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So each thread can decide what data to work on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Block ID: 1D or 2D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Thread ID: 1D, 2D, or 3D</a:t>
            </a:r>
          </a:p>
          <a:p>
            <a:pPr marL="974725" lvl="1" indent="-403225">
              <a:lnSpc>
                <a:spcPct val="90000"/>
              </a:lnSpc>
            </a:pPr>
            <a:endParaRPr lang="en-US" altLang="zh-CN" sz="180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Simplifies memory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addressing when processing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multidimensional data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Image processing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Solving PDEs on volumes</a:t>
            </a:r>
          </a:p>
          <a:p>
            <a:pPr marL="974725" lvl="1" indent="-403225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…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zh-CN" altLang="en-US" sz="2000">
              <a:ea typeface="宋体" panose="02010600030101010101" pitchFamily="2" charset="-122"/>
            </a:endParaRPr>
          </a:p>
        </p:txBody>
      </p:sp>
      <p:grpSp>
        <p:nvGrpSpPr>
          <p:cNvPr id="20483" name="Group 4">
            <a:extLst>
              <a:ext uri="{FF2B5EF4-FFF2-40B4-BE49-F238E27FC236}">
                <a16:creationId xmlns:a16="http://schemas.microsoft.com/office/drawing/2014/main" id="{6886DD5F-1053-7725-5B51-94A3BE56150C}"/>
              </a:ext>
            </a:extLst>
          </p:cNvPr>
          <p:cNvGrpSpPr>
            <a:grpSpLocks/>
          </p:cNvGrpSpPr>
          <p:nvPr/>
        </p:nvGrpSpPr>
        <p:grpSpPr bwMode="auto">
          <a:xfrm>
            <a:off x="5413375" y="2009775"/>
            <a:ext cx="3521075" cy="4292600"/>
            <a:chOff x="3410" y="1469"/>
            <a:chExt cx="2218" cy="2704"/>
          </a:xfrm>
        </p:grpSpPr>
        <p:sp>
          <p:nvSpPr>
            <p:cNvPr id="20485" name="Text Box 5">
              <a:extLst>
                <a:ext uri="{FF2B5EF4-FFF2-40B4-BE49-F238E27FC236}">
                  <a16:creationId xmlns:a16="http://schemas.microsoft.com/office/drawing/2014/main" id="{C79A9017-0679-56DB-08DF-7B1EA878A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0" y="1469"/>
              <a:ext cx="2218" cy="209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Device</a:t>
              </a:r>
              <a:endParaRPr lang="en-US" altLang="zh-CN" sz="18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486" name="Group 6">
              <a:extLst>
                <a:ext uri="{FF2B5EF4-FFF2-40B4-BE49-F238E27FC236}">
                  <a16:creationId xmlns:a16="http://schemas.microsoft.com/office/drawing/2014/main" id="{45003E33-FF06-C296-3BBF-02A1F9F9D0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3" y="1647"/>
              <a:ext cx="1554" cy="1004"/>
              <a:chOff x="3820" y="4577"/>
              <a:chExt cx="4116" cy="2660"/>
            </a:xfrm>
          </p:grpSpPr>
          <p:sp>
            <p:nvSpPr>
              <p:cNvPr id="20520" name="Text Box 7">
                <a:extLst>
                  <a:ext uri="{FF2B5EF4-FFF2-40B4-BE49-F238E27FC236}">
                    <a16:creationId xmlns:a16="http://schemas.microsoft.com/office/drawing/2014/main" id="{B9E32B75-9B7B-B419-6641-A5F979B0A8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0" y="4577"/>
                <a:ext cx="4116" cy="2660"/>
              </a:xfrm>
              <a:prstGeom prst="rect">
                <a:avLst/>
              </a:prstGeom>
              <a:solidFill>
                <a:srgbClr val="99FF66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fontAlgn="t" latinLnBrk="1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n"/>
                  <a:defRPr kumimoji="1" sz="3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1pPr>
                <a:lvl2pPr marL="742950" indent="-285750" fontAlgn="t" latinLnBrk="1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n"/>
                  <a:defRPr kumimoji="1" sz="26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2pPr>
                <a:lvl3pPr marL="1143000" indent="-228600" fontAlgn="t" latinLnBrk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kumimoji="1" sz="23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3pPr>
                <a:lvl4pPr marL="1600200" indent="-228600" fontAlgn="t" latinLnBrk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4pPr>
                <a:lvl5pPr marL="2057400" indent="-228600" fontAlgn="t" latinLnBrk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5pPr>
                <a:lvl6pPr marL="25146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6pPr>
                <a:lvl7pPr marL="29718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7pPr>
                <a:lvl8pPr marL="34290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8pPr>
                <a:lvl9pPr marL="38862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b="1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Grid 1</a:t>
                </a:r>
                <a:endParaRPr lang="en-US" altLang="zh-CN" sz="1800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0521" name="Group 8">
                <a:extLst>
                  <a:ext uri="{FF2B5EF4-FFF2-40B4-BE49-F238E27FC236}">
                    <a16:creationId xmlns:a16="http://schemas.microsoft.com/office/drawing/2014/main" id="{7917454E-7302-73F7-F956-294E00D7F7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5" y="5169"/>
                <a:ext cx="3785" cy="864"/>
                <a:chOff x="3997" y="5169"/>
                <a:chExt cx="3785" cy="864"/>
              </a:xfrm>
            </p:grpSpPr>
            <p:sp>
              <p:nvSpPr>
                <p:cNvPr id="20526" name="Text Box 9">
                  <a:extLst>
                    <a:ext uri="{FF2B5EF4-FFF2-40B4-BE49-F238E27FC236}">
                      <a16:creationId xmlns:a16="http://schemas.microsoft.com/office/drawing/2014/main" id="{8CC13840-2C3C-2841-1275-5A915854BD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97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(0, 0)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27" name="Text Box 10">
                  <a:extLst>
                    <a:ext uri="{FF2B5EF4-FFF2-40B4-BE49-F238E27FC236}">
                      <a16:creationId xmlns:a16="http://schemas.microsoft.com/office/drawing/2014/main" id="{943A4397-C7BB-5BF2-4D7D-DE2B1229DF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99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(1, 0)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28" name="Text Box 11">
                  <a:extLst>
                    <a:ext uri="{FF2B5EF4-FFF2-40B4-BE49-F238E27FC236}">
                      <a16:creationId xmlns:a16="http://schemas.microsoft.com/office/drawing/2014/main" id="{26C69055-1F7A-A66F-C3AC-2D4E93C76C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01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(2, 0)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0522" name="Group 12">
                <a:extLst>
                  <a:ext uri="{FF2B5EF4-FFF2-40B4-BE49-F238E27FC236}">
                    <a16:creationId xmlns:a16="http://schemas.microsoft.com/office/drawing/2014/main" id="{47BEDB10-8976-BBD4-8D31-66AE40E628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5" y="6187"/>
                <a:ext cx="3785" cy="864"/>
                <a:chOff x="3997" y="5169"/>
                <a:chExt cx="3785" cy="864"/>
              </a:xfrm>
            </p:grpSpPr>
            <p:sp>
              <p:nvSpPr>
                <p:cNvPr id="20523" name="Text Box 13">
                  <a:extLst>
                    <a:ext uri="{FF2B5EF4-FFF2-40B4-BE49-F238E27FC236}">
                      <a16:creationId xmlns:a16="http://schemas.microsoft.com/office/drawing/2014/main" id="{A33D9B0E-4150-EE41-C0EA-7DA0426D66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97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(0, 1)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24" name="Text Box 14">
                  <a:extLst>
                    <a:ext uri="{FF2B5EF4-FFF2-40B4-BE49-F238E27FC236}">
                      <a16:creationId xmlns:a16="http://schemas.microsoft.com/office/drawing/2014/main" id="{ABE0B932-3CE2-3231-56F7-EE4E8C655B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99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(1, 1)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25" name="Text Box 15">
                  <a:extLst>
                    <a:ext uri="{FF2B5EF4-FFF2-40B4-BE49-F238E27FC236}">
                      <a16:creationId xmlns:a16="http://schemas.microsoft.com/office/drawing/2014/main" id="{4EEC55D4-EDEA-9700-A19D-E03E84EC14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01" y="5169"/>
                  <a:ext cx="1181" cy="864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lIns="0" tIns="91440" rIns="0" bIns="0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Block</a:t>
                  </a:r>
                </a:p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200" b="1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(2, 1)</a:t>
                  </a:r>
                  <a:endParaRPr lang="en-US" altLang="zh-CN" sz="1800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20487" name="Group 16">
              <a:extLst>
                <a:ext uri="{FF2B5EF4-FFF2-40B4-BE49-F238E27FC236}">
                  <a16:creationId xmlns:a16="http://schemas.microsoft.com/office/drawing/2014/main" id="{181EC4F1-994B-65C1-9AEB-F524B67623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0" y="2878"/>
              <a:ext cx="1765" cy="1295"/>
              <a:chOff x="1972" y="8931"/>
              <a:chExt cx="4676" cy="3430"/>
            </a:xfrm>
          </p:grpSpPr>
          <p:sp>
            <p:nvSpPr>
              <p:cNvPr id="20492" name="Text Box 17">
                <a:extLst>
                  <a:ext uri="{FF2B5EF4-FFF2-40B4-BE49-F238E27FC236}">
                    <a16:creationId xmlns:a16="http://schemas.microsoft.com/office/drawing/2014/main" id="{CDC3913B-E983-7F73-1C2C-4D77E47781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2" y="8931"/>
                <a:ext cx="4676" cy="3430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fontAlgn="t" latinLnBrk="1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itchFamily="2" charset="2"/>
                  <a:buChar char="n"/>
                  <a:defRPr kumimoji="1" sz="3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1pPr>
                <a:lvl2pPr marL="742950" indent="-285750" fontAlgn="t" latinLnBrk="1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n"/>
                  <a:defRPr kumimoji="1" sz="26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2pPr>
                <a:lvl3pPr marL="1143000" indent="-228600" fontAlgn="t" latinLnBrk="1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kumimoji="1" sz="23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3pPr>
                <a:lvl4pPr marL="1600200" indent="-228600" fontAlgn="t" latinLnBrk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4pPr>
                <a:lvl5pPr marL="2057400" indent="-228600" fontAlgn="t" latinLnBrk="1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5pPr>
                <a:lvl6pPr marL="25146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6pPr>
                <a:lvl7pPr marL="29718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7pPr>
                <a:lvl8pPr marL="34290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8pPr>
                <a:lvl9pPr marL="3886200" indent="-228600" eaLnBrk="0" fontAlgn="t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  <a:cs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b="1">
                    <a:solidFill>
                      <a:srgbClr val="0033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Block (1, 1)</a:t>
                </a:r>
                <a:endParaRPr lang="en-US" altLang="zh-CN" sz="1800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0493" name="Group 18">
                <a:extLst>
                  <a:ext uri="{FF2B5EF4-FFF2-40B4-BE49-F238E27FC236}">
                    <a16:creationId xmlns:a16="http://schemas.microsoft.com/office/drawing/2014/main" id="{0DC3384E-8EA2-3376-DD5D-73C0F6D1B3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7" y="9559"/>
                <a:ext cx="4325" cy="2592"/>
                <a:chOff x="2630" y="11267"/>
                <a:chExt cx="4325" cy="2592"/>
              </a:xfrm>
            </p:grpSpPr>
            <p:grpSp>
              <p:nvGrpSpPr>
                <p:cNvPr id="20494" name="Group 19">
                  <a:extLst>
                    <a:ext uri="{FF2B5EF4-FFF2-40B4-BE49-F238E27FC236}">
                      <a16:creationId xmlns:a16="http://schemas.microsoft.com/office/drawing/2014/main" id="{64EEC6C0-CAA6-DDB9-8D06-250E0410F5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30" y="11267"/>
                  <a:ext cx="4325" cy="2592"/>
                  <a:chOff x="2160" y="10769"/>
                  <a:chExt cx="4325" cy="2592"/>
                </a:xfrm>
              </p:grpSpPr>
              <p:sp>
                <p:nvSpPr>
                  <p:cNvPr id="20513" name="Rectangle 20">
                    <a:extLst>
                      <a:ext uri="{FF2B5EF4-FFF2-40B4-BE49-F238E27FC236}">
                        <a16:creationId xmlns:a16="http://schemas.microsoft.com/office/drawing/2014/main" id="{D326F3C0-8829-5BDC-394D-F38343BB33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60" y="10769"/>
                    <a:ext cx="4320" cy="2592"/>
                  </a:xfrm>
                  <a:prstGeom prst="rect">
                    <a:avLst/>
                  </a:prstGeom>
                  <a:solidFill>
                    <a:srgbClr val="FF66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en-US" sz="1800"/>
                  </a:p>
                </p:txBody>
              </p:sp>
              <p:sp>
                <p:nvSpPr>
                  <p:cNvPr id="20514" name="Line 21">
                    <a:extLst>
                      <a:ext uri="{FF2B5EF4-FFF2-40B4-BE49-F238E27FC236}">
                        <a16:creationId xmlns:a16="http://schemas.microsoft.com/office/drawing/2014/main" id="{9B65C9C4-722C-6C56-8C52-9818FFF4C3B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0" y="11631"/>
                    <a:ext cx="4325" cy="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515" name="Line 22">
                    <a:extLst>
                      <a:ext uri="{FF2B5EF4-FFF2-40B4-BE49-F238E27FC236}">
                        <a16:creationId xmlns:a16="http://schemas.microsoft.com/office/drawing/2014/main" id="{D5E8EB76-2578-87EF-F312-FB80EFCB68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61" y="12497"/>
                    <a:ext cx="4324" cy="4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516" name="Line 23">
                    <a:extLst>
                      <a:ext uri="{FF2B5EF4-FFF2-40B4-BE49-F238E27FC236}">
                        <a16:creationId xmlns:a16="http://schemas.microsoft.com/office/drawing/2014/main" id="{19C94382-3770-9D5D-823A-4BE7A839DA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24" y="10769"/>
                    <a:ext cx="1" cy="259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517" name="Line 24">
                    <a:extLst>
                      <a:ext uri="{FF2B5EF4-FFF2-40B4-BE49-F238E27FC236}">
                        <a16:creationId xmlns:a16="http://schemas.microsoft.com/office/drawing/2014/main" id="{A01E93CC-D3DE-9064-71CA-0AD928E9EA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88" y="10769"/>
                    <a:ext cx="1" cy="259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518" name="Line 25">
                    <a:extLst>
                      <a:ext uri="{FF2B5EF4-FFF2-40B4-BE49-F238E27FC236}">
                        <a16:creationId xmlns:a16="http://schemas.microsoft.com/office/drawing/2014/main" id="{5C061976-8CCE-DE36-6308-1A45A04D89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52" y="10769"/>
                    <a:ext cx="1" cy="259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519" name="Line 26">
                    <a:extLst>
                      <a:ext uri="{FF2B5EF4-FFF2-40B4-BE49-F238E27FC236}">
                        <a16:creationId xmlns:a16="http://schemas.microsoft.com/office/drawing/2014/main" id="{55D52700-E2AC-55B3-87FB-622843BD812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616" y="10769"/>
                    <a:ext cx="1" cy="259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20495" name="Group 27">
                  <a:extLst>
                    <a:ext uri="{FF2B5EF4-FFF2-40B4-BE49-F238E27FC236}">
                      <a16:creationId xmlns:a16="http://schemas.microsoft.com/office/drawing/2014/main" id="{FC8849A8-9FA9-A1DE-95B8-68212DF561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56" y="12340"/>
                  <a:ext cx="4075" cy="448"/>
                  <a:chOff x="2364" y="10793"/>
                  <a:chExt cx="4075" cy="448"/>
                </a:xfrm>
              </p:grpSpPr>
              <p:sp>
                <p:nvSpPr>
                  <p:cNvPr id="20508" name="Text Box 28">
                    <a:extLst>
                      <a:ext uri="{FF2B5EF4-FFF2-40B4-BE49-F238E27FC236}">
                        <a16:creationId xmlns:a16="http://schemas.microsoft.com/office/drawing/2014/main" id="{CE6D489D-DA58-2A32-D042-F7D8AC87A7A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4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(0, 1)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09" name="Text Box 29">
                    <a:extLst>
                      <a:ext uri="{FF2B5EF4-FFF2-40B4-BE49-F238E27FC236}">
                        <a16:creationId xmlns:a16="http://schemas.microsoft.com/office/drawing/2014/main" id="{E53E3268-35F0-6CAC-8069-81DD2208966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28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(1, 1)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10" name="Text Box 30">
                    <a:extLst>
                      <a:ext uri="{FF2B5EF4-FFF2-40B4-BE49-F238E27FC236}">
                        <a16:creationId xmlns:a16="http://schemas.microsoft.com/office/drawing/2014/main" id="{1230516F-ACF6-B012-89E7-677EB7E072E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3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(2, 1)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11" name="Text Box 31">
                    <a:extLst>
                      <a:ext uri="{FF2B5EF4-FFF2-40B4-BE49-F238E27FC236}">
                        <a16:creationId xmlns:a16="http://schemas.microsoft.com/office/drawing/2014/main" id="{45474BA7-E816-E416-E35E-EC39B2F12AC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57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(3, 1)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12" name="Text Box 32">
                    <a:extLst>
                      <a:ext uri="{FF2B5EF4-FFF2-40B4-BE49-F238E27FC236}">
                        <a16:creationId xmlns:a16="http://schemas.microsoft.com/office/drawing/2014/main" id="{8894F163-4F6A-6490-A76B-014E6131022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22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(4, 1)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20496" name="Group 33">
                  <a:extLst>
                    <a:ext uri="{FF2B5EF4-FFF2-40B4-BE49-F238E27FC236}">
                      <a16:creationId xmlns:a16="http://schemas.microsoft.com/office/drawing/2014/main" id="{675CEF24-7A2E-C469-6549-4EBFB6ABAA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56" y="13201"/>
                  <a:ext cx="4075" cy="448"/>
                  <a:chOff x="2364" y="10793"/>
                  <a:chExt cx="4075" cy="448"/>
                </a:xfrm>
              </p:grpSpPr>
              <p:sp>
                <p:nvSpPr>
                  <p:cNvPr id="20503" name="Text Box 34">
                    <a:extLst>
                      <a:ext uri="{FF2B5EF4-FFF2-40B4-BE49-F238E27FC236}">
                        <a16:creationId xmlns:a16="http://schemas.microsoft.com/office/drawing/2014/main" id="{D7A8D9FF-499B-3BBE-771C-E2C774D6FB7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4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(0, 2)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04" name="Text Box 35">
                    <a:extLst>
                      <a:ext uri="{FF2B5EF4-FFF2-40B4-BE49-F238E27FC236}">
                        <a16:creationId xmlns:a16="http://schemas.microsoft.com/office/drawing/2014/main" id="{565F6BC7-EC5D-D8FF-0D04-835299CE532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28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(1, 2)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05" name="Text Box 36">
                    <a:extLst>
                      <a:ext uri="{FF2B5EF4-FFF2-40B4-BE49-F238E27FC236}">
                        <a16:creationId xmlns:a16="http://schemas.microsoft.com/office/drawing/2014/main" id="{41891735-8CEF-3CC7-D417-8CF6A8F7F0F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3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(2, 2)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06" name="Text Box 37">
                    <a:extLst>
                      <a:ext uri="{FF2B5EF4-FFF2-40B4-BE49-F238E27FC236}">
                        <a16:creationId xmlns:a16="http://schemas.microsoft.com/office/drawing/2014/main" id="{B49E03D7-CB89-2F5F-11F5-9A0AFFAC97F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57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(3, 2)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07" name="Text Box 38">
                    <a:extLst>
                      <a:ext uri="{FF2B5EF4-FFF2-40B4-BE49-F238E27FC236}">
                        <a16:creationId xmlns:a16="http://schemas.microsoft.com/office/drawing/2014/main" id="{98C42C33-5B41-48C9-91A6-DAAAAF5F688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22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(4, 2)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20497" name="Group 39">
                  <a:extLst>
                    <a:ext uri="{FF2B5EF4-FFF2-40B4-BE49-F238E27FC236}">
                      <a16:creationId xmlns:a16="http://schemas.microsoft.com/office/drawing/2014/main" id="{2C392C06-C10C-D3F4-191C-45B55AF9281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55" y="11479"/>
                  <a:ext cx="4075" cy="448"/>
                  <a:chOff x="2364" y="10793"/>
                  <a:chExt cx="4075" cy="448"/>
                </a:xfrm>
              </p:grpSpPr>
              <p:sp>
                <p:nvSpPr>
                  <p:cNvPr id="20498" name="Text Box 40">
                    <a:extLst>
                      <a:ext uri="{FF2B5EF4-FFF2-40B4-BE49-F238E27FC236}">
                        <a16:creationId xmlns:a16="http://schemas.microsoft.com/office/drawing/2014/main" id="{44780F9A-7ECD-CC68-BACF-3BD4965358D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64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(0, 0)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499" name="Text Box 41">
                    <a:extLst>
                      <a:ext uri="{FF2B5EF4-FFF2-40B4-BE49-F238E27FC236}">
                        <a16:creationId xmlns:a16="http://schemas.microsoft.com/office/drawing/2014/main" id="{D66C8FCC-63F8-F0A4-5B3C-37A67DD43F4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28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(1, 0)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00" name="Text Box 42">
                    <a:extLst>
                      <a:ext uri="{FF2B5EF4-FFF2-40B4-BE49-F238E27FC236}">
                        <a16:creationId xmlns:a16="http://schemas.microsoft.com/office/drawing/2014/main" id="{6A132B01-D2C3-1D5A-D972-7444CF620EF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3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(2, 0)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01" name="Text Box 43">
                    <a:extLst>
                      <a:ext uri="{FF2B5EF4-FFF2-40B4-BE49-F238E27FC236}">
                        <a16:creationId xmlns:a16="http://schemas.microsoft.com/office/drawing/2014/main" id="{B812F0B1-805B-F2BB-3F02-B9EF7D97B8A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57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(3, 0)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502" name="Text Box 44">
                    <a:extLst>
                      <a:ext uri="{FF2B5EF4-FFF2-40B4-BE49-F238E27FC236}">
                        <a16:creationId xmlns:a16="http://schemas.microsoft.com/office/drawing/2014/main" id="{5F01C9B5-D998-8C16-4F49-CC626746A06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22" y="10793"/>
                    <a:ext cx="617" cy="4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Thread</a:t>
                    </a:r>
                  </a:p>
                  <a:p>
                    <a:pPr algn="ctr"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 b="1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(4, 0)</a:t>
                    </a:r>
                    <a:endParaRPr lang="en-US" altLang="zh-CN" sz="1800">
                      <a:solidFill>
                        <a:srgbClr val="0033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20488" name="Line 45">
              <a:extLst>
                <a:ext uri="{FF2B5EF4-FFF2-40B4-BE49-F238E27FC236}">
                  <a16:creationId xmlns:a16="http://schemas.microsoft.com/office/drawing/2014/main" id="{1FF3F239-3602-D1E9-F571-E88A6DAE6A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0" y="2255"/>
              <a:ext cx="1067" cy="623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489" name="Line 46">
              <a:extLst>
                <a:ext uri="{FF2B5EF4-FFF2-40B4-BE49-F238E27FC236}">
                  <a16:creationId xmlns:a16="http://schemas.microsoft.com/office/drawing/2014/main" id="{3012592F-1F39-B3E4-050C-6517165431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2" y="2255"/>
              <a:ext cx="243" cy="61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490" name="Line 47">
              <a:extLst>
                <a:ext uri="{FF2B5EF4-FFF2-40B4-BE49-F238E27FC236}">
                  <a16:creationId xmlns:a16="http://schemas.microsoft.com/office/drawing/2014/main" id="{078837A3-C0EE-395B-AD65-DF7A436E05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4" y="2581"/>
              <a:ext cx="411" cy="287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491" name="Line 48">
              <a:extLst>
                <a:ext uri="{FF2B5EF4-FFF2-40B4-BE49-F238E27FC236}">
                  <a16:creationId xmlns:a16="http://schemas.microsoft.com/office/drawing/2014/main" id="{43AF97F6-5C28-AD99-5A00-4535E8412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2" y="2581"/>
              <a:ext cx="100" cy="303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484" name="Rectangle 49">
            <a:extLst>
              <a:ext uri="{FF2B5EF4-FFF2-40B4-BE49-F238E27FC236}">
                <a16:creationId xmlns:a16="http://schemas.microsoft.com/office/drawing/2014/main" id="{9B164FBE-FCEA-2650-A172-61A776F7C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6324600"/>
            <a:ext cx="167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Courtesy: NDVIA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제목 1">
            <a:extLst>
              <a:ext uri="{FF2B5EF4-FFF2-40B4-BE49-F238E27FC236}">
                <a16:creationId xmlns:a16="http://schemas.microsoft.com/office/drawing/2014/main" id="{2E1743C1-9B38-0CE2-867D-4FDDE1A9C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Transparent Scalability</a:t>
            </a:r>
            <a:endParaRPr lang="ko-KR" altLang="en-US" sz="4000" b="1" u="sng"/>
          </a:p>
        </p:txBody>
      </p:sp>
      <p:sp>
        <p:nvSpPr>
          <p:cNvPr id="23554" name="내용 개체 틀 2">
            <a:extLst>
              <a:ext uri="{FF2B5EF4-FFF2-40B4-BE49-F238E27FC236}">
                <a16:creationId xmlns:a16="http://schemas.microsoft.com/office/drawing/2014/main" id="{1FD7968F-B482-E6A7-8F82-3E029425BF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Hardware is free to assign blocks to any  processor  at any time</a:t>
            </a:r>
            <a:endParaRPr lang="ko-KR" altLang="en-US" sz="2400"/>
          </a:p>
        </p:txBody>
      </p:sp>
      <p:pic>
        <p:nvPicPr>
          <p:cNvPr id="23555" name="Picture 2">
            <a:extLst>
              <a:ext uri="{FF2B5EF4-FFF2-40B4-BE49-F238E27FC236}">
                <a16:creationId xmlns:a16="http://schemas.microsoft.com/office/drawing/2014/main" id="{2119BA20-FBA2-8148-9478-1941061A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2960688"/>
            <a:ext cx="904875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Box 4">
            <a:extLst>
              <a:ext uri="{FF2B5EF4-FFF2-40B4-BE49-F238E27FC236}">
                <a16:creationId xmlns:a16="http://schemas.microsoft.com/office/drawing/2014/main" id="{06EC6F0F-8111-1A8F-0F5D-30338EB44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75" y="6597650"/>
            <a:ext cx="23701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/>
              <a:t>Courtesy : Mulphy Stein (NYU)</a:t>
            </a:r>
            <a:endParaRPr lang="ko-KR" alt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제목 1">
            <a:extLst>
              <a:ext uri="{FF2B5EF4-FFF2-40B4-BE49-F238E27FC236}">
                <a16:creationId xmlns:a16="http://schemas.microsoft.com/office/drawing/2014/main" id="{C18C7CD6-C191-FF43-C94D-37FB18997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SM Warp Scheduling</a:t>
            </a:r>
            <a:endParaRPr lang="ko-KR" altLang="en-US" sz="3600" b="1" u="sng"/>
          </a:p>
        </p:txBody>
      </p:sp>
      <p:sp>
        <p:nvSpPr>
          <p:cNvPr id="24578" name="내용 개체 틀 2">
            <a:extLst>
              <a:ext uri="{FF2B5EF4-FFF2-40B4-BE49-F238E27FC236}">
                <a16:creationId xmlns:a16="http://schemas.microsoft.com/office/drawing/2014/main" id="{A2B5D749-FD17-9CAC-4CED-C2C2DD9A64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32363" y="1600200"/>
            <a:ext cx="3754437" cy="4525963"/>
          </a:xfrm>
        </p:spPr>
        <p:txBody>
          <a:bodyPr/>
          <a:lstStyle/>
          <a:p>
            <a:r>
              <a:rPr lang="en-US" altLang="ko-KR" sz="2400" b="1" u="sng"/>
              <a:t>Warp</a:t>
            </a:r>
          </a:p>
          <a:p>
            <a:pPr lvl="1"/>
            <a:r>
              <a:rPr lang="en-US" altLang="ko-KR" sz="2000"/>
              <a:t>Once a block is assigned to SM, the block  is further divided into 32-thread units</a:t>
            </a:r>
          </a:p>
          <a:p>
            <a:pPr lvl="1"/>
            <a:r>
              <a:rPr lang="en-US" altLang="ko-KR" sz="2000"/>
              <a:t>All threads in a warp execute the same instruction when selected</a:t>
            </a:r>
          </a:p>
          <a:p>
            <a:pPr lvl="1"/>
            <a:endParaRPr lang="ko-KR" altLang="en-US" sz="2000"/>
          </a:p>
        </p:txBody>
      </p:sp>
      <p:pic>
        <p:nvPicPr>
          <p:cNvPr id="24579" name="Picture 3">
            <a:extLst>
              <a:ext uri="{FF2B5EF4-FFF2-40B4-BE49-F238E27FC236}">
                <a16:creationId xmlns:a16="http://schemas.microsoft.com/office/drawing/2014/main" id="{AB038CB5-4911-A8FA-19F6-C4AD0652D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1341438"/>
            <a:ext cx="457200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C0888-49D9-3188-5FC7-43BE359E3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u="sng" dirty="0"/>
              <a:t>CUDA Thread Hierarchy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2F987B-2A71-ABF1-F8C6-39BA11CB2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Thread</a:t>
            </a:r>
          </a:p>
          <a:p>
            <a:r>
              <a:rPr lang="en-US" altLang="ko-KR" dirty="0"/>
              <a:t>Warp</a:t>
            </a:r>
          </a:p>
          <a:p>
            <a:pPr lvl="1"/>
            <a:r>
              <a:rPr kumimoji="1" lang="en-US" altLang="ko-KR" dirty="0"/>
              <a:t>32 threads</a:t>
            </a:r>
          </a:p>
          <a:p>
            <a:pPr lvl="1"/>
            <a:r>
              <a:rPr lang="en-US" altLang="ko-KR" dirty="0"/>
              <a:t>Basic execution unit</a:t>
            </a:r>
          </a:p>
          <a:p>
            <a:pPr lvl="1"/>
            <a:r>
              <a:rPr kumimoji="1" lang="en-US" altLang="ko-KR" dirty="0"/>
              <a:t>Controlled by the same instructions </a:t>
            </a:r>
            <a:r>
              <a:rPr lang="en-US" altLang="ko-KR" dirty="0"/>
              <a:t>(SIMT)</a:t>
            </a:r>
          </a:p>
          <a:p>
            <a:r>
              <a:rPr kumimoji="1" lang="en-US" altLang="ko-KR" dirty="0"/>
              <a:t>Bl</a:t>
            </a:r>
            <a:r>
              <a:rPr lang="en-US" altLang="ko-KR" dirty="0"/>
              <a:t>ock</a:t>
            </a:r>
          </a:p>
          <a:p>
            <a:r>
              <a:rPr kumimoji="1" lang="en-US" altLang="ko-KR" dirty="0"/>
              <a:t>Grid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279B3-1B27-15AD-935D-2A1A1BDE1FCF}"/>
              </a:ext>
            </a:extLst>
          </p:cNvPr>
          <p:cNvSpPr txBox="1"/>
          <p:nvPr/>
        </p:nvSpPr>
        <p:spPr>
          <a:xfrm>
            <a:off x="3910993" y="6444044"/>
            <a:ext cx="5341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[Source: </a:t>
            </a:r>
            <a:r>
              <a:rPr kumimoji="1" lang="en-US" altLang="ko-KR" dirty="0"/>
              <a:t>from Prof. </a:t>
            </a:r>
            <a:r>
              <a:rPr kumimoji="1" lang="en-US" altLang="ko-KR" dirty="0" err="1"/>
              <a:t>Duksu</a:t>
            </a:r>
            <a:r>
              <a:rPr kumimoji="1" lang="en-US" altLang="ko-KR" dirty="0"/>
              <a:t> Kim’s lecture slides]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1890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5AB44-FB45-D701-CEB1-620CD3C2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u="sng" dirty="0"/>
              <a:t>Warp Divergence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7C32-F07C-5279-FE1B-6A2886187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threads in the same warp follows different branch paths, each branch will be serially executed. </a:t>
            </a:r>
          </a:p>
          <a:p>
            <a:r>
              <a:rPr lang="en-US" altLang="ko-KR" dirty="0"/>
              <a:t>Warp divergence can easily result in bad performance. Avoid branches!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762528-03A2-A0B1-C707-DCAD2DCD4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053923"/>
            <a:ext cx="7772400" cy="2407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F6A2C2-2D9C-58F6-28CF-56D15DE68B04}"/>
              </a:ext>
            </a:extLst>
          </p:cNvPr>
          <p:cNvSpPr txBox="1"/>
          <p:nvPr/>
        </p:nvSpPr>
        <p:spPr>
          <a:xfrm>
            <a:off x="3910993" y="6444044"/>
            <a:ext cx="5341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[Source: </a:t>
            </a:r>
            <a:r>
              <a:rPr kumimoji="1" lang="en-US" altLang="ko-KR" dirty="0"/>
              <a:t>from Prof. </a:t>
            </a:r>
            <a:r>
              <a:rPr kumimoji="1" lang="en-US" altLang="ko-KR" dirty="0" err="1"/>
              <a:t>Duksu</a:t>
            </a:r>
            <a:r>
              <a:rPr kumimoji="1" lang="en-US" altLang="ko-KR" dirty="0"/>
              <a:t> Kim’s lecture slides]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844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D27674C9-8D1E-F499-E8FA-D2E49EBE7B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82000" cy="1066800"/>
          </a:xfrm>
        </p:spPr>
        <p:txBody>
          <a:bodyPr/>
          <a:lstStyle/>
          <a:p>
            <a:r>
              <a:rPr lang="en-US" altLang="zh-CN" sz="3200" b="1" u="sng">
                <a:ea typeface="宋体" panose="02010600030101010101" pitchFamily="2" charset="-122"/>
              </a:rPr>
              <a:t>CUDA Device Memory Space Overview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45CDF86D-A1EB-A001-CACA-A6333F4BE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71600"/>
            <a:ext cx="5184775" cy="2741613"/>
          </a:xfrm>
        </p:spPr>
        <p:txBody>
          <a:bodyPr/>
          <a:lstStyle/>
          <a:p>
            <a:pPr marL="457200" indent="-457200"/>
            <a:r>
              <a:rPr lang="en-US" altLang="zh-CN" sz="2400">
                <a:ea typeface="宋体" panose="02010600030101010101" pitchFamily="2" charset="-122"/>
              </a:rPr>
              <a:t>Each thread can:</a:t>
            </a:r>
          </a:p>
          <a:p>
            <a:pPr marL="974725" lvl="1" indent="-403225"/>
            <a:r>
              <a:rPr lang="en-US" altLang="zh-CN" sz="1800">
                <a:ea typeface="宋体" panose="02010600030101010101" pitchFamily="2" charset="-122"/>
              </a:rPr>
              <a:t>R/W per-thread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registers</a:t>
            </a:r>
          </a:p>
          <a:p>
            <a:pPr marL="974725" lvl="1" indent="-403225"/>
            <a:r>
              <a:rPr lang="en-US" altLang="zh-CN" sz="1800">
                <a:ea typeface="宋体" panose="02010600030101010101" pitchFamily="2" charset="-122"/>
              </a:rPr>
              <a:t>R/W per-thread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local memory</a:t>
            </a:r>
          </a:p>
          <a:p>
            <a:pPr marL="974725" lvl="1" indent="-403225"/>
            <a:r>
              <a:rPr lang="en-US" altLang="zh-CN" sz="1800">
                <a:ea typeface="宋体" panose="02010600030101010101" pitchFamily="2" charset="-122"/>
              </a:rPr>
              <a:t>R/W per-block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shared memory</a:t>
            </a:r>
          </a:p>
          <a:p>
            <a:pPr marL="974725" lvl="1" indent="-403225"/>
            <a:r>
              <a:rPr lang="en-US" altLang="zh-CN" sz="1800">
                <a:ea typeface="宋体" panose="02010600030101010101" pitchFamily="2" charset="-122"/>
              </a:rPr>
              <a:t>R/W per-grid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global memory</a:t>
            </a:r>
          </a:p>
          <a:p>
            <a:pPr marL="974725" lvl="1" indent="-403225"/>
            <a:r>
              <a:rPr lang="en-US" altLang="zh-CN" sz="1800">
                <a:ea typeface="宋体" panose="02010600030101010101" pitchFamily="2" charset="-122"/>
              </a:rPr>
              <a:t>Read only per-grid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constant memory</a:t>
            </a:r>
          </a:p>
          <a:p>
            <a:pPr marL="974725" lvl="1" indent="-403225"/>
            <a:r>
              <a:rPr lang="en-US" altLang="zh-CN" sz="1800">
                <a:ea typeface="宋体" panose="02010600030101010101" pitchFamily="2" charset="-122"/>
              </a:rPr>
              <a:t>Read only per-grid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texture memory</a:t>
            </a:r>
          </a:p>
        </p:txBody>
      </p:sp>
      <p:grpSp>
        <p:nvGrpSpPr>
          <p:cNvPr id="25603" name="Group 4">
            <a:extLst>
              <a:ext uri="{FF2B5EF4-FFF2-40B4-BE49-F238E27FC236}">
                <a16:creationId xmlns:a16="http://schemas.microsoft.com/office/drawing/2014/main" id="{53F8C9D1-154F-F759-08EB-7A273BF128CB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1773238"/>
            <a:ext cx="4329113" cy="4818062"/>
            <a:chOff x="2842" y="974"/>
            <a:chExt cx="2861" cy="3178"/>
          </a:xfrm>
        </p:grpSpPr>
        <p:sp>
          <p:nvSpPr>
            <p:cNvPr id="25605" name="AutoShape 5">
              <a:extLst>
                <a:ext uri="{FF2B5EF4-FFF2-40B4-BE49-F238E27FC236}">
                  <a16:creationId xmlns:a16="http://schemas.microsoft.com/office/drawing/2014/main" id="{1D4A1D94-60FC-F6A0-1D1E-15C9A59973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2" y="974"/>
              <a:ext cx="2341" cy="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/>
            </a:p>
          </p:txBody>
        </p:sp>
        <p:sp>
          <p:nvSpPr>
            <p:cNvPr id="25606" name="Text Box 6">
              <a:extLst>
                <a:ext uri="{FF2B5EF4-FFF2-40B4-BE49-F238E27FC236}">
                  <a16:creationId xmlns:a16="http://schemas.microsoft.com/office/drawing/2014/main" id="{42FBDA28-D91D-346E-FED2-51BA69E5E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" y="977"/>
              <a:ext cx="2335" cy="31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(Device) Grid</a:t>
              </a:r>
            </a:p>
          </p:txBody>
        </p:sp>
        <p:sp>
          <p:nvSpPr>
            <p:cNvPr id="25607" name="Text Box 7">
              <a:extLst>
                <a:ext uri="{FF2B5EF4-FFF2-40B4-BE49-F238E27FC236}">
                  <a16:creationId xmlns:a16="http://schemas.microsoft.com/office/drawing/2014/main" id="{50B2B814-1C0A-969A-68FC-281CBF14E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491"/>
              <a:ext cx="2271" cy="26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Constant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8" name="Text Box 8">
              <a:extLst>
                <a:ext uri="{FF2B5EF4-FFF2-40B4-BE49-F238E27FC236}">
                  <a16:creationId xmlns:a16="http://schemas.microsoft.com/office/drawing/2014/main" id="{DE4EDC07-4869-F531-B6E1-9C8B26D01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830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Texture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9" name="Text Box 9">
              <a:extLst>
                <a:ext uri="{FF2B5EF4-FFF2-40B4-BE49-F238E27FC236}">
                  <a16:creationId xmlns:a16="http://schemas.microsoft.com/office/drawing/2014/main" id="{4F83A0D1-6431-B414-CE5A-545685BDC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147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Global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0" name="Text Box 10">
              <a:extLst>
                <a:ext uri="{FF2B5EF4-FFF2-40B4-BE49-F238E27FC236}">
                  <a16:creationId xmlns:a16="http://schemas.microsoft.com/office/drawing/2014/main" id="{B8A1AA11-BEC1-5EB6-BC94-41A4B8B6F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(0, 0)</a:t>
              </a:r>
            </a:p>
          </p:txBody>
        </p:sp>
        <p:sp>
          <p:nvSpPr>
            <p:cNvPr id="25611" name="Text Box 11">
              <a:extLst>
                <a:ext uri="{FF2B5EF4-FFF2-40B4-BE49-F238E27FC236}">
                  <a16:creationId xmlns:a16="http://schemas.microsoft.com/office/drawing/2014/main" id="{8B96005C-60AA-2CCE-6F20-5CE480B8E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1609"/>
              <a:ext cx="1060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2" name="Text Box 12">
              <a:extLst>
                <a:ext uri="{FF2B5EF4-FFF2-40B4-BE49-F238E27FC236}">
                  <a16:creationId xmlns:a16="http://schemas.microsoft.com/office/drawing/2014/main" id="{EED17EA1-0411-E2AC-ECC3-B6CAECEE82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3" name="Text Box 13">
              <a:extLst>
                <a:ext uri="{FF2B5EF4-FFF2-40B4-BE49-F238E27FC236}">
                  <a16:creationId xmlns:a16="http://schemas.microsoft.com/office/drawing/2014/main" id="{D26F431F-70CA-589F-F719-E0378B675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4" name="Text Box 14">
              <a:extLst>
                <a:ext uri="{FF2B5EF4-FFF2-40B4-BE49-F238E27FC236}">
                  <a16:creationId xmlns:a16="http://schemas.microsoft.com/office/drawing/2014/main" id="{03D18A50-7F2E-B68D-1D46-3F62F92CC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1926"/>
              <a:ext cx="392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5" name="Line 15">
              <a:extLst>
                <a:ext uri="{FF2B5EF4-FFF2-40B4-BE49-F238E27FC236}">
                  <a16:creationId xmlns:a16="http://schemas.microsoft.com/office/drawing/2014/main" id="{58281118-52C5-B454-DE5C-8BD051DE2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4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16" name="Line 16">
              <a:extLst>
                <a:ext uri="{FF2B5EF4-FFF2-40B4-BE49-F238E27FC236}">
                  <a16:creationId xmlns:a16="http://schemas.microsoft.com/office/drawing/2014/main" id="{9F3E07E6-C686-7C6C-75A3-F88FC3A55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7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17" name="Line 17">
              <a:extLst>
                <a:ext uri="{FF2B5EF4-FFF2-40B4-BE49-F238E27FC236}">
                  <a16:creationId xmlns:a16="http://schemas.microsoft.com/office/drawing/2014/main" id="{E2197C61-8A1A-76DA-A1C7-BBA6A18F34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3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18" name="Line 18">
              <a:extLst>
                <a:ext uri="{FF2B5EF4-FFF2-40B4-BE49-F238E27FC236}">
                  <a16:creationId xmlns:a16="http://schemas.microsoft.com/office/drawing/2014/main" id="{A8CC1850-0EBD-3E55-F36D-5222280AD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8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19" name="Line 19">
              <a:extLst>
                <a:ext uri="{FF2B5EF4-FFF2-40B4-BE49-F238E27FC236}">
                  <a16:creationId xmlns:a16="http://schemas.microsoft.com/office/drawing/2014/main" id="{9842A176-DFD8-0AA5-BFAD-1D719DB878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20" name="Line 20">
              <a:extLst>
                <a:ext uri="{FF2B5EF4-FFF2-40B4-BE49-F238E27FC236}">
                  <a16:creationId xmlns:a16="http://schemas.microsoft.com/office/drawing/2014/main" id="{117D95AB-EBBD-29E5-D3AF-8372B7BDB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8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21" name="Text Box 21">
              <a:extLst>
                <a:ext uri="{FF2B5EF4-FFF2-40B4-BE49-F238E27FC236}">
                  <a16:creationId xmlns:a16="http://schemas.microsoft.com/office/drawing/2014/main" id="{EAEBE44C-031D-E8D0-FE78-A9DF51922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2709"/>
              <a:ext cx="333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22" name="Text Box 22">
              <a:extLst>
                <a:ext uri="{FF2B5EF4-FFF2-40B4-BE49-F238E27FC236}">
                  <a16:creationId xmlns:a16="http://schemas.microsoft.com/office/drawing/2014/main" id="{8CA81793-22AF-774B-A3C9-0AC3BDFD9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23" name="Text Box 23">
              <a:extLst>
                <a:ext uri="{FF2B5EF4-FFF2-40B4-BE49-F238E27FC236}">
                  <a16:creationId xmlns:a16="http://schemas.microsoft.com/office/drawing/2014/main" id="{8A3298A0-5679-D65E-ADBC-AA0592CF8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24" name="Line 24">
              <a:extLst>
                <a:ext uri="{FF2B5EF4-FFF2-40B4-BE49-F238E27FC236}">
                  <a16:creationId xmlns:a16="http://schemas.microsoft.com/office/drawing/2014/main" id="{DB7C7314-6B87-979C-4D55-D3D632C7F6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2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25" name="Line 25">
              <a:extLst>
                <a:ext uri="{FF2B5EF4-FFF2-40B4-BE49-F238E27FC236}">
                  <a16:creationId xmlns:a16="http://schemas.microsoft.com/office/drawing/2014/main" id="{89781580-7D7F-9C87-AF83-AF02055E40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6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26" name="Line 26">
              <a:extLst>
                <a:ext uri="{FF2B5EF4-FFF2-40B4-BE49-F238E27FC236}">
                  <a16:creationId xmlns:a16="http://schemas.microsoft.com/office/drawing/2014/main" id="{AA0FC903-319E-C4CC-4BD1-6D9DE1DE26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1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27" name="Line 27">
              <a:extLst>
                <a:ext uri="{FF2B5EF4-FFF2-40B4-BE49-F238E27FC236}">
                  <a16:creationId xmlns:a16="http://schemas.microsoft.com/office/drawing/2014/main" id="{1F24A3F2-360B-D08F-55CD-EC4E8E42B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28" name="Line 28">
              <a:extLst>
                <a:ext uri="{FF2B5EF4-FFF2-40B4-BE49-F238E27FC236}">
                  <a16:creationId xmlns:a16="http://schemas.microsoft.com/office/drawing/2014/main" id="{E1D93843-156E-0964-4D55-BB0F38D799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7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29" name="Line 29">
              <a:extLst>
                <a:ext uri="{FF2B5EF4-FFF2-40B4-BE49-F238E27FC236}">
                  <a16:creationId xmlns:a16="http://schemas.microsoft.com/office/drawing/2014/main" id="{C81DE490-8F97-EAA6-E9E2-E5B0BE1D1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30" name="Text Box 30">
              <a:extLst>
                <a:ext uri="{FF2B5EF4-FFF2-40B4-BE49-F238E27FC236}">
                  <a16:creationId xmlns:a16="http://schemas.microsoft.com/office/drawing/2014/main" id="{EBDDBDE8-335A-4C66-41C4-D219C3761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3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(1, 0)</a:t>
              </a:r>
              <a:endParaRPr lang="en-US" altLang="zh-CN" sz="18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1" name="Text Box 31">
              <a:extLst>
                <a:ext uri="{FF2B5EF4-FFF2-40B4-BE49-F238E27FC236}">
                  <a16:creationId xmlns:a16="http://schemas.microsoft.com/office/drawing/2014/main" id="{A323FB48-2283-F144-A772-78D80CB4EF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609"/>
              <a:ext cx="1061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2" name="Text Box 32">
              <a:extLst>
                <a:ext uri="{FF2B5EF4-FFF2-40B4-BE49-F238E27FC236}">
                  <a16:creationId xmlns:a16="http://schemas.microsoft.com/office/drawing/2014/main" id="{E8B8DAAF-C913-BFAE-014A-1C391EC5EF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3" name="Text Box 33">
              <a:extLst>
                <a:ext uri="{FF2B5EF4-FFF2-40B4-BE49-F238E27FC236}">
                  <a16:creationId xmlns:a16="http://schemas.microsoft.com/office/drawing/2014/main" id="{AFBF4BAD-8AD6-F03A-45E8-8D9CB81AC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4" name="Text Box 34">
              <a:extLst>
                <a:ext uri="{FF2B5EF4-FFF2-40B4-BE49-F238E27FC236}">
                  <a16:creationId xmlns:a16="http://schemas.microsoft.com/office/drawing/2014/main" id="{4996C9FB-12A7-F26C-E0E2-2AA92F2BA2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5" name="Line 35">
              <a:extLst>
                <a:ext uri="{FF2B5EF4-FFF2-40B4-BE49-F238E27FC236}">
                  <a16:creationId xmlns:a16="http://schemas.microsoft.com/office/drawing/2014/main" id="{D437D75C-FC9E-1EB1-F1BA-CF040FB6CE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0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36" name="Line 36">
              <a:extLst>
                <a:ext uri="{FF2B5EF4-FFF2-40B4-BE49-F238E27FC236}">
                  <a16:creationId xmlns:a16="http://schemas.microsoft.com/office/drawing/2014/main" id="{C19BBC01-0D37-2FEF-0F75-B791BCEB97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4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37" name="Line 37">
              <a:extLst>
                <a:ext uri="{FF2B5EF4-FFF2-40B4-BE49-F238E27FC236}">
                  <a16:creationId xmlns:a16="http://schemas.microsoft.com/office/drawing/2014/main" id="{A3D44689-C591-49EF-DF50-7EE97EE197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9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38" name="Line 38">
              <a:extLst>
                <a:ext uri="{FF2B5EF4-FFF2-40B4-BE49-F238E27FC236}">
                  <a16:creationId xmlns:a16="http://schemas.microsoft.com/office/drawing/2014/main" id="{3A07D7FE-1CC8-A643-32EA-8D7EE32C87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5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39" name="Line 39">
              <a:extLst>
                <a:ext uri="{FF2B5EF4-FFF2-40B4-BE49-F238E27FC236}">
                  <a16:creationId xmlns:a16="http://schemas.microsoft.com/office/drawing/2014/main" id="{4C468642-C5F8-D563-FBC0-A16C9F799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40" name="Line 40">
              <a:extLst>
                <a:ext uri="{FF2B5EF4-FFF2-40B4-BE49-F238E27FC236}">
                  <a16:creationId xmlns:a16="http://schemas.microsoft.com/office/drawing/2014/main" id="{C415B371-0A7F-7D97-5A28-CEEA8D30F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4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41" name="Text Box 41">
              <a:extLst>
                <a:ext uri="{FF2B5EF4-FFF2-40B4-BE49-F238E27FC236}">
                  <a16:creationId xmlns:a16="http://schemas.microsoft.com/office/drawing/2014/main" id="{FE481097-F953-F4D7-30FE-098711E84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2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2" name="Text Box 42">
              <a:extLst>
                <a:ext uri="{FF2B5EF4-FFF2-40B4-BE49-F238E27FC236}">
                  <a16:creationId xmlns:a16="http://schemas.microsoft.com/office/drawing/2014/main" id="{38CF7683-11B3-FDBD-E5A3-9924F99AB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3" name="Text Box 43">
              <a:extLst>
                <a:ext uri="{FF2B5EF4-FFF2-40B4-BE49-F238E27FC236}">
                  <a16:creationId xmlns:a16="http://schemas.microsoft.com/office/drawing/2014/main" id="{724744C2-4043-A6B3-6451-85EA09E26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4" name="Line 44">
              <a:extLst>
                <a:ext uri="{FF2B5EF4-FFF2-40B4-BE49-F238E27FC236}">
                  <a16:creationId xmlns:a16="http://schemas.microsoft.com/office/drawing/2014/main" id="{CCBB213B-A7CF-B570-60DC-79862A6FD9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79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45" name="Line 45">
              <a:extLst>
                <a:ext uri="{FF2B5EF4-FFF2-40B4-BE49-F238E27FC236}">
                  <a16:creationId xmlns:a16="http://schemas.microsoft.com/office/drawing/2014/main" id="{30551674-4C60-8380-8EEB-6EF22E14AF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2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46" name="Line 46">
              <a:extLst>
                <a:ext uri="{FF2B5EF4-FFF2-40B4-BE49-F238E27FC236}">
                  <a16:creationId xmlns:a16="http://schemas.microsoft.com/office/drawing/2014/main" id="{9437092B-A152-02EA-9946-E2F06F5EE7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8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47" name="Line 47">
              <a:extLst>
                <a:ext uri="{FF2B5EF4-FFF2-40B4-BE49-F238E27FC236}">
                  <a16:creationId xmlns:a16="http://schemas.microsoft.com/office/drawing/2014/main" id="{44E57C53-8E4F-67EC-41E7-B430C3BEB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4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48" name="Line 48">
              <a:extLst>
                <a:ext uri="{FF2B5EF4-FFF2-40B4-BE49-F238E27FC236}">
                  <a16:creationId xmlns:a16="http://schemas.microsoft.com/office/drawing/2014/main" id="{016291A8-262A-D8F5-60A1-EDC57A862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4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49" name="Line 49">
              <a:extLst>
                <a:ext uri="{FF2B5EF4-FFF2-40B4-BE49-F238E27FC236}">
                  <a16:creationId xmlns:a16="http://schemas.microsoft.com/office/drawing/2014/main" id="{544E75E0-42AD-CB32-B3FF-61734B603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3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50" name="Text Box 50">
              <a:extLst>
                <a:ext uri="{FF2B5EF4-FFF2-40B4-BE49-F238E27FC236}">
                  <a16:creationId xmlns:a16="http://schemas.microsoft.com/office/drawing/2014/main" id="{C6A7A33B-2B8B-0230-1954-5D88FC181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" y="3144"/>
              <a:ext cx="355" cy="100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Host</a:t>
              </a:r>
            </a:p>
          </p:txBody>
        </p:sp>
        <p:sp>
          <p:nvSpPr>
            <p:cNvPr id="25651" name="Line 51">
              <a:extLst>
                <a:ext uri="{FF2B5EF4-FFF2-40B4-BE49-F238E27FC236}">
                  <a16:creationId xmlns:a16="http://schemas.microsoft.com/office/drawing/2014/main" id="{9D7B5C5E-64A7-1417-41A4-0D1BF06CA6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27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52" name="Line 52">
              <a:extLst>
                <a:ext uri="{FF2B5EF4-FFF2-40B4-BE49-F238E27FC236}">
                  <a16:creationId xmlns:a16="http://schemas.microsoft.com/office/drawing/2014/main" id="{6CB8C40D-6BD7-9F79-DCCC-ABB607DD96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61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653" name="Line 53">
              <a:extLst>
                <a:ext uri="{FF2B5EF4-FFF2-40B4-BE49-F238E27FC236}">
                  <a16:creationId xmlns:a16="http://schemas.microsoft.com/office/drawing/2014/main" id="{D82B6795-7A5C-576D-FD09-E13A15B7AB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95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84C2C3C0-8216-9C72-5362-3EF22E1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u="sng" dirty="0">
                <a:ea typeface="宋体" panose="02010600030101010101" pitchFamily="2" charset="-122"/>
              </a:rPr>
              <a:t>Per-Thread Memory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2B823230-172C-712F-0AB4-992EA8260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4121151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Register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The fastest, but smallest memory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For variables declared in a kernel (local variable)</a:t>
            </a:r>
          </a:p>
          <a:p>
            <a:pPr lvl="1">
              <a:lnSpc>
                <a:spcPct val="90000"/>
              </a:lnSpc>
            </a:pPr>
            <a:endParaRPr lang="en-US" altLang="zh-CN" sz="20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Local Memory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Off-chip memory</a:t>
            </a:r>
          </a:p>
          <a:p>
            <a:pPr lvl="2">
              <a:lnSpc>
                <a:spcPct val="90000"/>
              </a:lnSpc>
            </a:pPr>
            <a:r>
              <a:rPr lang="en-US" altLang="zh-CN" sz="1700" dirty="0">
                <a:ea typeface="宋体" panose="02010600030101010101" pitchFamily="2" charset="-122"/>
              </a:rPr>
              <a:t>Reside in DRAM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Slow, but large space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Ex)</a:t>
            </a:r>
          </a:p>
          <a:p>
            <a:pPr lvl="2">
              <a:lnSpc>
                <a:spcPct val="90000"/>
              </a:lnSpc>
            </a:pPr>
            <a:r>
              <a:rPr lang="en-US" altLang="zh-CN" sz="1700" dirty="0">
                <a:ea typeface="宋体" panose="02010600030101010101" pitchFamily="2" charset="-122"/>
              </a:rPr>
              <a:t>Local </a:t>
            </a:r>
            <a:r>
              <a:rPr lang="en-US" altLang="zh-CN" sz="1700" dirty="0" err="1">
                <a:ea typeface="宋体" panose="02010600030101010101" pitchFamily="2" charset="-122"/>
              </a:rPr>
              <a:t>arrarys</a:t>
            </a:r>
            <a:endParaRPr lang="en-US" altLang="zh-CN" sz="1700" dirty="0"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sz="1700" dirty="0">
                <a:ea typeface="宋体" panose="02010600030101010101" pitchFamily="2" charset="-122"/>
              </a:rPr>
              <a:t>Large logical structure</a:t>
            </a:r>
          </a:p>
        </p:txBody>
      </p:sp>
      <p:grpSp>
        <p:nvGrpSpPr>
          <p:cNvPr id="27651" name="Group 4">
            <a:extLst>
              <a:ext uri="{FF2B5EF4-FFF2-40B4-BE49-F238E27FC236}">
                <a16:creationId xmlns:a16="http://schemas.microsoft.com/office/drawing/2014/main" id="{F5A0D7EA-E8E5-CC3F-454C-98A17500729A}"/>
              </a:ext>
            </a:extLst>
          </p:cNvPr>
          <p:cNvGrpSpPr>
            <a:grpSpLocks/>
          </p:cNvGrpSpPr>
          <p:nvPr/>
        </p:nvGrpSpPr>
        <p:grpSpPr bwMode="auto">
          <a:xfrm>
            <a:off x="4575175" y="1546225"/>
            <a:ext cx="4541838" cy="5045075"/>
            <a:chOff x="2842" y="974"/>
            <a:chExt cx="2861" cy="3178"/>
          </a:xfrm>
        </p:grpSpPr>
        <p:sp>
          <p:nvSpPr>
            <p:cNvPr id="27653" name="AutoShape 5">
              <a:extLst>
                <a:ext uri="{FF2B5EF4-FFF2-40B4-BE49-F238E27FC236}">
                  <a16:creationId xmlns:a16="http://schemas.microsoft.com/office/drawing/2014/main" id="{5C745CC7-5977-CD03-6EB8-C14BC33BCF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2" y="974"/>
              <a:ext cx="2341" cy="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/>
            </a:p>
          </p:txBody>
        </p:sp>
        <p:sp>
          <p:nvSpPr>
            <p:cNvPr id="27654" name="Text Box 6">
              <a:extLst>
                <a:ext uri="{FF2B5EF4-FFF2-40B4-BE49-F238E27FC236}">
                  <a16:creationId xmlns:a16="http://schemas.microsoft.com/office/drawing/2014/main" id="{23F7619B-586C-71F0-3EB9-D21FA91B4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" y="977"/>
              <a:ext cx="2335" cy="31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(Device) Grid</a:t>
              </a:r>
            </a:p>
          </p:txBody>
        </p:sp>
        <p:sp>
          <p:nvSpPr>
            <p:cNvPr id="27655" name="Text Box 7">
              <a:extLst>
                <a:ext uri="{FF2B5EF4-FFF2-40B4-BE49-F238E27FC236}">
                  <a16:creationId xmlns:a16="http://schemas.microsoft.com/office/drawing/2014/main" id="{6EEE3D89-251D-6C14-7BDA-47BF5E783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491"/>
              <a:ext cx="2271" cy="26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Constant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6" name="Text Box 8">
              <a:extLst>
                <a:ext uri="{FF2B5EF4-FFF2-40B4-BE49-F238E27FC236}">
                  <a16:creationId xmlns:a16="http://schemas.microsoft.com/office/drawing/2014/main" id="{E7B8FEC2-DF08-A08D-299B-12B9F4739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830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Texture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7" name="Text Box 9">
              <a:extLst>
                <a:ext uri="{FF2B5EF4-FFF2-40B4-BE49-F238E27FC236}">
                  <a16:creationId xmlns:a16="http://schemas.microsoft.com/office/drawing/2014/main" id="{D9C2850A-2F1F-EB3D-AEAB-07244F3BF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147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Global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8" name="Text Box 10">
              <a:extLst>
                <a:ext uri="{FF2B5EF4-FFF2-40B4-BE49-F238E27FC236}">
                  <a16:creationId xmlns:a16="http://schemas.microsoft.com/office/drawing/2014/main" id="{212EFD18-99E9-DBC8-17C7-1C487A4B65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(0, 0)</a:t>
              </a:r>
            </a:p>
          </p:txBody>
        </p:sp>
        <p:sp>
          <p:nvSpPr>
            <p:cNvPr id="27659" name="Text Box 11">
              <a:extLst>
                <a:ext uri="{FF2B5EF4-FFF2-40B4-BE49-F238E27FC236}">
                  <a16:creationId xmlns:a16="http://schemas.microsoft.com/office/drawing/2014/main" id="{4331F997-1C28-B344-1BEB-99020E3B3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1609"/>
              <a:ext cx="1060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0" name="Text Box 12">
              <a:extLst>
                <a:ext uri="{FF2B5EF4-FFF2-40B4-BE49-F238E27FC236}">
                  <a16:creationId xmlns:a16="http://schemas.microsoft.com/office/drawing/2014/main" id="{3F88327D-D0DF-18DD-1228-5D55A333A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1" name="Text Box 13">
              <a:extLst>
                <a:ext uri="{FF2B5EF4-FFF2-40B4-BE49-F238E27FC236}">
                  <a16:creationId xmlns:a16="http://schemas.microsoft.com/office/drawing/2014/main" id="{03513063-F17E-32A6-6706-12D0F89D49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2" name="Text Box 14">
              <a:extLst>
                <a:ext uri="{FF2B5EF4-FFF2-40B4-BE49-F238E27FC236}">
                  <a16:creationId xmlns:a16="http://schemas.microsoft.com/office/drawing/2014/main" id="{668B6522-2BC1-74CE-C23A-CDBA7D395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1926"/>
              <a:ext cx="392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3" name="Line 15">
              <a:extLst>
                <a:ext uri="{FF2B5EF4-FFF2-40B4-BE49-F238E27FC236}">
                  <a16:creationId xmlns:a16="http://schemas.microsoft.com/office/drawing/2014/main" id="{6462271D-90D5-048C-AF96-0E8601BB76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4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4" name="Line 16">
              <a:extLst>
                <a:ext uri="{FF2B5EF4-FFF2-40B4-BE49-F238E27FC236}">
                  <a16:creationId xmlns:a16="http://schemas.microsoft.com/office/drawing/2014/main" id="{F1C62034-6A45-0E12-E0EA-60E0A25DD9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7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5" name="Line 17">
              <a:extLst>
                <a:ext uri="{FF2B5EF4-FFF2-40B4-BE49-F238E27FC236}">
                  <a16:creationId xmlns:a16="http://schemas.microsoft.com/office/drawing/2014/main" id="{965F6E84-1FAB-520B-5027-D7493DC1F8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3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6" name="Line 18">
              <a:extLst>
                <a:ext uri="{FF2B5EF4-FFF2-40B4-BE49-F238E27FC236}">
                  <a16:creationId xmlns:a16="http://schemas.microsoft.com/office/drawing/2014/main" id="{1AE9344F-B6D5-7224-106B-696230884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8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7" name="Line 19">
              <a:extLst>
                <a:ext uri="{FF2B5EF4-FFF2-40B4-BE49-F238E27FC236}">
                  <a16:creationId xmlns:a16="http://schemas.microsoft.com/office/drawing/2014/main" id="{7C1CF0C1-E4E7-AA9D-2ECA-9F7232EC0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8" name="Line 20">
              <a:extLst>
                <a:ext uri="{FF2B5EF4-FFF2-40B4-BE49-F238E27FC236}">
                  <a16:creationId xmlns:a16="http://schemas.microsoft.com/office/drawing/2014/main" id="{1CD6A0D5-FA1E-01B2-5BF8-35C75E877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8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9" name="Text Box 21">
              <a:extLst>
                <a:ext uri="{FF2B5EF4-FFF2-40B4-BE49-F238E27FC236}">
                  <a16:creationId xmlns:a16="http://schemas.microsoft.com/office/drawing/2014/main" id="{92E22E0E-445D-87FF-B4E0-407F71CEC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2709"/>
              <a:ext cx="333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0" name="Text Box 22">
              <a:extLst>
                <a:ext uri="{FF2B5EF4-FFF2-40B4-BE49-F238E27FC236}">
                  <a16:creationId xmlns:a16="http://schemas.microsoft.com/office/drawing/2014/main" id="{C7925EE6-AD80-91D5-61CB-C24BDD222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1" name="Text Box 23">
              <a:extLst>
                <a:ext uri="{FF2B5EF4-FFF2-40B4-BE49-F238E27FC236}">
                  <a16:creationId xmlns:a16="http://schemas.microsoft.com/office/drawing/2014/main" id="{9A28DA58-2617-8CA1-B026-145688EFA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2" name="Line 24">
              <a:extLst>
                <a:ext uri="{FF2B5EF4-FFF2-40B4-BE49-F238E27FC236}">
                  <a16:creationId xmlns:a16="http://schemas.microsoft.com/office/drawing/2014/main" id="{78DDF2F6-A354-4CF3-4783-A58793214C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2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3" name="Line 25">
              <a:extLst>
                <a:ext uri="{FF2B5EF4-FFF2-40B4-BE49-F238E27FC236}">
                  <a16:creationId xmlns:a16="http://schemas.microsoft.com/office/drawing/2014/main" id="{ABBDF486-EDEC-F0C7-275E-8C104DAC8B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6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4" name="Line 26">
              <a:extLst>
                <a:ext uri="{FF2B5EF4-FFF2-40B4-BE49-F238E27FC236}">
                  <a16:creationId xmlns:a16="http://schemas.microsoft.com/office/drawing/2014/main" id="{EF4FC0A7-8DF0-67F4-AF5E-33F594CC29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1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5" name="Line 27">
              <a:extLst>
                <a:ext uri="{FF2B5EF4-FFF2-40B4-BE49-F238E27FC236}">
                  <a16:creationId xmlns:a16="http://schemas.microsoft.com/office/drawing/2014/main" id="{60B0EC66-DE3C-FED5-A6DC-FEB9B54DA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6" name="Line 28">
              <a:extLst>
                <a:ext uri="{FF2B5EF4-FFF2-40B4-BE49-F238E27FC236}">
                  <a16:creationId xmlns:a16="http://schemas.microsoft.com/office/drawing/2014/main" id="{6801CF85-029D-6C56-12FA-6EC90A51E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7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7" name="Line 29">
              <a:extLst>
                <a:ext uri="{FF2B5EF4-FFF2-40B4-BE49-F238E27FC236}">
                  <a16:creationId xmlns:a16="http://schemas.microsoft.com/office/drawing/2014/main" id="{808938AF-D6AC-01D0-E70C-FD6BA70F7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8" name="Text Box 30">
              <a:extLst>
                <a:ext uri="{FF2B5EF4-FFF2-40B4-BE49-F238E27FC236}">
                  <a16:creationId xmlns:a16="http://schemas.microsoft.com/office/drawing/2014/main" id="{05B8C06A-D658-31E6-BBD4-1838A324B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3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(1, 0)</a:t>
              </a:r>
              <a:endParaRPr lang="en-US" altLang="zh-CN" sz="18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9" name="Text Box 31">
              <a:extLst>
                <a:ext uri="{FF2B5EF4-FFF2-40B4-BE49-F238E27FC236}">
                  <a16:creationId xmlns:a16="http://schemas.microsoft.com/office/drawing/2014/main" id="{68FF51DE-5A7B-088D-5407-98C3053A0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609"/>
              <a:ext cx="1061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0" name="Text Box 32">
              <a:extLst>
                <a:ext uri="{FF2B5EF4-FFF2-40B4-BE49-F238E27FC236}">
                  <a16:creationId xmlns:a16="http://schemas.microsoft.com/office/drawing/2014/main" id="{DA0CC32A-D524-1857-05C3-EA268135D1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1" name="Text Box 33">
              <a:extLst>
                <a:ext uri="{FF2B5EF4-FFF2-40B4-BE49-F238E27FC236}">
                  <a16:creationId xmlns:a16="http://schemas.microsoft.com/office/drawing/2014/main" id="{58673BDB-DB91-AB58-998A-DD50AF8B2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2" name="Text Box 34">
              <a:extLst>
                <a:ext uri="{FF2B5EF4-FFF2-40B4-BE49-F238E27FC236}">
                  <a16:creationId xmlns:a16="http://schemas.microsoft.com/office/drawing/2014/main" id="{AB34A17B-321F-BB00-06F0-18B605451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3" name="Line 35">
              <a:extLst>
                <a:ext uri="{FF2B5EF4-FFF2-40B4-BE49-F238E27FC236}">
                  <a16:creationId xmlns:a16="http://schemas.microsoft.com/office/drawing/2014/main" id="{4ED528C8-54C5-9930-51EF-19170964AB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0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4" name="Line 36">
              <a:extLst>
                <a:ext uri="{FF2B5EF4-FFF2-40B4-BE49-F238E27FC236}">
                  <a16:creationId xmlns:a16="http://schemas.microsoft.com/office/drawing/2014/main" id="{D85B0A1F-D492-3C2D-425C-267341A61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4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5" name="Line 37">
              <a:extLst>
                <a:ext uri="{FF2B5EF4-FFF2-40B4-BE49-F238E27FC236}">
                  <a16:creationId xmlns:a16="http://schemas.microsoft.com/office/drawing/2014/main" id="{F499E4D8-729C-D40D-22B8-F6832CFF0F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9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6" name="Line 38">
              <a:extLst>
                <a:ext uri="{FF2B5EF4-FFF2-40B4-BE49-F238E27FC236}">
                  <a16:creationId xmlns:a16="http://schemas.microsoft.com/office/drawing/2014/main" id="{1183E221-D32C-AD43-7D50-B34D3AC98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5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7" name="Line 39">
              <a:extLst>
                <a:ext uri="{FF2B5EF4-FFF2-40B4-BE49-F238E27FC236}">
                  <a16:creationId xmlns:a16="http://schemas.microsoft.com/office/drawing/2014/main" id="{CE680916-4529-E0E4-D798-2C5D52759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8" name="Line 40">
              <a:extLst>
                <a:ext uri="{FF2B5EF4-FFF2-40B4-BE49-F238E27FC236}">
                  <a16:creationId xmlns:a16="http://schemas.microsoft.com/office/drawing/2014/main" id="{02530EF1-ADB3-35CA-66E2-14CC1265F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4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9" name="Text Box 41">
              <a:extLst>
                <a:ext uri="{FF2B5EF4-FFF2-40B4-BE49-F238E27FC236}">
                  <a16:creationId xmlns:a16="http://schemas.microsoft.com/office/drawing/2014/main" id="{D2FD8C9A-230D-C052-C9E2-0DE8BF0415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2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0" name="Text Box 42">
              <a:extLst>
                <a:ext uri="{FF2B5EF4-FFF2-40B4-BE49-F238E27FC236}">
                  <a16:creationId xmlns:a16="http://schemas.microsoft.com/office/drawing/2014/main" id="{B3C0863F-0421-0C7D-CE3C-D839968A7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1" name="Text Box 43">
              <a:extLst>
                <a:ext uri="{FF2B5EF4-FFF2-40B4-BE49-F238E27FC236}">
                  <a16:creationId xmlns:a16="http://schemas.microsoft.com/office/drawing/2014/main" id="{C11FF090-BF58-AFFB-534E-B80F2BB0A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2" name="Line 44">
              <a:extLst>
                <a:ext uri="{FF2B5EF4-FFF2-40B4-BE49-F238E27FC236}">
                  <a16:creationId xmlns:a16="http://schemas.microsoft.com/office/drawing/2014/main" id="{8242EEBD-854F-96FA-B293-9AEF54E638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79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3" name="Line 45">
              <a:extLst>
                <a:ext uri="{FF2B5EF4-FFF2-40B4-BE49-F238E27FC236}">
                  <a16:creationId xmlns:a16="http://schemas.microsoft.com/office/drawing/2014/main" id="{7D6C4C58-F455-BBC2-8935-87F9628A86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2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4" name="Line 46">
              <a:extLst>
                <a:ext uri="{FF2B5EF4-FFF2-40B4-BE49-F238E27FC236}">
                  <a16:creationId xmlns:a16="http://schemas.microsoft.com/office/drawing/2014/main" id="{9EEAE42E-6B7D-C6D1-E70E-5E3FCAA22B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8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5" name="Line 47">
              <a:extLst>
                <a:ext uri="{FF2B5EF4-FFF2-40B4-BE49-F238E27FC236}">
                  <a16:creationId xmlns:a16="http://schemas.microsoft.com/office/drawing/2014/main" id="{0065D6F1-2895-A326-0784-FE0001E180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4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6" name="Line 48">
              <a:extLst>
                <a:ext uri="{FF2B5EF4-FFF2-40B4-BE49-F238E27FC236}">
                  <a16:creationId xmlns:a16="http://schemas.microsoft.com/office/drawing/2014/main" id="{05C14FC6-C1A6-D50E-5EEA-062EF92F60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4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7" name="Line 49">
              <a:extLst>
                <a:ext uri="{FF2B5EF4-FFF2-40B4-BE49-F238E27FC236}">
                  <a16:creationId xmlns:a16="http://schemas.microsoft.com/office/drawing/2014/main" id="{4CF769BF-19FC-121E-CD59-CBBB22E1DE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3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8" name="Text Box 50">
              <a:extLst>
                <a:ext uri="{FF2B5EF4-FFF2-40B4-BE49-F238E27FC236}">
                  <a16:creationId xmlns:a16="http://schemas.microsoft.com/office/drawing/2014/main" id="{05AE080B-598F-6FE4-B909-408B17597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" y="3144"/>
              <a:ext cx="355" cy="100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Host</a:t>
              </a:r>
            </a:p>
          </p:txBody>
        </p:sp>
        <p:sp>
          <p:nvSpPr>
            <p:cNvPr id="27699" name="Line 51">
              <a:extLst>
                <a:ext uri="{FF2B5EF4-FFF2-40B4-BE49-F238E27FC236}">
                  <a16:creationId xmlns:a16="http://schemas.microsoft.com/office/drawing/2014/main" id="{0A789BA5-3803-25AB-CC20-5137502800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27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00" name="Line 52">
              <a:extLst>
                <a:ext uri="{FF2B5EF4-FFF2-40B4-BE49-F238E27FC236}">
                  <a16:creationId xmlns:a16="http://schemas.microsoft.com/office/drawing/2014/main" id="{A0CF3613-9E31-8D16-6FCE-5A74A4E0A8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61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01" name="Line 53">
              <a:extLst>
                <a:ext uri="{FF2B5EF4-FFF2-40B4-BE49-F238E27FC236}">
                  <a16:creationId xmlns:a16="http://schemas.microsoft.com/office/drawing/2014/main" id="{207FAF8B-5DD6-5D78-B54B-36E070564F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95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652" name="Text Box 57">
            <a:extLst>
              <a:ext uri="{FF2B5EF4-FFF2-40B4-BE49-F238E27FC236}">
                <a16:creationId xmlns:a16="http://schemas.microsoft.com/office/drawing/2014/main" id="{A073A7C8-5C6D-8D85-0D24-4A9513E3C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6511925"/>
            <a:ext cx="167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Courtesy: NDVIA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9258-9614-97A6-38E6-D589077AD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F27557ED-E301-7AC4-0231-AFE52E1A3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u="sng" dirty="0">
                <a:ea typeface="宋体" panose="02010600030101010101" pitchFamily="2" charset="-122"/>
              </a:rPr>
              <a:t>Per-Block Memory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3EAD57A5-4D62-B322-9D30-3C81CBE88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4695825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Shared memory (__shared__)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fast, but small on-chip memory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Shared by all threads in a block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All threads in a block access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 the same data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Partitioned by blocks in a SM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Around 100x faster than global     memory</a:t>
            </a:r>
          </a:p>
        </p:txBody>
      </p:sp>
      <p:grpSp>
        <p:nvGrpSpPr>
          <p:cNvPr id="27651" name="Group 4">
            <a:extLst>
              <a:ext uri="{FF2B5EF4-FFF2-40B4-BE49-F238E27FC236}">
                <a16:creationId xmlns:a16="http://schemas.microsoft.com/office/drawing/2014/main" id="{FE7E7631-1398-7FAC-5D54-7EB83D4F92D8}"/>
              </a:ext>
            </a:extLst>
          </p:cNvPr>
          <p:cNvGrpSpPr>
            <a:grpSpLocks/>
          </p:cNvGrpSpPr>
          <p:nvPr/>
        </p:nvGrpSpPr>
        <p:grpSpPr bwMode="auto">
          <a:xfrm>
            <a:off x="4575175" y="1546225"/>
            <a:ext cx="4541838" cy="5045075"/>
            <a:chOff x="2842" y="974"/>
            <a:chExt cx="2861" cy="3178"/>
          </a:xfrm>
        </p:grpSpPr>
        <p:sp>
          <p:nvSpPr>
            <p:cNvPr id="27653" name="AutoShape 5">
              <a:extLst>
                <a:ext uri="{FF2B5EF4-FFF2-40B4-BE49-F238E27FC236}">
                  <a16:creationId xmlns:a16="http://schemas.microsoft.com/office/drawing/2014/main" id="{8F2D8DC2-9DC8-0D4A-E6C3-472273CE80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2" y="974"/>
              <a:ext cx="2341" cy="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/>
            </a:p>
          </p:txBody>
        </p:sp>
        <p:sp>
          <p:nvSpPr>
            <p:cNvPr id="27654" name="Text Box 6">
              <a:extLst>
                <a:ext uri="{FF2B5EF4-FFF2-40B4-BE49-F238E27FC236}">
                  <a16:creationId xmlns:a16="http://schemas.microsoft.com/office/drawing/2014/main" id="{3BFF873E-F760-79E6-AA99-33305B5DB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" y="977"/>
              <a:ext cx="2335" cy="31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(Device) Grid</a:t>
              </a:r>
            </a:p>
          </p:txBody>
        </p:sp>
        <p:sp>
          <p:nvSpPr>
            <p:cNvPr id="27655" name="Text Box 7">
              <a:extLst>
                <a:ext uri="{FF2B5EF4-FFF2-40B4-BE49-F238E27FC236}">
                  <a16:creationId xmlns:a16="http://schemas.microsoft.com/office/drawing/2014/main" id="{C2520145-2498-C704-8802-0E5A808ED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491"/>
              <a:ext cx="2271" cy="26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Constant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6" name="Text Box 8">
              <a:extLst>
                <a:ext uri="{FF2B5EF4-FFF2-40B4-BE49-F238E27FC236}">
                  <a16:creationId xmlns:a16="http://schemas.microsoft.com/office/drawing/2014/main" id="{5F637A77-66FF-2F6F-48E1-FFE92D060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830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Texture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7" name="Text Box 9">
              <a:extLst>
                <a:ext uri="{FF2B5EF4-FFF2-40B4-BE49-F238E27FC236}">
                  <a16:creationId xmlns:a16="http://schemas.microsoft.com/office/drawing/2014/main" id="{2610EEE8-DE3B-3A17-038E-4AB13BE6F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147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Global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8" name="Text Box 10">
              <a:extLst>
                <a:ext uri="{FF2B5EF4-FFF2-40B4-BE49-F238E27FC236}">
                  <a16:creationId xmlns:a16="http://schemas.microsoft.com/office/drawing/2014/main" id="{626ECD5B-195F-DBBD-F741-1EC8704A5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(0, 0)</a:t>
              </a:r>
            </a:p>
          </p:txBody>
        </p:sp>
        <p:sp>
          <p:nvSpPr>
            <p:cNvPr id="27659" name="Text Box 11">
              <a:extLst>
                <a:ext uri="{FF2B5EF4-FFF2-40B4-BE49-F238E27FC236}">
                  <a16:creationId xmlns:a16="http://schemas.microsoft.com/office/drawing/2014/main" id="{65BF92A0-094A-9F5A-DEC7-90D5EAD6BA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1609"/>
              <a:ext cx="1060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0" name="Text Box 12">
              <a:extLst>
                <a:ext uri="{FF2B5EF4-FFF2-40B4-BE49-F238E27FC236}">
                  <a16:creationId xmlns:a16="http://schemas.microsoft.com/office/drawing/2014/main" id="{914C3CC1-C090-85D0-CA22-4F7745A9F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1" name="Text Box 13">
              <a:extLst>
                <a:ext uri="{FF2B5EF4-FFF2-40B4-BE49-F238E27FC236}">
                  <a16:creationId xmlns:a16="http://schemas.microsoft.com/office/drawing/2014/main" id="{D6495923-38D6-4D8F-5FC3-69C6A1DCD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2" name="Text Box 14">
              <a:extLst>
                <a:ext uri="{FF2B5EF4-FFF2-40B4-BE49-F238E27FC236}">
                  <a16:creationId xmlns:a16="http://schemas.microsoft.com/office/drawing/2014/main" id="{A80F6525-B9B2-30EA-83A2-9D1332745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1926"/>
              <a:ext cx="392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3" name="Line 15">
              <a:extLst>
                <a:ext uri="{FF2B5EF4-FFF2-40B4-BE49-F238E27FC236}">
                  <a16:creationId xmlns:a16="http://schemas.microsoft.com/office/drawing/2014/main" id="{4D186220-CB2B-3603-6C26-3715869CC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4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4" name="Line 16">
              <a:extLst>
                <a:ext uri="{FF2B5EF4-FFF2-40B4-BE49-F238E27FC236}">
                  <a16:creationId xmlns:a16="http://schemas.microsoft.com/office/drawing/2014/main" id="{A7FB4A05-DEF9-C4A2-D716-E9378EB8CA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7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5" name="Line 17">
              <a:extLst>
                <a:ext uri="{FF2B5EF4-FFF2-40B4-BE49-F238E27FC236}">
                  <a16:creationId xmlns:a16="http://schemas.microsoft.com/office/drawing/2014/main" id="{178A8CD6-6F2C-EA52-21FB-8B428A4C7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3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6" name="Line 18">
              <a:extLst>
                <a:ext uri="{FF2B5EF4-FFF2-40B4-BE49-F238E27FC236}">
                  <a16:creationId xmlns:a16="http://schemas.microsoft.com/office/drawing/2014/main" id="{82A7E3A6-E328-D2D7-F882-02D2FCF92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8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7" name="Line 19">
              <a:extLst>
                <a:ext uri="{FF2B5EF4-FFF2-40B4-BE49-F238E27FC236}">
                  <a16:creationId xmlns:a16="http://schemas.microsoft.com/office/drawing/2014/main" id="{16BF426F-39F8-9F9C-C692-1B47534BF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8" name="Line 20">
              <a:extLst>
                <a:ext uri="{FF2B5EF4-FFF2-40B4-BE49-F238E27FC236}">
                  <a16:creationId xmlns:a16="http://schemas.microsoft.com/office/drawing/2014/main" id="{32280B29-06BB-6DFD-8D12-13B64AB95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8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9" name="Text Box 21">
              <a:extLst>
                <a:ext uri="{FF2B5EF4-FFF2-40B4-BE49-F238E27FC236}">
                  <a16:creationId xmlns:a16="http://schemas.microsoft.com/office/drawing/2014/main" id="{68FF0CC3-E4CC-EBD6-A94E-613F85E2A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2709"/>
              <a:ext cx="333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0" name="Text Box 22">
              <a:extLst>
                <a:ext uri="{FF2B5EF4-FFF2-40B4-BE49-F238E27FC236}">
                  <a16:creationId xmlns:a16="http://schemas.microsoft.com/office/drawing/2014/main" id="{0AFCC76D-46E6-90F6-7713-6FDE315FD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1" name="Text Box 23">
              <a:extLst>
                <a:ext uri="{FF2B5EF4-FFF2-40B4-BE49-F238E27FC236}">
                  <a16:creationId xmlns:a16="http://schemas.microsoft.com/office/drawing/2014/main" id="{F55EE383-B29E-465F-19D3-3653F5876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2" name="Line 24">
              <a:extLst>
                <a:ext uri="{FF2B5EF4-FFF2-40B4-BE49-F238E27FC236}">
                  <a16:creationId xmlns:a16="http://schemas.microsoft.com/office/drawing/2014/main" id="{1D593CC4-09F0-0FC2-7A36-A63665AFE4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2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3" name="Line 25">
              <a:extLst>
                <a:ext uri="{FF2B5EF4-FFF2-40B4-BE49-F238E27FC236}">
                  <a16:creationId xmlns:a16="http://schemas.microsoft.com/office/drawing/2014/main" id="{F6C64F4C-4827-9188-F486-7F0005FB40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6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4" name="Line 26">
              <a:extLst>
                <a:ext uri="{FF2B5EF4-FFF2-40B4-BE49-F238E27FC236}">
                  <a16:creationId xmlns:a16="http://schemas.microsoft.com/office/drawing/2014/main" id="{2294BF4F-C7A9-95A5-6E96-FE29152488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1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5" name="Line 27">
              <a:extLst>
                <a:ext uri="{FF2B5EF4-FFF2-40B4-BE49-F238E27FC236}">
                  <a16:creationId xmlns:a16="http://schemas.microsoft.com/office/drawing/2014/main" id="{007055C9-4B30-B1FB-63EC-5458CFFF5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6" name="Line 28">
              <a:extLst>
                <a:ext uri="{FF2B5EF4-FFF2-40B4-BE49-F238E27FC236}">
                  <a16:creationId xmlns:a16="http://schemas.microsoft.com/office/drawing/2014/main" id="{CDF660D4-1E66-2082-A965-C65C40F2A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7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7" name="Line 29">
              <a:extLst>
                <a:ext uri="{FF2B5EF4-FFF2-40B4-BE49-F238E27FC236}">
                  <a16:creationId xmlns:a16="http://schemas.microsoft.com/office/drawing/2014/main" id="{EE141B13-FEEA-5832-CC17-D4D662CC1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8" name="Text Box 30">
              <a:extLst>
                <a:ext uri="{FF2B5EF4-FFF2-40B4-BE49-F238E27FC236}">
                  <a16:creationId xmlns:a16="http://schemas.microsoft.com/office/drawing/2014/main" id="{5D2E94B1-FC2E-336F-564D-8F80AF528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3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(1, 0)</a:t>
              </a:r>
              <a:endParaRPr lang="en-US" altLang="zh-CN" sz="18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9" name="Text Box 31">
              <a:extLst>
                <a:ext uri="{FF2B5EF4-FFF2-40B4-BE49-F238E27FC236}">
                  <a16:creationId xmlns:a16="http://schemas.microsoft.com/office/drawing/2014/main" id="{60745D2F-D791-77F4-620F-23AE59844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609"/>
              <a:ext cx="1061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0" name="Text Box 32">
              <a:extLst>
                <a:ext uri="{FF2B5EF4-FFF2-40B4-BE49-F238E27FC236}">
                  <a16:creationId xmlns:a16="http://schemas.microsoft.com/office/drawing/2014/main" id="{86F141C5-2ABF-10B5-B0C7-B435BB1B1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1" name="Text Box 33">
              <a:extLst>
                <a:ext uri="{FF2B5EF4-FFF2-40B4-BE49-F238E27FC236}">
                  <a16:creationId xmlns:a16="http://schemas.microsoft.com/office/drawing/2014/main" id="{4DA3C391-07BD-61E0-9E4A-CDE8A6320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2" name="Text Box 34">
              <a:extLst>
                <a:ext uri="{FF2B5EF4-FFF2-40B4-BE49-F238E27FC236}">
                  <a16:creationId xmlns:a16="http://schemas.microsoft.com/office/drawing/2014/main" id="{81BD9D0C-8361-1D09-85E6-F6EABD40ED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3" name="Line 35">
              <a:extLst>
                <a:ext uri="{FF2B5EF4-FFF2-40B4-BE49-F238E27FC236}">
                  <a16:creationId xmlns:a16="http://schemas.microsoft.com/office/drawing/2014/main" id="{77EFF45A-FF7A-0873-C3A1-95F47A972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0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4" name="Line 36">
              <a:extLst>
                <a:ext uri="{FF2B5EF4-FFF2-40B4-BE49-F238E27FC236}">
                  <a16:creationId xmlns:a16="http://schemas.microsoft.com/office/drawing/2014/main" id="{FD99E9B8-216A-978C-4DCF-7AA3CFCF38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4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5" name="Line 37">
              <a:extLst>
                <a:ext uri="{FF2B5EF4-FFF2-40B4-BE49-F238E27FC236}">
                  <a16:creationId xmlns:a16="http://schemas.microsoft.com/office/drawing/2014/main" id="{44B59017-1B4A-8709-DC7A-A59426511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9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6" name="Line 38">
              <a:extLst>
                <a:ext uri="{FF2B5EF4-FFF2-40B4-BE49-F238E27FC236}">
                  <a16:creationId xmlns:a16="http://schemas.microsoft.com/office/drawing/2014/main" id="{4702F38A-BB75-D7E7-1704-94D8FA525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5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7" name="Line 39">
              <a:extLst>
                <a:ext uri="{FF2B5EF4-FFF2-40B4-BE49-F238E27FC236}">
                  <a16:creationId xmlns:a16="http://schemas.microsoft.com/office/drawing/2014/main" id="{511BC3EA-B892-CD8F-77E1-80B843093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8" name="Line 40">
              <a:extLst>
                <a:ext uri="{FF2B5EF4-FFF2-40B4-BE49-F238E27FC236}">
                  <a16:creationId xmlns:a16="http://schemas.microsoft.com/office/drawing/2014/main" id="{D0896CFE-6ED0-92E0-5DC7-123D29D12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4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9" name="Text Box 41">
              <a:extLst>
                <a:ext uri="{FF2B5EF4-FFF2-40B4-BE49-F238E27FC236}">
                  <a16:creationId xmlns:a16="http://schemas.microsoft.com/office/drawing/2014/main" id="{CAB2ED02-E5CF-6DDA-6467-B560C0D9A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2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0" name="Text Box 42">
              <a:extLst>
                <a:ext uri="{FF2B5EF4-FFF2-40B4-BE49-F238E27FC236}">
                  <a16:creationId xmlns:a16="http://schemas.microsoft.com/office/drawing/2014/main" id="{C62B4C1F-A0D8-CAB5-F7FC-8DEA6AB78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1" name="Text Box 43">
              <a:extLst>
                <a:ext uri="{FF2B5EF4-FFF2-40B4-BE49-F238E27FC236}">
                  <a16:creationId xmlns:a16="http://schemas.microsoft.com/office/drawing/2014/main" id="{9F70F475-D711-CDF4-F22B-D30B17DD3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2" name="Line 44">
              <a:extLst>
                <a:ext uri="{FF2B5EF4-FFF2-40B4-BE49-F238E27FC236}">
                  <a16:creationId xmlns:a16="http://schemas.microsoft.com/office/drawing/2014/main" id="{A0945E72-A9FE-1935-00A1-B55AADA38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79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3" name="Line 45">
              <a:extLst>
                <a:ext uri="{FF2B5EF4-FFF2-40B4-BE49-F238E27FC236}">
                  <a16:creationId xmlns:a16="http://schemas.microsoft.com/office/drawing/2014/main" id="{F2D1F8CA-7A25-E372-EF70-67AED927E0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2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4" name="Line 46">
              <a:extLst>
                <a:ext uri="{FF2B5EF4-FFF2-40B4-BE49-F238E27FC236}">
                  <a16:creationId xmlns:a16="http://schemas.microsoft.com/office/drawing/2014/main" id="{500C7577-181E-765B-AB4E-FC6BA98CA4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8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5" name="Line 47">
              <a:extLst>
                <a:ext uri="{FF2B5EF4-FFF2-40B4-BE49-F238E27FC236}">
                  <a16:creationId xmlns:a16="http://schemas.microsoft.com/office/drawing/2014/main" id="{64248053-BAB5-EC9F-C992-1B465C967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4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6" name="Line 48">
              <a:extLst>
                <a:ext uri="{FF2B5EF4-FFF2-40B4-BE49-F238E27FC236}">
                  <a16:creationId xmlns:a16="http://schemas.microsoft.com/office/drawing/2014/main" id="{B849B2F8-E6CF-AD95-3F76-6C81A08BF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4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7" name="Line 49">
              <a:extLst>
                <a:ext uri="{FF2B5EF4-FFF2-40B4-BE49-F238E27FC236}">
                  <a16:creationId xmlns:a16="http://schemas.microsoft.com/office/drawing/2014/main" id="{C7AEBBC2-2536-9011-6845-77D29E649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3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8" name="Text Box 50">
              <a:extLst>
                <a:ext uri="{FF2B5EF4-FFF2-40B4-BE49-F238E27FC236}">
                  <a16:creationId xmlns:a16="http://schemas.microsoft.com/office/drawing/2014/main" id="{5D4CB349-BAF4-0489-1D15-F8310C4312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" y="3144"/>
              <a:ext cx="355" cy="100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Host</a:t>
              </a:r>
            </a:p>
          </p:txBody>
        </p:sp>
        <p:sp>
          <p:nvSpPr>
            <p:cNvPr id="27699" name="Line 51">
              <a:extLst>
                <a:ext uri="{FF2B5EF4-FFF2-40B4-BE49-F238E27FC236}">
                  <a16:creationId xmlns:a16="http://schemas.microsoft.com/office/drawing/2014/main" id="{8DE50878-9648-C4A2-F362-0AF3042484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27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00" name="Line 52">
              <a:extLst>
                <a:ext uri="{FF2B5EF4-FFF2-40B4-BE49-F238E27FC236}">
                  <a16:creationId xmlns:a16="http://schemas.microsoft.com/office/drawing/2014/main" id="{5B57C9A4-729C-F95A-C1EA-0B3734B419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61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01" name="Line 53">
              <a:extLst>
                <a:ext uri="{FF2B5EF4-FFF2-40B4-BE49-F238E27FC236}">
                  <a16:creationId xmlns:a16="http://schemas.microsoft.com/office/drawing/2014/main" id="{01ADD0AB-7D76-D2E8-2572-5AFE8DE90D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95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652" name="Text Box 57">
            <a:extLst>
              <a:ext uri="{FF2B5EF4-FFF2-40B4-BE49-F238E27FC236}">
                <a16:creationId xmlns:a16="http://schemas.microsoft.com/office/drawing/2014/main" id="{2ECD4A95-DD0E-1324-6B16-83BB58685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6511925"/>
            <a:ext cx="167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Courtesy: NDVIA</a:t>
            </a:r>
          </a:p>
        </p:txBody>
      </p:sp>
    </p:spTree>
    <p:extLst>
      <p:ext uri="{BB962C8B-B14F-4D97-AF65-F5344CB8AC3E}">
        <p14:creationId xmlns:p14="http://schemas.microsoft.com/office/powerpoint/2010/main" val="134443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B55CC-787E-757B-0BD3-B2FBF7BF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7C5DB3E4-9A11-92C7-D44F-8635B145A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u="sng">
                <a:ea typeface="宋体" panose="02010600030101010101" pitchFamily="2" charset="-122"/>
              </a:rPr>
              <a:t>Global, Constant, and Texture Memories</a:t>
            </a:r>
            <a:br>
              <a:rPr lang="en-US" altLang="zh-CN" sz="2800" b="1" u="sng">
                <a:ea typeface="宋体" panose="02010600030101010101" pitchFamily="2" charset="-122"/>
              </a:rPr>
            </a:br>
            <a:r>
              <a:rPr lang="en-US" altLang="zh-CN" sz="2800" b="1" u="sng">
                <a:ea typeface="宋体" panose="02010600030101010101" pitchFamily="2" charset="-122"/>
              </a:rPr>
              <a:t>(Long Latency Accesses)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5936FB15-D02A-45EE-5ED4-A9C8B51DB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4606925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Global memory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Slowest, but largest off-chip     memory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Main means of communicating R/W Data between </a:t>
            </a:r>
            <a:r>
              <a:rPr lang="en-US" altLang="zh-CN" sz="2000" dirty="0">
                <a:solidFill>
                  <a:schemeClr val="accent2"/>
                </a:solidFill>
                <a:ea typeface="宋体" panose="02010600030101010101" pitchFamily="2" charset="-122"/>
              </a:rPr>
              <a:t>host </a:t>
            </a:r>
            <a:r>
              <a:rPr lang="en-US" altLang="zh-CN" sz="2000" dirty="0">
                <a:ea typeface="宋体" panose="02010600030101010101" pitchFamily="2" charset="-122"/>
              </a:rPr>
              <a:t>and   </a:t>
            </a:r>
            <a:r>
              <a:rPr lang="en-US" altLang="zh-CN" sz="2000" dirty="0">
                <a:solidFill>
                  <a:schemeClr val="accent2"/>
                </a:solidFill>
                <a:ea typeface="宋体" panose="02010600030101010101" pitchFamily="2" charset="-122"/>
              </a:rPr>
              <a:t>device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Contents visible to all threads</a:t>
            </a:r>
          </a:p>
          <a:p>
            <a:pPr lvl="1">
              <a:lnSpc>
                <a:spcPct val="90000"/>
              </a:lnSpc>
            </a:pPr>
            <a:endParaRPr lang="en-US" altLang="zh-CN" sz="20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Texture and Constant        Memories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Constants initialized by host 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Contents visible to all threads</a:t>
            </a:r>
          </a:p>
        </p:txBody>
      </p:sp>
      <p:grpSp>
        <p:nvGrpSpPr>
          <p:cNvPr id="27651" name="Group 4">
            <a:extLst>
              <a:ext uri="{FF2B5EF4-FFF2-40B4-BE49-F238E27FC236}">
                <a16:creationId xmlns:a16="http://schemas.microsoft.com/office/drawing/2014/main" id="{D045B8D8-77E3-0812-C63C-EFE12F2D2FC6}"/>
              </a:ext>
            </a:extLst>
          </p:cNvPr>
          <p:cNvGrpSpPr>
            <a:grpSpLocks/>
          </p:cNvGrpSpPr>
          <p:nvPr/>
        </p:nvGrpSpPr>
        <p:grpSpPr bwMode="auto">
          <a:xfrm>
            <a:off x="4575175" y="1546225"/>
            <a:ext cx="4541838" cy="5045075"/>
            <a:chOff x="2842" y="974"/>
            <a:chExt cx="2861" cy="3178"/>
          </a:xfrm>
        </p:grpSpPr>
        <p:sp>
          <p:nvSpPr>
            <p:cNvPr id="27653" name="AutoShape 5">
              <a:extLst>
                <a:ext uri="{FF2B5EF4-FFF2-40B4-BE49-F238E27FC236}">
                  <a16:creationId xmlns:a16="http://schemas.microsoft.com/office/drawing/2014/main" id="{5BBAD3E4-5A25-AE0C-9B5A-8ECEB24522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2" y="974"/>
              <a:ext cx="2341" cy="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/>
            </a:p>
          </p:txBody>
        </p:sp>
        <p:sp>
          <p:nvSpPr>
            <p:cNvPr id="27654" name="Text Box 6">
              <a:extLst>
                <a:ext uri="{FF2B5EF4-FFF2-40B4-BE49-F238E27FC236}">
                  <a16:creationId xmlns:a16="http://schemas.microsoft.com/office/drawing/2014/main" id="{AB87CFF7-187A-9C08-EBB8-7076B930C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" y="977"/>
              <a:ext cx="2335" cy="31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(Device) Grid</a:t>
              </a:r>
            </a:p>
          </p:txBody>
        </p:sp>
        <p:sp>
          <p:nvSpPr>
            <p:cNvPr id="27655" name="Text Box 7">
              <a:extLst>
                <a:ext uri="{FF2B5EF4-FFF2-40B4-BE49-F238E27FC236}">
                  <a16:creationId xmlns:a16="http://schemas.microsoft.com/office/drawing/2014/main" id="{91AA50F9-A907-6D29-07A3-69F165498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491"/>
              <a:ext cx="2271" cy="26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Constant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6" name="Text Box 8">
              <a:extLst>
                <a:ext uri="{FF2B5EF4-FFF2-40B4-BE49-F238E27FC236}">
                  <a16:creationId xmlns:a16="http://schemas.microsoft.com/office/drawing/2014/main" id="{F9726B92-E3E9-F4C0-FBFE-EA1BB9751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830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Texture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7" name="Text Box 9">
              <a:extLst>
                <a:ext uri="{FF2B5EF4-FFF2-40B4-BE49-F238E27FC236}">
                  <a16:creationId xmlns:a16="http://schemas.microsoft.com/office/drawing/2014/main" id="{2DE909A0-79CD-3EB7-99EF-C385A4CB4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147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Global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8" name="Text Box 10">
              <a:extLst>
                <a:ext uri="{FF2B5EF4-FFF2-40B4-BE49-F238E27FC236}">
                  <a16:creationId xmlns:a16="http://schemas.microsoft.com/office/drawing/2014/main" id="{80319C3D-FBFD-FA9D-1307-44CCD5D78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(0, 0)</a:t>
              </a:r>
            </a:p>
          </p:txBody>
        </p:sp>
        <p:sp>
          <p:nvSpPr>
            <p:cNvPr id="27659" name="Text Box 11">
              <a:extLst>
                <a:ext uri="{FF2B5EF4-FFF2-40B4-BE49-F238E27FC236}">
                  <a16:creationId xmlns:a16="http://schemas.microsoft.com/office/drawing/2014/main" id="{097E4949-A595-F02E-6B71-C1DFC31250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1609"/>
              <a:ext cx="1060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0" name="Text Box 12">
              <a:extLst>
                <a:ext uri="{FF2B5EF4-FFF2-40B4-BE49-F238E27FC236}">
                  <a16:creationId xmlns:a16="http://schemas.microsoft.com/office/drawing/2014/main" id="{9C278BC7-921E-B387-051E-4CEFB181B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1" name="Text Box 13">
              <a:extLst>
                <a:ext uri="{FF2B5EF4-FFF2-40B4-BE49-F238E27FC236}">
                  <a16:creationId xmlns:a16="http://schemas.microsoft.com/office/drawing/2014/main" id="{6524D4F4-85CD-9CFE-03D2-9CB6ED1B0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2" name="Text Box 14">
              <a:extLst>
                <a:ext uri="{FF2B5EF4-FFF2-40B4-BE49-F238E27FC236}">
                  <a16:creationId xmlns:a16="http://schemas.microsoft.com/office/drawing/2014/main" id="{CBC65F59-3AC3-4874-94D6-AAA86288E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1926"/>
              <a:ext cx="392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3" name="Line 15">
              <a:extLst>
                <a:ext uri="{FF2B5EF4-FFF2-40B4-BE49-F238E27FC236}">
                  <a16:creationId xmlns:a16="http://schemas.microsoft.com/office/drawing/2014/main" id="{A22F836C-D3C3-2A43-5722-1128EFDFBA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4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4" name="Line 16">
              <a:extLst>
                <a:ext uri="{FF2B5EF4-FFF2-40B4-BE49-F238E27FC236}">
                  <a16:creationId xmlns:a16="http://schemas.microsoft.com/office/drawing/2014/main" id="{AAF8B88A-3D1C-3968-0190-983B357AB9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7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5" name="Line 17">
              <a:extLst>
                <a:ext uri="{FF2B5EF4-FFF2-40B4-BE49-F238E27FC236}">
                  <a16:creationId xmlns:a16="http://schemas.microsoft.com/office/drawing/2014/main" id="{BDA867AF-7BCB-7FE1-768E-D1D5679E61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3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6" name="Line 18">
              <a:extLst>
                <a:ext uri="{FF2B5EF4-FFF2-40B4-BE49-F238E27FC236}">
                  <a16:creationId xmlns:a16="http://schemas.microsoft.com/office/drawing/2014/main" id="{C6CC14D5-8C7E-4B3B-F34A-D78ADD3C9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8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7" name="Line 19">
              <a:extLst>
                <a:ext uri="{FF2B5EF4-FFF2-40B4-BE49-F238E27FC236}">
                  <a16:creationId xmlns:a16="http://schemas.microsoft.com/office/drawing/2014/main" id="{290E71FC-8067-8790-08EB-E391A67D5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8" name="Line 20">
              <a:extLst>
                <a:ext uri="{FF2B5EF4-FFF2-40B4-BE49-F238E27FC236}">
                  <a16:creationId xmlns:a16="http://schemas.microsoft.com/office/drawing/2014/main" id="{45B5F21D-DD0A-5EFF-7531-040BA8DED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8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9" name="Text Box 21">
              <a:extLst>
                <a:ext uri="{FF2B5EF4-FFF2-40B4-BE49-F238E27FC236}">
                  <a16:creationId xmlns:a16="http://schemas.microsoft.com/office/drawing/2014/main" id="{29FFF50A-8B75-EF07-CFD6-644EBB2151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2709"/>
              <a:ext cx="333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0" name="Text Box 22">
              <a:extLst>
                <a:ext uri="{FF2B5EF4-FFF2-40B4-BE49-F238E27FC236}">
                  <a16:creationId xmlns:a16="http://schemas.microsoft.com/office/drawing/2014/main" id="{ADC50A77-46E4-B5DA-CF04-F7C2013DA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1" name="Text Box 23">
              <a:extLst>
                <a:ext uri="{FF2B5EF4-FFF2-40B4-BE49-F238E27FC236}">
                  <a16:creationId xmlns:a16="http://schemas.microsoft.com/office/drawing/2014/main" id="{51CB4BCF-F9E0-2AB2-60FF-E1971C8F4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2" name="Line 24">
              <a:extLst>
                <a:ext uri="{FF2B5EF4-FFF2-40B4-BE49-F238E27FC236}">
                  <a16:creationId xmlns:a16="http://schemas.microsoft.com/office/drawing/2014/main" id="{B0E0E1F1-AE0B-199A-9E26-6B8F97CC3D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2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3" name="Line 25">
              <a:extLst>
                <a:ext uri="{FF2B5EF4-FFF2-40B4-BE49-F238E27FC236}">
                  <a16:creationId xmlns:a16="http://schemas.microsoft.com/office/drawing/2014/main" id="{A2292E65-0897-6AA8-E947-C4ECDB503F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6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4" name="Line 26">
              <a:extLst>
                <a:ext uri="{FF2B5EF4-FFF2-40B4-BE49-F238E27FC236}">
                  <a16:creationId xmlns:a16="http://schemas.microsoft.com/office/drawing/2014/main" id="{26D0067B-1DD5-A6DE-0287-0726E58A66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1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5" name="Line 27">
              <a:extLst>
                <a:ext uri="{FF2B5EF4-FFF2-40B4-BE49-F238E27FC236}">
                  <a16:creationId xmlns:a16="http://schemas.microsoft.com/office/drawing/2014/main" id="{19A58A79-DF92-32B1-C33C-7B45482E1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6" name="Line 28">
              <a:extLst>
                <a:ext uri="{FF2B5EF4-FFF2-40B4-BE49-F238E27FC236}">
                  <a16:creationId xmlns:a16="http://schemas.microsoft.com/office/drawing/2014/main" id="{996E94CF-AA39-B022-B236-354F72AF2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7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7" name="Line 29">
              <a:extLst>
                <a:ext uri="{FF2B5EF4-FFF2-40B4-BE49-F238E27FC236}">
                  <a16:creationId xmlns:a16="http://schemas.microsoft.com/office/drawing/2014/main" id="{9DBDCEA3-A005-9744-7BA4-FCA9CDD0D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8" name="Text Box 30">
              <a:extLst>
                <a:ext uri="{FF2B5EF4-FFF2-40B4-BE49-F238E27FC236}">
                  <a16:creationId xmlns:a16="http://schemas.microsoft.com/office/drawing/2014/main" id="{4D4E0B77-7F77-3F55-D3C8-4972E28F5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3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(1, 0)</a:t>
              </a:r>
              <a:endParaRPr lang="en-US" altLang="zh-CN" sz="18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9" name="Text Box 31">
              <a:extLst>
                <a:ext uri="{FF2B5EF4-FFF2-40B4-BE49-F238E27FC236}">
                  <a16:creationId xmlns:a16="http://schemas.microsoft.com/office/drawing/2014/main" id="{DD66CC1F-849A-50EB-2BB4-BB70D5271D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609"/>
              <a:ext cx="1061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0" name="Text Box 32">
              <a:extLst>
                <a:ext uri="{FF2B5EF4-FFF2-40B4-BE49-F238E27FC236}">
                  <a16:creationId xmlns:a16="http://schemas.microsoft.com/office/drawing/2014/main" id="{003B71B1-C594-2F76-26BF-6A03ECE1D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1" name="Text Box 33">
              <a:extLst>
                <a:ext uri="{FF2B5EF4-FFF2-40B4-BE49-F238E27FC236}">
                  <a16:creationId xmlns:a16="http://schemas.microsoft.com/office/drawing/2014/main" id="{4770026D-0115-B133-018C-5757F042F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2" name="Text Box 34">
              <a:extLst>
                <a:ext uri="{FF2B5EF4-FFF2-40B4-BE49-F238E27FC236}">
                  <a16:creationId xmlns:a16="http://schemas.microsoft.com/office/drawing/2014/main" id="{9D78FBC9-8774-49A8-710A-8142917A6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3" name="Line 35">
              <a:extLst>
                <a:ext uri="{FF2B5EF4-FFF2-40B4-BE49-F238E27FC236}">
                  <a16:creationId xmlns:a16="http://schemas.microsoft.com/office/drawing/2014/main" id="{C28E9977-ED6D-D5FE-5CD8-085E660080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0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4" name="Line 36">
              <a:extLst>
                <a:ext uri="{FF2B5EF4-FFF2-40B4-BE49-F238E27FC236}">
                  <a16:creationId xmlns:a16="http://schemas.microsoft.com/office/drawing/2014/main" id="{F326F4C4-A0D9-4550-492B-6114C1C7AE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4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5" name="Line 37">
              <a:extLst>
                <a:ext uri="{FF2B5EF4-FFF2-40B4-BE49-F238E27FC236}">
                  <a16:creationId xmlns:a16="http://schemas.microsoft.com/office/drawing/2014/main" id="{1A8D5462-CA64-44BD-02B6-800724B0CF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9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6" name="Line 38">
              <a:extLst>
                <a:ext uri="{FF2B5EF4-FFF2-40B4-BE49-F238E27FC236}">
                  <a16:creationId xmlns:a16="http://schemas.microsoft.com/office/drawing/2014/main" id="{A69A8BA7-1AFE-659B-DDC0-754E961E0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5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7" name="Line 39">
              <a:extLst>
                <a:ext uri="{FF2B5EF4-FFF2-40B4-BE49-F238E27FC236}">
                  <a16:creationId xmlns:a16="http://schemas.microsoft.com/office/drawing/2014/main" id="{D43BAFA4-2124-4438-113D-5B6B6A0755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8" name="Line 40">
              <a:extLst>
                <a:ext uri="{FF2B5EF4-FFF2-40B4-BE49-F238E27FC236}">
                  <a16:creationId xmlns:a16="http://schemas.microsoft.com/office/drawing/2014/main" id="{8D40E0C6-CEBE-5486-00E1-4F77863F2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4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89" name="Text Box 41">
              <a:extLst>
                <a:ext uri="{FF2B5EF4-FFF2-40B4-BE49-F238E27FC236}">
                  <a16:creationId xmlns:a16="http://schemas.microsoft.com/office/drawing/2014/main" id="{B507427E-5CD9-8753-6EAF-47C555F07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2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0" name="Text Box 42">
              <a:extLst>
                <a:ext uri="{FF2B5EF4-FFF2-40B4-BE49-F238E27FC236}">
                  <a16:creationId xmlns:a16="http://schemas.microsoft.com/office/drawing/2014/main" id="{BEE3600E-E2B9-7595-FFC7-83AEEA797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1" name="Text Box 43">
              <a:extLst>
                <a:ext uri="{FF2B5EF4-FFF2-40B4-BE49-F238E27FC236}">
                  <a16:creationId xmlns:a16="http://schemas.microsoft.com/office/drawing/2014/main" id="{46E59C5F-D7BB-E1AC-2C90-0D2A93E28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92" name="Line 44">
              <a:extLst>
                <a:ext uri="{FF2B5EF4-FFF2-40B4-BE49-F238E27FC236}">
                  <a16:creationId xmlns:a16="http://schemas.microsoft.com/office/drawing/2014/main" id="{1E4AA5E7-10B0-A745-6EB6-36101661F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79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3" name="Line 45">
              <a:extLst>
                <a:ext uri="{FF2B5EF4-FFF2-40B4-BE49-F238E27FC236}">
                  <a16:creationId xmlns:a16="http://schemas.microsoft.com/office/drawing/2014/main" id="{2F04B18E-F455-B61A-FDE6-99DDFE923A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2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4" name="Line 46">
              <a:extLst>
                <a:ext uri="{FF2B5EF4-FFF2-40B4-BE49-F238E27FC236}">
                  <a16:creationId xmlns:a16="http://schemas.microsoft.com/office/drawing/2014/main" id="{34F71B98-F57D-D0FB-F944-7E1136058F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8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5" name="Line 47">
              <a:extLst>
                <a:ext uri="{FF2B5EF4-FFF2-40B4-BE49-F238E27FC236}">
                  <a16:creationId xmlns:a16="http://schemas.microsoft.com/office/drawing/2014/main" id="{F61634EC-39F6-E27B-9E1B-FCBCA9C3C7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4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6" name="Line 48">
              <a:extLst>
                <a:ext uri="{FF2B5EF4-FFF2-40B4-BE49-F238E27FC236}">
                  <a16:creationId xmlns:a16="http://schemas.microsoft.com/office/drawing/2014/main" id="{6D79C2B4-A550-8D08-F928-E106A9D73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4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7" name="Line 49">
              <a:extLst>
                <a:ext uri="{FF2B5EF4-FFF2-40B4-BE49-F238E27FC236}">
                  <a16:creationId xmlns:a16="http://schemas.microsoft.com/office/drawing/2014/main" id="{F7BDF11B-6EB9-4D10-BDAF-8DE289824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3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98" name="Text Box 50">
              <a:extLst>
                <a:ext uri="{FF2B5EF4-FFF2-40B4-BE49-F238E27FC236}">
                  <a16:creationId xmlns:a16="http://schemas.microsoft.com/office/drawing/2014/main" id="{9B426918-314A-E93C-AB38-0CC34013A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" y="3144"/>
              <a:ext cx="355" cy="100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Host</a:t>
              </a:r>
            </a:p>
          </p:txBody>
        </p:sp>
        <p:sp>
          <p:nvSpPr>
            <p:cNvPr id="27699" name="Line 51">
              <a:extLst>
                <a:ext uri="{FF2B5EF4-FFF2-40B4-BE49-F238E27FC236}">
                  <a16:creationId xmlns:a16="http://schemas.microsoft.com/office/drawing/2014/main" id="{78C07356-F3F2-4FF5-CCC1-6BCAA161F7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27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00" name="Line 52">
              <a:extLst>
                <a:ext uri="{FF2B5EF4-FFF2-40B4-BE49-F238E27FC236}">
                  <a16:creationId xmlns:a16="http://schemas.microsoft.com/office/drawing/2014/main" id="{83F74CA9-756A-1F5C-10EF-6CBAF05590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61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701" name="Line 53">
              <a:extLst>
                <a:ext uri="{FF2B5EF4-FFF2-40B4-BE49-F238E27FC236}">
                  <a16:creationId xmlns:a16="http://schemas.microsoft.com/office/drawing/2014/main" id="{DBF61668-C8AA-34B4-A8FB-ED8156B444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95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652" name="Text Box 57">
            <a:extLst>
              <a:ext uri="{FF2B5EF4-FFF2-40B4-BE49-F238E27FC236}">
                <a16:creationId xmlns:a16="http://schemas.microsoft.com/office/drawing/2014/main" id="{07C6FCA7-791D-2D6E-D7EA-3271EEC49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6511925"/>
            <a:ext cx="167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Courtesy: NDVIA</a:t>
            </a:r>
          </a:p>
        </p:txBody>
      </p:sp>
    </p:spTree>
    <p:extLst>
      <p:ext uri="{BB962C8B-B14F-4D97-AF65-F5344CB8AC3E}">
        <p14:creationId xmlns:p14="http://schemas.microsoft.com/office/powerpoint/2010/main" val="586888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4">
            <a:extLst>
              <a:ext uri="{FF2B5EF4-FFF2-40B4-BE49-F238E27FC236}">
                <a16:creationId xmlns:a16="http://schemas.microsoft.com/office/drawing/2014/main" id="{2A22F1E8-41CB-84E4-665F-BBB82D6F7F3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u="sng">
                <a:ea typeface="宋体" panose="02010600030101010101" pitchFamily="2" charset="-122"/>
              </a:rPr>
              <a:t>CUDA – API</a:t>
            </a:r>
          </a:p>
        </p:txBody>
      </p:sp>
      <p:sp>
        <p:nvSpPr>
          <p:cNvPr id="28674" name="Rectangle 5">
            <a:extLst>
              <a:ext uri="{FF2B5EF4-FFF2-40B4-BE49-F238E27FC236}">
                <a16:creationId xmlns:a16="http://schemas.microsoft.com/office/drawing/2014/main" id="{DF05101F-4666-550E-3754-CB8CBF0BA3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0D0103CA-BC2F-F20E-27A8-DC50D95F6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77200" cy="1066800"/>
          </a:xfrm>
        </p:spPr>
        <p:txBody>
          <a:bodyPr/>
          <a:lstStyle/>
          <a:p>
            <a:r>
              <a:rPr lang="en-US" altLang="zh-CN" sz="3200" b="1" u="sng">
                <a:ea typeface="宋体" panose="02010600030101010101" pitchFamily="2" charset="-122"/>
              </a:rPr>
              <a:t>CUDA Highlights:</a:t>
            </a:r>
            <a:br>
              <a:rPr lang="en-US" altLang="zh-CN" sz="3200" b="1" u="sng">
                <a:ea typeface="宋体" panose="02010600030101010101" pitchFamily="2" charset="-122"/>
              </a:rPr>
            </a:br>
            <a:r>
              <a:rPr lang="en-US" altLang="zh-CN" sz="3200" b="1" u="sng">
                <a:ea typeface="宋体" panose="02010600030101010101" pitchFamily="2" charset="-122"/>
              </a:rPr>
              <a:t>Easy and Lightweight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5C6F3E8F-42E7-B080-CFE4-00AC4EEB54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98613"/>
            <a:ext cx="8229600" cy="4813300"/>
          </a:xfrm>
          <a:noFill/>
        </p:spPr>
        <p:txBody>
          <a:bodyPr/>
          <a:lstStyle/>
          <a:p>
            <a:pPr marL="457200" indent="-457200"/>
            <a:r>
              <a:rPr lang="en-US" altLang="zh-CN" sz="2400">
                <a:ea typeface="宋体" panose="02010600030101010101" pitchFamily="2" charset="-122"/>
              </a:rPr>
              <a:t>The API is an </a:t>
            </a: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extension to the ANSI C programming  language</a:t>
            </a:r>
          </a:p>
          <a:p>
            <a:pPr marL="457200" indent="-457200"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	          </a:t>
            </a:r>
            <a:r>
              <a:rPr lang="en-US" altLang="zh-CN" sz="2400">
                <a:ea typeface="宋体" panose="02010600030101010101" pitchFamily="2" charset="-122"/>
              </a:rPr>
              <a:t>Low learning curve</a:t>
            </a:r>
          </a:p>
          <a:p>
            <a:pPr marL="457200" indent="-457200"/>
            <a:endParaRPr lang="en-US" altLang="zh-CN" sz="2400"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sz="2400">
                <a:ea typeface="宋体" panose="02010600030101010101" pitchFamily="2" charset="-122"/>
              </a:rPr>
              <a:t>The hardware is </a:t>
            </a: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designed to enable</a:t>
            </a: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lightweight        runtime and driver</a:t>
            </a:r>
          </a:p>
          <a:p>
            <a:pPr marL="457200" indent="-457200"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	          </a:t>
            </a:r>
            <a:r>
              <a:rPr lang="en-US" altLang="zh-CN" sz="2400">
                <a:ea typeface="宋体" panose="02010600030101010101" pitchFamily="2" charset="-122"/>
              </a:rPr>
              <a:t>High performance</a:t>
            </a:r>
          </a:p>
          <a:p>
            <a:pPr marL="974725" lvl="1" indent="-403225"/>
            <a:endParaRPr lang="zh-CN" altLang="en-US" sz="20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9699" name="AutoShape 4">
            <a:extLst>
              <a:ext uri="{FF2B5EF4-FFF2-40B4-BE49-F238E27FC236}">
                <a16:creationId xmlns:a16="http://schemas.microsoft.com/office/drawing/2014/main" id="{210A056D-F0AF-E0FE-038B-8780C23F4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565400"/>
            <a:ext cx="612775" cy="195263"/>
          </a:xfrm>
          <a:prstGeom prst="rightArrow">
            <a:avLst>
              <a:gd name="adj1" fmla="val 50000"/>
              <a:gd name="adj2" fmla="val 78455"/>
            </a:avLst>
          </a:prstGeom>
          <a:solidFill>
            <a:srgbClr val="73B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29700" name="AutoShape 5">
            <a:extLst>
              <a:ext uri="{FF2B5EF4-FFF2-40B4-BE49-F238E27FC236}">
                <a16:creationId xmlns:a16="http://schemas.microsoft.com/office/drawing/2014/main" id="{CA3D9ADD-66A8-13D8-BBDB-88ED223DD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221163"/>
            <a:ext cx="612775" cy="195262"/>
          </a:xfrm>
          <a:prstGeom prst="rightArrow">
            <a:avLst>
              <a:gd name="adj1" fmla="val 50000"/>
              <a:gd name="adj2" fmla="val 78455"/>
            </a:avLst>
          </a:prstGeom>
          <a:solidFill>
            <a:srgbClr val="73B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EA87534B-37D0-EAA0-DD37-B53F1B775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u="sng">
                <a:ea typeface="宋体" panose="02010600030101010101" pitchFamily="2" charset="-122"/>
              </a:rPr>
              <a:t>A Small Detour: A Matrix Data Type</a:t>
            </a:r>
          </a:p>
        </p:txBody>
      </p:sp>
      <p:sp>
        <p:nvSpPr>
          <p:cNvPr id="30722" name="Rectangle 4">
            <a:extLst>
              <a:ext uri="{FF2B5EF4-FFF2-40B4-BE49-F238E27FC236}">
                <a16:creationId xmlns:a16="http://schemas.microsoft.com/office/drawing/2014/main" id="{59B71140-253C-5AE2-778E-C649BBF5A82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4724400" cy="45720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NOT part of CUDA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It will be frequently used in many code examples</a:t>
            </a:r>
          </a:p>
          <a:p>
            <a:pPr lvl="1"/>
            <a:r>
              <a:rPr lang="en-US" altLang="zh-CN" sz="1800">
                <a:ea typeface="宋体" panose="02010600030101010101" pitchFamily="2" charset="-122"/>
              </a:rPr>
              <a:t>2 D matrix</a:t>
            </a:r>
          </a:p>
          <a:p>
            <a:pPr lvl="1"/>
            <a:r>
              <a:rPr lang="en-US" altLang="zh-CN" sz="1800">
                <a:ea typeface="宋体" panose="02010600030101010101" pitchFamily="2" charset="-122"/>
              </a:rPr>
              <a:t>single precision float elements</a:t>
            </a:r>
          </a:p>
          <a:p>
            <a:pPr lvl="1"/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width</a:t>
            </a:r>
            <a:r>
              <a:rPr lang="en-US" altLang="zh-CN" sz="1800">
                <a:ea typeface="宋体" panose="02010600030101010101" pitchFamily="2" charset="-122"/>
              </a:rPr>
              <a:t> *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height</a:t>
            </a:r>
            <a:r>
              <a:rPr lang="en-US" altLang="zh-CN" sz="1800">
                <a:ea typeface="宋体" panose="02010600030101010101" pitchFamily="2" charset="-122"/>
              </a:rPr>
              <a:t> elements</a:t>
            </a:r>
          </a:p>
          <a:p>
            <a:pPr lvl="1"/>
            <a:r>
              <a:rPr lang="en-US" altLang="zh-CN" sz="1800">
                <a:ea typeface="宋体" panose="02010600030101010101" pitchFamily="2" charset="-122"/>
              </a:rPr>
              <a:t>data elements allocated and          attached to 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elements</a:t>
            </a:r>
          </a:p>
        </p:txBody>
      </p:sp>
      <p:sp>
        <p:nvSpPr>
          <p:cNvPr id="15364" name="Text Box 7">
            <a:extLst>
              <a:ext uri="{FF2B5EF4-FFF2-40B4-BE49-F238E27FC236}">
                <a16:creationId xmlns:a16="http://schemas.microsoft.com/office/drawing/2014/main" id="{A21AA8E3-D6C9-7340-9585-3975A9868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2362200"/>
            <a:ext cx="2652712" cy="15700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typedef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struct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{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width;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height;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float* elements;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} Matrix;</a:t>
            </a:r>
          </a:p>
          <a:p>
            <a:pPr eaLnBrk="1" latinLnBrk="1" hangingPunct="1">
              <a:defRPr/>
            </a:pPr>
            <a:endParaRPr lang="zh-CN" altLang="en-US" sz="16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57A1FEA-A342-7D51-119E-2D251B0A7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u="sng">
                <a:ea typeface="宋体" panose="02010600030101010101" pitchFamily="2" charset="-122"/>
              </a:rPr>
              <a:t>CUDA Device Memory Allocation</a:t>
            </a:r>
          </a:p>
        </p:txBody>
      </p:sp>
      <p:sp>
        <p:nvSpPr>
          <p:cNvPr id="70663" name="Rectangle 7">
            <a:extLst>
              <a:ext uri="{FF2B5EF4-FFF2-40B4-BE49-F238E27FC236}">
                <a16:creationId xmlns:a16="http://schemas.microsoft.com/office/drawing/2014/main" id="{CF9786B0-D93B-DD44-87F4-BAF6BF4EB65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43025"/>
            <a:ext cx="4800600" cy="5181600"/>
          </a:xfrm>
        </p:spPr>
        <p:txBody>
          <a:bodyPr/>
          <a:lstStyle/>
          <a:p>
            <a:pPr>
              <a:defRPr/>
            </a:pPr>
            <a:r>
              <a:rPr lang="en-US" altLang="zh-CN" sz="2400" dirty="0" err="1">
                <a:latin typeface="Arial" charset="0"/>
                <a:ea typeface="宋体" charset="-122"/>
              </a:rPr>
              <a:t>cudaMalloc</a:t>
            </a:r>
            <a:r>
              <a:rPr lang="en-US" altLang="zh-CN" sz="2400" dirty="0">
                <a:latin typeface="Arial" charset="0"/>
                <a:ea typeface="宋体" charset="-122"/>
              </a:rPr>
              <a:t>()</a:t>
            </a:r>
          </a:p>
          <a:p>
            <a:pPr lvl="1">
              <a:defRPr/>
            </a:pPr>
            <a:r>
              <a:rPr lang="en-US" altLang="zh-CN" sz="2000" dirty="0">
                <a:ea typeface="宋体" charset="-122"/>
              </a:rPr>
              <a:t>Allocates object in the device   </a:t>
            </a:r>
            <a:r>
              <a:rPr lang="en-US" altLang="zh-CN" sz="2000" u="sng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Global Memory</a:t>
            </a:r>
          </a:p>
          <a:p>
            <a:pPr lvl="1">
              <a:defRPr/>
            </a:pPr>
            <a:r>
              <a:rPr lang="en-US" altLang="zh-CN" sz="2000" dirty="0">
                <a:ea typeface="宋体" charset="-122"/>
              </a:rPr>
              <a:t>Requires two parameters</a:t>
            </a:r>
          </a:p>
          <a:p>
            <a:pPr lvl="2">
              <a:defRPr/>
            </a:pPr>
            <a:r>
              <a:rPr lang="en-US" altLang="zh-CN" sz="1800" b="1" dirty="0">
                <a:ea typeface="宋体" charset="-122"/>
              </a:rPr>
              <a:t>Address of a pointe</a:t>
            </a:r>
            <a:r>
              <a:rPr lang="en-US" altLang="zh-CN" sz="1800" dirty="0">
                <a:ea typeface="宋体" charset="-122"/>
              </a:rPr>
              <a:t>r to the       allocated object</a:t>
            </a:r>
          </a:p>
          <a:p>
            <a:pPr lvl="2">
              <a:defRPr/>
            </a:pPr>
            <a:r>
              <a:rPr lang="en-US" altLang="zh-CN" sz="1800" b="1" dirty="0">
                <a:ea typeface="宋体" charset="-122"/>
              </a:rPr>
              <a:t>Size of</a:t>
            </a:r>
            <a:r>
              <a:rPr lang="en-US" altLang="zh-CN" sz="1800" dirty="0">
                <a:ea typeface="宋体" charset="-122"/>
              </a:rPr>
              <a:t> </a:t>
            </a:r>
            <a:r>
              <a:rPr lang="en-US" altLang="zh-CN" sz="1800" dirty="0" err="1">
                <a:ea typeface="宋体" charset="-122"/>
              </a:rPr>
              <a:t>of</a:t>
            </a:r>
            <a:r>
              <a:rPr lang="en-US" altLang="zh-CN" sz="1800" dirty="0">
                <a:ea typeface="宋体" charset="-122"/>
              </a:rPr>
              <a:t> allocated object</a:t>
            </a:r>
          </a:p>
          <a:p>
            <a:pPr lvl="2">
              <a:defRPr/>
            </a:pPr>
            <a:endParaRPr lang="en-US" altLang="zh-CN" sz="1800" dirty="0">
              <a:ea typeface="宋体" charset="-122"/>
            </a:endParaRPr>
          </a:p>
          <a:p>
            <a:pPr>
              <a:defRPr/>
            </a:pPr>
            <a:r>
              <a:rPr lang="en-US" altLang="zh-CN" sz="2400" dirty="0" err="1">
                <a:latin typeface="Arial" charset="0"/>
                <a:ea typeface="宋体" charset="-122"/>
              </a:rPr>
              <a:t>cudaFree</a:t>
            </a:r>
            <a:r>
              <a:rPr lang="en-US" altLang="zh-CN" sz="2400" dirty="0">
                <a:latin typeface="Arial" charset="0"/>
                <a:ea typeface="宋体" charset="-122"/>
              </a:rPr>
              <a:t>()</a:t>
            </a:r>
          </a:p>
          <a:p>
            <a:pPr lvl="1">
              <a:defRPr/>
            </a:pPr>
            <a:r>
              <a:rPr lang="en-US" altLang="zh-CN" sz="2000" dirty="0">
                <a:ea typeface="宋体" charset="-122"/>
              </a:rPr>
              <a:t>Frees object from device Global Memory</a:t>
            </a:r>
          </a:p>
          <a:p>
            <a:pPr lvl="2">
              <a:defRPr/>
            </a:pPr>
            <a:r>
              <a:rPr lang="en-US" altLang="zh-CN" sz="1800" dirty="0">
                <a:ea typeface="宋体" charset="-122"/>
              </a:rPr>
              <a:t>Pointer to freed object</a:t>
            </a:r>
          </a:p>
        </p:txBody>
      </p:sp>
      <p:grpSp>
        <p:nvGrpSpPr>
          <p:cNvPr id="31747" name="Group 11">
            <a:extLst>
              <a:ext uri="{FF2B5EF4-FFF2-40B4-BE49-F238E27FC236}">
                <a16:creationId xmlns:a16="http://schemas.microsoft.com/office/drawing/2014/main" id="{607268AF-B602-CCFC-FEA7-F1F1ADCD62F1}"/>
              </a:ext>
            </a:extLst>
          </p:cNvPr>
          <p:cNvGrpSpPr>
            <a:grpSpLocks/>
          </p:cNvGrpSpPr>
          <p:nvPr/>
        </p:nvGrpSpPr>
        <p:grpSpPr bwMode="auto">
          <a:xfrm>
            <a:off x="5284788" y="1447800"/>
            <a:ext cx="3859212" cy="4625975"/>
            <a:chOff x="2842" y="974"/>
            <a:chExt cx="2861" cy="3178"/>
          </a:xfrm>
        </p:grpSpPr>
        <p:sp>
          <p:nvSpPr>
            <p:cNvPr id="31748" name="AutoShape 12">
              <a:extLst>
                <a:ext uri="{FF2B5EF4-FFF2-40B4-BE49-F238E27FC236}">
                  <a16:creationId xmlns:a16="http://schemas.microsoft.com/office/drawing/2014/main" id="{9B0A8F35-CDDE-6C28-B177-DB1E87E840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2" y="974"/>
              <a:ext cx="2341" cy="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/>
            </a:p>
          </p:txBody>
        </p:sp>
        <p:sp>
          <p:nvSpPr>
            <p:cNvPr id="31749" name="Text Box 13">
              <a:extLst>
                <a:ext uri="{FF2B5EF4-FFF2-40B4-BE49-F238E27FC236}">
                  <a16:creationId xmlns:a16="http://schemas.microsoft.com/office/drawing/2014/main" id="{FA58C70D-C4FC-9CFC-D83B-AD10A2E55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" y="977"/>
              <a:ext cx="2335" cy="31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(Device) Grid</a:t>
              </a:r>
            </a:p>
          </p:txBody>
        </p:sp>
        <p:sp>
          <p:nvSpPr>
            <p:cNvPr id="31750" name="Text Box 14">
              <a:extLst>
                <a:ext uri="{FF2B5EF4-FFF2-40B4-BE49-F238E27FC236}">
                  <a16:creationId xmlns:a16="http://schemas.microsoft.com/office/drawing/2014/main" id="{6145F670-9F63-E107-B969-8A35E9C52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491"/>
              <a:ext cx="2271" cy="26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Constant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1" name="Text Box 15">
              <a:extLst>
                <a:ext uri="{FF2B5EF4-FFF2-40B4-BE49-F238E27FC236}">
                  <a16:creationId xmlns:a16="http://schemas.microsoft.com/office/drawing/2014/main" id="{3B2CC6F0-5D23-A349-A84D-E58FCA2AC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830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Texture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2" name="Text Box 16">
              <a:extLst>
                <a:ext uri="{FF2B5EF4-FFF2-40B4-BE49-F238E27FC236}">
                  <a16:creationId xmlns:a16="http://schemas.microsoft.com/office/drawing/2014/main" id="{DB1052E7-489B-E743-602F-18D1F8436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147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Global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3" name="Text Box 17">
              <a:extLst>
                <a:ext uri="{FF2B5EF4-FFF2-40B4-BE49-F238E27FC236}">
                  <a16:creationId xmlns:a16="http://schemas.microsoft.com/office/drawing/2014/main" id="{3BC55E40-8315-2576-0112-32EA98A30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(0, 0)</a:t>
              </a:r>
            </a:p>
          </p:txBody>
        </p:sp>
        <p:sp>
          <p:nvSpPr>
            <p:cNvPr id="31754" name="Text Box 18">
              <a:extLst>
                <a:ext uri="{FF2B5EF4-FFF2-40B4-BE49-F238E27FC236}">
                  <a16:creationId xmlns:a16="http://schemas.microsoft.com/office/drawing/2014/main" id="{48161D8F-0F6C-B642-A6A5-9DC7F852C4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1609"/>
              <a:ext cx="1060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5" name="Text Box 19">
              <a:extLst>
                <a:ext uri="{FF2B5EF4-FFF2-40B4-BE49-F238E27FC236}">
                  <a16:creationId xmlns:a16="http://schemas.microsoft.com/office/drawing/2014/main" id="{FA47B0EA-6840-5581-B9D5-B240A4EF1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6" name="Text Box 20">
              <a:extLst>
                <a:ext uri="{FF2B5EF4-FFF2-40B4-BE49-F238E27FC236}">
                  <a16:creationId xmlns:a16="http://schemas.microsoft.com/office/drawing/2014/main" id="{48892FDB-EC0D-EB5E-CD96-BB08EAA5E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7" name="Text Box 21">
              <a:extLst>
                <a:ext uri="{FF2B5EF4-FFF2-40B4-BE49-F238E27FC236}">
                  <a16:creationId xmlns:a16="http://schemas.microsoft.com/office/drawing/2014/main" id="{2F8D0E8C-AB43-CA93-0CBE-594E57A8A8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1926"/>
              <a:ext cx="392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58" name="Line 22">
              <a:extLst>
                <a:ext uri="{FF2B5EF4-FFF2-40B4-BE49-F238E27FC236}">
                  <a16:creationId xmlns:a16="http://schemas.microsoft.com/office/drawing/2014/main" id="{B6F577A1-034F-390F-F22E-6903D275D1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4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59" name="Line 23">
              <a:extLst>
                <a:ext uri="{FF2B5EF4-FFF2-40B4-BE49-F238E27FC236}">
                  <a16:creationId xmlns:a16="http://schemas.microsoft.com/office/drawing/2014/main" id="{AD66EA9E-8B25-B2CD-6C25-1584BF7F12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7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60" name="Line 24">
              <a:extLst>
                <a:ext uri="{FF2B5EF4-FFF2-40B4-BE49-F238E27FC236}">
                  <a16:creationId xmlns:a16="http://schemas.microsoft.com/office/drawing/2014/main" id="{AA854083-EBA9-E393-8774-A7565727E3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3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61" name="Line 25">
              <a:extLst>
                <a:ext uri="{FF2B5EF4-FFF2-40B4-BE49-F238E27FC236}">
                  <a16:creationId xmlns:a16="http://schemas.microsoft.com/office/drawing/2014/main" id="{8A0E3CDB-97FC-6ECF-A823-166B8C86B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8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62" name="Line 26">
              <a:extLst>
                <a:ext uri="{FF2B5EF4-FFF2-40B4-BE49-F238E27FC236}">
                  <a16:creationId xmlns:a16="http://schemas.microsoft.com/office/drawing/2014/main" id="{51148C92-6D66-71E7-23AC-A656EA706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63" name="Line 27">
              <a:extLst>
                <a:ext uri="{FF2B5EF4-FFF2-40B4-BE49-F238E27FC236}">
                  <a16:creationId xmlns:a16="http://schemas.microsoft.com/office/drawing/2014/main" id="{7300FDBE-C8FE-1DFC-CB40-51C1B30C9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8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64" name="Text Box 28">
              <a:extLst>
                <a:ext uri="{FF2B5EF4-FFF2-40B4-BE49-F238E27FC236}">
                  <a16:creationId xmlns:a16="http://schemas.microsoft.com/office/drawing/2014/main" id="{932884B4-EE43-9E8B-9E4D-2766C745D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2709"/>
              <a:ext cx="333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65" name="Text Box 29">
              <a:extLst>
                <a:ext uri="{FF2B5EF4-FFF2-40B4-BE49-F238E27FC236}">
                  <a16:creationId xmlns:a16="http://schemas.microsoft.com/office/drawing/2014/main" id="{E49DA6A3-8663-0116-AC8C-3230A692F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66" name="Text Box 30">
              <a:extLst>
                <a:ext uri="{FF2B5EF4-FFF2-40B4-BE49-F238E27FC236}">
                  <a16:creationId xmlns:a16="http://schemas.microsoft.com/office/drawing/2014/main" id="{EF380D0C-FAFC-FA93-D930-F58B23722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67" name="Line 31">
              <a:extLst>
                <a:ext uri="{FF2B5EF4-FFF2-40B4-BE49-F238E27FC236}">
                  <a16:creationId xmlns:a16="http://schemas.microsoft.com/office/drawing/2014/main" id="{76B4405D-6BA7-2455-D420-6E015C3839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2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68" name="Line 32">
              <a:extLst>
                <a:ext uri="{FF2B5EF4-FFF2-40B4-BE49-F238E27FC236}">
                  <a16:creationId xmlns:a16="http://schemas.microsoft.com/office/drawing/2014/main" id="{1EFA95D2-D251-51BB-18C2-A54A49A5E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6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69" name="Line 33">
              <a:extLst>
                <a:ext uri="{FF2B5EF4-FFF2-40B4-BE49-F238E27FC236}">
                  <a16:creationId xmlns:a16="http://schemas.microsoft.com/office/drawing/2014/main" id="{31E6E0C7-71D3-097F-AD1D-B3E6611CE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1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70" name="Line 34">
              <a:extLst>
                <a:ext uri="{FF2B5EF4-FFF2-40B4-BE49-F238E27FC236}">
                  <a16:creationId xmlns:a16="http://schemas.microsoft.com/office/drawing/2014/main" id="{00944282-D1AE-70EF-38FF-F3F75B0B7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71" name="Line 35">
              <a:extLst>
                <a:ext uri="{FF2B5EF4-FFF2-40B4-BE49-F238E27FC236}">
                  <a16:creationId xmlns:a16="http://schemas.microsoft.com/office/drawing/2014/main" id="{3B7EFB77-089C-1C95-D1DB-8B106E6A3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7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72" name="Line 36">
              <a:extLst>
                <a:ext uri="{FF2B5EF4-FFF2-40B4-BE49-F238E27FC236}">
                  <a16:creationId xmlns:a16="http://schemas.microsoft.com/office/drawing/2014/main" id="{A51E717F-547C-5B4D-E0A2-6CB1463D4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73" name="Text Box 37">
              <a:extLst>
                <a:ext uri="{FF2B5EF4-FFF2-40B4-BE49-F238E27FC236}">
                  <a16:creationId xmlns:a16="http://schemas.microsoft.com/office/drawing/2014/main" id="{2C27B1EE-E11F-8B83-F485-185BA53387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3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(1, 0)</a:t>
              </a:r>
              <a:endParaRPr lang="en-US" altLang="zh-CN" sz="18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74" name="Text Box 38">
              <a:extLst>
                <a:ext uri="{FF2B5EF4-FFF2-40B4-BE49-F238E27FC236}">
                  <a16:creationId xmlns:a16="http://schemas.microsoft.com/office/drawing/2014/main" id="{E853FE3C-5C48-31F9-C0E6-B637DF7D8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609"/>
              <a:ext cx="1061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75" name="Text Box 39">
              <a:extLst>
                <a:ext uri="{FF2B5EF4-FFF2-40B4-BE49-F238E27FC236}">
                  <a16:creationId xmlns:a16="http://schemas.microsoft.com/office/drawing/2014/main" id="{69270A9E-D58C-094E-4181-CA9D843BF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76" name="Text Box 40">
              <a:extLst>
                <a:ext uri="{FF2B5EF4-FFF2-40B4-BE49-F238E27FC236}">
                  <a16:creationId xmlns:a16="http://schemas.microsoft.com/office/drawing/2014/main" id="{0CDCB3FD-8077-99ED-58D5-F34E5F46A7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77" name="Text Box 41">
              <a:extLst>
                <a:ext uri="{FF2B5EF4-FFF2-40B4-BE49-F238E27FC236}">
                  <a16:creationId xmlns:a16="http://schemas.microsoft.com/office/drawing/2014/main" id="{C8211084-6E68-F515-597B-2D0D8C6C1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78" name="Line 42">
              <a:extLst>
                <a:ext uri="{FF2B5EF4-FFF2-40B4-BE49-F238E27FC236}">
                  <a16:creationId xmlns:a16="http://schemas.microsoft.com/office/drawing/2014/main" id="{F1F28858-6233-D4E7-F213-37028042EA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0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79" name="Line 43">
              <a:extLst>
                <a:ext uri="{FF2B5EF4-FFF2-40B4-BE49-F238E27FC236}">
                  <a16:creationId xmlns:a16="http://schemas.microsoft.com/office/drawing/2014/main" id="{ED3015CF-F214-23B5-1126-5C1E38BE3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4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80" name="Line 44">
              <a:extLst>
                <a:ext uri="{FF2B5EF4-FFF2-40B4-BE49-F238E27FC236}">
                  <a16:creationId xmlns:a16="http://schemas.microsoft.com/office/drawing/2014/main" id="{29185634-DCA0-486B-1ED3-0D797DC7BA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9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81" name="Line 45">
              <a:extLst>
                <a:ext uri="{FF2B5EF4-FFF2-40B4-BE49-F238E27FC236}">
                  <a16:creationId xmlns:a16="http://schemas.microsoft.com/office/drawing/2014/main" id="{418CC0A8-0EB6-E7F2-3CB5-7511962CF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5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82" name="Line 46">
              <a:extLst>
                <a:ext uri="{FF2B5EF4-FFF2-40B4-BE49-F238E27FC236}">
                  <a16:creationId xmlns:a16="http://schemas.microsoft.com/office/drawing/2014/main" id="{1EC827B7-BEB5-C857-03B2-16705164AF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83" name="Line 47">
              <a:extLst>
                <a:ext uri="{FF2B5EF4-FFF2-40B4-BE49-F238E27FC236}">
                  <a16:creationId xmlns:a16="http://schemas.microsoft.com/office/drawing/2014/main" id="{DF58DEF1-A420-EA49-110E-0FA8D1B45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4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84" name="Text Box 48">
              <a:extLst>
                <a:ext uri="{FF2B5EF4-FFF2-40B4-BE49-F238E27FC236}">
                  <a16:creationId xmlns:a16="http://schemas.microsoft.com/office/drawing/2014/main" id="{484B61CD-9578-B87C-F531-F578CFD99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2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85" name="Text Box 49">
              <a:extLst>
                <a:ext uri="{FF2B5EF4-FFF2-40B4-BE49-F238E27FC236}">
                  <a16:creationId xmlns:a16="http://schemas.microsoft.com/office/drawing/2014/main" id="{5C1912F6-A653-5E0C-B1DF-8B1C9BEDC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86" name="Text Box 50">
              <a:extLst>
                <a:ext uri="{FF2B5EF4-FFF2-40B4-BE49-F238E27FC236}">
                  <a16:creationId xmlns:a16="http://schemas.microsoft.com/office/drawing/2014/main" id="{7F513169-202A-D17A-F562-52FB3077C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87" name="Line 51">
              <a:extLst>
                <a:ext uri="{FF2B5EF4-FFF2-40B4-BE49-F238E27FC236}">
                  <a16:creationId xmlns:a16="http://schemas.microsoft.com/office/drawing/2014/main" id="{59193039-5EAD-7ACB-0656-E95D2ACEAE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79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88" name="Line 52">
              <a:extLst>
                <a:ext uri="{FF2B5EF4-FFF2-40B4-BE49-F238E27FC236}">
                  <a16:creationId xmlns:a16="http://schemas.microsoft.com/office/drawing/2014/main" id="{EC6EAFBA-D2EC-AABB-1636-96B3106839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2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89" name="Line 53">
              <a:extLst>
                <a:ext uri="{FF2B5EF4-FFF2-40B4-BE49-F238E27FC236}">
                  <a16:creationId xmlns:a16="http://schemas.microsoft.com/office/drawing/2014/main" id="{C2184C2C-5985-CF0B-D835-A67484DE44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8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90" name="Line 54">
              <a:extLst>
                <a:ext uri="{FF2B5EF4-FFF2-40B4-BE49-F238E27FC236}">
                  <a16:creationId xmlns:a16="http://schemas.microsoft.com/office/drawing/2014/main" id="{911A7E0D-19E6-76AF-13B4-60CD9AE4E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4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91" name="Line 55">
              <a:extLst>
                <a:ext uri="{FF2B5EF4-FFF2-40B4-BE49-F238E27FC236}">
                  <a16:creationId xmlns:a16="http://schemas.microsoft.com/office/drawing/2014/main" id="{7D4F7DB9-A7CC-6A44-6B48-AFAC64EA6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4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92" name="Line 56">
              <a:extLst>
                <a:ext uri="{FF2B5EF4-FFF2-40B4-BE49-F238E27FC236}">
                  <a16:creationId xmlns:a16="http://schemas.microsoft.com/office/drawing/2014/main" id="{8AD5D0A3-B369-8385-4C4E-EC654DEC0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3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93" name="Text Box 57">
              <a:extLst>
                <a:ext uri="{FF2B5EF4-FFF2-40B4-BE49-F238E27FC236}">
                  <a16:creationId xmlns:a16="http://schemas.microsoft.com/office/drawing/2014/main" id="{E971A012-CDB9-F31A-4D20-733376D311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" y="3144"/>
              <a:ext cx="355" cy="100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Host</a:t>
              </a:r>
            </a:p>
          </p:txBody>
        </p:sp>
        <p:sp>
          <p:nvSpPr>
            <p:cNvPr id="31794" name="Line 58">
              <a:extLst>
                <a:ext uri="{FF2B5EF4-FFF2-40B4-BE49-F238E27FC236}">
                  <a16:creationId xmlns:a16="http://schemas.microsoft.com/office/drawing/2014/main" id="{FBED90A4-39D2-74E3-A099-6C2EB3D1EA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27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95" name="Line 59">
              <a:extLst>
                <a:ext uri="{FF2B5EF4-FFF2-40B4-BE49-F238E27FC236}">
                  <a16:creationId xmlns:a16="http://schemas.microsoft.com/office/drawing/2014/main" id="{B3FA6AC4-2147-209A-0B92-97479CE2FB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61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96" name="Line 60">
              <a:extLst>
                <a:ext uri="{FF2B5EF4-FFF2-40B4-BE49-F238E27FC236}">
                  <a16:creationId xmlns:a16="http://schemas.microsoft.com/office/drawing/2014/main" id="{A18BF84E-6CAF-63BC-D065-937FBA6B0B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95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B9EA-B6DF-8AA3-8B6D-DE9B91ED1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7EA3D580-098F-AF21-D134-AEC7A039A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u="sng">
                <a:ea typeface="宋体" panose="02010600030101010101" pitchFamily="2" charset="-122"/>
              </a:rPr>
              <a:t>CUDA Device Memory Allocation</a:t>
            </a:r>
          </a:p>
        </p:txBody>
      </p:sp>
      <p:sp>
        <p:nvSpPr>
          <p:cNvPr id="70663" name="Rectangle 7">
            <a:extLst>
              <a:ext uri="{FF2B5EF4-FFF2-40B4-BE49-F238E27FC236}">
                <a16:creationId xmlns:a16="http://schemas.microsoft.com/office/drawing/2014/main" id="{68C5FF2C-9199-ACB8-76B9-245C49AE48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43025"/>
            <a:ext cx="7924800" cy="5181600"/>
          </a:xfrm>
        </p:spPr>
        <p:txBody>
          <a:bodyPr/>
          <a:lstStyle/>
          <a:p>
            <a:pPr>
              <a:defRPr/>
            </a:pPr>
            <a:r>
              <a:rPr lang="en-US" altLang="zh-CN" sz="2400" dirty="0" err="1">
                <a:latin typeface="Arial" charset="0"/>
                <a:ea typeface="宋体" charset="-122"/>
              </a:rPr>
              <a:t>cudaMallocManged</a:t>
            </a:r>
            <a:r>
              <a:rPr lang="en-US" altLang="zh-CN" sz="2400" dirty="0">
                <a:latin typeface="Arial" charset="0"/>
                <a:ea typeface="宋体" charset="-122"/>
              </a:rPr>
              <a:t>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2000" b="0" i="0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memory allocation using unified memory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2000" b="0" i="0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the host and the device access the same memory address (pointer).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2000" b="0" i="0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CUDA automatically migrates the data between host and device memory, allowing the host to </a:t>
            </a:r>
            <a:r>
              <a:rPr lang="en" altLang="ko-KR" sz="2000" b="0" i="0" dirty="0" err="1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accesss</a:t>
            </a:r>
            <a:r>
              <a:rPr lang="en" altLang="ko-KR" sz="2000" b="0" i="0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the data stored on the device.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sz="2000" b="0" i="0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unified memory enables seamless access from both the host and device, but the data migration comes with some overhead.</a:t>
            </a:r>
          </a:p>
          <a:p>
            <a:pPr lvl="1">
              <a:defRPr/>
            </a:pPr>
            <a:endParaRPr lang="en-US" altLang="zh-CN" sz="2000" dirty="0">
              <a:latin typeface="Arial" charset="0"/>
              <a:ea typeface="宋体" charset="-122"/>
            </a:endParaRPr>
          </a:p>
          <a:p>
            <a:pPr lvl="1">
              <a:defRPr/>
            </a:pPr>
            <a:endParaRPr lang="en-US" altLang="zh-CN" sz="18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5712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BFEE536A-4E79-AA19-893F-41F4B25E21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u="sng">
                <a:ea typeface="宋体" panose="02010600030101010101" pitchFamily="2" charset="-122"/>
              </a:rPr>
              <a:t>CUDA Device Memory Allocation (cont.)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412C9B35-A93E-838C-D4F2-794C12B8FC7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8229600" cy="22860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Code example: </a:t>
            </a:r>
          </a:p>
          <a:p>
            <a:pPr lvl="1"/>
            <a:r>
              <a:rPr lang="en-US" altLang="zh-CN" sz="1800">
                <a:ea typeface="宋体" panose="02010600030101010101" pitchFamily="2" charset="-122"/>
              </a:rPr>
              <a:t>Allocate a  64 * 64 single precision float array</a:t>
            </a:r>
          </a:p>
          <a:p>
            <a:pPr lvl="1"/>
            <a:r>
              <a:rPr lang="en-US" altLang="zh-CN" sz="1800">
                <a:ea typeface="宋体" panose="02010600030101010101" pitchFamily="2" charset="-122"/>
              </a:rPr>
              <a:t>Attach the allocated storage to Md.elements</a:t>
            </a:r>
          </a:p>
          <a:p>
            <a:pPr lvl="1"/>
            <a:r>
              <a:rPr lang="en-US" altLang="zh-CN" sz="1800">
                <a:ea typeface="宋体" panose="02010600030101010101" pitchFamily="2" charset="-122"/>
              </a:rPr>
              <a:t>“d” is often used to indicate a device data structure</a:t>
            </a:r>
          </a:p>
        </p:txBody>
      </p:sp>
      <p:sp>
        <p:nvSpPr>
          <p:cNvPr id="32771" name="Text Box 4">
            <a:extLst>
              <a:ext uri="{FF2B5EF4-FFF2-40B4-BE49-F238E27FC236}">
                <a16:creationId xmlns:a16="http://schemas.microsoft.com/office/drawing/2014/main" id="{04A3E3AB-5E31-2B22-0F64-AF02D0E4D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86200"/>
            <a:ext cx="8305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61963"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BLOCK_SIZE = 64;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Matrix Md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int size = BLOCK_SIZE * BLOCK_SIZE * sizeof(float);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cudaMalloc((void**)&amp;Md.elements, size);</a:t>
            </a:r>
          </a:p>
          <a:p>
            <a:pPr eaLnBrk="1" fontAlgn="base" hangingPunct="1">
              <a:lnSpc>
                <a:spcPct val="80000"/>
              </a:lnSpc>
              <a:buClrTx/>
              <a:buSzPct val="180000"/>
              <a:buFontTx/>
              <a:buNone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cudaFree(Md.elements);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B55CC541-DED0-B326-8A1A-AF47C9EF5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u="sng">
                <a:ea typeface="宋体" panose="02010600030101010101" pitchFamily="2" charset="-122"/>
              </a:rPr>
              <a:t>CUDA Host-Device Data Transfer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EE592BCD-16B3-070F-9F66-FCEEAE42E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9388"/>
            <a:ext cx="4800600" cy="4572000"/>
          </a:xfrm>
        </p:spPr>
        <p:txBody>
          <a:bodyPr/>
          <a:lstStyle/>
          <a:p>
            <a:r>
              <a:rPr lang="en-US" altLang="zh-CN" sz="2400">
                <a:latin typeface="Arial" panose="020B06040202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cudaMemcpy()</a:t>
            </a:r>
          </a:p>
          <a:p>
            <a:pPr lvl="1"/>
            <a:r>
              <a:rPr lang="en-US" altLang="zh-CN" sz="2000">
                <a:ea typeface="Times New Roman" panose="02020603050405020304" pitchFamily="18" charset="0"/>
                <a:cs typeface="Courier New" panose="02070309020205020404" pitchFamily="49" charset="0"/>
              </a:rPr>
              <a:t>memory data transfer</a:t>
            </a:r>
          </a:p>
          <a:p>
            <a:pPr lvl="1"/>
            <a:r>
              <a:rPr lang="en-US" altLang="zh-CN" sz="2000">
                <a:ea typeface="Times New Roman" panose="02020603050405020304" pitchFamily="18" charset="0"/>
                <a:cs typeface="Courier New" panose="02070309020205020404" pitchFamily="49" charset="0"/>
              </a:rPr>
              <a:t>Requires four parameters</a:t>
            </a:r>
          </a:p>
          <a:p>
            <a:pPr lvl="2"/>
            <a:r>
              <a:rPr lang="en-US" altLang="zh-CN" sz="1800">
                <a:ea typeface="Times New Roman" panose="02020603050405020304" pitchFamily="18" charset="0"/>
                <a:cs typeface="Courier New" panose="02070309020205020404" pitchFamily="49" charset="0"/>
              </a:rPr>
              <a:t>Pointer to source </a:t>
            </a:r>
          </a:p>
          <a:p>
            <a:pPr lvl="2"/>
            <a:r>
              <a:rPr lang="en-US" altLang="zh-CN" sz="1800">
                <a:ea typeface="Times New Roman" panose="02020603050405020304" pitchFamily="18" charset="0"/>
                <a:cs typeface="Courier New" panose="02070309020205020404" pitchFamily="49" charset="0"/>
              </a:rPr>
              <a:t>Pointer to destination</a:t>
            </a:r>
          </a:p>
          <a:p>
            <a:pPr lvl="2"/>
            <a:r>
              <a:rPr lang="en-US" altLang="zh-CN" sz="1800">
                <a:ea typeface="Times New Roman" panose="02020603050405020304" pitchFamily="18" charset="0"/>
                <a:cs typeface="Courier New" panose="02070309020205020404" pitchFamily="49" charset="0"/>
              </a:rPr>
              <a:t>Number of bytes copied</a:t>
            </a:r>
          </a:p>
          <a:p>
            <a:pPr lvl="2"/>
            <a:r>
              <a:rPr lang="en-US" altLang="zh-CN" sz="1800">
                <a:ea typeface="Times New Roman" panose="02020603050405020304" pitchFamily="18" charset="0"/>
                <a:cs typeface="Courier New" panose="02070309020205020404" pitchFamily="49" charset="0"/>
              </a:rPr>
              <a:t>Type of transfer </a:t>
            </a:r>
          </a:p>
          <a:p>
            <a:pPr lvl="3"/>
            <a:r>
              <a:rPr lang="en-US" altLang="zh-CN" sz="1600">
                <a:ea typeface="Times New Roman" panose="02020603050405020304" pitchFamily="18" charset="0"/>
                <a:cs typeface="Courier New" panose="02070309020205020404" pitchFamily="49" charset="0"/>
              </a:rPr>
              <a:t>Host to Host</a:t>
            </a:r>
          </a:p>
          <a:p>
            <a:pPr lvl="3"/>
            <a:r>
              <a:rPr lang="en-US" altLang="zh-CN" sz="1600">
                <a:ea typeface="Times New Roman" panose="02020603050405020304" pitchFamily="18" charset="0"/>
                <a:cs typeface="Courier New" panose="02070309020205020404" pitchFamily="49" charset="0"/>
              </a:rPr>
              <a:t>Host to Device</a:t>
            </a:r>
          </a:p>
          <a:p>
            <a:pPr lvl="3"/>
            <a:r>
              <a:rPr lang="en-US" altLang="zh-CN" sz="1600">
                <a:ea typeface="Times New Roman" panose="02020603050405020304" pitchFamily="18" charset="0"/>
                <a:cs typeface="Courier New" panose="02070309020205020404" pitchFamily="49" charset="0"/>
              </a:rPr>
              <a:t>Device to Host</a:t>
            </a:r>
          </a:p>
          <a:p>
            <a:pPr lvl="3"/>
            <a:r>
              <a:rPr lang="en-US" altLang="zh-CN" sz="1600">
                <a:ea typeface="Times New Roman" panose="02020603050405020304" pitchFamily="18" charset="0"/>
                <a:cs typeface="Courier New" panose="02070309020205020404" pitchFamily="49" charset="0"/>
              </a:rPr>
              <a:t>Device to Device</a:t>
            </a:r>
          </a:p>
        </p:txBody>
      </p:sp>
      <p:grpSp>
        <p:nvGrpSpPr>
          <p:cNvPr id="33795" name="Group 4">
            <a:extLst>
              <a:ext uri="{FF2B5EF4-FFF2-40B4-BE49-F238E27FC236}">
                <a16:creationId xmlns:a16="http://schemas.microsoft.com/office/drawing/2014/main" id="{003268F2-AB20-66C6-74F3-61BC00F0B5B8}"/>
              </a:ext>
            </a:extLst>
          </p:cNvPr>
          <p:cNvGrpSpPr>
            <a:grpSpLocks/>
          </p:cNvGrpSpPr>
          <p:nvPr/>
        </p:nvGrpSpPr>
        <p:grpSpPr bwMode="auto">
          <a:xfrm>
            <a:off x="5284788" y="1447800"/>
            <a:ext cx="3859212" cy="4625975"/>
            <a:chOff x="2842" y="974"/>
            <a:chExt cx="2861" cy="3178"/>
          </a:xfrm>
        </p:grpSpPr>
        <p:sp>
          <p:nvSpPr>
            <p:cNvPr id="33796" name="AutoShape 5">
              <a:extLst>
                <a:ext uri="{FF2B5EF4-FFF2-40B4-BE49-F238E27FC236}">
                  <a16:creationId xmlns:a16="http://schemas.microsoft.com/office/drawing/2014/main" id="{F4F5D13A-6338-1A73-7EFB-AF83CEE1C8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2" y="974"/>
              <a:ext cx="2341" cy="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800"/>
            </a:p>
          </p:txBody>
        </p:sp>
        <p:sp>
          <p:nvSpPr>
            <p:cNvPr id="33797" name="Text Box 6">
              <a:extLst>
                <a:ext uri="{FF2B5EF4-FFF2-40B4-BE49-F238E27FC236}">
                  <a16:creationId xmlns:a16="http://schemas.microsoft.com/office/drawing/2014/main" id="{7DCBD1C7-1F40-3234-17FC-D833E3479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" y="977"/>
              <a:ext cx="2335" cy="31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(Device) Grid</a:t>
              </a:r>
            </a:p>
          </p:txBody>
        </p:sp>
        <p:sp>
          <p:nvSpPr>
            <p:cNvPr id="33798" name="Text Box 7">
              <a:extLst>
                <a:ext uri="{FF2B5EF4-FFF2-40B4-BE49-F238E27FC236}">
                  <a16:creationId xmlns:a16="http://schemas.microsoft.com/office/drawing/2014/main" id="{EF49F688-8AF9-5099-3436-B86D922D3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491"/>
              <a:ext cx="2271" cy="26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Constant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799" name="Text Box 8">
              <a:extLst>
                <a:ext uri="{FF2B5EF4-FFF2-40B4-BE49-F238E27FC236}">
                  <a16:creationId xmlns:a16="http://schemas.microsoft.com/office/drawing/2014/main" id="{43CBF231-7710-6DFA-3B5F-9DCC82D78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830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Texture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00" name="Text Box 9">
              <a:extLst>
                <a:ext uri="{FF2B5EF4-FFF2-40B4-BE49-F238E27FC236}">
                  <a16:creationId xmlns:a16="http://schemas.microsoft.com/office/drawing/2014/main" id="{F2EA3CC2-6927-1491-928B-66B69801B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" y="3147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Global</a:t>
              </a:r>
            </a:p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01" name="Text Box 10">
              <a:extLst>
                <a:ext uri="{FF2B5EF4-FFF2-40B4-BE49-F238E27FC236}">
                  <a16:creationId xmlns:a16="http://schemas.microsoft.com/office/drawing/2014/main" id="{74F773ED-A88C-4310-0C5D-0EC6AD07B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(0, 0)</a:t>
              </a:r>
            </a:p>
          </p:txBody>
        </p:sp>
        <p:sp>
          <p:nvSpPr>
            <p:cNvPr id="33802" name="Text Box 11">
              <a:extLst>
                <a:ext uri="{FF2B5EF4-FFF2-40B4-BE49-F238E27FC236}">
                  <a16:creationId xmlns:a16="http://schemas.microsoft.com/office/drawing/2014/main" id="{9AD2FB6A-FE14-C0D1-522A-5D0DBE585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1609"/>
              <a:ext cx="1060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03" name="Text Box 12">
              <a:extLst>
                <a:ext uri="{FF2B5EF4-FFF2-40B4-BE49-F238E27FC236}">
                  <a16:creationId xmlns:a16="http://schemas.microsoft.com/office/drawing/2014/main" id="{8885EE51-168D-CCE8-B463-9F2F05A84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04" name="Text Box 13">
              <a:extLst>
                <a:ext uri="{FF2B5EF4-FFF2-40B4-BE49-F238E27FC236}">
                  <a16:creationId xmlns:a16="http://schemas.microsoft.com/office/drawing/2014/main" id="{3B3644A8-FD50-3CF8-4096-697979F05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05" name="Text Box 14">
              <a:extLst>
                <a:ext uri="{FF2B5EF4-FFF2-40B4-BE49-F238E27FC236}">
                  <a16:creationId xmlns:a16="http://schemas.microsoft.com/office/drawing/2014/main" id="{B8956E6A-900A-321C-9785-0694BC380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1926"/>
              <a:ext cx="392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06" name="Line 15">
              <a:extLst>
                <a:ext uri="{FF2B5EF4-FFF2-40B4-BE49-F238E27FC236}">
                  <a16:creationId xmlns:a16="http://schemas.microsoft.com/office/drawing/2014/main" id="{6F13CF69-E9E7-F732-F810-9F1ED3718F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4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07" name="Line 16">
              <a:extLst>
                <a:ext uri="{FF2B5EF4-FFF2-40B4-BE49-F238E27FC236}">
                  <a16:creationId xmlns:a16="http://schemas.microsoft.com/office/drawing/2014/main" id="{641F9CBB-8652-454B-951A-8DD863EC71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7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08" name="Line 17">
              <a:extLst>
                <a:ext uri="{FF2B5EF4-FFF2-40B4-BE49-F238E27FC236}">
                  <a16:creationId xmlns:a16="http://schemas.microsoft.com/office/drawing/2014/main" id="{2E53E46D-A1DC-2FBE-E5E4-9A0048FA66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3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09" name="Line 18">
              <a:extLst>
                <a:ext uri="{FF2B5EF4-FFF2-40B4-BE49-F238E27FC236}">
                  <a16:creationId xmlns:a16="http://schemas.microsoft.com/office/drawing/2014/main" id="{55D15641-CC82-AF52-6BFD-907C7FC87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8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10" name="Line 19">
              <a:extLst>
                <a:ext uri="{FF2B5EF4-FFF2-40B4-BE49-F238E27FC236}">
                  <a16:creationId xmlns:a16="http://schemas.microsoft.com/office/drawing/2014/main" id="{E91CA0FF-1F80-87CE-A61F-8AE045249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11" name="Line 20">
              <a:extLst>
                <a:ext uri="{FF2B5EF4-FFF2-40B4-BE49-F238E27FC236}">
                  <a16:creationId xmlns:a16="http://schemas.microsoft.com/office/drawing/2014/main" id="{B65F6D00-B8F8-0FB3-7DEE-63F90EA60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8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12" name="Text Box 21">
              <a:extLst>
                <a:ext uri="{FF2B5EF4-FFF2-40B4-BE49-F238E27FC236}">
                  <a16:creationId xmlns:a16="http://schemas.microsoft.com/office/drawing/2014/main" id="{817CB5FF-5DE2-4273-4E84-0A6A445FA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2709"/>
              <a:ext cx="333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13" name="Text Box 22">
              <a:extLst>
                <a:ext uri="{FF2B5EF4-FFF2-40B4-BE49-F238E27FC236}">
                  <a16:creationId xmlns:a16="http://schemas.microsoft.com/office/drawing/2014/main" id="{7FF90990-7727-748F-249C-532B363AB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14" name="Text Box 23">
              <a:extLst>
                <a:ext uri="{FF2B5EF4-FFF2-40B4-BE49-F238E27FC236}">
                  <a16:creationId xmlns:a16="http://schemas.microsoft.com/office/drawing/2014/main" id="{2343B447-1140-D302-31CD-FEEB6BB87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15" name="Line 24">
              <a:extLst>
                <a:ext uri="{FF2B5EF4-FFF2-40B4-BE49-F238E27FC236}">
                  <a16:creationId xmlns:a16="http://schemas.microsoft.com/office/drawing/2014/main" id="{DDF97E46-F716-05C4-4D20-13C8CA2FAA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2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16" name="Line 25">
              <a:extLst>
                <a:ext uri="{FF2B5EF4-FFF2-40B4-BE49-F238E27FC236}">
                  <a16:creationId xmlns:a16="http://schemas.microsoft.com/office/drawing/2014/main" id="{1F1E85B3-329D-18BA-91AB-1ABFA840B9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6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17" name="Line 26">
              <a:extLst>
                <a:ext uri="{FF2B5EF4-FFF2-40B4-BE49-F238E27FC236}">
                  <a16:creationId xmlns:a16="http://schemas.microsoft.com/office/drawing/2014/main" id="{E14446B6-84F9-D22D-BD41-275CF3ED46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1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18" name="Line 27">
              <a:extLst>
                <a:ext uri="{FF2B5EF4-FFF2-40B4-BE49-F238E27FC236}">
                  <a16:creationId xmlns:a16="http://schemas.microsoft.com/office/drawing/2014/main" id="{F17D00E0-18EF-0CAD-D6E4-2706ABD35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19" name="Line 28">
              <a:extLst>
                <a:ext uri="{FF2B5EF4-FFF2-40B4-BE49-F238E27FC236}">
                  <a16:creationId xmlns:a16="http://schemas.microsoft.com/office/drawing/2014/main" id="{80CE66D8-C74D-4EE2-6E34-8C691BC10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7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20" name="Line 29">
              <a:extLst>
                <a:ext uri="{FF2B5EF4-FFF2-40B4-BE49-F238E27FC236}">
                  <a16:creationId xmlns:a16="http://schemas.microsoft.com/office/drawing/2014/main" id="{F88B8A4D-9A6B-14C0-BF92-A45D4AD2B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21" name="Text Box 30">
              <a:extLst>
                <a:ext uri="{FF2B5EF4-FFF2-40B4-BE49-F238E27FC236}">
                  <a16:creationId xmlns:a16="http://schemas.microsoft.com/office/drawing/2014/main" id="{BFC68E80-B7B2-597B-2906-FFE37F3E7C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3" y="1288"/>
              <a:ext cx="1116" cy="179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Block (1, 0)</a:t>
              </a:r>
              <a:endParaRPr lang="en-US" altLang="zh-CN" sz="18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22" name="Text Box 31">
              <a:extLst>
                <a:ext uri="{FF2B5EF4-FFF2-40B4-BE49-F238E27FC236}">
                  <a16:creationId xmlns:a16="http://schemas.microsoft.com/office/drawing/2014/main" id="{83935A21-29B0-AF90-97FD-9ADC1F413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609"/>
              <a:ext cx="1061" cy="22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Shared 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23" name="Text Box 32">
              <a:extLst>
                <a:ext uri="{FF2B5EF4-FFF2-40B4-BE49-F238E27FC236}">
                  <a16:creationId xmlns:a16="http://schemas.microsoft.com/office/drawing/2014/main" id="{93EC2338-A263-3E2A-06E9-AD8443380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24" name="Text Box 33">
              <a:extLst>
                <a:ext uri="{FF2B5EF4-FFF2-40B4-BE49-F238E27FC236}">
                  <a16:creationId xmlns:a16="http://schemas.microsoft.com/office/drawing/2014/main" id="{FAFE22C5-83B3-33A3-489C-D907338BC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(0,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25" name="Text Box 34">
              <a:extLst>
                <a:ext uri="{FF2B5EF4-FFF2-40B4-BE49-F238E27FC236}">
                  <a16:creationId xmlns:a16="http://schemas.microsoft.com/office/drawing/2014/main" id="{B82BC211-13B4-331F-AF50-F17A37633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26" name="Line 35">
              <a:extLst>
                <a:ext uri="{FF2B5EF4-FFF2-40B4-BE49-F238E27FC236}">
                  <a16:creationId xmlns:a16="http://schemas.microsoft.com/office/drawing/2014/main" id="{5921D038-8E28-7E97-8391-BF685BF48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0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27" name="Line 36">
              <a:extLst>
                <a:ext uri="{FF2B5EF4-FFF2-40B4-BE49-F238E27FC236}">
                  <a16:creationId xmlns:a16="http://schemas.microsoft.com/office/drawing/2014/main" id="{592D0C75-7B7B-8CBF-F873-9B63029864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4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28" name="Line 37">
              <a:extLst>
                <a:ext uri="{FF2B5EF4-FFF2-40B4-BE49-F238E27FC236}">
                  <a16:creationId xmlns:a16="http://schemas.microsoft.com/office/drawing/2014/main" id="{60C47B78-8EEF-2380-FC19-EEDA55DB9C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9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29" name="Line 38">
              <a:extLst>
                <a:ext uri="{FF2B5EF4-FFF2-40B4-BE49-F238E27FC236}">
                  <a16:creationId xmlns:a16="http://schemas.microsoft.com/office/drawing/2014/main" id="{869B9502-FEFB-D34F-E046-DD4AC125C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5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30" name="Line 39">
              <a:extLst>
                <a:ext uri="{FF2B5EF4-FFF2-40B4-BE49-F238E27FC236}">
                  <a16:creationId xmlns:a16="http://schemas.microsoft.com/office/drawing/2014/main" id="{FBCE30EC-6B53-111E-CF68-E26C0F7FC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31" name="Line 40">
              <a:extLst>
                <a:ext uri="{FF2B5EF4-FFF2-40B4-BE49-F238E27FC236}">
                  <a16:creationId xmlns:a16="http://schemas.microsoft.com/office/drawing/2014/main" id="{DDEC3664-7F5A-60A4-1548-FCFDC816D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4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32" name="Text Box 41">
              <a:extLst>
                <a:ext uri="{FF2B5EF4-FFF2-40B4-BE49-F238E27FC236}">
                  <a16:creationId xmlns:a16="http://schemas.microsoft.com/office/drawing/2014/main" id="{15A676C0-29C5-7A1F-3B09-C14E80035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2" y="2709"/>
              <a:ext cx="332" cy="34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Local</a:t>
              </a:r>
            </a:p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Memory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33" name="Text Box 42">
              <a:extLst>
                <a:ext uri="{FF2B5EF4-FFF2-40B4-BE49-F238E27FC236}">
                  <a16:creationId xmlns:a16="http://schemas.microsoft.com/office/drawing/2014/main" id="{EDF47F56-7DFE-E28E-0EB2-44B6BC4A7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2257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Thread (1, 0)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34" name="Text Box 43">
              <a:extLst>
                <a:ext uri="{FF2B5EF4-FFF2-40B4-BE49-F238E27FC236}">
                  <a16:creationId xmlns:a16="http://schemas.microsoft.com/office/drawing/2014/main" id="{818363C5-00D1-DB39-F821-6F3ADED61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7" y="1926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  <a:endParaRPr lang="en-US" altLang="zh-CN" sz="1000">
                <a:solidFill>
                  <a:srgbClr val="00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35" name="Line 44">
              <a:extLst>
                <a:ext uri="{FF2B5EF4-FFF2-40B4-BE49-F238E27FC236}">
                  <a16:creationId xmlns:a16="http://schemas.microsoft.com/office/drawing/2014/main" id="{4A899E18-E3D9-89B1-A83B-B9ADFC9822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79" y="1830"/>
              <a:ext cx="2" cy="4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36" name="Line 45">
              <a:extLst>
                <a:ext uri="{FF2B5EF4-FFF2-40B4-BE49-F238E27FC236}">
                  <a16:creationId xmlns:a16="http://schemas.microsoft.com/office/drawing/2014/main" id="{B139229A-051D-AA04-9D8E-FE1B67A1FF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2" y="2111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37" name="Line 46">
              <a:extLst>
                <a:ext uri="{FF2B5EF4-FFF2-40B4-BE49-F238E27FC236}">
                  <a16:creationId xmlns:a16="http://schemas.microsoft.com/office/drawing/2014/main" id="{4B7BC674-CAF7-7327-5AB7-64E61BAAD7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8" y="2567"/>
              <a:ext cx="1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38" name="Line 47">
              <a:extLst>
                <a:ext uri="{FF2B5EF4-FFF2-40B4-BE49-F238E27FC236}">
                  <a16:creationId xmlns:a16="http://schemas.microsoft.com/office/drawing/2014/main" id="{743404C5-01C6-4637-FC85-E61602692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4" y="2567"/>
              <a:ext cx="0" cy="5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39" name="Line 48">
              <a:extLst>
                <a:ext uri="{FF2B5EF4-FFF2-40B4-BE49-F238E27FC236}">
                  <a16:creationId xmlns:a16="http://schemas.microsoft.com/office/drawing/2014/main" id="{DAB44A38-B1DE-432F-34B2-59D74BEBF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4" y="2567"/>
              <a:ext cx="0" cy="12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40" name="Line 49">
              <a:extLst>
                <a:ext uri="{FF2B5EF4-FFF2-40B4-BE49-F238E27FC236}">
                  <a16:creationId xmlns:a16="http://schemas.microsoft.com/office/drawing/2014/main" id="{F3659C75-86B1-AB9A-0E62-459D8CCEE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3" y="2567"/>
              <a:ext cx="1" cy="9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41" name="Text Box 50">
              <a:extLst>
                <a:ext uri="{FF2B5EF4-FFF2-40B4-BE49-F238E27FC236}">
                  <a16:creationId xmlns:a16="http://schemas.microsoft.com/office/drawing/2014/main" id="{465F21A4-F7B9-6D99-5DDC-61491348A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" y="3144"/>
              <a:ext cx="355" cy="100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solidFill>
                    <a:srgbClr val="00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Host</a:t>
              </a:r>
            </a:p>
          </p:txBody>
        </p:sp>
        <p:sp>
          <p:nvSpPr>
            <p:cNvPr id="33842" name="Line 51">
              <a:extLst>
                <a:ext uri="{FF2B5EF4-FFF2-40B4-BE49-F238E27FC236}">
                  <a16:creationId xmlns:a16="http://schemas.microsoft.com/office/drawing/2014/main" id="{DF8D94A0-7864-C9E7-BECD-036952E8C6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27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43" name="Line 52">
              <a:extLst>
                <a:ext uri="{FF2B5EF4-FFF2-40B4-BE49-F238E27FC236}">
                  <a16:creationId xmlns:a16="http://schemas.microsoft.com/office/drawing/2014/main" id="{5F6E7211-9B85-DED6-BA28-7D36FBE7F5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61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844" name="Line 53">
              <a:extLst>
                <a:ext uri="{FF2B5EF4-FFF2-40B4-BE49-F238E27FC236}">
                  <a16:creationId xmlns:a16="http://schemas.microsoft.com/office/drawing/2014/main" id="{068E6F74-D681-5321-B2FA-5FB23E871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395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A48542D9-60DD-FCD6-44FA-CCEE3E6CDD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u="sng">
                <a:ea typeface="宋体" panose="02010600030101010101" pitchFamily="2" charset="-122"/>
              </a:rPr>
              <a:t>CUDA Host-Device Data Transfer (cont.)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228F1A4A-055D-016B-D3B4-8BEF118C603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8229600" cy="22860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Code example: </a:t>
            </a:r>
          </a:p>
          <a:p>
            <a:pPr lvl="1"/>
            <a:r>
              <a:rPr lang="en-US" altLang="zh-CN" sz="1800">
                <a:ea typeface="宋体" panose="02010600030101010101" pitchFamily="2" charset="-122"/>
              </a:rPr>
              <a:t>Transfer a  64 * 64 single precision float array</a:t>
            </a:r>
          </a:p>
          <a:p>
            <a:pPr lvl="1"/>
            <a:r>
              <a:rPr lang="en-US" altLang="zh-CN" sz="1800">
                <a:ea typeface="宋体" panose="02010600030101010101" pitchFamily="2" charset="-122"/>
              </a:rPr>
              <a:t>M is in host memory and Md is in device memory</a:t>
            </a:r>
          </a:p>
          <a:p>
            <a:pPr lvl="1"/>
            <a:r>
              <a:rPr lang="en-US" altLang="zh-CN" sz="1800">
                <a:ea typeface="宋体" panose="02010600030101010101" pitchFamily="2" charset="-122"/>
              </a:rPr>
              <a:t>cudaMemcpyHostToDevice and cudaMemcpyDeviceToHost are      symbolic constants</a:t>
            </a:r>
          </a:p>
        </p:txBody>
      </p:sp>
      <p:sp>
        <p:nvSpPr>
          <p:cNvPr id="34819" name="Text Box 4">
            <a:extLst>
              <a:ext uri="{FF2B5EF4-FFF2-40B4-BE49-F238E27FC236}">
                <a16:creationId xmlns:a16="http://schemas.microsoft.com/office/drawing/2014/main" id="{062D938C-D8CF-A0D1-B18B-747425C7F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05200"/>
            <a:ext cx="8305800" cy="240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66738" indent="-566738"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cudaMemcpy(Md.elements, M.elements, size, 			cudaMemcpyHostToDevice);</a:t>
            </a: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	cudaMemcpy(M.elements, Md.elements, size, 			cudaMemcpyDeviceToHost);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47827F11-69BF-751D-7962-2D1E5BE31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u="sng">
                <a:ea typeface="宋体" panose="02010600030101010101" pitchFamily="2" charset="-122"/>
              </a:rPr>
              <a:t>CUDA Function Declarations</a:t>
            </a:r>
          </a:p>
        </p:txBody>
      </p:sp>
      <p:graphicFrame>
        <p:nvGraphicFramePr>
          <p:cNvPr id="81949" name="Group 29">
            <a:extLst>
              <a:ext uri="{FF2B5EF4-FFF2-40B4-BE49-F238E27FC236}">
                <a16:creationId xmlns:a16="http://schemas.microsoft.com/office/drawing/2014/main" id="{44BF3BBC-89DC-264F-86E7-1525B1F3ED1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09600" y="1557338"/>
          <a:ext cx="7923213" cy="1944687"/>
        </p:xfrm>
        <a:graphic>
          <a:graphicData uri="http://schemas.openxmlformats.org/drawingml/2006/table">
            <a:tbl>
              <a:tblPr/>
              <a:tblGrid>
                <a:gridCol w="4726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3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91444" marR="91444"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Executed on the:</a:t>
                      </a:r>
                    </a:p>
                  </a:txBody>
                  <a:tcPr marL="91444" marR="91444"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Only callable from the:</a:t>
                      </a:r>
                    </a:p>
                  </a:txBody>
                  <a:tcPr marL="91444" marR="91444"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__device__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float DeviceFunc()</a:t>
                      </a:r>
                    </a:p>
                  </a:txBody>
                  <a:tcPr marL="91444" marR="91444"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device</a:t>
                      </a:r>
                    </a:p>
                  </a:txBody>
                  <a:tcPr marL="91444" marR="91444"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device</a:t>
                      </a:r>
                    </a:p>
                  </a:txBody>
                  <a:tcPr marL="91444" marR="91444"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8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__global__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void  KernelFunc()</a:t>
                      </a:r>
                    </a:p>
                  </a:txBody>
                  <a:tcPr marL="91444" marR="91444"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device</a:t>
                      </a:r>
                    </a:p>
                  </a:txBody>
                  <a:tcPr marL="91444" marR="91444"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host</a:t>
                      </a:r>
                    </a:p>
                  </a:txBody>
                  <a:tcPr marL="91444" marR="91444"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__host__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   float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HostFunc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</a:rPr>
                        <a:t>()</a:t>
                      </a:r>
                    </a:p>
                  </a:txBody>
                  <a:tcPr marL="91444" marR="91444"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host</a:t>
                      </a:r>
                    </a:p>
                  </a:txBody>
                  <a:tcPr marL="91444" marR="91444"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host</a:t>
                      </a:r>
                    </a:p>
                  </a:txBody>
                  <a:tcPr marL="91444" marR="91444"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864" name="Rectangle 3">
            <a:extLst>
              <a:ext uri="{FF2B5EF4-FFF2-40B4-BE49-F238E27FC236}">
                <a16:creationId xmlns:a16="http://schemas.microsoft.com/office/drawing/2014/main" id="{32F91FF6-5FF7-CC11-C4AC-52352BC6334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3794125"/>
            <a:ext cx="8305800" cy="2514600"/>
          </a:xfrm>
        </p:spPr>
        <p:txBody>
          <a:bodyPr/>
          <a:lstStyle/>
          <a:p>
            <a:pPr marL="457200" indent="-457200"/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__global__</a:t>
            </a:r>
            <a:r>
              <a:rPr lang="en-US" altLang="zh-CN" sz="2000" b="1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defines a kernel function</a:t>
            </a:r>
          </a:p>
          <a:p>
            <a:pPr marL="974725" lvl="1" indent="-403225"/>
            <a:r>
              <a:rPr lang="en-US" altLang="zh-CN" sz="1600">
                <a:ea typeface="宋体" panose="02010600030101010101" pitchFamily="2" charset="-122"/>
              </a:rPr>
              <a:t>Must return </a:t>
            </a:r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void</a:t>
            </a:r>
          </a:p>
          <a:p>
            <a:pPr marL="457200" indent="-457200"/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__device__</a:t>
            </a:r>
            <a:r>
              <a:rPr lang="en-US" altLang="zh-CN" sz="2000" b="1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and 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__host__</a:t>
            </a:r>
            <a:r>
              <a:rPr lang="en-US" altLang="zh-CN" sz="2000" b="1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can be used together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9B5784CB-58AA-92A3-83BE-BC0FD3F4E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33613"/>
            <a:ext cx="8499475" cy="241458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6398F8CB-B252-0E05-E9FD-49C99B68B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58200" cy="1066800"/>
          </a:xfrm>
        </p:spPr>
        <p:txBody>
          <a:bodyPr/>
          <a:lstStyle/>
          <a:p>
            <a:r>
              <a:rPr lang="en-US" altLang="zh-CN" sz="2800" b="1" u="sng">
                <a:ea typeface="宋体" panose="02010600030101010101" pitchFamily="2" charset="-122"/>
              </a:rPr>
              <a:t>Calling a Kernel Function – Thread Creation</a:t>
            </a:r>
          </a:p>
        </p:txBody>
      </p:sp>
      <p:sp>
        <p:nvSpPr>
          <p:cNvPr id="37891" name="Rectangle 4">
            <a:extLst>
              <a:ext uri="{FF2B5EF4-FFF2-40B4-BE49-F238E27FC236}">
                <a16:creationId xmlns:a16="http://schemas.microsoft.com/office/drawing/2014/main" id="{BD470562-DC21-EE36-09C4-50C37E24F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19213"/>
            <a:ext cx="8499475" cy="5538787"/>
          </a:xfrm>
        </p:spPr>
        <p:txBody>
          <a:bodyPr/>
          <a:lstStyle/>
          <a:p>
            <a:pPr marL="457200" indent="-457200"/>
            <a:r>
              <a:rPr lang="en-US" altLang="zh-CN" sz="2000">
                <a:ea typeface="宋体" panose="02010600030101010101" pitchFamily="2" charset="-122"/>
              </a:rPr>
              <a:t>A kernel function must be called with an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execution configuration</a:t>
            </a:r>
            <a:r>
              <a:rPr lang="en-US" altLang="zh-CN" sz="2000">
                <a:ea typeface="宋体" panose="02010600030101010101" pitchFamily="2" charset="-122"/>
              </a:rPr>
              <a:t>:</a:t>
            </a:r>
          </a:p>
          <a:p>
            <a:pPr marL="457200" indent="-457200"/>
            <a:endParaRPr lang="en-US" altLang="zh-CN" sz="60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457200" indent="-457200">
              <a:buFontTx/>
              <a:buNone/>
            </a:pPr>
            <a:endParaRPr lang="en-US" altLang="zh-CN" sz="1600" b="1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457200" indent="-457200">
              <a:buFontTx/>
              <a:buNone/>
            </a:pPr>
            <a:endParaRPr lang="en-US" altLang="zh-CN" sz="1600" b="1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457200" indent="-457200"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__global__ </a:t>
            </a:r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void KernelFunc(...);</a:t>
            </a:r>
          </a:p>
          <a:p>
            <a:pPr marL="457200" indent="-457200"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dim3</a:t>
            </a:r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   DimGrid(100, 50);    </a:t>
            </a:r>
            <a:r>
              <a:rPr lang="en-US" altLang="zh-CN" sz="1600" b="1">
                <a:solidFill>
                  <a:schemeClr val="tx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// 5000 thread blocks</a:t>
            </a:r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</a:p>
          <a:p>
            <a:pPr marL="457200" indent="-457200"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dim3</a:t>
            </a:r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   DimBlock(4, 8, 8);   </a:t>
            </a:r>
            <a:r>
              <a:rPr lang="en-US" altLang="zh-CN" sz="1600" b="1">
                <a:solidFill>
                  <a:schemeClr val="tx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// 256 threads per block</a:t>
            </a:r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</a:p>
          <a:p>
            <a:pPr marL="457200" indent="-457200">
              <a:buFontTx/>
              <a:buNone/>
            </a:pPr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size_t SharedMemBytes = 64; </a:t>
            </a:r>
            <a:r>
              <a:rPr lang="en-US" altLang="zh-CN" sz="1600" b="1">
                <a:solidFill>
                  <a:schemeClr val="tx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// 64 bytes of shared memory</a:t>
            </a:r>
          </a:p>
          <a:p>
            <a:pPr marL="457200" indent="-457200">
              <a:buFontTx/>
              <a:buNone/>
            </a:pPr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KernelFunc</a:t>
            </a:r>
            <a:r>
              <a:rPr lang="en-US" altLang="zh-CN" sz="1600" b="1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&lt;&lt;&lt;</a:t>
            </a:r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 DimGrid, DimBlock, SharedMemBytes </a:t>
            </a:r>
            <a:r>
              <a:rPr lang="en-US" altLang="zh-CN" sz="1600" b="1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&gt;&gt;&gt;</a:t>
            </a:r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(...);</a:t>
            </a:r>
            <a:endParaRPr lang="en-US" altLang="zh-CN" sz="700" b="1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457200" indent="-457200"/>
            <a:endParaRPr lang="en-US" altLang="zh-CN" sz="2000">
              <a:ea typeface="宋体" panose="02010600030101010101" pitchFamily="2" charset="-122"/>
            </a:endParaRPr>
          </a:p>
          <a:p>
            <a:pPr marL="457200" indent="-457200"/>
            <a:endParaRPr lang="en-US" altLang="zh-CN" sz="2000">
              <a:ea typeface="宋体" panose="02010600030101010101" pitchFamily="2" charset="-122"/>
            </a:endParaRPr>
          </a:p>
          <a:p>
            <a:pPr marL="457200" indent="-457200"/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D9C6A1AF-5C87-2659-E1AA-73D16C0C9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u="sng">
                <a:ea typeface="宋体" panose="02010600030101010101" pitchFamily="2" charset="-122"/>
              </a:rPr>
              <a:t>A Simple Running Example</a:t>
            </a:r>
            <a:br>
              <a:rPr lang="en-US" altLang="zh-CN" sz="2800" b="1" u="sng">
                <a:ea typeface="宋体" panose="02010600030101010101" pitchFamily="2" charset="-122"/>
              </a:rPr>
            </a:br>
            <a:r>
              <a:rPr lang="en-US" altLang="zh-CN" sz="2800" b="1" u="sng">
                <a:ea typeface="宋体" panose="02010600030101010101" pitchFamily="2" charset="-122"/>
              </a:rPr>
              <a:t>Matrix Multiplication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A7EE7BC6-7F64-D4DF-9834-5C65C8802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A straightforward matrix multiplication example that    illustrates the basic features of memory and thread  management in CUDA programs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Leave shared memory usage until later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Local, register usage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Thread ID usage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Memory data transfer API between host and device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2E8C8984-9562-B9FA-4905-AFEC2FC47B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391400" cy="1066800"/>
          </a:xfrm>
        </p:spPr>
        <p:txBody>
          <a:bodyPr/>
          <a:lstStyle/>
          <a:p>
            <a:r>
              <a:rPr lang="en-US" altLang="zh-CN" sz="3200" b="1" u="sng">
                <a:ea typeface="宋体" panose="02010600030101010101" pitchFamily="2" charset="-122"/>
              </a:rPr>
              <a:t>Programming Model:</a:t>
            </a:r>
            <a:br>
              <a:rPr lang="en-US" altLang="zh-CN" sz="3200" b="1" u="sng">
                <a:ea typeface="宋体" panose="02010600030101010101" pitchFamily="2" charset="-122"/>
              </a:rPr>
            </a:br>
            <a:r>
              <a:rPr lang="en-US" altLang="zh-CN" sz="3200" b="1" u="sng">
                <a:ea typeface="宋体" panose="02010600030101010101" pitchFamily="2" charset="-122"/>
              </a:rPr>
              <a:t>Square Matrix Multiplication Example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BEB13D90-68BB-0DA9-A91A-FEFF2F82C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5686425" cy="2097088"/>
          </a:xfrm>
        </p:spPr>
        <p:txBody>
          <a:bodyPr/>
          <a:lstStyle/>
          <a:p>
            <a:pPr marL="457200" indent="-457200"/>
            <a:r>
              <a:rPr lang="en-US" altLang="zh-CN" sz="2400">
                <a:ea typeface="宋体" panose="02010600030101010101" pitchFamily="2" charset="-122"/>
              </a:rPr>
              <a:t>P = M * N of size </a:t>
            </a:r>
            <a:r>
              <a:rPr lang="en-US" altLang="zh-CN" sz="1800">
                <a:ea typeface="宋体" panose="02010600030101010101" pitchFamily="2" charset="-122"/>
              </a:rPr>
              <a:t>WIDTH x WIDTH</a:t>
            </a:r>
            <a:endParaRPr lang="en-US" altLang="zh-CN" sz="2400"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sz="2400">
                <a:ea typeface="宋体" panose="02010600030101010101" pitchFamily="2" charset="-122"/>
              </a:rPr>
              <a:t>Without tiling:</a:t>
            </a:r>
          </a:p>
          <a:p>
            <a:pPr marL="974725" lvl="1" indent="-403225"/>
            <a:r>
              <a:rPr lang="en-US" altLang="zh-CN" sz="2000">
                <a:ea typeface="宋体" panose="02010600030101010101" pitchFamily="2" charset="-122"/>
              </a:rPr>
              <a:t>One </a:t>
            </a:r>
            <a:r>
              <a:rPr lang="en-US" altLang="zh-CN" sz="2000">
                <a:solidFill>
                  <a:srgbClr val="FF6600"/>
                </a:solidFill>
                <a:ea typeface="宋体" panose="02010600030101010101" pitchFamily="2" charset="-122"/>
              </a:rPr>
              <a:t>thread</a:t>
            </a:r>
            <a:r>
              <a:rPr lang="en-US" altLang="zh-CN" sz="2000">
                <a:ea typeface="宋体" panose="02010600030101010101" pitchFamily="2" charset="-122"/>
              </a:rPr>
              <a:t> handles one element of P</a:t>
            </a:r>
          </a:p>
          <a:p>
            <a:pPr marL="974725" lvl="1" indent="-403225"/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M and N are loaded </a:t>
            </a:r>
            <a:r>
              <a:rPr lang="en-US" altLang="zh-CN" sz="1600">
                <a:solidFill>
                  <a:schemeClr val="accent2"/>
                </a:solidFill>
                <a:ea typeface="宋体" panose="02010600030101010101" pitchFamily="2" charset="-122"/>
              </a:rPr>
              <a:t>WIDTH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 times</a:t>
            </a:r>
            <a:r>
              <a:rPr lang="en-US" altLang="zh-CN" sz="2000">
                <a:ea typeface="宋体" panose="02010600030101010101" pitchFamily="2" charset="-122"/>
              </a:rPr>
              <a:t> from global memory</a:t>
            </a:r>
          </a:p>
        </p:txBody>
      </p:sp>
      <p:sp>
        <p:nvSpPr>
          <p:cNvPr id="39939" name="Text Box 4">
            <a:extLst>
              <a:ext uri="{FF2B5EF4-FFF2-40B4-BE49-F238E27FC236}">
                <a16:creationId xmlns:a16="http://schemas.microsoft.com/office/drawing/2014/main" id="{00F6CFE3-2926-7050-28C4-BA4488318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4075113"/>
            <a:ext cx="2468562" cy="2468562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endParaRPr lang="en-US" altLang="zh-CN" sz="18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Text Box 5">
            <a:extLst>
              <a:ext uri="{FF2B5EF4-FFF2-40B4-BE49-F238E27FC236}">
                <a16:creationId xmlns:a16="http://schemas.microsoft.com/office/drawing/2014/main" id="{055DE095-4CC4-4E9A-0F2D-0DEE2694B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25" y="1560513"/>
            <a:ext cx="2468563" cy="2468562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en-US" altLang="zh-CN" sz="18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Text Box 6">
            <a:extLst>
              <a:ext uri="{FF2B5EF4-FFF2-40B4-BE49-F238E27FC236}">
                <a16:creationId xmlns:a16="http://schemas.microsoft.com/office/drawing/2014/main" id="{6AE6E7A2-8AC9-ED9A-6115-EBEC5C250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25" y="4075113"/>
            <a:ext cx="2468563" cy="2468562"/>
          </a:xfrm>
          <a:prstGeom prst="rect">
            <a:avLst/>
          </a:prstGeom>
          <a:solidFill>
            <a:srgbClr val="99FF66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endParaRPr lang="en-US" altLang="zh-CN" sz="18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2" name="Text Box 7">
            <a:extLst>
              <a:ext uri="{FF2B5EF4-FFF2-40B4-BE49-F238E27FC236}">
                <a16:creationId xmlns:a16="http://schemas.microsoft.com/office/drawing/2014/main" id="{B4F9AB44-38EB-0BAD-3316-A2B9BDE5A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225" y="1560513"/>
            <a:ext cx="53975" cy="2468562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91440" rIns="0" bIns="0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3" name="Line 8">
            <a:extLst>
              <a:ext uri="{FF2B5EF4-FFF2-40B4-BE49-F238E27FC236}">
                <a16:creationId xmlns:a16="http://schemas.microsoft.com/office/drawing/2014/main" id="{C5080744-2A89-CEE5-22BE-010A9B4F2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824788" y="4029075"/>
            <a:ext cx="1587" cy="1417638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44" name="Line 9">
            <a:extLst>
              <a:ext uri="{FF2B5EF4-FFF2-40B4-BE49-F238E27FC236}">
                <a16:creationId xmlns:a16="http://schemas.microsoft.com/office/drawing/2014/main" id="{D15FC063-9FF0-FF87-3B40-895207081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225" y="3998913"/>
            <a:ext cx="0" cy="1417637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45" name="Line 10">
            <a:extLst>
              <a:ext uri="{FF2B5EF4-FFF2-40B4-BE49-F238E27FC236}">
                <a16:creationId xmlns:a16="http://schemas.microsoft.com/office/drawing/2014/main" id="{2D44AEAF-0D7B-B959-4FE3-FBF59533A46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97625" y="6394450"/>
            <a:ext cx="2468563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46" name="Text Box 11">
            <a:extLst>
              <a:ext uri="{FF2B5EF4-FFF2-40B4-BE49-F238E27FC236}">
                <a16:creationId xmlns:a16="http://schemas.microsoft.com/office/drawing/2014/main" id="{677D650F-D821-4290-45B8-90BB88B24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5446713"/>
            <a:ext cx="2468562" cy="55562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91440" rIns="0" bIns="0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7" name="Text Box 12">
            <a:extLst>
              <a:ext uri="{FF2B5EF4-FFF2-40B4-BE49-F238E27FC236}">
                <a16:creationId xmlns:a16="http://schemas.microsoft.com/office/drawing/2014/main" id="{DB5E02F4-F206-7BC1-6CDF-32AE91EA3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225" y="5446713"/>
            <a:ext cx="55563" cy="53975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91440" rIns="0" bIns="0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8" name="Line 13">
            <a:extLst>
              <a:ext uri="{FF2B5EF4-FFF2-40B4-BE49-F238E27FC236}">
                <a16:creationId xmlns:a16="http://schemas.microsoft.com/office/drawing/2014/main" id="{FD836BE1-CD29-4702-9A1B-9BB9618AD6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063" y="5446713"/>
            <a:ext cx="1417637" cy="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49" name="Line 14">
            <a:extLst>
              <a:ext uri="{FF2B5EF4-FFF2-40B4-BE49-F238E27FC236}">
                <a16:creationId xmlns:a16="http://schemas.microsoft.com/office/drawing/2014/main" id="{992052D9-6117-96E9-E945-EDD6D83B19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063" y="5500688"/>
            <a:ext cx="1417637" cy="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50" name="Line 15">
            <a:extLst>
              <a:ext uri="{FF2B5EF4-FFF2-40B4-BE49-F238E27FC236}">
                <a16:creationId xmlns:a16="http://schemas.microsoft.com/office/drawing/2014/main" id="{5B73E061-937E-EEC2-6829-A204CAE438A1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8715375" y="1557338"/>
            <a:ext cx="4763" cy="2468562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51" name="Line 16">
            <a:extLst>
              <a:ext uri="{FF2B5EF4-FFF2-40B4-BE49-F238E27FC236}">
                <a16:creationId xmlns:a16="http://schemas.microsoft.com/office/drawing/2014/main" id="{8A7C73F7-0CD8-8BC6-48B9-09A86055DFCC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8715375" y="4075113"/>
            <a:ext cx="4763" cy="2468562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52" name="Line 17">
            <a:extLst>
              <a:ext uri="{FF2B5EF4-FFF2-40B4-BE49-F238E27FC236}">
                <a16:creationId xmlns:a16="http://schemas.microsoft.com/office/drawing/2014/main" id="{FCF74A7F-5F20-84EC-39FF-84DADC1D223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84613" y="6394450"/>
            <a:ext cx="246856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53" name="Text Box 18">
            <a:extLst>
              <a:ext uri="{FF2B5EF4-FFF2-40B4-BE49-F238E27FC236}">
                <a16:creationId xmlns:a16="http://schemas.microsoft.com/office/drawing/2014/main" id="{B8555AFB-E8FE-2A29-6EC5-326C1BD77CBF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380413" y="2719387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39954" name="Text Box 19">
            <a:extLst>
              <a:ext uri="{FF2B5EF4-FFF2-40B4-BE49-F238E27FC236}">
                <a16:creationId xmlns:a16="http://schemas.microsoft.com/office/drawing/2014/main" id="{F7C631EC-FD9C-43F1-D583-9DAFF68951D0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380413" y="5233987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39955" name="Text Box 20">
            <a:extLst>
              <a:ext uri="{FF2B5EF4-FFF2-40B4-BE49-F238E27FC236}">
                <a16:creationId xmlns:a16="http://schemas.microsoft.com/office/drawing/2014/main" id="{0A4D68E2-426B-EBF8-F445-83B2C153C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75" y="6205538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39956" name="Text Box 21">
            <a:extLst>
              <a:ext uri="{FF2B5EF4-FFF2-40B4-BE49-F238E27FC236}">
                <a16:creationId xmlns:a16="http://schemas.microsoft.com/office/drawing/2014/main" id="{857B5373-1C5F-53AA-C3E9-E1B507261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6203950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0C46E2B0-C074-772E-933C-F7A536E2C0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u="sng">
                <a:ea typeface="宋体" panose="02010600030101010101" pitchFamily="2" charset="-122"/>
              </a:rPr>
              <a:t>Step 1: Matrix Data Transfers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56AB6DE0-BDCE-6D4C-8196-3F4AA1279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382000" cy="4741863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// Allocate the device memory where we will copy M to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Matrix </a:t>
            </a: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Md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Md.width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= WIDTH;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Md.height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= WIDTH;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size = WIDTH * WIDTH * </a:t>
            </a: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sizeof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(float);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cudaMalloc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((void**)&amp;</a:t>
            </a: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Md.elements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, size);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endParaRPr lang="en-US" altLang="zh-CN" sz="1600" b="1" dirty="0"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// Copy M from the host to the device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cudaMemcpy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Md.elements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, </a:t>
            </a: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M.elements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, size, </a:t>
            </a: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cudaMemcpyHostToDevice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);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endParaRPr lang="en-US" altLang="zh-CN" sz="1600" b="1" dirty="0"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// Read M from the device to the host into P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cudaMemcpy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P.elements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, </a:t>
            </a: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Md.elements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, size, </a:t>
            </a: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cudaMemcpyDeviceToHost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);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...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// Free device memory</a:t>
            </a:r>
          </a:p>
          <a:p>
            <a:pPr marL="457200" indent="-457200">
              <a:lnSpc>
                <a:spcPct val="80000"/>
              </a:lnSpc>
              <a:buFontTx/>
              <a:buNone/>
              <a:defRPr/>
            </a:pP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cudaFree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(</a:t>
            </a:r>
            <a:r>
              <a:rPr lang="en-US" altLang="zh-CN" sz="1600" b="1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Md.elements</a:t>
            </a:r>
            <a:r>
              <a:rPr lang="en-US" altLang="zh-CN" sz="1600" b="1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);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4">
            <a:extLst>
              <a:ext uri="{FF2B5EF4-FFF2-40B4-BE49-F238E27FC236}">
                <a16:creationId xmlns:a16="http://schemas.microsoft.com/office/drawing/2014/main" id="{BEAFEAF8-47BB-FF0C-0CDC-F558EBD00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u="sng">
                <a:ea typeface="宋体" panose="02010600030101010101" pitchFamily="2" charset="-122"/>
              </a:rPr>
              <a:t>Step 2: Matrix Multiplication</a:t>
            </a:r>
            <a:br>
              <a:rPr lang="en-US" altLang="zh-CN" sz="2800" b="1" u="sng">
                <a:ea typeface="宋体" panose="02010600030101010101" pitchFamily="2" charset="-122"/>
              </a:rPr>
            </a:br>
            <a:r>
              <a:rPr lang="en-US" altLang="zh-CN" sz="2800" b="1" u="sng">
                <a:ea typeface="宋体" panose="02010600030101010101" pitchFamily="2" charset="-122"/>
              </a:rPr>
              <a:t>A Simple Host Code in C</a:t>
            </a:r>
          </a:p>
        </p:txBody>
      </p:sp>
      <p:sp>
        <p:nvSpPr>
          <p:cNvPr id="52229" name="Text Box 5">
            <a:extLst>
              <a:ext uri="{FF2B5EF4-FFF2-40B4-BE49-F238E27FC236}">
                <a16:creationId xmlns:a16="http://schemas.microsoft.com/office/drawing/2014/main" id="{5EACA0F8-EFEA-6640-BE08-EAC56389A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1516063"/>
            <a:ext cx="7837488" cy="4216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zh-CN" sz="1400" b="1" dirty="0">
                <a:latin typeface="Courier New" pitchFamily="49" charset="0"/>
                <a:ea typeface="宋体" charset="-122"/>
                <a:cs typeface="Courier New" pitchFamily="49" charset="0"/>
              </a:rPr>
              <a:t>// Matrix multiplication on the (CPU) host in double precision</a:t>
            </a:r>
          </a:p>
          <a:p>
            <a:pPr eaLnBrk="1" latinLnBrk="1" hangingPunct="1">
              <a:defRPr/>
            </a:pPr>
            <a:r>
              <a:rPr lang="en-US" altLang="zh-CN" sz="1400" b="1" dirty="0">
                <a:latin typeface="Courier New" pitchFamily="49" charset="0"/>
                <a:ea typeface="宋体" charset="-122"/>
                <a:cs typeface="Courier New" pitchFamily="49" charset="0"/>
              </a:rPr>
              <a:t>// for simplicity, we will assume that all dimensions are equal</a:t>
            </a:r>
          </a:p>
          <a:p>
            <a:pPr eaLnBrk="1" latinLnBrk="1" hangingPunct="1">
              <a:defRPr/>
            </a:pPr>
            <a:endParaRPr lang="en-US" altLang="zh-CN" sz="14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void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MatrixMulOnHost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(const Matrix M, const Matrix N, Matrix P)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{   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for (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= 0;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&lt;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M.height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; ++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)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for (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j = 0; j &lt;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N.width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; ++j) {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    double sum = 0;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    for (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k = 0; k &lt;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M.width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; ++k) {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        double a =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M.elements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[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M.width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+ k];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        double b =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N.elements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[k *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N.width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+ j];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        sum += a * b;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    }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   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P.elements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[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6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N.width</a:t>
            </a: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+ j] = sum;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}</a:t>
            </a:r>
          </a:p>
          <a:p>
            <a:pPr eaLnBrk="1" latinLnBrk="1" hangingPunct="1">
              <a:defRPr/>
            </a:pPr>
            <a:r>
              <a:rPr lang="en-US" altLang="zh-CN" sz="1600" b="1" dirty="0"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</a:p>
          <a:p>
            <a:pPr eaLnBrk="1" latinLnBrk="1" hangingPunct="1">
              <a:defRPr/>
            </a:pPr>
            <a:endParaRPr lang="en-US" altLang="zh-CN" dirty="0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58557A75-DAF7-EF22-9201-A5DDA1347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523875"/>
            <a:ext cx="8305800" cy="552450"/>
          </a:xfrm>
        </p:spPr>
        <p:txBody>
          <a:bodyPr lIns="0" tIns="0" rIns="0" bIns="0">
            <a:spAutoFit/>
          </a:bodyPr>
          <a:lstStyle/>
          <a:p>
            <a: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ko-KR" sz="3600" b="1" u="sng"/>
              <a:t>Multiply Using One Thread Block</a:t>
            </a:r>
          </a:p>
        </p:txBody>
      </p:sp>
      <p:sp>
        <p:nvSpPr>
          <p:cNvPr id="43010" name="Rectangle 77">
            <a:extLst>
              <a:ext uri="{FF2B5EF4-FFF2-40B4-BE49-F238E27FC236}">
                <a16:creationId xmlns:a16="http://schemas.microsoft.com/office/drawing/2014/main" id="{FB7AAF3C-0A05-FBE2-D460-E118EDDE82E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4173538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ko-KR" sz="2000"/>
              <a:t>One Block of threads compute matrix P</a:t>
            </a:r>
          </a:p>
          <a:p>
            <a:pPr lvl="1">
              <a:lnSpc>
                <a:spcPct val="90000"/>
              </a:lnSpc>
            </a:pPr>
            <a:r>
              <a:rPr lang="en-GB" altLang="ko-KR" sz="1800"/>
              <a:t>Each thread computes one    element of P</a:t>
            </a:r>
          </a:p>
          <a:p>
            <a:pPr>
              <a:lnSpc>
                <a:spcPct val="90000"/>
              </a:lnSpc>
            </a:pPr>
            <a:r>
              <a:rPr lang="en-GB" altLang="ko-KR" sz="2000"/>
              <a:t>Each thread</a:t>
            </a:r>
          </a:p>
          <a:p>
            <a:pPr lvl="1">
              <a:lnSpc>
                <a:spcPct val="90000"/>
              </a:lnSpc>
            </a:pPr>
            <a:r>
              <a:rPr lang="en-GB" altLang="ko-KR" sz="1800"/>
              <a:t>Loads a row of matrix M</a:t>
            </a:r>
          </a:p>
          <a:p>
            <a:pPr lvl="1">
              <a:lnSpc>
                <a:spcPct val="90000"/>
              </a:lnSpc>
            </a:pPr>
            <a:r>
              <a:rPr lang="en-GB" altLang="ko-KR" sz="1800"/>
              <a:t>Loads a column of matrix N</a:t>
            </a:r>
          </a:p>
          <a:p>
            <a:pPr lvl="1">
              <a:lnSpc>
                <a:spcPct val="90000"/>
              </a:lnSpc>
            </a:pPr>
            <a:r>
              <a:rPr lang="en-GB" altLang="ko-KR" sz="1800"/>
              <a:t>Perform one multiply and      addition for each pair of M    and N elements</a:t>
            </a:r>
          </a:p>
          <a:p>
            <a:pPr lvl="1">
              <a:lnSpc>
                <a:spcPct val="90000"/>
              </a:lnSpc>
            </a:pPr>
            <a:endParaRPr lang="en-GB" altLang="ko-KR" sz="1800"/>
          </a:p>
          <a:p>
            <a:pPr>
              <a:lnSpc>
                <a:spcPct val="90000"/>
              </a:lnSpc>
            </a:pPr>
            <a:r>
              <a:rPr lang="en-GB" altLang="ko-KR" sz="2000"/>
              <a:t>Size of matrix limited by the   number of threads allowed in a thread block</a:t>
            </a:r>
          </a:p>
          <a:p>
            <a:pPr lvl="1">
              <a:lnSpc>
                <a:spcPct val="90000"/>
              </a:lnSpc>
            </a:pP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43011" name="AutoShape 3">
            <a:extLst>
              <a:ext uri="{FF2B5EF4-FFF2-40B4-BE49-F238E27FC236}">
                <a16:creationId xmlns:a16="http://schemas.microsoft.com/office/drawing/2014/main" id="{6B7349CD-45E5-438E-6616-EAB84548F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838" y="1420813"/>
            <a:ext cx="1897062" cy="2052637"/>
          </a:xfrm>
          <a:prstGeom prst="roundRect">
            <a:avLst>
              <a:gd name="adj" fmla="val 83"/>
            </a:avLst>
          </a:prstGeom>
          <a:solidFill>
            <a:srgbClr val="33A3A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ko-KR" sz="1000">
                <a:latin typeface="Times New Roman" panose="02020603050405020304" pitchFamily="18" charset="0"/>
              </a:rPr>
              <a:t> </a:t>
            </a:r>
            <a:r>
              <a:rPr lang="en-GB" altLang="ko-KR" sz="1000" b="1">
                <a:latin typeface="Times New Roman" panose="02020603050405020304" pitchFamily="18" charset="0"/>
              </a:rPr>
              <a:t>Grid 1</a:t>
            </a:r>
          </a:p>
        </p:txBody>
      </p:sp>
      <p:sp>
        <p:nvSpPr>
          <p:cNvPr id="43012" name="AutoShape 4">
            <a:extLst>
              <a:ext uri="{FF2B5EF4-FFF2-40B4-BE49-F238E27FC236}">
                <a16:creationId xmlns:a16="http://schemas.microsoft.com/office/drawing/2014/main" id="{224C6E11-5196-5A78-BA21-3B684E8F8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588" y="1624013"/>
            <a:ext cx="1587500" cy="1655762"/>
          </a:xfrm>
          <a:prstGeom prst="roundRect">
            <a:avLst>
              <a:gd name="adj" fmla="val 97"/>
            </a:avLst>
          </a:prstGeom>
          <a:solidFill>
            <a:srgbClr val="23FF23">
              <a:alpha val="54901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ko-KR" sz="1000" b="1">
                <a:latin typeface="Times New Roman" panose="02020603050405020304" pitchFamily="18" charset="0"/>
              </a:rPr>
              <a:t>Block 1</a:t>
            </a:r>
          </a:p>
        </p:txBody>
      </p:sp>
      <p:sp>
        <p:nvSpPr>
          <p:cNvPr id="43013" name="AutoShape 5">
            <a:extLst>
              <a:ext uri="{FF2B5EF4-FFF2-40B4-BE49-F238E27FC236}">
                <a16:creationId xmlns:a16="http://schemas.microsoft.com/office/drawing/2014/main" id="{877760DE-CC88-E22F-69A3-6F5DD81D7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2888" y="3643313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14" name="AutoShape 6">
            <a:extLst>
              <a:ext uri="{FF2B5EF4-FFF2-40B4-BE49-F238E27FC236}">
                <a16:creationId xmlns:a16="http://schemas.microsoft.com/office/drawing/2014/main" id="{906D67E8-D3AC-ACD2-2745-87E1E3734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75" y="3643313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15" name="AutoShape 7">
            <a:extLst>
              <a:ext uri="{FF2B5EF4-FFF2-40B4-BE49-F238E27FC236}">
                <a16:creationId xmlns:a16="http://schemas.microsoft.com/office/drawing/2014/main" id="{488943DF-471D-04AB-5EF3-7E333860D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3643313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16" name="AutoShape 8">
            <a:extLst>
              <a:ext uri="{FF2B5EF4-FFF2-40B4-BE49-F238E27FC236}">
                <a16:creationId xmlns:a16="http://schemas.microsoft.com/office/drawing/2014/main" id="{8427FA10-9E22-6EE2-72F8-2BD8E489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5" y="3643313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17" name="AutoShape 9">
            <a:extLst>
              <a:ext uri="{FF2B5EF4-FFF2-40B4-BE49-F238E27FC236}">
                <a16:creationId xmlns:a16="http://schemas.microsoft.com/office/drawing/2014/main" id="{F1B88554-061A-4821-62D5-DEBC4FB42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2888" y="4010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18" name="AutoShape 10">
            <a:extLst>
              <a:ext uri="{FF2B5EF4-FFF2-40B4-BE49-F238E27FC236}">
                <a16:creationId xmlns:a16="http://schemas.microsoft.com/office/drawing/2014/main" id="{2FF18ABA-2EE1-CF3A-F73D-28014A836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75" y="4010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19" name="AutoShape 11">
            <a:extLst>
              <a:ext uri="{FF2B5EF4-FFF2-40B4-BE49-F238E27FC236}">
                <a16:creationId xmlns:a16="http://schemas.microsoft.com/office/drawing/2014/main" id="{839E3E8A-81A3-A2D8-FDC8-E214A2101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4010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20" name="AutoShape 12">
            <a:extLst>
              <a:ext uri="{FF2B5EF4-FFF2-40B4-BE49-F238E27FC236}">
                <a16:creationId xmlns:a16="http://schemas.microsoft.com/office/drawing/2014/main" id="{F3DEBAA4-DE4C-7E63-8B36-6D54A0AB9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5" y="4010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pic>
        <p:nvPicPr>
          <p:cNvPr id="43021" name="Picture 13">
            <a:extLst>
              <a:ext uri="{FF2B5EF4-FFF2-40B4-BE49-F238E27FC236}">
                <a16:creationId xmlns:a16="http://schemas.microsoft.com/office/drawing/2014/main" id="{91517391-8AFA-227E-3F28-0F0C11E75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888" y="4391025"/>
            <a:ext cx="3873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2" name="Picture 14">
            <a:extLst>
              <a:ext uri="{FF2B5EF4-FFF2-40B4-BE49-F238E27FC236}">
                <a16:creationId xmlns:a16="http://schemas.microsoft.com/office/drawing/2014/main" id="{E9AA09C2-B7D6-205C-B74C-25878903B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475" y="4391025"/>
            <a:ext cx="3873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3" name="Picture 15">
            <a:extLst>
              <a:ext uri="{FF2B5EF4-FFF2-40B4-BE49-F238E27FC236}">
                <a16:creationId xmlns:a16="http://schemas.microsoft.com/office/drawing/2014/main" id="{D977290D-B9EA-13EA-DB68-41DABCFF3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475" y="4391025"/>
            <a:ext cx="3873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4" name="Picture 16">
            <a:extLst>
              <a:ext uri="{FF2B5EF4-FFF2-40B4-BE49-F238E27FC236}">
                <a16:creationId xmlns:a16="http://schemas.microsoft.com/office/drawing/2014/main" id="{1A04B6AE-2738-5477-D367-034ACD8B4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475" y="4391025"/>
            <a:ext cx="3873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25" name="AutoShape 17">
            <a:extLst>
              <a:ext uri="{FF2B5EF4-FFF2-40B4-BE49-F238E27FC236}">
                <a16:creationId xmlns:a16="http://schemas.microsoft.com/office/drawing/2014/main" id="{7F91CDF9-E9D0-8E07-3865-C2A7E30B2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2888" y="4772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26" name="AutoShape 18">
            <a:extLst>
              <a:ext uri="{FF2B5EF4-FFF2-40B4-BE49-F238E27FC236}">
                <a16:creationId xmlns:a16="http://schemas.microsoft.com/office/drawing/2014/main" id="{640C0E47-D8BA-2373-771E-BF359190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75" y="4772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27" name="AutoShape 19">
            <a:extLst>
              <a:ext uri="{FF2B5EF4-FFF2-40B4-BE49-F238E27FC236}">
                <a16:creationId xmlns:a16="http://schemas.microsoft.com/office/drawing/2014/main" id="{6D19E169-A83F-BF17-91F0-124F96324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4772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28" name="AutoShape 20">
            <a:extLst>
              <a:ext uri="{FF2B5EF4-FFF2-40B4-BE49-F238E27FC236}">
                <a16:creationId xmlns:a16="http://schemas.microsoft.com/office/drawing/2014/main" id="{F1EB5644-D022-CE0C-452D-7364A4D7D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5" y="4772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29" name="AutoShape 21">
            <a:extLst>
              <a:ext uri="{FF2B5EF4-FFF2-40B4-BE49-F238E27FC236}">
                <a16:creationId xmlns:a16="http://schemas.microsoft.com/office/drawing/2014/main" id="{FD64A670-F8B3-E9E9-873A-FE00A948E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1651000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30" name="AutoShape 22">
            <a:extLst>
              <a:ext uri="{FF2B5EF4-FFF2-40B4-BE49-F238E27FC236}">
                <a16:creationId xmlns:a16="http://schemas.microsoft.com/office/drawing/2014/main" id="{42FFFBAB-B89D-6650-DE31-91DCF1306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063" y="1652588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pic>
        <p:nvPicPr>
          <p:cNvPr id="43031" name="Picture 23">
            <a:extLst>
              <a:ext uri="{FF2B5EF4-FFF2-40B4-BE49-F238E27FC236}">
                <a16:creationId xmlns:a16="http://schemas.microsoft.com/office/drawing/2014/main" id="{3D6C775B-A606-9334-57E1-5C2A03DEA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063" y="1651000"/>
            <a:ext cx="3873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32" name="AutoShape 24">
            <a:extLst>
              <a:ext uri="{FF2B5EF4-FFF2-40B4-BE49-F238E27FC236}">
                <a16:creationId xmlns:a16="http://schemas.microsoft.com/office/drawing/2014/main" id="{FE1C66DD-D4A5-0D49-291F-B5776D2FB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1063" y="1652588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33" name="AutoShape 25">
            <a:extLst>
              <a:ext uri="{FF2B5EF4-FFF2-40B4-BE49-F238E27FC236}">
                <a16:creationId xmlns:a16="http://schemas.microsoft.com/office/drawing/2014/main" id="{EE7A861B-3BC6-9214-563D-4E0A17026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2017713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34" name="AutoShape 26">
            <a:extLst>
              <a:ext uri="{FF2B5EF4-FFF2-40B4-BE49-F238E27FC236}">
                <a16:creationId xmlns:a16="http://schemas.microsoft.com/office/drawing/2014/main" id="{76BAB2C7-A63D-1659-087C-56C76A9B8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063" y="2019300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pic>
        <p:nvPicPr>
          <p:cNvPr id="43035" name="Picture 27">
            <a:extLst>
              <a:ext uri="{FF2B5EF4-FFF2-40B4-BE49-F238E27FC236}">
                <a16:creationId xmlns:a16="http://schemas.microsoft.com/office/drawing/2014/main" id="{D21935EF-6E74-FEBF-9ADF-DFFB294EC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063" y="2017713"/>
            <a:ext cx="3873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36" name="AutoShape 28">
            <a:extLst>
              <a:ext uri="{FF2B5EF4-FFF2-40B4-BE49-F238E27FC236}">
                <a16:creationId xmlns:a16="http://schemas.microsoft.com/office/drawing/2014/main" id="{2D846929-304C-7B5C-0071-B09B15CE1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1063" y="2019300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37" name="AutoShape 29">
            <a:extLst>
              <a:ext uri="{FF2B5EF4-FFF2-40B4-BE49-F238E27FC236}">
                <a16:creationId xmlns:a16="http://schemas.microsoft.com/office/drawing/2014/main" id="{4E9D2AD6-84C8-7D2F-8AAF-9F2AB7A6C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2398713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38" name="AutoShape 30">
            <a:extLst>
              <a:ext uri="{FF2B5EF4-FFF2-40B4-BE49-F238E27FC236}">
                <a16:creationId xmlns:a16="http://schemas.microsoft.com/office/drawing/2014/main" id="{4E97DA63-3BA8-E8B5-9685-DAE5F0495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063" y="2400300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pic>
        <p:nvPicPr>
          <p:cNvPr id="43039" name="Picture 31">
            <a:extLst>
              <a:ext uri="{FF2B5EF4-FFF2-40B4-BE49-F238E27FC236}">
                <a16:creationId xmlns:a16="http://schemas.microsoft.com/office/drawing/2014/main" id="{8521939B-8232-7FEC-B161-6180AFEA3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063" y="2398713"/>
            <a:ext cx="3873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40" name="AutoShape 32">
            <a:extLst>
              <a:ext uri="{FF2B5EF4-FFF2-40B4-BE49-F238E27FC236}">
                <a16:creationId xmlns:a16="http://schemas.microsoft.com/office/drawing/2014/main" id="{1C32C2E5-F00B-1F61-3803-C83D466E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1063" y="2400300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41" name="AutoShape 33">
            <a:extLst>
              <a:ext uri="{FF2B5EF4-FFF2-40B4-BE49-F238E27FC236}">
                <a16:creationId xmlns:a16="http://schemas.microsoft.com/office/drawing/2014/main" id="{CD761F3E-8053-8792-D62D-2449A71C0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2781300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42" name="AutoShape 34">
            <a:extLst>
              <a:ext uri="{FF2B5EF4-FFF2-40B4-BE49-F238E27FC236}">
                <a16:creationId xmlns:a16="http://schemas.microsoft.com/office/drawing/2014/main" id="{6DC92093-218D-84B2-463E-192438EC2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063" y="2781300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pic>
        <p:nvPicPr>
          <p:cNvPr id="43043" name="Picture 35">
            <a:extLst>
              <a:ext uri="{FF2B5EF4-FFF2-40B4-BE49-F238E27FC236}">
                <a16:creationId xmlns:a16="http://schemas.microsoft.com/office/drawing/2014/main" id="{70D17A5D-E94C-2546-E0EE-ADAA249F7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063" y="2781300"/>
            <a:ext cx="3873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44" name="AutoShape 36">
            <a:extLst>
              <a:ext uri="{FF2B5EF4-FFF2-40B4-BE49-F238E27FC236}">
                <a16:creationId xmlns:a16="http://schemas.microsoft.com/office/drawing/2014/main" id="{BB3C8E09-11D6-D554-F1C3-3C4B9808E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1063" y="2781300"/>
            <a:ext cx="387350" cy="387350"/>
          </a:xfrm>
          <a:prstGeom prst="roundRect">
            <a:avLst>
              <a:gd name="adj" fmla="val 407"/>
            </a:avLst>
          </a:prstGeom>
          <a:solidFill>
            <a:srgbClr val="ABB4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45" name="AutoShape 37">
            <a:extLst>
              <a:ext uri="{FF2B5EF4-FFF2-40B4-BE49-F238E27FC236}">
                <a16:creationId xmlns:a16="http://schemas.microsoft.com/office/drawing/2014/main" id="{2CC5525A-DE0C-21CD-F70F-9BE61CE75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838" y="3643313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46" name="AutoShape 38">
            <a:extLst>
              <a:ext uri="{FF2B5EF4-FFF2-40B4-BE49-F238E27FC236}">
                <a16:creationId xmlns:a16="http://schemas.microsoft.com/office/drawing/2014/main" id="{72EC7171-34EE-9D46-C260-31615290F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3643313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47" name="AutoShape 39">
            <a:extLst>
              <a:ext uri="{FF2B5EF4-FFF2-40B4-BE49-F238E27FC236}">
                <a16:creationId xmlns:a16="http://schemas.microsoft.com/office/drawing/2014/main" id="{60410DA8-6B3C-C537-7A08-5DBD269FD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838" y="3643313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48" name="AutoShape 40">
            <a:extLst>
              <a:ext uri="{FF2B5EF4-FFF2-40B4-BE49-F238E27FC236}">
                <a16:creationId xmlns:a16="http://schemas.microsoft.com/office/drawing/2014/main" id="{EF5DBD66-7F32-61BF-E9B2-4753C3270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0425" y="3643313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49" name="AutoShape 41">
            <a:extLst>
              <a:ext uri="{FF2B5EF4-FFF2-40B4-BE49-F238E27FC236}">
                <a16:creationId xmlns:a16="http://schemas.microsoft.com/office/drawing/2014/main" id="{537EC09D-54F2-6BF5-28F0-A9A17AD3F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838" y="4010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50" name="AutoShape 42">
            <a:extLst>
              <a:ext uri="{FF2B5EF4-FFF2-40B4-BE49-F238E27FC236}">
                <a16:creationId xmlns:a16="http://schemas.microsoft.com/office/drawing/2014/main" id="{480676D6-844E-29AF-DEB1-9694885EB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4010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51" name="AutoShape 43">
            <a:extLst>
              <a:ext uri="{FF2B5EF4-FFF2-40B4-BE49-F238E27FC236}">
                <a16:creationId xmlns:a16="http://schemas.microsoft.com/office/drawing/2014/main" id="{9FDFE1AC-39D7-2DC9-DCE5-057DECC61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838" y="4010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52" name="AutoShape 44">
            <a:extLst>
              <a:ext uri="{FF2B5EF4-FFF2-40B4-BE49-F238E27FC236}">
                <a16:creationId xmlns:a16="http://schemas.microsoft.com/office/drawing/2014/main" id="{BDF351B8-2CCD-AB68-E2A7-EC35D200B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0425" y="4010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53" name="AutoShape 45">
            <a:extLst>
              <a:ext uri="{FF2B5EF4-FFF2-40B4-BE49-F238E27FC236}">
                <a16:creationId xmlns:a16="http://schemas.microsoft.com/office/drawing/2014/main" id="{1A056247-3CF3-7F7E-BF6A-BEE236E3E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838" y="4391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54" name="AutoShape 46">
            <a:extLst>
              <a:ext uri="{FF2B5EF4-FFF2-40B4-BE49-F238E27FC236}">
                <a16:creationId xmlns:a16="http://schemas.microsoft.com/office/drawing/2014/main" id="{0A0DC755-053E-DAB4-5195-839FDD5B4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4391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55" name="AutoShape 47">
            <a:extLst>
              <a:ext uri="{FF2B5EF4-FFF2-40B4-BE49-F238E27FC236}">
                <a16:creationId xmlns:a16="http://schemas.microsoft.com/office/drawing/2014/main" id="{54700E7B-8FC9-14E7-A449-422E89DB2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838" y="4391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FF66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ko-KR" sz="1400">
                <a:latin typeface="Times New Roman" panose="02020603050405020304" pitchFamily="18" charset="0"/>
              </a:rPr>
              <a:t>48</a:t>
            </a:r>
          </a:p>
        </p:txBody>
      </p:sp>
      <p:sp>
        <p:nvSpPr>
          <p:cNvPr id="43056" name="AutoShape 48">
            <a:extLst>
              <a:ext uri="{FF2B5EF4-FFF2-40B4-BE49-F238E27FC236}">
                <a16:creationId xmlns:a16="http://schemas.microsoft.com/office/drawing/2014/main" id="{544367EF-F281-2CEE-A472-7480C67C3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0425" y="4391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57" name="AutoShape 49">
            <a:extLst>
              <a:ext uri="{FF2B5EF4-FFF2-40B4-BE49-F238E27FC236}">
                <a16:creationId xmlns:a16="http://schemas.microsoft.com/office/drawing/2014/main" id="{FFD3636E-0027-1254-0FB7-9D3D2BD0F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838" y="4772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58" name="AutoShape 50">
            <a:extLst>
              <a:ext uri="{FF2B5EF4-FFF2-40B4-BE49-F238E27FC236}">
                <a16:creationId xmlns:a16="http://schemas.microsoft.com/office/drawing/2014/main" id="{9ACE668B-21EC-B7EE-11A0-D5C8DC44C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838" y="4772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59" name="AutoShape 51">
            <a:extLst>
              <a:ext uri="{FF2B5EF4-FFF2-40B4-BE49-F238E27FC236}">
                <a16:creationId xmlns:a16="http://schemas.microsoft.com/office/drawing/2014/main" id="{59DB3885-B41C-90A1-715A-D095200B9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838" y="4772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60" name="AutoShape 52">
            <a:extLst>
              <a:ext uri="{FF2B5EF4-FFF2-40B4-BE49-F238E27FC236}">
                <a16:creationId xmlns:a16="http://schemas.microsoft.com/office/drawing/2014/main" id="{3FBA5A91-DF75-4B25-2B8F-8CD02F386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0425" y="4772025"/>
            <a:ext cx="387350" cy="387350"/>
          </a:xfrm>
          <a:prstGeom prst="roundRect">
            <a:avLst>
              <a:gd name="adj" fmla="val 407"/>
            </a:avLst>
          </a:prstGeom>
          <a:solidFill>
            <a:srgbClr val="808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61" name="AutoShape 53">
            <a:extLst>
              <a:ext uri="{FF2B5EF4-FFF2-40B4-BE49-F238E27FC236}">
                <a16:creationId xmlns:a16="http://schemas.microsoft.com/office/drawing/2014/main" id="{4216985F-C195-D436-2574-BD2E0F6EB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1801813"/>
            <a:ext cx="258763" cy="258762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62" name="AutoShape 54">
            <a:extLst>
              <a:ext uri="{FF2B5EF4-FFF2-40B4-BE49-F238E27FC236}">
                <a16:creationId xmlns:a16="http://schemas.microsoft.com/office/drawing/2014/main" id="{D64242D4-EB6C-D834-35A4-85A86FB84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1801813"/>
            <a:ext cx="258763" cy="258762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63" name="AutoShape 55">
            <a:extLst>
              <a:ext uri="{FF2B5EF4-FFF2-40B4-BE49-F238E27FC236}">
                <a16:creationId xmlns:a16="http://schemas.microsoft.com/office/drawing/2014/main" id="{098C5FAA-51A3-EE1A-65CF-6EE21BC89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1801813"/>
            <a:ext cx="258763" cy="258762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64" name="AutoShape 56">
            <a:extLst>
              <a:ext uri="{FF2B5EF4-FFF2-40B4-BE49-F238E27FC236}">
                <a16:creationId xmlns:a16="http://schemas.microsoft.com/office/drawing/2014/main" id="{24F4738C-EEF5-6DD7-A891-61B18CB57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975" y="1801813"/>
            <a:ext cx="258763" cy="258762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65" name="AutoShape 57">
            <a:extLst>
              <a:ext uri="{FF2B5EF4-FFF2-40B4-BE49-F238E27FC236}">
                <a16:creationId xmlns:a16="http://schemas.microsoft.com/office/drawing/2014/main" id="{2DE967CE-80C7-C3BE-CC6D-FD3DBC897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2162175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66" name="AutoShape 58">
            <a:extLst>
              <a:ext uri="{FF2B5EF4-FFF2-40B4-BE49-F238E27FC236}">
                <a16:creationId xmlns:a16="http://schemas.microsoft.com/office/drawing/2014/main" id="{7FDC7EA3-B63F-7E66-5330-FEE91B213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2162175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67" name="AutoShape 59">
            <a:extLst>
              <a:ext uri="{FF2B5EF4-FFF2-40B4-BE49-F238E27FC236}">
                <a16:creationId xmlns:a16="http://schemas.microsoft.com/office/drawing/2014/main" id="{771A7DCA-1FC8-7C9B-0F2B-224563540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162175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68" name="AutoShape 60">
            <a:extLst>
              <a:ext uri="{FF2B5EF4-FFF2-40B4-BE49-F238E27FC236}">
                <a16:creationId xmlns:a16="http://schemas.microsoft.com/office/drawing/2014/main" id="{004539BC-E696-BF82-5FC0-4A5C53F35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975" y="2162175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69" name="AutoShape 61">
            <a:extLst>
              <a:ext uri="{FF2B5EF4-FFF2-40B4-BE49-F238E27FC236}">
                <a16:creationId xmlns:a16="http://schemas.microsoft.com/office/drawing/2014/main" id="{17D6763C-BF68-6D7C-A285-D0E70914C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2501900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70" name="AutoShape 62">
            <a:extLst>
              <a:ext uri="{FF2B5EF4-FFF2-40B4-BE49-F238E27FC236}">
                <a16:creationId xmlns:a16="http://schemas.microsoft.com/office/drawing/2014/main" id="{50D034CF-BF7E-FE89-B7ED-6A58616B1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2501900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71" name="AutoShape 63">
            <a:extLst>
              <a:ext uri="{FF2B5EF4-FFF2-40B4-BE49-F238E27FC236}">
                <a16:creationId xmlns:a16="http://schemas.microsoft.com/office/drawing/2014/main" id="{3557C033-3DA8-055F-B031-090BA70FC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501900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66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 anchorCtr="1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ko-KR" sz="600" b="1">
                <a:latin typeface="Times New Roman" panose="02020603050405020304" pitchFamily="18" charset="0"/>
              </a:rPr>
              <a:t>Thread</a:t>
            </a:r>
          </a:p>
          <a:p>
            <a:pPr algn="ctr" eaLnBrk="1" fontAlgn="base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ko-KR" sz="600" b="1">
                <a:latin typeface="Times New Roman" panose="02020603050405020304" pitchFamily="18" charset="0"/>
              </a:rPr>
              <a:t>(2, 2)</a:t>
            </a:r>
          </a:p>
        </p:txBody>
      </p:sp>
      <p:sp>
        <p:nvSpPr>
          <p:cNvPr id="43072" name="AutoShape 64">
            <a:extLst>
              <a:ext uri="{FF2B5EF4-FFF2-40B4-BE49-F238E27FC236}">
                <a16:creationId xmlns:a16="http://schemas.microsoft.com/office/drawing/2014/main" id="{338213AC-4344-8F99-208E-9D019886C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975" y="2501900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73" name="AutoShape 65">
            <a:extLst>
              <a:ext uri="{FF2B5EF4-FFF2-40B4-BE49-F238E27FC236}">
                <a16:creationId xmlns:a16="http://schemas.microsoft.com/office/drawing/2014/main" id="{C0859FC1-6D97-9661-4FB2-A9683E04D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2860675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74" name="AutoShape 66">
            <a:extLst>
              <a:ext uri="{FF2B5EF4-FFF2-40B4-BE49-F238E27FC236}">
                <a16:creationId xmlns:a16="http://schemas.microsoft.com/office/drawing/2014/main" id="{BA16E3B3-938C-3676-4254-5ADB4EF27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2860675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75" name="AutoShape 67">
            <a:extLst>
              <a:ext uri="{FF2B5EF4-FFF2-40B4-BE49-F238E27FC236}">
                <a16:creationId xmlns:a16="http://schemas.microsoft.com/office/drawing/2014/main" id="{30EA2945-4B4F-CF39-98BD-D815AA360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860675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76" name="AutoShape 68">
            <a:extLst>
              <a:ext uri="{FF2B5EF4-FFF2-40B4-BE49-F238E27FC236}">
                <a16:creationId xmlns:a16="http://schemas.microsoft.com/office/drawing/2014/main" id="{607380C5-5215-E584-4C7C-C1519B43D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975" y="2860675"/>
            <a:ext cx="258763" cy="258763"/>
          </a:xfrm>
          <a:prstGeom prst="roundRect">
            <a:avLst>
              <a:gd name="adj" fmla="val 616"/>
            </a:avLst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43077" name="Line 69">
            <a:extLst>
              <a:ext uri="{FF2B5EF4-FFF2-40B4-BE49-F238E27FC236}">
                <a16:creationId xmlns:a16="http://schemas.microsoft.com/office/drawing/2014/main" id="{F91B7639-AA5C-DF6C-5F9F-3A96E41EC7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1888" y="2765425"/>
            <a:ext cx="1919287" cy="2005013"/>
          </a:xfrm>
          <a:prstGeom prst="line">
            <a:avLst/>
          </a:prstGeom>
          <a:noFill/>
          <a:ln w="1836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078" name="Line 70">
            <a:extLst>
              <a:ext uri="{FF2B5EF4-FFF2-40B4-BE49-F238E27FC236}">
                <a16:creationId xmlns:a16="http://schemas.microsoft.com/office/drawing/2014/main" id="{A8411752-4216-7BB3-728B-46A4533B61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2489200"/>
            <a:ext cx="2035175" cy="1922463"/>
          </a:xfrm>
          <a:prstGeom prst="line">
            <a:avLst/>
          </a:prstGeom>
          <a:noFill/>
          <a:ln w="1836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079" name="Line 71">
            <a:extLst>
              <a:ext uri="{FF2B5EF4-FFF2-40B4-BE49-F238E27FC236}">
                <a16:creationId xmlns:a16="http://schemas.microsoft.com/office/drawing/2014/main" id="{9CA4F282-8504-6398-6F5F-F40AE8302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2738" y="5430838"/>
            <a:ext cx="140652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080" name="Text Box 72">
            <a:extLst>
              <a:ext uri="{FF2B5EF4-FFF2-40B4-BE49-F238E27FC236}">
                <a16:creationId xmlns:a16="http://schemas.microsoft.com/office/drawing/2014/main" id="{2C3A7D5E-E551-6C28-F8D7-14B256FF5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213" y="5489575"/>
            <a:ext cx="105568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ko-KR" sz="1000" b="1">
                <a:latin typeface="Times New Roman" panose="02020603050405020304" pitchFamily="18" charset="0"/>
              </a:rPr>
              <a:t>   BLOCK_SIZE</a:t>
            </a:r>
          </a:p>
        </p:txBody>
      </p:sp>
      <p:sp>
        <p:nvSpPr>
          <p:cNvPr id="43081" name="Text Box 74">
            <a:extLst>
              <a:ext uri="{FF2B5EF4-FFF2-40B4-BE49-F238E27FC236}">
                <a16:creationId xmlns:a16="http://schemas.microsoft.com/office/drawing/2014/main" id="{B67B9794-9F1E-2085-D594-490EF2509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0" y="5915025"/>
            <a:ext cx="677863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ko-KR" sz="1800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3082" name="Text Box 75">
            <a:extLst>
              <a:ext uri="{FF2B5EF4-FFF2-40B4-BE49-F238E27FC236}">
                <a16:creationId xmlns:a16="http://schemas.microsoft.com/office/drawing/2014/main" id="{B2B13B13-073D-5C6E-70D3-3172ABC70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438" y="5889625"/>
            <a:ext cx="7445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ko-KR" sz="18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083" name="Text Box 76">
            <a:extLst>
              <a:ext uri="{FF2B5EF4-FFF2-40B4-BE49-F238E27FC236}">
                <a16:creationId xmlns:a16="http://schemas.microsoft.com/office/drawing/2014/main" id="{CB653FFE-78A7-F4C1-23BF-1455C8836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9550" y="1219200"/>
            <a:ext cx="5857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altLang="ko-KR" sz="1800">
                <a:latin typeface="Times New Roman" panose="02020603050405020304" pitchFamily="18" charset="0"/>
              </a:rPr>
              <a:t>N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6">
            <a:extLst>
              <a:ext uri="{FF2B5EF4-FFF2-40B4-BE49-F238E27FC236}">
                <a16:creationId xmlns:a16="http://schemas.microsoft.com/office/drawing/2014/main" id="{616CCB28-3764-90D2-8785-B5F42A1C6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u="sng">
                <a:ea typeface="宋体" panose="02010600030101010101" pitchFamily="2" charset="-122"/>
              </a:rPr>
              <a:t>Step 3: Matrix Multiplication </a:t>
            </a:r>
            <a:br>
              <a:rPr lang="en-US" altLang="zh-CN" sz="3200" b="1" u="sng">
                <a:ea typeface="宋体" panose="02010600030101010101" pitchFamily="2" charset="-122"/>
              </a:rPr>
            </a:br>
            <a:r>
              <a:rPr lang="en-US" altLang="zh-CN" sz="3200" b="1" u="sng">
                <a:ea typeface="宋体" panose="02010600030101010101" pitchFamily="2" charset="-122"/>
              </a:rPr>
              <a:t>Host-side Main Program Code</a:t>
            </a:r>
          </a:p>
        </p:txBody>
      </p:sp>
      <p:sp>
        <p:nvSpPr>
          <p:cNvPr id="87048" name="Text Box 8">
            <a:extLst>
              <a:ext uri="{FF2B5EF4-FFF2-40B4-BE49-F238E27FC236}">
                <a16:creationId xmlns:a16="http://schemas.microsoft.com/office/drawing/2014/main" id="{8810CA57-24AA-4A4A-9A55-1B3E7ED3F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12875"/>
            <a:ext cx="7721600" cy="30464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main(void) 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{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// Allocate and initialize the matrices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Matrix  M 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AllocateMatrix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(WIDTH, WIDTH);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Matrix  N 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AllocateMatrix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(WIDTH, WIDTH);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Matrix  P 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AllocateMatrix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(WIDTH, WIDTH);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// M * N on the device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MatrixMulOnDevice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(M, N, P);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// Free matrices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FreeMatrix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(M);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FreeMatrix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(N);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FreeMatrix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(P);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return 0;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제목 1">
            <a:extLst>
              <a:ext uri="{FF2B5EF4-FFF2-40B4-BE49-F238E27FC236}">
                <a16:creationId xmlns:a16="http://schemas.microsoft.com/office/drawing/2014/main" id="{E0D1AC2E-936F-05A4-AC5B-6DF730552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u="sng">
                <a:ea typeface="宋体" panose="02010600030101010101" pitchFamily="2" charset="-122"/>
              </a:rPr>
              <a:t>Step 3: Matrix Multiplication </a:t>
            </a:r>
            <a:br>
              <a:rPr lang="en-US" altLang="zh-CN" sz="3200" b="1" u="sng">
                <a:ea typeface="宋体" panose="02010600030101010101" pitchFamily="2" charset="-122"/>
              </a:rPr>
            </a:br>
            <a:r>
              <a:rPr lang="en-US" altLang="zh-CN" sz="3200" b="1" u="sng">
                <a:ea typeface="宋体" panose="02010600030101010101" pitchFamily="2" charset="-122"/>
              </a:rPr>
              <a:t>Host-side Main Program Code</a:t>
            </a:r>
            <a:endParaRPr lang="ko-KR" altLang="en-US" sz="3200"/>
          </a:p>
        </p:txBody>
      </p:sp>
      <p:sp>
        <p:nvSpPr>
          <p:cNvPr id="46082" name="내용 개체 틀 2">
            <a:extLst>
              <a:ext uri="{FF2B5EF4-FFF2-40B4-BE49-F238E27FC236}">
                <a16:creationId xmlns:a16="http://schemas.microsoft.com/office/drawing/2014/main" id="{B29C5D82-86F2-3751-DF15-A981E287B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C12ECB3B-DCB7-B94C-AB9A-D9BD6A50A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2060575"/>
            <a:ext cx="7721600" cy="34163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Matrix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AllocateMatrix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height,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width)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{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Matrix M;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M.width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width;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M.height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height;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size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M.width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M.height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NULL;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(float*)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malloc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(size*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sizeof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(float));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for(unsigned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0;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&lt;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M.height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M.width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;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++)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{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[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] = (rand() / (float)RAND_MAX);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if(rand() % 2)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[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] = -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[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];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}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return M;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14675AA5-2133-DA88-84E6-1E7C1F940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u="sng">
                <a:ea typeface="宋体" panose="02010600030101010101" pitchFamily="2" charset="-122"/>
              </a:rPr>
              <a:t>Step 3: Matrix Multiplication</a:t>
            </a:r>
            <a:br>
              <a:rPr lang="en-US" altLang="zh-CN" sz="3200" b="1" u="sng">
                <a:ea typeface="宋体" panose="02010600030101010101" pitchFamily="2" charset="-122"/>
              </a:rPr>
            </a:br>
            <a:r>
              <a:rPr lang="en-US" altLang="zh-CN" sz="3200" b="1" u="sng">
                <a:ea typeface="宋体" panose="02010600030101010101" pitchFamily="2" charset="-122"/>
              </a:rPr>
              <a:t>Host-side code</a:t>
            </a:r>
          </a:p>
        </p:txBody>
      </p:sp>
      <p:sp>
        <p:nvSpPr>
          <p:cNvPr id="89092" name="Text Box 4">
            <a:extLst>
              <a:ext uri="{FF2B5EF4-FFF2-40B4-BE49-F238E27FC236}">
                <a16:creationId xmlns:a16="http://schemas.microsoft.com/office/drawing/2014/main" id="{7C8EA53C-C87F-ED43-9F1B-381BD5B2D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444625"/>
            <a:ext cx="6134100" cy="52974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// Matrix multiplication on the device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void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MatrixMulOnDevice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(const Matrix M, const Matrix N, Matrix P)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{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// Load M and N to the device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Matrix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AllocateDeviceMatrix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(M);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CopyToDeviceMatrix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M);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Matrix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Nd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AllocateDeviceMatrix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(N);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CopyToDeviceMatrix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Nd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N);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// Allocate P on the device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Matrix Pd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AllocateDeviceMatrix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(P);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CopyToDeviceMatrix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(Pd, P); // Clear memory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// Setup the execution configuration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dim3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dimBlock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(WIDTH, WIDTH);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dim3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dimGrid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(1, 1);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// Launch the device computation threads!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MatrixMulKernel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&lt;&lt;&lt;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dimGrid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dimBlock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&gt;&gt;&gt;(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Nd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Pd);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// Read P from the device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CopyFromDeviceMatrix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(P, Pd); 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// Free device matrices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FreeDeviceMatrix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FreeDeviceMatrix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Nd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FreeDeviceMatrix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(Pd);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006D4F41-409D-3DFB-2D46-C2FE20D7E7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u="sng">
                <a:ea typeface="宋体" panose="02010600030101010101" pitchFamily="2" charset="-122"/>
              </a:rPr>
              <a:t>Step 4: Matrix Multiplication</a:t>
            </a:r>
            <a:br>
              <a:rPr lang="en-US" altLang="zh-CN" sz="3200" b="1" u="sng">
                <a:ea typeface="宋体" panose="02010600030101010101" pitchFamily="2" charset="-122"/>
              </a:rPr>
            </a:br>
            <a:r>
              <a:rPr lang="en-US" altLang="zh-CN" sz="3200" b="1" u="sng">
                <a:ea typeface="宋体" panose="02010600030101010101" pitchFamily="2" charset="-122"/>
              </a:rPr>
              <a:t>Device-side Kernel Function</a:t>
            </a:r>
          </a:p>
        </p:txBody>
      </p:sp>
      <p:sp>
        <p:nvSpPr>
          <p:cNvPr id="110595" name="Text Box 3">
            <a:extLst>
              <a:ext uri="{FF2B5EF4-FFF2-40B4-BE49-F238E27FC236}">
                <a16:creationId xmlns:a16="http://schemas.microsoft.com/office/drawing/2014/main" id="{2D1839CE-2071-8D4A-A624-F5B10BABC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55750"/>
            <a:ext cx="7354888" cy="43402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// Matrix multiplication kernel – thread specification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__global__ void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MatrixMulKernel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(Matrix M, Matrix N, Matrix P)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{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// 2D Thread ID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tx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threadIdx.x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ty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threadIdx.y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;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TW" sz="1200" b="1" dirty="0">
                <a:latin typeface="Courier New" pitchFamily="49" charset="0"/>
                <a:ea typeface="PMingLiU" pitchFamily="18" charset="-120"/>
                <a:cs typeface="Courier New" pitchFamily="49" charset="0"/>
              </a:rPr>
              <a:t>    // </a:t>
            </a:r>
            <a:r>
              <a:rPr lang="en-US" altLang="zh-TW" sz="1200" b="1" dirty="0" err="1">
                <a:latin typeface="Courier New" pitchFamily="49" charset="0"/>
                <a:ea typeface="PMingLiU" pitchFamily="18" charset="-120"/>
                <a:cs typeface="Courier New" pitchFamily="49" charset="0"/>
              </a:rPr>
              <a:t>P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value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is used to store the element of the matrix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// that is computed by the thread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float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Pvalue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0;</a:t>
            </a:r>
          </a:p>
          <a:p>
            <a:pPr eaLnBrk="1" latinLnBrk="1" hangingPunct="1">
              <a:defRPr/>
            </a:pPr>
            <a:r>
              <a:rPr lang="en-US" altLang="zh-TW" sz="1200" b="1" dirty="0">
                <a:latin typeface="Courier New" pitchFamily="49" charset="0"/>
                <a:ea typeface="PMingLiU" pitchFamily="18" charset="-120"/>
                <a:cs typeface="Courier New" pitchFamily="49" charset="0"/>
              </a:rPr>
              <a:t> 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PMingLiU" pitchFamily="18" charset="-120"/>
                <a:cs typeface="Courier New" pitchFamily="49" charset="0"/>
              </a:rPr>
              <a:t>    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for (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k = 0; k &lt;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M.width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; ++k)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</a:t>
            </a:r>
            <a:r>
              <a:rPr lang="en-US" altLang="zh-TW" sz="1200" b="1" dirty="0">
                <a:latin typeface="Courier New" pitchFamily="49" charset="0"/>
                <a:ea typeface="PMingLiU" pitchFamily="18" charset="-120"/>
                <a:cs typeface="Courier New" pitchFamily="49" charset="0"/>
              </a:rPr>
              <a:t> 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{ 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</a:t>
            </a:r>
            <a:r>
              <a:rPr lang="en-US" altLang="zh-TW" sz="1200" b="1" dirty="0">
                <a:latin typeface="Courier New" pitchFamily="49" charset="0"/>
                <a:ea typeface="PMingLiU" pitchFamily="18" charset="-120"/>
                <a:cs typeface="Courier New" pitchFamily="49" charset="0"/>
              </a:rPr>
              <a:t> 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float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Melement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[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ty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M.width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+ k];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</a:t>
            </a:r>
            <a:r>
              <a:rPr lang="en-US" altLang="zh-TW" sz="1200" b="1" dirty="0">
                <a:latin typeface="Courier New" pitchFamily="49" charset="0"/>
                <a:ea typeface="PMingLiU" pitchFamily="18" charset="-120"/>
                <a:cs typeface="Courier New" pitchFamily="49" charset="0"/>
              </a:rPr>
              <a:t> 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float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Nelement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[k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N.width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+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tx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];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</a:t>
            </a:r>
            <a:r>
              <a:rPr lang="en-US" altLang="zh-TW" sz="1200" b="1" dirty="0">
                <a:latin typeface="Courier New" pitchFamily="49" charset="0"/>
                <a:ea typeface="PMingLiU" pitchFamily="18" charset="-120"/>
                <a:cs typeface="Courier New" pitchFamily="49" charset="0"/>
              </a:rPr>
              <a:t> 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Pvalue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+=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Melement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Nelement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</a:t>
            </a:r>
            <a:r>
              <a:rPr lang="en-US" altLang="zh-TW" sz="1200" b="1" dirty="0">
                <a:latin typeface="Courier New" pitchFamily="49" charset="0"/>
                <a:ea typeface="PMingLiU" pitchFamily="18" charset="-120"/>
                <a:cs typeface="Courier New" pitchFamily="49" charset="0"/>
              </a:rPr>
              <a:t> }</a:t>
            </a: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</a:t>
            </a:r>
            <a:r>
              <a:rPr lang="en-US" altLang="zh-TW" sz="1200" b="1" dirty="0">
                <a:latin typeface="Courier New" pitchFamily="49" charset="0"/>
                <a:ea typeface="PMingLiU" pitchFamily="18" charset="-120"/>
                <a:cs typeface="Courier New" pitchFamily="49" charset="0"/>
              </a:rPr>
              <a:t> 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// Write the matrix to device memory;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</a:t>
            </a:r>
            <a:r>
              <a:rPr lang="en-US" altLang="zh-TW" sz="1200" b="1" dirty="0">
                <a:latin typeface="Courier New" pitchFamily="49" charset="0"/>
                <a:ea typeface="PMingLiU" pitchFamily="18" charset="-120"/>
                <a:cs typeface="Courier New" pitchFamily="49" charset="0"/>
              </a:rPr>
              <a:t> 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// each thread writes one element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P.elements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[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ty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P.width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+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tx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]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Pvalue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</a:p>
          <a:p>
            <a:pPr eaLnBrk="1" latinLnBrk="1" hangingPunct="1">
              <a:defRPr/>
            </a:pPr>
            <a:endParaRPr lang="en-US" altLang="zh-TW" sz="1200" b="1" dirty="0">
              <a:latin typeface="Courier New" pitchFamily="49" charset="0"/>
              <a:ea typeface="PMingLiU" pitchFamily="18" charset="-120"/>
              <a:cs typeface="Courier New" pitchFamily="49" charset="0"/>
            </a:endParaRPr>
          </a:p>
          <a:p>
            <a:pPr eaLnBrk="1" latinLnBrk="1" hangingPunct="1">
              <a:defRPr/>
            </a:pPr>
            <a:endParaRPr lang="zh-CN" altLang="en-US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4">
            <a:extLst>
              <a:ext uri="{FF2B5EF4-FFF2-40B4-BE49-F238E27FC236}">
                <a16:creationId xmlns:a16="http://schemas.microsoft.com/office/drawing/2014/main" id="{B77639C0-DD39-DAC8-B0FB-29742D678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4002088"/>
            <a:ext cx="2470150" cy="2468562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endParaRPr lang="en-US" altLang="zh-CN" sz="18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4" name="Text Box 5">
            <a:extLst>
              <a:ext uri="{FF2B5EF4-FFF2-40B4-BE49-F238E27FC236}">
                <a16:creationId xmlns:a16="http://schemas.microsoft.com/office/drawing/2014/main" id="{E175FF11-4920-FCF5-27E9-43EED07F6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8488" y="1487488"/>
            <a:ext cx="2466975" cy="2468562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en-US" altLang="zh-CN" sz="18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5" name="Text Box 6">
            <a:extLst>
              <a:ext uri="{FF2B5EF4-FFF2-40B4-BE49-F238E27FC236}">
                <a16:creationId xmlns:a16="http://schemas.microsoft.com/office/drawing/2014/main" id="{B9145A08-E0BA-9CE2-BBB9-A3964CC0E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8488" y="4002088"/>
            <a:ext cx="2466975" cy="2468562"/>
          </a:xfrm>
          <a:prstGeom prst="rect">
            <a:avLst/>
          </a:prstGeom>
          <a:solidFill>
            <a:srgbClr val="99FF66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endParaRPr lang="en-US" altLang="zh-CN" sz="18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Text Box 7">
            <a:extLst>
              <a:ext uri="{FF2B5EF4-FFF2-40B4-BE49-F238E27FC236}">
                <a16:creationId xmlns:a16="http://schemas.microsoft.com/office/drawing/2014/main" id="{019CC795-0FBB-80FC-55AF-D6252B961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088" y="1487488"/>
            <a:ext cx="53975" cy="2468562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91440" rIns="0" bIns="0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Line 8">
            <a:extLst>
              <a:ext uri="{FF2B5EF4-FFF2-40B4-BE49-F238E27FC236}">
                <a16:creationId xmlns:a16="http://schemas.microsoft.com/office/drawing/2014/main" id="{1528BA93-5F41-70D3-AA58-A66D2F673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4063" y="3956050"/>
            <a:ext cx="3175" cy="1417638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58" name="Line 9">
            <a:extLst>
              <a:ext uri="{FF2B5EF4-FFF2-40B4-BE49-F238E27FC236}">
                <a16:creationId xmlns:a16="http://schemas.microsoft.com/office/drawing/2014/main" id="{DB51F2B9-86E0-3CF3-E7B2-102C7C913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0088" y="3925888"/>
            <a:ext cx="0" cy="1417637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59" name="Line 10">
            <a:extLst>
              <a:ext uri="{FF2B5EF4-FFF2-40B4-BE49-F238E27FC236}">
                <a16:creationId xmlns:a16="http://schemas.microsoft.com/office/drawing/2014/main" id="{041F34B6-82B6-4477-61B3-C2EF504F1C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08488" y="6321425"/>
            <a:ext cx="2466975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60" name="Text Box 11">
            <a:extLst>
              <a:ext uri="{FF2B5EF4-FFF2-40B4-BE49-F238E27FC236}">
                <a16:creationId xmlns:a16="http://schemas.microsoft.com/office/drawing/2014/main" id="{42BEBA32-29DE-CF75-5F74-7F7E8852B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5373688"/>
            <a:ext cx="2470150" cy="55562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91440" rIns="0" bIns="0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61" name="Text Box 12">
            <a:extLst>
              <a:ext uri="{FF2B5EF4-FFF2-40B4-BE49-F238E27FC236}">
                <a16:creationId xmlns:a16="http://schemas.microsoft.com/office/drawing/2014/main" id="{72D816FF-3C9B-C472-1978-4C30044C2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088" y="5373688"/>
            <a:ext cx="53975" cy="53975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91440" rIns="0" bIns="0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62" name="Line 13">
            <a:extLst>
              <a:ext uri="{FF2B5EF4-FFF2-40B4-BE49-F238E27FC236}">
                <a16:creationId xmlns:a16="http://schemas.microsoft.com/office/drawing/2014/main" id="{7DF0D7A6-DE83-7711-B67D-4A38D4230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5373688"/>
            <a:ext cx="1419225" cy="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63" name="Line 14">
            <a:extLst>
              <a:ext uri="{FF2B5EF4-FFF2-40B4-BE49-F238E27FC236}">
                <a16:creationId xmlns:a16="http://schemas.microsoft.com/office/drawing/2014/main" id="{32C184E2-0127-4B41-5E7B-E522F46A7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5427663"/>
            <a:ext cx="1419225" cy="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64" name="Line 15">
            <a:extLst>
              <a:ext uri="{FF2B5EF4-FFF2-40B4-BE49-F238E27FC236}">
                <a16:creationId xmlns:a16="http://schemas.microsoft.com/office/drawing/2014/main" id="{388F631A-EBD0-3C98-2795-1D378B3D66F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726238" y="1484313"/>
            <a:ext cx="3175" cy="2468562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65" name="Line 16">
            <a:extLst>
              <a:ext uri="{FF2B5EF4-FFF2-40B4-BE49-F238E27FC236}">
                <a16:creationId xmlns:a16="http://schemas.microsoft.com/office/drawing/2014/main" id="{9F514723-A134-4448-58BB-B87506793AE1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726238" y="4002088"/>
            <a:ext cx="3175" cy="2468562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66" name="Line 17">
            <a:extLst>
              <a:ext uri="{FF2B5EF4-FFF2-40B4-BE49-F238E27FC236}">
                <a16:creationId xmlns:a16="http://schemas.microsoft.com/office/drawing/2014/main" id="{CC9745DC-6C1F-969F-BE8B-2CE20B5EB8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93888" y="6321425"/>
            <a:ext cx="24701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67" name="Text Box 18">
            <a:extLst>
              <a:ext uri="{FF2B5EF4-FFF2-40B4-BE49-F238E27FC236}">
                <a16:creationId xmlns:a16="http://schemas.microsoft.com/office/drawing/2014/main" id="{8DBC7FBA-5CD5-D67D-2010-38A859474397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6391276" y="2646362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49168" name="Text Box 19">
            <a:extLst>
              <a:ext uri="{FF2B5EF4-FFF2-40B4-BE49-F238E27FC236}">
                <a16:creationId xmlns:a16="http://schemas.microsoft.com/office/drawing/2014/main" id="{D679C32B-F3B3-B8BF-0D9E-0B294E5F790A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6391276" y="5160962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49169" name="Text Box 20">
            <a:extLst>
              <a:ext uri="{FF2B5EF4-FFF2-40B4-BE49-F238E27FC236}">
                <a16:creationId xmlns:a16="http://schemas.microsoft.com/office/drawing/2014/main" id="{CD68963C-FA32-C7BA-B15E-CAD7E1255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6132513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49170" name="Text Box 21">
            <a:extLst>
              <a:ext uri="{FF2B5EF4-FFF2-40B4-BE49-F238E27FC236}">
                <a16:creationId xmlns:a16="http://schemas.microsoft.com/office/drawing/2014/main" id="{B690C27B-AD79-BCEF-E283-E921CB548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6130925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49171" name="Rectangle 2">
            <a:extLst>
              <a:ext uri="{FF2B5EF4-FFF2-40B4-BE49-F238E27FC236}">
                <a16:creationId xmlns:a16="http://schemas.microsoft.com/office/drawing/2014/main" id="{91EED079-35D5-EB87-F667-1C7B01994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u="sng">
                <a:ea typeface="宋体" panose="02010600030101010101" pitchFamily="2" charset="-122"/>
              </a:rPr>
              <a:t>Step 4: Matrix Multiplication </a:t>
            </a:r>
            <a:br>
              <a:rPr lang="en-US" altLang="zh-CN" sz="3200" b="1" u="sng">
                <a:ea typeface="宋体" panose="02010600030101010101" pitchFamily="2" charset="-122"/>
              </a:rPr>
            </a:br>
            <a:r>
              <a:rPr lang="en-US" altLang="zh-CN" sz="3200" b="1" u="sng">
                <a:ea typeface="宋体" panose="02010600030101010101" pitchFamily="2" charset="-122"/>
              </a:rPr>
              <a:t>Device-Side Kernel Function  (cont.)</a:t>
            </a:r>
          </a:p>
        </p:txBody>
      </p:sp>
      <p:sp>
        <p:nvSpPr>
          <p:cNvPr id="49172" name="Text Box 22">
            <a:extLst>
              <a:ext uri="{FF2B5EF4-FFF2-40B4-BE49-F238E27FC236}">
                <a16:creationId xmlns:a16="http://schemas.microsoft.com/office/drawing/2014/main" id="{BA1B0A81-578E-E2E9-EB9B-613CEB13F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188" y="4362450"/>
            <a:ext cx="45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ty</a:t>
            </a:r>
          </a:p>
        </p:txBody>
      </p:sp>
      <p:sp>
        <p:nvSpPr>
          <p:cNvPr id="49173" name="Text Box 23">
            <a:extLst>
              <a:ext uri="{FF2B5EF4-FFF2-40B4-BE49-F238E27FC236}">
                <a16:creationId xmlns:a16="http://schemas.microsoft.com/office/drawing/2014/main" id="{D74B8929-38CB-4AC7-1D5E-4F40F6996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188" y="5353050"/>
            <a:ext cx="441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tx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572FE71C-928B-6726-3667-EAB218EFA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40425" y="630238"/>
            <a:ext cx="3059113" cy="1143000"/>
          </a:xfrm>
        </p:spPr>
        <p:txBody>
          <a:bodyPr/>
          <a:lstStyle/>
          <a:p>
            <a:r>
              <a:rPr lang="en-US" altLang="zh-CN" sz="3600" b="1" u="sng">
                <a:ea typeface="宋体" panose="02010600030101010101" pitchFamily="2" charset="-122"/>
              </a:rPr>
              <a:t>Step 5: </a:t>
            </a:r>
            <a:br>
              <a:rPr lang="en-US" altLang="zh-CN" sz="3600" b="1" u="sng">
                <a:ea typeface="宋体" panose="02010600030101010101" pitchFamily="2" charset="-122"/>
              </a:rPr>
            </a:br>
            <a:r>
              <a:rPr lang="en-US" altLang="zh-CN" sz="3600" b="1" u="sng">
                <a:ea typeface="宋体" panose="02010600030101010101" pitchFamily="2" charset="-122"/>
              </a:rPr>
              <a:t>Some </a:t>
            </a:r>
            <a:br>
              <a:rPr lang="en-US" altLang="zh-CN" sz="3600" b="1" u="sng">
                <a:ea typeface="宋体" panose="02010600030101010101" pitchFamily="2" charset="-122"/>
              </a:rPr>
            </a:br>
            <a:r>
              <a:rPr lang="en-US" altLang="zh-CN" sz="3600" b="1" u="sng">
                <a:ea typeface="宋体" panose="02010600030101010101" pitchFamily="2" charset="-122"/>
              </a:rPr>
              <a:t>Loose Ends</a:t>
            </a:r>
          </a:p>
        </p:txBody>
      </p:sp>
      <p:sp>
        <p:nvSpPr>
          <p:cNvPr id="112643" name="Text Box 3">
            <a:extLst>
              <a:ext uri="{FF2B5EF4-FFF2-40B4-BE49-F238E27FC236}">
                <a16:creationId xmlns:a16="http://schemas.microsoft.com/office/drawing/2014/main" id="{8A34E64E-5724-8248-A154-F385370ED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42913"/>
            <a:ext cx="5948363" cy="63706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// Allocate a device matrix of same size as M.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Matrix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AllocateDeviceMatrix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(const Matrix M)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{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Matrix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Mdevice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= M;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size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M.width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M.height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sizeof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(float);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cudaMalloc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((void**)&amp;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Mdevice.elements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size);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return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Mdevice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// Free a device matrix.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void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FreeDeviceMatrix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(Matrix M) {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cudaFree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void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FreeMatrix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(Matrix M) {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free(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// Copy a host matrix to a device matrix.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void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CopyToDeviceMatrix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(Matrix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Mdevice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const Matrix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Mhost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)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{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size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Mhost.width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Mhost.height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sizeof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(float);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cudaMemcpy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Mdevice.elements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Mhost.elements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size, 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	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cudaMemcpyHostToDevice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</a:p>
          <a:p>
            <a:pPr eaLnBrk="1" latinLnBrk="1" hangingPunct="1">
              <a:defRPr/>
            </a:pPr>
            <a:endParaRPr lang="en-US" altLang="zh-CN" sz="1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// Copy a device matrix to a host matrix.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void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CopyFromDeviceMatrix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(Matrix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Mhost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const Matrix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Mdevice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)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{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size =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Mdevice.width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Mdevice.height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*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sizeof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(float);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cudaMemcpy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Mhost.elements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Mdevice.elements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, size, 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	</a:t>
            </a:r>
            <a:r>
              <a:rPr lang="en-US" altLang="zh-CN" sz="1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cudaMemcpyDeviceToHost</a:t>
            </a: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);</a:t>
            </a:r>
          </a:p>
          <a:p>
            <a:pPr eaLnBrk="1" latinLnBrk="1" hangingPunct="1">
              <a:defRPr/>
            </a:pPr>
            <a:r>
              <a:rPr lang="en-US" altLang="zh-CN" sz="1200" b="1" dirty="0"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A0C99A65-DB89-B6ED-BE41-FDA32656C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u="sng">
                <a:ea typeface="宋体" panose="02010600030101010101" pitchFamily="2" charset="-122"/>
              </a:rPr>
              <a:t>Step 6: Handling Arbitrary Sized Square Matrices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2AEC7DDD-BCF8-6D98-0082-6DD2ED526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524000"/>
            <a:ext cx="6191250" cy="45720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Have each 2D thread block to compute a (BLOCK_WIDTH)</a:t>
            </a:r>
            <a:r>
              <a:rPr lang="en-US" altLang="zh-CN" sz="2400" baseline="30000">
                <a:ea typeface="宋体" panose="02010600030101010101" pitchFamily="2" charset="-122"/>
              </a:rPr>
              <a:t>2</a:t>
            </a:r>
            <a:r>
              <a:rPr lang="en-US" altLang="zh-CN" sz="2400">
                <a:ea typeface="宋体" panose="02010600030101010101" pitchFamily="2" charset="-122"/>
              </a:rPr>
              <a:t> sub-matrix (tile) of the result matrix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Each has (BLOCK_WIDTH)</a:t>
            </a:r>
            <a:r>
              <a:rPr lang="en-US" altLang="zh-CN" sz="2000" baseline="30000">
                <a:ea typeface="宋体" panose="02010600030101010101" pitchFamily="2" charset="-122"/>
              </a:rPr>
              <a:t>2 </a:t>
            </a:r>
            <a:r>
              <a:rPr lang="en-US" altLang="zh-CN" sz="2000">
                <a:ea typeface="宋体" panose="02010600030101010101" pitchFamily="2" charset="-122"/>
              </a:rPr>
              <a:t>threads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Generate a 2D Grid of (WIDTH/BLOCK_WIDTH)</a:t>
            </a:r>
            <a:r>
              <a:rPr lang="en-US" altLang="zh-CN" sz="2400" baseline="30000">
                <a:ea typeface="宋体" panose="02010600030101010101" pitchFamily="2" charset="-122"/>
              </a:rPr>
              <a:t>2 </a:t>
            </a:r>
            <a:r>
              <a:rPr lang="en-US" altLang="zh-CN" sz="2400">
                <a:ea typeface="宋体" panose="02010600030101010101" pitchFamily="2" charset="-122"/>
              </a:rPr>
              <a:t>blocks</a:t>
            </a:r>
          </a:p>
          <a:p>
            <a:pPr>
              <a:buFontTx/>
              <a:buNone/>
            </a:pPr>
            <a:endParaRPr lang="en-US" altLang="zh-CN" sz="2400">
              <a:ea typeface="宋体" panose="02010600030101010101" pitchFamily="2" charset="-122"/>
            </a:endParaRPr>
          </a:p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51203" name="Text Box 7">
            <a:extLst>
              <a:ext uri="{FF2B5EF4-FFF2-40B4-BE49-F238E27FC236}">
                <a16:creationId xmlns:a16="http://schemas.microsoft.com/office/drawing/2014/main" id="{6F09A201-DC77-D7C3-1824-5538872D0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2425" y="4191000"/>
            <a:ext cx="2468563" cy="2468563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endParaRPr lang="en-US" altLang="zh-CN" sz="18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4" name="Text Box 8">
            <a:extLst>
              <a:ext uri="{FF2B5EF4-FFF2-40B4-BE49-F238E27FC236}">
                <a16:creationId xmlns:a16="http://schemas.microsoft.com/office/drawing/2014/main" id="{9E95B64E-3387-49C2-DEB6-D283BE49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1676400"/>
            <a:ext cx="2468562" cy="2468563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en-US" altLang="zh-CN" sz="18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5" name="Text Box 9">
            <a:extLst>
              <a:ext uri="{FF2B5EF4-FFF2-40B4-BE49-F238E27FC236}">
                <a16:creationId xmlns:a16="http://schemas.microsoft.com/office/drawing/2014/main" id="{20ABB13B-F95E-0742-E5C5-2F33DCD3B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4114800"/>
            <a:ext cx="2468562" cy="2468563"/>
          </a:xfrm>
          <a:prstGeom prst="rect">
            <a:avLst/>
          </a:prstGeom>
          <a:solidFill>
            <a:srgbClr val="99FF66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endParaRPr lang="en-US" altLang="zh-CN" sz="18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6" name="Text Box 10">
            <a:extLst>
              <a:ext uri="{FF2B5EF4-FFF2-40B4-BE49-F238E27FC236}">
                <a16:creationId xmlns:a16="http://schemas.microsoft.com/office/drawing/2014/main" id="{23385473-AAEF-F630-8760-947689D11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7038" y="1676400"/>
            <a:ext cx="53975" cy="2468563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91440" rIns="0" bIns="0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7" name="Line 11">
            <a:extLst>
              <a:ext uri="{FF2B5EF4-FFF2-40B4-BE49-F238E27FC236}">
                <a16:creationId xmlns:a16="http://schemas.microsoft.com/office/drawing/2014/main" id="{1078A96C-AE30-03A8-FE22-D378A96E37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2600" y="4144963"/>
            <a:ext cx="1588" cy="1417637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08" name="Line 12">
            <a:extLst>
              <a:ext uri="{FF2B5EF4-FFF2-40B4-BE49-F238E27FC236}">
                <a16:creationId xmlns:a16="http://schemas.microsoft.com/office/drawing/2014/main" id="{C0E6D955-30A1-D963-6E10-0BBE82D7E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7038" y="4114800"/>
            <a:ext cx="0" cy="1417638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09" name="Line 13">
            <a:extLst>
              <a:ext uri="{FF2B5EF4-FFF2-40B4-BE49-F238E27FC236}">
                <a16:creationId xmlns:a16="http://schemas.microsoft.com/office/drawing/2014/main" id="{2307D897-E6AC-ED1E-0E56-B6AF9125C2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75438" y="6510338"/>
            <a:ext cx="246856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10" name="Text Box 14">
            <a:extLst>
              <a:ext uri="{FF2B5EF4-FFF2-40B4-BE49-F238E27FC236}">
                <a16:creationId xmlns:a16="http://schemas.microsoft.com/office/drawing/2014/main" id="{C86CECD5-C9FD-E3F1-116C-98E688D8F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2425" y="5562600"/>
            <a:ext cx="2468563" cy="55563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91440" rIns="0" bIns="0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11" name="Text Box 15">
            <a:extLst>
              <a:ext uri="{FF2B5EF4-FFF2-40B4-BE49-F238E27FC236}">
                <a16:creationId xmlns:a16="http://schemas.microsoft.com/office/drawing/2014/main" id="{C57E9D8B-5F2C-66E3-2C8F-604CD266C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7038" y="5562600"/>
            <a:ext cx="55562" cy="53975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91440" rIns="0" bIns="0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12" name="Line 16">
            <a:extLst>
              <a:ext uri="{FF2B5EF4-FFF2-40B4-BE49-F238E27FC236}">
                <a16:creationId xmlns:a16="http://schemas.microsoft.com/office/drawing/2014/main" id="{27BD222C-D172-510F-5B8D-0CA41E87A4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9875" y="5562600"/>
            <a:ext cx="1417638" cy="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13" name="Line 17">
            <a:extLst>
              <a:ext uri="{FF2B5EF4-FFF2-40B4-BE49-F238E27FC236}">
                <a16:creationId xmlns:a16="http://schemas.microsoft.com/office/drawing/2014/main" id="{13B8EA93-5977-AB69-11BD-552852A972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9875" y="5616575"/>
            <a:ext cx="1417638" cy="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14" name="Line 18">
            <a:extLst>
              <a:ext uri="{FF2B5EF4-FFF2-40B4-BE49-F238E27FC236}">
                <a16:creationId xmlns:a16="http://schemas.microsoft.com/office/drawing/2014/main" id="{13D54C19-F7AC-09BE-A532-4C8DB2903F50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8993188" y="1673225"/>
            <a:ext cx="4762" cy="246856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15" name="Line 19">
            <a:extLst>
              <a:ext uri="{FF2B5EF4-FFF2-40B4-BE49-F238E27FC236}">
                <a16:creationId xmlns:a16="http://schemas.microsoft.com/office/drawing/2014/main" id="{5F5CEE38-00A1-8962-D91D-F865A49DF041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8993188" y="4191000"/>
            <a:ext cx="4762" cy="246856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16" name="Line 20">
            <a:extLst>
              <a:ext uri="{FF2B5EF4-FFF2-40B4-BE49-F238E27FC236}">
                <a16:creationId xmlns:a16="http://schemas.microsoft.com/office/drawing/2014/main" id="{C8DBABA2-4F23-D817-4349-5A2E533BCE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62425" y="6510338"/>
            <a:ext cx="2468563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17" name="Text Box 21">
            <a:extLst>
              <a:ext uri="{FF2B5EF4-FFF2-40B4-BE49-F238E27FC236}">
                <a16:creationId xmlns:a16="http://schemas.microsoft.com/office/drawing/2014/main" id="{1A589F99-7822-8A76-D327-C7C00B57472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658226" y="2835275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51218" name="Text Box 22">
            <a:extLst>
              <a:ext uri="{FF2B5EF4-FFF2-40B4-BE49-F238E27FC236}">
                <a16:creationId xmlns:a16="http://schemas.microsoft.com/office/drawing/2014/main" id="{44B690B8-8A89-8D56-FB97-43B7A0E37AA3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658226" y="5349875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51219" name="Text Box 23">
            <a:extLst>
              <a:ext uri="{FF2B5EF4-FFF2-40B4-BE49-F238E27FC236}">
                <a16:creationId xmlns:a16="http://schemas.microsoft.com/office/drawing/2014/main" id="{A97C9C15-B1BA-0228-D1BF-6FD130586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188" y="6321425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51220" name="Text Box 24">
            <a:extLst>
              <a:ext uri="{FF2B5EF4-FFF2-40B4-BE49-F238E27FC236}">
                <a16:creationId xmlns:a16="http://schemas.microsoft.com/office/drawing/2014/main" id="{38535496-25BA-0B18-5EFF-744DDB083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0638" y="6319838"/>
            <a:ext cx="4064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51221" name="Text Box 25">
            <a:extLst>
              <a:ext uri="{FF2B5EF4-FFF2-40B4-BE49-F238E27FC236}">
                <a16:creationId xmlns:a16="http://schemas.microsoft.com/office/drawing/2014/main" id="{972C9735-5603-9ADB-0389-21B612889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5105400"/>
            <a:ext cx="45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ty</a:t>
            </a:r>
          </a:p>
        </p:txBody>
      </p:sp>
      <p:sp>
        <p:nvSpPr>
          <p:cNvPr id="51222" name="Text Box 26">
            <a:extLst>
              <a:ext uri="{FF2B5EF4-FFF2-40B4-BE49-F238E27FC236}">
                <a16:creationId xmlns:a16="http://schemas.microsoft.com/office/drawing/2014/main" id="{00E09FB6-B1B8-99AD-AE4F-90720BB2E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638800"/>
            <a:ext cx="441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tx</a:t>
            </a:r>
          </a:p>
        </p:txBody>
      </p:sp>
      <p:sp>
        <p:nvSpPr>
          <p:cNvPr id="51223" name="Rectangle 27">
            <a:extLst>
              <a:ext uri="{FF2B5EF4-FFF2-40B4-BE49-F238E27FC236}">
                <a16:creationId xmlns:a16="http://schemas.microsoft.com/office/drawing/2014/main" id="{D2BC4627-B0D4-8DFE-C94D-B302764C4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105400"/>
            <a:ext cx="914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sp>
        <p:nvSpPr>
          <p:cNvPr id="51224" name="Text Box 28">
            <a:extLst>
              <a:ext uri="{FF2B5EF4-FFF2-40B4-BE49-F238E27FC236}">
                <a16:creationId xmlns:a16="http://schemas.microsoft.com/office/drawing/2014/main" id="{6C8A43F2-4A54-3FAC-C405-65EF8A2A5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6525" y="4398963"/>
            <a:ext cx="52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by</a:t>
            </a:r>
          </a:p>
        </p:txBody>
      </p:sp>
      <p:sp>
        <p:nvSpPr>
          <p:cNvPr id="51225" name="Text Box 29">
            <a:extLst>
              <a:ext uri="{FF2B5EF4-FFF2-40B4-BE49-F238E27FC236}">
                <a16:creationId xmlns:a16="http://schemas.microsoft.com/office/drawing/2014/main" id="{82E3C143-88B9-DF6D-72AC-63F94480C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25" y="5618163"/>
            <a:ext cx="509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bx</a:t>
            </a:r>
          </a:p>
        </p:txBody>
      </p:sp>
      <p:sp>
        <p:nvSpPr>
          <p:cNvPr id="51226" name="Text Box 30">
            <a:extLst>
              <a:ext uri="{FF2B5EF4-FFF2-40B4-BE49-F238E27FC236}">
                <a16:creationId xmlns:a16="http://schemas.microsoft.com/office/drawing/2014/main" id="{8D2A6B68-73FE-A0B7-B74B-773092820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419600"/>
            <a:ext cx="33147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You still need to put a loop    around the kernel call for      cases where WIDTH is        greater than Max grid size!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6530</TotalTime>
  <Words>3084</Words>
  <Application>Microsoft Macintosh PowerPoint</Application>
  <PresentationFormat>화면 슬라이드 쇼(4:3)</PresentationFormat>
  <Paragraphs>674</Paragraphs>
  <Slides>34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3" baseType="lpstr">
      <vt:lpstr>굴림</vt:lpstr>
      <vt:lpstr>Arial</vt:lpstr>
      <vt:lpstr>Wingdings</vt:lpstr>
      <vt:lpstr>맑은 고딕</vt:lpstr>
      <vt:lpstr>宋体</vt:lpstr>
      <vt:lpstr>Times New Roman</vt:lpstr>
      <vt:lpstr>Courier New</vt:lpstr>
      <vt:lpstr>PMingLiU</vt:lpstr>
      <vt:lpstr>네모의 미</vt:lpstr>
      <vt:lpstr>Lecture 7-3 : CUDA Programming</vt:lpstr>
      <vt:lpstr>CUDA Programming Model: A Highly Multithreaded Coprocessor</vt:lpstr>
      <vt:lpstr>Thread Batching: Grids and Blocks</vt:lpstr>
      <vt:lpstr>Block and Thread IDs</vt:lpstr>
      <vt:lpstr>Transparent Scalability</vt:lpstr>
      <vt:lpstr>SM Warp Scheduling</vt:lpstr>
      <vt:lpstr>CUDA Thread Hierarchy</vt:lpstr>
      <vt:lpstr>Warp Divergence</vt:lpstr>
      <vt:lpstr>CUDA Device Memory Space Overview</vt:lpstr>
      <vt:lpstr>Per-Thread Memory</vt:lpstr>
      <vt:lpstr>Per-Block Memory</vt:lpstr>
      <vt:lpstr>Global, Constant, and Texture Memories (Long Latency Accesses)</vt:lpstr>
      <vt:lpstr>CUDA – API</vt:lpstr>
      <vt:lpstr>CUDA Highlights: Easy and Lightweight</vt:lpstr>
      <vt:lpstr>A Small Detour: A Matrix Data Type</vt:lpstr>
      <vt:lpstr>CUDA Device Memory Allocation</vt:lpstr>
      <vt:lpstr>CUDA Device Memory Allocation</vt:lpstr>
      <vt:lpstr>CUDA Device Memory Allocation (cont.)</vt:lpstr>
      <vt:lpstr>CUDA Host-Device Data Transfer</vt:lpstr>
      <vt:lpstr>CUDA Host-Device Data Transfer (cont.)</vt:lpstr>
      <vt:lpstr>CUDA Function Declarations</vt:lpstr>
      <vt:lpstr>Calling a Kernel Function – Thread Creation</vt:lpstr>
      <vt:lpstr>A Simple Running Example Matrix Multiplication</vt:lpstr>
      <vt:lpstr>Programming Model: Square Matrix Multiplication Example</vt:lpstr>
      <vt:lpstr>Step 1: Matrix Data Transfers</vt:lpstr>
      <vt:lpstr>Step 2: Matrix Multiplication A Simple Host Code in C</vt:lpstr>
      <vt:lpstr>Multiply Using One Thread Block</vt:lpstr>
      <vt:lpstr>Step 3: Matrix Multiplication  Host-side Main Program Code</vt:lpstr>
      <vt:lpstr>Step 3: Matrix Multiplication  Host-side Main Program Code</vt:lpstr>
      <vt:lpstr>Step 3: Matrix Multiplication Host-side code</vt:lpstr>
      <vt:lpstr>Step 4: Matrix Multiplication Device-side Kernel Function</vt:lpstr>
      <vt:lpstr>Step 4: Matrix Multiplication  Device-Side Kernel Function  (cont.)</vt:lpstr>
      <vt:lpstr>Step 5:  Some  Loose Ends</vt:lpstr>
      <vt:lpstr>Step 6: Handling Arbitrary Sized Square Matrices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532</cp:revision>
  <dcterms:created xsi:type="dcterms:W3CDTF">2008-03-06T00:32:01Z</dcterms:created>
  <dcterms:modified xsi:type="dcterms:W3CDTF">2025-06-04T03:07:49Z</dcterms:modified>
</cp:coreProperties>
</file>