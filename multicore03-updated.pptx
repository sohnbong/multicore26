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61"/>
  </p:notesMasterIdLst>
  <p:sldIdLst>
    <p:sldId id="346" r:id="rId2"/>
    <p:sldId id="351" r:id="rId3"/>
    <p:sldId id="352" r:id="rId4"/>
    <p:sldId id="354" r:id="rId5"/>
    <p:sldId id="353" r:id="rId6"/>
    <p:sldId id="355" r:id="rId7"/>
    <p:sldId id="366" r:id="rId8"/>
    <p:sldId id="271" r:id="rId9"/>
    <p:sldId id="337" r:id="rId10"/>
    <p:sldId id="336" r:id="rId11"/>
    <p:sldId id="349" r:id="rId12"/>
    <p:sldId id="350" r:id="rId13"/>
    <p:sldId id="338" r:id="rId14"/>
    <p:sldId id="339" r:id="rId15"/>
    <p:sldId id="340" r:id="rId16"/>
    <p:sldId id="308" r:id="rId17"/>
    <p:sldId id="313" r:id="rId18"/>
    <p:sldId id="314" r:id="rId19"/>
    <p:sldId id="315" r:id="rId20"/>
    <p:sldId id="316" r:id="rId21"/>
    <p:sldId id="364" r:id="rId22"/>
    <p:sldId id="365" r:id="rId23"/>
    <p:sldId id="317" r:id="rId24"/>
    <p:sldId id="310" r:id="rId25"/>
    <p:sldId id="319" r:id="rId26"/>
    <p:sldId id="318" r:id="rId27"/>
    <p:sldId id="361" r:id="rId28"/>
    <p:sldId id="323" r:id="rId29"/>
    <p:sldId id="360" r:id="rId30"/>
    <p:sldId id="320" r:id="rId31"/>
    <p:sldId id="321" r:id="rId32"/>
    <p:sldId id="322" r:id="rId33"/>
    <p:sldId id="324" r:id="rId34"/>
    <p:sldId id="325" r:id="rId35"/>
    <p:sldId id="356" r:id="rId36"/>
    <p:sldId id="357" r:id="rId37"/>
    <p:sldId id="358" r:id="rId38"/>
    <p:sldId id="326" r:id="rId39"/>
    <p:sldId id="327" r:id="rId40"/>
    <p:sldId id="328" r:id="rId41"/>
    <p:sldId id="329" r:id="rId42"/>
    <p:sldId id="330" r:id="rId43"/>
    <p:sldId id="331" r:id="rId44"/>
    <p:sldId id="332" r:id="rId45"/>
    <p:sldId id="333" r:id="rId46"/>
    <p:sldId id="359" r:id="rId47"/>
    <p:sldId id="311" r:id="rId48"/>
    <p:sldId id="335" r:id="rId49"/>
    <p:sldId id="343" r:id="rId50"/>
    <p:sldId id="344" r:id="rId51"/>
    <p:sldId id="362" r:id="rId52"/>
    <p:sldId id="363" r:id="rId53"/>
    <p:sldId id="345" r:id="rId54"/>
    <p:sldId id="347" r:id="rId55"/>
    <p:sldId id="348" r:id="rId56"/>
    <p:sldId id="341" r:id="rId57"/>
    <p:sldId id="342" r:id="rId58"/>
    <p:sldId id="367" r:id="rId59"/>
    <p:sldId id="368" r:id="rId60"/>
  </p:sldIdLst>
  <p:sldSz cx="9144000" cy="6858000" type="screen4x3"/>
  <p:notesSz cx="7099300" cy="1023461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51"/>
    <p:restoredTop sz="94626"/>
  </p:normalViewPr>
  <p:slideViewPr>
    <p:cSldViewPr>
      <p:cViewPr varScale="1">
        <p:scale>
          <a:sx n="112" d="100"/>
          <a:sy n="112" d="100"/>
        </p:scale>
        <p:origin x="192" y="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168D21F-6B44-2243-B8AC-FA8CC432FC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52DA4-16B1-5B4B-BEC6-EB2D823E4C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E8317A2-4C9A-7A4F-90E2-7B433A7533CF}" type="datetimeFigureOut">
              <a:rPr lang="ko-KR" altLang="en-US"/>
              <a:pPr>
                <a:defRPr/>
              </a:pPr>
              <a:t>2026. 3. 21.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1C69AA88-997C-1342-9422-A60CE14790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B882BFA8-3F9F-8E47-BA0A-B95A76BC9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9F3F22-2226-4A46-B94F-E05EEC4A6E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7E1BBA-A771-9449-9D44-14DD2A7A5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fld id="{804551D7-F650-284F-8B9D-7EAE90F91A60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ADF69CC-4471-D033-E28A-5B17692EC84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24A4B262-8A70-1B3F-B3EB-A26E516F8D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0FC7807B-4163-4076-217E-9B5F7FB734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EFF30C1-F054-4AEC-18E9-DA028CAA2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A789AC6E-E90C-BAD5-95FD-A81313D00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DDE4CFD2-E48D-38B8-A67E-39F7DFFE7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7EC762F-70B2-1622-A809-EFE2F19C5B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27F3531B-AB5F-8F04-A472-61A3DCDDD6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4738A592-4489-8444-8A48-CB2DF09EC0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DDEE1E8E-BD7B-D036-01F3-D2858B91B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3330D7E7-AB3C-4FD5-9393-8A46A5476C77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B52EF9C5-837B-ACE2-13D5-818152E51D0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7AB446CC-F04D-CB8F-7A5B-55372DD5352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BA5E4989-70F6-60A3-DB29-02A33AB3CB9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6371B5FC-71AE-2605-3E58-3D1CA4CCEAB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C8CA779E-F219-9D8C-2ED9-0C32EB4AF8C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F5A36CF0-C9E3-1BAA-A07C-864828CF47D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C7415599-D8C3-CA5F-034F-CE29077935E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B72943F2-8558-5CD1-270D-B546B41CD1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9433F882-A213-9036-53FC-CB8246FDB79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55F8773E-B5F6-C282-0E7C-C743650E113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0C6839E9-7176-D4B1-CD6B-7710CB5E944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AB48AE73-DB24-1FE1-7E31-96D77E169CB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C4407E7E-17DD-E1DE-D4A6-71AAF1E7329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43BDB497-A7E4-8C61-E907-DED8B2887EC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0D0255D-F123-0834-23DD-2699E51E2E40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08983BA2-E64C-40F2-93C9-B0AE6EAF25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F511EC81-44FA-DAD1-CCAC-F657EEA1D62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D641D46-281F-784C-9FC6-6749B71A89C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1625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567ACE5A-560D-DB41-9629-822939E7E0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F16AA8CD-CD0B-6740-846E-46CE20DED5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400A1E32-DE02-F3B4-1DE1-8089C4F093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593BF3-6D91-4E46-8EAD-47EA37CC5C7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8548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3AE04F79-4E8C-6180-64E3-0F2D3E0241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555C612-3738-34D9-F20D-FE430996013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A1DEB0D9-E105-E207-FE16-04A5363627E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FDCF0D1-6C2C-3E4E-908A-10E116FE1F8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52671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595ACECF-586F-2CD7-D04C-9185D37C42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EA0DBA00-9581-54F2-CA41-E8276EF977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B34086CF-171C-4260-3753-D38FCA12AE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857846-1FE8-0043-AE57-7A2BBFA6D57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6163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520D071A-2C6C-3CCC-1765-E059D1920B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A51CA04B-4A17-649E-8F10-B2D1F6A5F7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D4B29390-245D-397C-1C91-905EBB18A3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E34A69-D91B-404C-B3B0-58B2A82E44C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7380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DC358548-5D07-A005-CAAC-7B13303C1D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71B327A1-12D1-5374-92C7-9BD71787434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0C6C9DAA-CA41-FE72-AF80-31F176E98A4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0272C4-10B5-0F4B-A9FE-59D08E148E2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7701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90A5625D-515F-EE40-564D-B9CC827EC4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2E884FFD-8239-25BF-B4AC-8EC60F9A0F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290832D2-F133-2BB3-FE6C-72E6E19C1C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E50B80D-0FEA-BC41-9BF3-7384F0B592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4256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157434A8-1ABC-AF0E-68A8-3E8EAF6DCE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6487907F-C3E0-F525-13F9-482398C0F8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8669D96E-B891-3811-AE62-B4FE46BAFA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13CBF1D-B3BE-CF42-805A-B34F66A0872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96578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E48A1B8-7DE3-E0B8-DBDA-6893CADD0A9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9E01CAB8-6610-E60D-D74C-6A8BA310BF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15AA2F38-4FCE-60CF-6A47-5BDFF46EC8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69ED09-B7AC-2445-A3A8-43FB49B8103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02359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798BA18F-11BC-9B3E-F434-04344E368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CE200A62-A785-4494-57A9-9147673DCD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F8BC72A4-96FB-C7D4-E08A-403B538439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6E1F8-4B13-A24E-8753-AAD3F94175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9851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A18A1895-5F18-7A5C-C62C-17336E13842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36FBE85-41E6-9F81-8ED2-A47F5CF2346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265A5280-A2EB-D24B-0DE5-1A4BE3FDBB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847494E-81CE-2743-8B32-5FD01BBEBB2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371794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F0B41969-FBDA-18B9-CB07-1667D46C5FC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42B23BB9-5BD1-0D28-298E-575A722E3D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6EF5CA91-915D-4AA9-568F-6A95449022A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3F5AB0-BFAE-AF49-9604-FAD600094BD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35789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514897"/>
            <a:ext cx="3868340" cy="645898"/>
          </a:xfrm>
        </p:spPr>
        <p:txBody>
          <a:bodyPr anchor="b"/>
          <a:lstStyle>
            <a:lvl1pPr marL="0" indent="0" algn="ctr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248402"/>
            <a:ext cx="3868340" cy="526190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514897"/>
            <a:ext cx="3887391" cy="645898"/>
          </a:xfrm>
        </p:spPr>
        <p:txBody>
          <a:bodyPr anchor="b"/>
          <a:lstStyle>
            <a:lvl1pPr marL="0" indent="0" algn="ctr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248402"/>
            <a:ext cx="3887391" cy="526190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1011D6E-2CED-4BBC-A66B-38F7B0BDDCF4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018908" y="43891"/>
            <a:ext cx="7886700" cy="4535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827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19FE8FD1-5587-7E7B-1E48-DDD7F531C79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32" name="Rectangle 3">
              <a:extLst>
                <a:ext uri="{FF2B5EF4-FFF2-40B4-BE49-F238E27FC236}">
                  <a16:creationId xmlns:a16="http://schemas.microsoft.com/office/drawing/2014/main" id="{0C86B909-AAB8-0E2B-B114-EC7531EB7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3" name="Rectangle 4">
              <a:extLst>
                <a:ext uri="{FF2B5EF4-FFF2-40B4-BE49-F238E27FC236}">
                  <a16:creationId xmlns:a16="http://schemas.microsoft.com/office/drawing/2014/main" id="{D38D5B9C-21E6-D124-5EC0-283061E126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AA89B7B8-AB35-A44C-9D0F-2584B60542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5" name="Rectangle 6">
              <a:extLst>
                <a:ext uri="{FF2B5EF4-FFF2-40B4-BE49-F238E27FC236}">
                  <a16:creationId xmlns:a16="http://schemas.microsoft.com/office/drawing/2014/main" id="{3FEFD92B-2400-99CB-7764-F725BC5EEF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6" name="Rectangle 7">
              <a:extLst>
                <a:ext uri="{FF2B5EF4-FFF2-40B4-BE49-F238E27FC236}">
                  <a16:creationId xmlns:a16="http://schemas.microsoft.com/office/drawing/2014/main" id="{A68A88D6-C3C6-DB77-26B9-B4B6FFB5D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7" name="Rectangle 8">
              <a:extLst>
                <a:ext uri="{FF2B5EF4-FFF2-40B4-BE49-F238E27FC236}">
                  <a16:creationId xmlns:a16="http://schemas.microsoft.com/office/drawing/2014/main" id="{32BFEE48-968E-AEE9-B701-BE4F90632E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599422F0-1691-FC47-AEE1-65B955DC0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9" name="Rectangle 10">
              <a:extLst>
                <a:ext uri="{FF2B5EF4-FFF2-40B4-BE49-F238E27FC236}">
                  <a16:creationId xmlns:a16="http://schemas.microsoft.com/office/drawing/2014/main" id="{88963B2C-0411-273B-A2E3-F04611FCC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C51EBAD6-A8BF-5345-B402-F2EAD91AD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41" name="Rectangle 12">
              <a:extLst>
                <a:ext uri="{FF2B5EF4-FFF2-40B4-BE49-F238E27FC236}">
                  <a16:creationId xmlns:a16="http://schemas.microsoft.com/office/drawing/2014/main" id="{899B00AF-0249-5DF9-62D5-AE7DA88F248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2" name="Rectangle 13">
              <a:extLst>
                <a:ext uri="{FF2B5EF4-FFF2-40B4-BE49-F238E27FC236}">
                  <a16:creationId xmlns:a16="http://schemas.microsoft.com/office/drawing/2014/main" id="{99567EA2-ADB2-68CF-C0AC-108A996CE81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3" name="Line 14">
              <a:extLst>
                <a:ext uri="{FF2B5EF4-FFF2-40B4-BE49-F238E27FC236}">
                  <a16:creationId xmlns:a16="http://schemas.microsoft.com/office/drawing/2014/main" id="{98732968-C5BE-FE0E-7C67-3E264E2DDA10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4" name="Line 15">
              <a:extLst>
                <a:ext uri="{FF2B5EF4-FFF2-40B4-BE49-F238E27FC236}">
                  <a16:creationId xmlns:a16="http://schemas.microsoft.com/office/drawing/2014/main" id="{3208CCCA-A819-97D5-C55F-D99D05D9FE2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5" name="Line 16">
              <a:extLst>
                <a:ext uri="{FF2B5EF4-FFF2-40B4-BE49-F238E27FC236}">
                  <a16:creationId xmlns:a16="http://schemas.microsoft.com/office/drawing/2014/main" id="{266181DF-26F5-D479-5153-EEBE334D753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6" name="Line 17">
              <a:extLst>
                <a:ext uri="{FF2B5EF4-FFF2-40B4-BE49-F238E27FC236}">
                  <a16:creationId xmlns:a16="http://schemas.microsoft.com/office/drawing/2014/main" id="{61B38136-5B81-2869-ABBF-EF6F7E3C4C2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7" name="Line 18">
              <a:extLst>
                <a:ext uri="{FF2B5EF4-FFF2-40B4-BE49-F238E27FC236}">
                  <a16:creationId xmlns:a16="http://schemas.microsoft.com/office/drawing/2014/main" id="{20D7A044-976D-FE2D-9C07-99C5EB51952F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8" name="Line 19">
              <a:extLst>
                <a:ext uri="{FF2B5EF4-FFF2-40B4-BE49-F238E27FC236}">
                  <a16:creationId xmlns:a16="http://schemas.microsoft.com/office/drawing/2014/main" id="{3795ED04-8B37-6F28-1FF0-7A09E63BD24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9" name="Line 20">
              <a:extLst>
                <a:ext uri="{FF2B5EF4-FFF2-40B4-BE49-F238E27FC236}">
                  <a16:creationId xmlns:a16="http://schemas.microsoft.com/office/drawing/2014/main" id="{B0E9B98F-9957-3D25-E909-B9E4622A61A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0" name="Line 21">
              <a:extLst>
                <a:ext uri="{FF2B5EF4-FFF2-40B4-BE49-F238E27FC236}">
                  <a16:creationId xmlns:a16="http://schemas.microsoft.com/office/drawing/2014/main" id="{2DD35AA9-B1DD-9A55-9A2F-C4F282ED76F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1" name="Line 22">
              <a:extLst>
                <a:ext uri="{FF2B5EF4-FFF2-40B4-BE49-F238E27FC236}">
                  <a16:creationId xmlns:a16="http://schemas.microsoft.com/office/drawing/2014/main" id="{034FB09B-0160-1F33-C05F-57486E91122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2" name="Line 23">
              <a:extLst>
                <a:ext uri="{FF2B5EF4-FFF2-40B4-BE49-F238E27FC236}">
                  <a16:creationId xmlns:a16="http://schemas.microsoft.com/office/drawing/2014/main" id="{1A692FB7-789B-A774-69F0-9E0F69957BB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3" name="Line 24">
              <a:extLst>
                <a:ext uri="{FF2B5EF4-FFF2-40B4-BE49-F238E27FC236}">
                  <a16:creationId xmlns:a16="http://schemas.microsoft.com/office/drawing/2014/main" id="{A95D373C-3064-356F-8E8D-B5B48A673C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4" name="Line 25">
              <a:extLst>
                <a:ext uri="{FF2B5EF4-FFF2-40B4-BE49-F238E27FC236}">
                  <a16:creationId xmlns:a16="http://schemas.microsoft.com/office/drawing/2014/main" id="{FDD161CD-3259-E95F-4344-C2B0A947161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5" name="Line 26">
              <a:extLst>
                <a:ext uri="{FF2B5EF4-FFF2-40B4-BE49-F238E27FC236}">
                  <a16:creationId xmlns:a16="http://schemas.microsoft.com/office/drawing/2014/main" id="{55DED8A9-E98C-8657-8AA2-BE447A9A2F6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E116673F-F2CC-BC25-1D3A-09DC4A3D4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B44242C1-FD31-3238-7E37-D5652D1BD7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1433B99E-1EF2-9D41-8513-D30F8677F5C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FDA33DF2-F76E-2740-A893-76143336166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00AEE8D5-84BC-EC49-8A92-2CAF9C31747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400"/>
            </a:lvl1pPr>
          </a:lstStyle>
          <a:p>
            <a:fld id="{A0D725B3-BD67-C047-B423-6DBA3196ACE5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8" r:id="rId1"/>
    <p:sldLayoutId id="2147484007" r:id="rId2"/>
    <p:sldLayoutId id="2147484008" r:id="rId3"/>
    <p:sldLayoutId id="2147484009" r:id="rId4"/>
    <p:sldLayoutId id="2147484010" r:id="rId5"/>
    <p:sldLayoutId id="2147484011" r:id="rId6"/>
    <p:sldLayoutId id="2147484012" r:id="rId7"/>
    <p:sldLayoutId id="2147484013" r:id="rId8"/>
    <p:sldLayoutId id="2147484014" r:id="rId9"/>
    <p:sldLayoutId id="2147484015" r:id="rId10"/>
    <p:sldLayoutId id="2147484016" r:id="rId11"/>
    <p:sldLayoutId id="2147484017" r:id="rId12"/>
    <p:sldLayoutId id="2147484019" r:id="rId13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F91F07C4-2A4E-49D1-1F39-C188B7FF8A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600" b="1"/>
              <a:t>Lecture 3 :</a:t>
            </a:r>
            <a:br>
              <a:rPr lang="en-US" altLang="ko-KR" sz="3600" b="1"/>
            </a:br>
            <a:r>
              <a:rPr lang="en-US" altLang="ko-KR" sz="3600" b="1"/>
              <a:t>Performance of Parallel Programs</a:t>
            </a:r>
          </a:p>
        </p:txBody>
      </p:sp>
      <p:sp>
        <p:nvSpPr>
          <p:cNvPr id="15362" name="TextBox 2">
            <a:extLst>
              <a:ext uri="{FF2B5EF4-FFF2-40B4-BE49-F238E27FC236}">
                <a16:creationId xmlns:a16="http://schemas.microsoft.com/office/drawing/2014/main" id="{53527E47-AD35-A644-B699-E8C8E26431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6207125"/>
            <a:ext cx="50133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/>
              <a:t>Courtesy : MIT Prof. </a:t>
            </a:r>
            <a:r>
              <a:rPr lang="en-US" altLang="ko-KR" sz="1200" dirty="0" err="1"/>
              <a:t>Amarasinghe</a:t>
            </a:r>
            <a:r>
              <a:rPr lang="en-US" altLang="ko-KR" sz="1200" dirty="0"/>
              <a:t> and Dr. Rabbah’s course note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/>
              <a:t>               Introduction to Parallel Computing (Blaise Barney, LLNL)</a:t>
            </a:r>
            <a:endParaRPr lang="ko-KR" altLang="en-US" sz="12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제목 1">
            <a:extLst>
              <a:ext uri="{FF2B5EF4-FFF2-40B4-BE49-F238E27FC236}">
                <a16:creationId xmlns:a16="http://schemas.microsoft.com/office/drawing/2014/main" id="{9C64F516-963D-C79B-694A-B46DFCF2DB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b="1" u="sng"/>
              <a:t>Flynn’s Taxonomy on Parallel Computer</a:t>
            </a:r>
            <a:endParaRPr lang="ko-KR" altLang="en-US" sz="2800" b="1" u="sng"/>
          </a:p>
        </p:txBody>
      </p:sp>
      <p:sp>
        <p:nvSpPr>
          <p:cNvPr id="16386" name="내용 개체 틀 2">
            <a:extLst>
              <a:ext uri="{FF2B5EF4-FFF2-40B4-BE49-F238E27FC236}">
                <a16:creationId xmlns:a16="http://schemas.microsoft.com/office/drawing/2014/main" id="{86832308-4702-4CBD-9709-2700390A8C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Classified with two independent dimension</a:t>
            </a:r>
          </a:p>
          <a:p>
            <a:pPr lvl="1"/>
            <a:r>
              <a:rPr lang="en-US" altLang="ko-KR"/>
              <a:t>Instruction stream</a:t>
            </a:r>
          </a:p>
          <a:p>
            <a:pPr lvl="1"/>
            <a:r>
              <a:rPr lang="en-US" altLang="ko-KR"/>
              <a:t>Data stream</a:t>
            </a:r>
            <a:endParaRPr lang="ko-KR" altLang="en-US"/>
          </a:p>
        </p:txBody>
      </p:sp>
      <p:pic>
        <p:nvPicPr>
          <p:cNvPr id="16387" name="Picture 2">
            <a:extLst>
              <a:ext uri="{FF2B5EF4-FFF2-40B4-BE49-F238E27FC236}">
                <a16:creationId xmlns:a16="http://schemas.microsoft.com/office/drawing/2014/main" id="{9106BFE7-ABA0-F28A-684C-0AE367F71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3213100"/>
            <a:ext cx="4667250" cy="202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제목 1">
            <a:extLst>
              <a:ext uri="{FF2B5EF4-FFF2-40B4-BE49-F238E27FC236}">
                <a16:creationId xmlns:a16="http://schemas.microsoft.com/office/drawing/2014/main" id="{C2CA5F79-48DB-E7F2-4F7C-402F5126FD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SISD (Single Instruction, Single Data)</a:t>
            </a:r>
            <a:endParaRPr lang="ko-KR" altLang="en-US" sz="3200" b="1" u="sng"/>
          </a:p>
        </p:txBody>
      </p:sp>
      <p:sp>
        <p:nvSpPr>
          <p:cNvPr id="17410" name="내용 개체 틀 2">
            <a:extLst>
              <a:ext uri="{FF2B5EF4-FFF2-40B4-BE49-F238E27FC236}">
                <a16:creationId xmlns:a16="http://schemas.microsoft.com/office/drawing/2014/main" id="{F583732A-C1F4-4C11-2C50-C613E21E88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6491288" cy="4525963"/>
          </a:xfrm>
        </p:spPr>
        <p:txBody>
          <a:bodyPr/>
          <a:lstStyle/>
          <a:p>
            <a:r>
              <a:rPr lang="en-US" altLang="ko-KR" sz="2400"/>
              <a:t>A serial (non-parallel) computer</a:t>
            </a:r>
          </a:p>
          <a:p>
            <a:r>
              <a:rPr lang="en-US" altLang="ko-KR" sz="2400"/>
              <a:t>This is the oldest and even today, the most common type of computer</a:t>
            </a:r>
            <a:endParaRPr lang="ko-KR" altLang="en-US" sz="2400"/>
          </a:p>
        </p:txBody>
      </p:sp>
      <p:pic>
        <p:nvPicPr>
          <p:cNvPr id="17411" name="Picture 2" descr="SISD">
            <a:extLst>
              <a:ext uri="{FF2B5EF4-FFF2-40B4-BE49-F238E27FC236}">
                <a16:creationId xmlns:a16="http://schemas.microsoft.com/office/drawing/2014/main" id="{0AE8140F-95A2-824C-14C4-BA3CAC8CE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1484313"/>
            <a:ext cx="1790700" cy="213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제목 1">
            <a:extLst>
              <a:ext uri="{FF2B5EF4-FFF2-40B4-BE49-F238E27FC236}">
                <a16:creationId xmlns:a16="http://schemas.microsoft.com/office/drawing/2014/main" id="{D2302240-BFE6-E7B9-0F79-EEED9089A7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SIMD (Single Instruction, Multiple Data)</a:t>
            </a:r>
            <a:endParaRPr lang="ko-KR" altLang="en-US" sz="3200" b="1" u="sng"/>
          </a:p>
        </p:txBody>
      </p:sp>
      <p:sp>
        <p:nvSpPr>
          <p:cNvPr id="18434" name="내용 개체 틀 2">
            <a:extLst>
              <a:ext uri="{FF2B5EF4-FFF2-40B4-BE49-F238E27FC236}">
                <a16:creationId xmlns:a16="http://schemas.microsoft.com/office/drawing/2014/main" id="{8074AD52-54C8-564C-17FD-55D22EAB15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525962"/>
          </a:xfrm>
        </p:spPr>
        <p:txBody>
          <a:bodyPr/>
          <a:lstStyle/>
          <a:p>
            <a:r>
              <a:rPr lang="en-US" altLang="ko-KR" sz="2400"/>
              <a:t>All processing units execute the same instruction at any given clock cycle</a:t>
            </a:r>
          </a:p>
          <a:p>
            <a:r>
              <a:rPr lang="en-US" altLang="ko-KR" sz="2400"/>
              <a:t>Best suited for specialized problems characterized by a high degree of regularity, such as graphics/image processing.</a:t>
            </a:r>
            <a:endParaRPr lang="ko-KR" altLang="en-US" sz="2400"/>
          </a:p>
        </p:txBody>
      </p:sp>
      <p:pic>
        <p:nvPicPr>
          <p:cNvPr id="18435" name="Picture 4" descr="SIMD">
            <a:extLst>
              <a:ext uri="{FF2B5EF4-FFF2-40B4-BE49-F238E27FC236}">
                <a16:creationId xmlns:a16="http://schemas.microsoft.com/office/drawing/2014/main" id="{6B33903A-8AF9-9334-FE2B-B026B9310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088" y="3479800"/>
            <a:ext cx="3384550" cy="189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6" name="Picture 6" descr="https://computing.llnl.gov/tutorials/parallel_comp/images/simd2.gif">
            <a:extLst>
              <a:ext uri="{FF2B5EF4-FFF2-40B4-BE49-F238E27FC236}">
                <a16:creationId xmlns:a16="http://schemas.microsoft.com/office/drawing/2014/main" id="{6C517DA5-133C-C8BE-22E3-E2E5474EE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113" y="5445125"/>
            <a:ext cx="3024187" cy="1111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7" name="Picture 2" descr="https://computing.llnl.gov/tutorials/parallel_comp/images/cellProcessor.200pix.jpg">
            <a:extLst>
              <a:ext uri="{FF2B5EF4-FFF2-40B4-BE49-F238E27FC236}">
                <a16:creationId xmlns:a16="http://schemas.microsoft.com/office/drawing/2014/main" id="{21A0445E-30B3-D703-BBE7-27AE730F9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263" y="3429000"/>
            <a:ext cx="170497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8" name="TextBox 7">
            <a:extLst>
              <a:ext uri="{FF2B5EF4-FFF2-40B4-BE49-F238E27FC236}">
                <a16:creationId xmlns:a16="http://schemas.microsoft.com/office/drawing/2014/main" id="{32C9C602-FF35-9385-9DEA-F94C5463C7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5300663"/>
            <a:ext cx="9620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/>
              <a:t>&lt;GPU&gt;</a:t>
            </a:r>
            <a:endParaRPr lang="ko-KR" altLang="en-US"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제목 1">
            <a:extLst>
              <a:ext uri="{FF2B5EF4-FFF2-40B4-BE49-F238E27FC236}">
                <a16:creationId xmlns:a16="http://schemas.microsoft.com/office/drawing/2014/main" id="{6C195FDA-94F8-66CE-C0D7-34F9E27EA6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MISD (Multiple Instruction, Single Data)</a:t>
            </a:r>
            <a:endParaRPr lang="ko-KR" altLang="en-US" sz="2800"/>
          </a:p>
        </p:txBody>
      </p:sp>
      <p:sp>
        <p:nvSpPr>
          <p:cNvPr id="19458" name="내용 개체 틀 2">
            <a:extLst>
              <a:ext uri="{FF2B5EF4-FFF2-40B4-BE49-F238E27FC236}">
                <a16:creationId xmlns:a16="http://schemas.microsoft.com/office/drawing/2014/main" id="{B75DACBD-E0ED-71FA-203E-9F0DB58188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Each processing unit operates on the data independently via separate instruction streams.</a:t>
            </a:r>
          </a:p>
          <a:p>
            <a:r>
              <a:rPr lang="en-US" altLang="ko-KR" sz="2400"/>
              <a:t>Few actual examples of this class of parallel computer have ever existed.</a:t>
            </a:r>
            <a:endParaRPr lang="ko-KR" altLang="en-US" sz="2400"/>
          </a:p>
        </p:txBody>
      </p:sp>
      <p:pic>
        <p:nvPicPr>
          <p:cNvPr id="19459" name="Picture 2" descr="MISD">
            <a:extLst>
              <a:ext uri="{FF2B5EF4-FFF2-40B4-BE49-F238E27FC236}">
                <a16:creationId xmlns:a16="http://schemas.microsoft.com/office/drawing/2014/main" id="{8716CDD2-853F-300A-F04C-422314AE6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538" y="3789363"/>
            <a:ext cx="4171950" cy="197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제목 1">
            <a:extLst>
              <a:ext uri="{FF2B5EF4-FFF2-40B4-BE49-F238E27FC236}">
                <a16:creationId xmlns:a16="http://schemas.microsoft.com/office/drawing/2014/main" id="{9E4858A0-0DF7-0116-438F-82C4CB74CC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90550" y="274638"/>
            <a:ext cx="8229600" cy="1143000"/>
          </a:xfrm>
        </p:spPr>
        <p:txBody>
          <a:bodyPr/>
          <a:lstStyle/>
          <a:p>
            <a:r>
              <a:rPr lang="en-US" altLang="ko-KR" sz="3200" b="1" u="sng"/>
              <a:t>MIMD (Multiple Instruction, Multiple Data)</a:t>
            </a:r>
            <a:endParaRPr lang="ko-KR" altLang="en-US" sz="2800"/>
          </a:p>
        </p:txBody>
      </p:sp>
      <p:sp>
        <p:nvSpPr>
          <p:cNvPr id="20482" name="내용 개체 틀 2">
            <a:extLst>
              <a:ext uri="{FF2B5EF4-FFF2-40B4-BE49-F238E27FC236}">
                <a16:creationId xmlns:a16="http://schemas.microsoft.com/office/drawing/2014/main" id="{9F031697-9D8E-8CFF-3B9B-E623184A1A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Every processor may be executing a different instruction stream</a:t>
            </a:r>
          </a:p>
          <a:p>
            <a:r>
              <a:rPr lang="en-US" altLang="ko-KR" sz="2400"/>
              <a:t>Every processor may be working with a different data stream</a:t>
            </a:r>
          </a:p>
          <a:p>
            <a:r>
              <a:rPr lang="en-US" altLang="ko-KR" sz="2400"/>
              <a:t>the most common type of parallel computer</a:t>
            </a:r>
          </a:p>
          <a:p>
            <a:r>
              <a:rPr lang="en-US" altLang="ko-KR" sz="2400"/>
              <a:t>Most modern supercomputers fall into this category</a:t>
            </a:r>
            <a:endParaRPr lang="ko-KR" altLang="en-US" sz="2400"/>
          </a:p>
        </p:txBody>
      </p:sp>
      <p:pic>
        <p:nvPicPr>
          <p:cNvPr id="20483" name="Picture 4" descr="MIMD">
            <a:extLst>
              <a:ext uri="{FF2B5EF4-FFF2-40B4-BE49-F238E27FC236}">
                <a16:creationId xmlns:a16="http://schemas.microsoft.com/office/drawing/2014/main" id="{4CCCB2F6-7A2A-5603-9601-89C762EA0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4292600"/>
            <a:ext cx="417195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84" name="Picture 2" descr="https://computing.llnl.gov/tutorials/parallel_comp/images/ibmPower5Cluster.200pix.jpg">
            <a:extLst>
              <a:ext uri="{FF2B5EF4-FFF2-40B4-BE49-F238E27FC236}">
                <a16:creationId xmlns:a16="http://schemas.microsoft.com/office/drawing/2014/main" id="{C5E9EA7D-94BF-E171-1ABC-FA334B54A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163" y="4437063"/>
            <a:ext cx="286702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5" name="TextBox 6">
            <a:extLst>
              <a:ext uri="{FF2B5EF4-FFF2-40B4-BE49-F238E27FC236}">
                <a16:creationId xmlns:a16="http://schemas.microsoft.com/office/drawing/2014/main" id="{071E9E70-F3D1-E0C4-984D-24228D430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0425" y="6381750"/>
            <a:ext cx="19113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/>
              <a:t>&lt; IBM Power 5&gt;</a:t>
            </a:r>
            <a:endParaRPr lang="ko-KR" altLang="en-US"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1CC9E-128E-53FC-E3AB-68D172EBE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ore-KR" b="1" u="sng" dirty="0"/>
              <a:t>Parallel Program Models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F64174-29ED-7C2E-AB05-97BFD1407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SPMD (Single Program Multiple Data)</a:t>
            </a:r>
          </a:p>
          <a:p>
            <a:pPr lvl="1"/>
            <a:r>
              <a:rPr lang="en-US" altLang="ko-Kore-KR" sz="2400" dirty="0"/>
              <a:t>All tasks execute their copy of </a:t>
            </a:r>
          </a:p>
          <a:p>
            <a:pPr marL="457200" lvl="1" indent="0">
              <a:buNone/>
            </a:pPr>
            <a:r>
              <a:rPr lang="en-US" altLang="ko-Kore-KR" sz="2400" dirty="0"/>
              <a:t>  the same program simultaneously</a:t>
            </a:r>
          </a:p>
          <a:p>
            <a:pPr lvl="1"/>
            <a:r>
              <a:rPr lang="en-US" altLang="ko-Kore-KR" sz="2400" dirty="0"/>
              <a:t>All tasks may use different data</a:t>
            </a:r>
          </a:p>
          <a:p>
            <a:endParaRPr lang="en-US" altLang="ko-Kore-KR" dirty="0"/>
          </a:p>
          <a:p>
            <a:r>
              <a:rPr kumimoji="1" lang="en-US" altLang="ko-Kore-KR" dirty="0"/>
              <a:t>MPMD (Multiple Program Multiple Data)</a:t>
            </a:r>
          </a:p>
          <a:p>
            <a:pPr lvl="1"/>
            <a:r>
              <a:rPr lang="en-US" altLang="ko-Kore-KR" sz="2400" dirty="0"/>
              <a:t>Tasks may execute different </a:t>
            </a:r>
          </a:p>
          <a:p>
            <a:pPr marL="457200" lvl="1" indent="0">
              <a:buNone/>
            </a:pPr>
            <a:r>
              <a:rPr lang="en-US" altLang="ko-Kore-KR" sz="2400" dirty="0"/>
              <a:t>  programs simultaneously</a:t>
            </a:r>
          </a:p>
          <a:p>
            <a:pPr lvl="1"/>
            <a:r>
              <a:rPr kumimoji="1" lang="en-US" altLang="ko-Kore-KR" sz="2400" dirty="0"/>
              <a:t>All tasks may use different data</a:t>
            </a:r>
            <a:endParaRPr kumimoji="1" lang="ko-Kore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C78114-D6F4-618A-ADD3-24C1FC8D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750" y="2143850"/>
            <a:ext cx="2900250" cy="120217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F2B1407-9BE4-0292-1049-6D4AC7841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750" y="4560715"/>
            <a:ext cx="2900250" cy="1202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72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629842" y="838886"/>
            <a:ext cx="3868340" cy="645898"/>
          </a:xfrm>
        </p:spPr>
        <p:txBody>
          <a:bodyPr>
            <a:noAutofit/>
          </a:bodyPr>
          <a:lstStyle/>
          <a:p>
            <a:pPr algn="ctr"/>
            <a:r>
              <a:rPr lang="en-US" u="sng" dirty="0"/>
              <a:t>Task Parallelism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479461"/>
            <a:ext cx="3868340" cy="5261907"/>
          </a:xfrm>
        </p:spPr>
        <p:txBody>
          <a:bodyPr>
            <a:noAutofit/>
          </a:bodyPr>
          <a:lstStyle/>
          <a:p>
            <a:r>
              <a:rPr lang="en-US" dirty="0"/>
              <a:t>Different operations performed on same or different data</a:t>
            </a:r>
          </a:p>
          <a:p>
            <a:r>
              <a:rPr lang="en-US" dirty="0"/>
              <a:t>Usually a modest number of tasks unleashing a modest amount of parallelism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836712"/>
            <a:ext cx="3887391" cy="645898"/>
          </a:xfrm>
        </p:spPr>
        <p:txBody>
          <a:bodyPr/>
          <a:lstStyle/>
          <a:p>
            <a:pPr algn="ctr"/>
            <a:r>
              <a:rPr lang="en-US" u="sng" dirty="0"/>
              <a:t>Data Parallelism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484784"/>
            <a:ext cx="3887391" cy="5261907"/>
          </a:xfrm>
        </p:spPr>
        <p:txBody>
          <a:bodyPr>
            <a:noAutofit/>
          </a:bodyPr>
          <a:lstStyle/>
          <a:p>
            <a:r>
              <a:rPr lang="en-US" dirty="0"/>
              <a:t>Same operations performed on different data</a:t>
            </a:r>
          </a:p>
          <a:p>
            <a:r>
              <a:rPr lang="en-US" dirty="0"/>
              <a:t>Potentially massive amounts of data unleashing massive amounts of parallelism</a:t>
            </a:r>
          </a:p>
          <a:p>
            <a:pPr lvl="1"/>
            <a:r>
              <a:rPr lang="en-US" dirty="0"/>
              <a:t>Most suitable for GPUs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>
          <a:xfrm>
            <a:off x="827584" y="455176"/>
            <a:ext cx="7886700" cy="453544"/>
          </a:xfrm>
        </p:spPr>
        <p:txBody>
          <a:bodyPr/>
          <a:lstStyle/>
          <a:p>
            <a:r>
              <a:rPr lang="en-US" sz="3200" b="1" u="sng" dirty="0">
                <a:solidFill>
                  <a:schemeClr val="tx1"/>
                </a:solidFill>
              </a:rPr>
              <a:t>Types of Parallelism</a:t>
            </a:r>
          </a:p>
        </p:txBody>
      </p:sp>
      <p:grpSp>
        <p:nvGrpSpPr>
          <p:cNvPr id="73" name="Group 72"/>
          <p:cNvGrpSpPr/>
          <p:nvPr/>
        </p:nvGrpSpPr>
        <p:grpSpPr>
          <a:xfrm>
            <a:off x="1018908" y="3541834"/>
            <a:ext cx="2616988" cy="1787931"/>
            <a:chOff x="1018908" y="3541834"/>
            <a:chExt cx="2616988" cy="1787931"/>
          </a:xfrm>
        </p:grpSpPr>
        <p:sp>
          <p:nvSpPr>
            <p:cNvPr id="2" name="Oval 1"/>
            <p:cNvSpPr>
              <a:spLocks noChangeAspect="1"/>
            </p:cNvSpPr>
            <p:nvPr/>
          </p:nvSpPr>
          <p:spPr>
            <a:xfrm>
              <a:off x="1018908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9" name="Regular Pentagon 8"/>
            <p:cNvSpPr>
              <a:spLocks noChangeAspect="1"/>
            </p:cNvSpPr>
            <p:nvPr/>
          </p:nvSpPr>
          <p:spPr>
            <a:xfrm>
              <a:off x="2911546" y="4689685"/>
              <a:ext cx="724350" cy="640080"/>
            </a:xfrm>
            <a:prstGeom prst="pentagon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C</a:t>
              </a:r>
            </a:p>
          </p:txBody>
        </p:sp>
        <p:sp>
          <p:nvSpPr>
            <p:cNvPr id="10" name="Plaque 9"/>
            <p:cNvSpPr>
              <a:spLocks noChangeAspect="1"/>
            </p:cNvSpPr>
            <p:nvPr/>
          </p:nvSpPr>
          <p:spPr>
            <a:xfrm>
              <a:off x="1948416" y="4689685"/>
              <a:ext cx="640080" cy="640080"/>
            </a:xfrm>
            <a:prstGeom prst="plaque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B</a:t>
              </a:r>
            </a:p>
          </p:txBody>
        </p:sp>
        <p:sp>
          <p:nvSpPr>
            <p:cNvPr id="11" name="Rectangle 10"/>
            <p:cNvSpPr>
              <a:spLocks noChangeAspect="1"/>
            </p:cNvSpPr>
            <p:nvPr/>
          </p:nvSpPr>
          <p:spPr>
            <a:xfrm>
              <a:off x="1483662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1</a:t>
              </a:r>
            </a:p>
          </p:txBody>
        </p:sp>
        <p:sp>
          <p:nvSpPr>
            <p:cNvPr id="12" name="Rectangle 11"/>
            <p:cNvSpPr>
              <a:spLocks noChangeAspect="1"/>
            </p:cNvSpPr>
            <p:nvPr/>
          </p:nvSpPr>
          <p:spPr>
            <a:xfrm>
              <a:off x="2927548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2</a:t>
              </a:r>
            </a:p>
          </p:txBody>
        </p:sp>
        <p:cxnSp>
          <p:nvCxnSpPr>
            <p:cNvPr id="14" name="Straight Arrow Connector 13"/>
            <p:cNvCxnSpPr>
              <a:stCxn id="11" idx="2"/>
              <a:endCxn id="2" idx="0"/>
            </p:cNvCxnSpPr>
            <p:nvPr/>
          </p:nvCxnSpPr>
          <p:spPr>
            <a:xfrm flipH="1">
              <a:off x="1338948" y="4181914"/>
              <a:ext cx="464754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1" idx="2"/>
              <a:endCxn id="10" idx="0"/>
            </p:cNvCxnSpPr>
            <p:nvPr/>
          </p:nvCxnSpPr>
          <p:spPr>
            <a:xfrm>
              <a:off x="1803702" y="4181914"/>
              <a:ext cx="464754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cxnSpLocks/>
              <a:stCxn id="12" idx="2"/>
              <a:endCxn id="9" idx="0"/>
            </p:cNvCxnSpPr>
            <p:nvPr/>
          </p:nvCxnSpPr>
          <p:spPr>
            <a:xfrm>
              <a:off x="3247588" y="4181914"/>
              <a:ext cx="26133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5" name="Group 74"/>
          <p:cNvGrpSpPr/>
          <p:nvPr/>
        </p:nvGrpSpPr>
        <p:grpSpPr>
          <a:xfrm>
            <a:off x="1293228" y="5571707"/>
            <a:ext cx="2000080" cy="731520"/>
            <a:chOff x="1293228" y="5571707"/>
            <a:chExt cx="2000080" cy="731520"/>
          </a:xfrm>
        </p:grpSpPr>
        <p:sp>
          <p:nvSpPr>
            <p:cNvPr id="22" name="Freeform 21"/>
            <p:cNvSpPr/>
            <p:nvPr/>
          </p:nvSpPr>
          <p:spPr>
            <a:xfrm>
              <a:off x="1293228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3" name="Freeform 22"/>
            <p:cNvSpPr/>
            <p:nvPr/>
          </p:nvSpPr>
          <p:spPr>
            <a:xfrm>
              <a:off x="2222736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4" name="Freeform 23"/>
            <p:cNvSpPr/>
            <p:nvPr/>
          </p:nvSpPr>
          <p:spPr>
            <a:xfrm>
              <a:off x="3201868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4787201" y="3541834"/>
            <a:ext cx="3462655" cy="1787931"/>
            <a:chOff x="4787201" y="3541834"/>
            <a:chExt cx="3462655" cy="1787931"/>
          </a:xfrm>
        </p:grpSpPr>
        <p:sp>
          <p:nvSpPr>
            <p:cNvPr id="27" name="Oval 26"/>
            <p:cNvSpPr>
              <a:spLocks noChangeAspect="1"/>
            </p:cNvSpPr>
            <p:nvPr/>
          </p:nvSpPr>
          <p:spPr>
            <a:xfrm>
              <a:off x="4787201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30" name="Rectangle 29"/>
            <p:cNvSpPr>
              <a:spLocks noChangeAspect="1"/>
            </p:cNvSpPr>
            <p:nvPr/>
          </p:nvSpPr>
          <p:spPr>
            <a:xfrm>
              <a:off x="4787201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1</a:t>
              </a:r>
            </a:p>
          </p:txBody>
        </p:sp>
        <p:cxnSp>
          <p:nvCxnSpPr>
            <p:cNvPr id="32" name="Straight Arrow Connector 31"/>
            <p:cNvCxnSpPr>
              <a:stCxn id="30" idx="2"/>
              <a:endCxn id="27" idx="0"/>
            </p:cNvCxnSpPr>
            <p:nvPr/>
          </p:nvCxnSpPr>
          <p:spPr>
            <a:xfrm>
              <a:off x="5107241" y="4181914"/>
              <a:ext cx="0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Oval 52"/>
            <p:cNvSpPr>
              <a:spLocks noChangeAspect="1"/>
            </p:cNvSpPr>
            <p:nvPr/>
          </p:nvSpPr>
          <p:spPr>
            <a:xfrm>
              <a:off x="5492845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54" name="Rectangle 53"/>
            <p:cNvSpPr>
              <a:spLocks noChangeAspect="1"/>
            </p:cNvSpPr>
            <p:nvPr/>
          </p:nvSpPr>
          <p:spPr>
            <a:xfrm>
              <a:off x="5492845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2</a:t>
              </a:r>
            </a:p>
          </p:txBody>
        </p:sp>
        <p:cxnSp>
          <p:nvCxnSpPr>
            <p:cNvPr id="55" name="Straight Arrow Connector 54"/>
            <p:cNvCxnSpPr>
              <a:stCxn id="54" idx="2"/>
              <a:endCxn id="53" idx="0"/>
            </p:cNvCxnSpPr>
            <p:nvPr/>
          </p:nvCxnSpPr>
          <p:spPr>
            <a:xfrm>
              <a:off x="5812885" y="4181914"/>
              <a:ext cx="0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Oval 57"/>
            <p:cNvSpPr>
              <a:spLocks noChangeAspect="1"/>
            </p:cNvSpPr>
            <p:nvPr/>
          </p:nvSpPr>
          <p:spPr>
            <a:xfrm>
              <a:off x="6198489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59" name="Rectangle 58"/>
            <p:cNvSpPr>
              <a:spLocks noChangeAspect="1"/>
            </p:cNvSpPr>
            <p:nvPr/>
          </p:nvSpPr>
          <p:spPr>
            <a:xfrm>
              <a:off x="6198489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3</a:t>
              </a:r>
            </a:p>
          </p:txBody>
        </p:sp>
        <p:cxnSp>
          <p:nvCxnSpPr>
            <p:cNvPr id="60" name="Straight Arrow Connector 59"/>
            <p:cNvCxnSpPr>
              <a:stCxn id="59" idx="2"/>
              <a:endCxn id="58" idx="0"/>
            </p:cNvCxnSpPr>
            <p:nvPr/>
          </p:nvCxnSpPr>
          <p:spPr>
            <a:xfrm>
              <a:off x="6518529" y="4181914"/>
              <a:ext cx="0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Oval 62"/>
            <p:cNvSpPr>
              <a:spLocks noChangeAspect="1"/>
            </p:cNvSpPr>
            <p:nvPr/>
          </p:nvSpPr>
          <p:spPr>
            <a:xfrm>
              <a:off x="6904133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64" name="Rectangle 63"/>
            <p:cNvSpPr>
              <a:spLocks noChangeAspect="1"/>
            </p:cNvSpPr>
            <p:nvPr/>
          </p:nvSpPr>
          <p:spPr>
            <a:xfrm>
              <a:off x="6904133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4</a:t>
              </a:r>
            </a:p>
          </p:txBody>
        </p:sp>
        <p:cxnSp>
          <p:nvCxnSpPr>
            <p:cNvPr id="65" name="Straight Arrow Connector 64"/>
            <p:cNvCxnSpPr>
              <a:stCxn id="64" idx="2"/>
              <a:endCxn id="63" idx="0"/>
            </p:cNvCxnSpPr>
            <p:nvPr/>
          </p:nvCxnSpPr>
          <p:spPr>
            <a:xfrm>
              <a:off x="7224173" y="4181914"/>
              <a:ext cx="0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Oval 67"/>
            <p:cNvSpPr>
              <a:spLocks noChangeAspect="1"/>
            </p:cNvSpPr>
            <p:nvPr/>
          </p:nvSpPr>
          <p:spPr>
            <a:xfrm>
              <a:off x="7609776" y="4689685"/>
              <a:ext cx="640080" cy="64008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Task A</a:t>
              </a:r>
            </a:p>
          </p:txBody>
        </p:sp>
        <p:sp>
          <p:nvSpPr>
            <p:cNvPr id="69" name="Rectangle 68"/>
            <p:cNvSpPr>
              <a:spLocks noChangeAspect="1"/>
            </p:cNvSpPr>
            <p:nvPr/>
          </p:nvSpPr>
          <p:spPr>
            <a:xfrm>
              <a:off x="7609776" y="3541834"/>
              <a:ext cx="640080" cy="64008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/>
                <a:t>Data 5</a:t>
              </a:r>
            </a:p>
          </p:txBody>
        </p:sp>
        <p:cxnSp>
          <p:nvCxnSpPr>
            <p:cNvPr id="70" name="Straight Arrow Connector 69"/>
            <p:cNvCxnSpPr>
              <a:stCxn id="69" idx="2"/>
              <a:endCxn id="68" idx="0"/>
            </p:cNvCxnSpPr>
            <p:nvPr/>
          </p:nvCxnSpPr>
          <p:spPr>
            <a:xfrm>
              <a:off x="7929816" y="4181914"/>
              <a:ext cx="0" cy="5077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6" name="Group 75"/>
          <p:cNvGrpSpPr/>
          <p:nvPr/>
        </p:nvGrpSpPr>
        <p:grpSpPr>
          <a:xfrm>
            <a:off x="5061521" y="5571707"/>
            <a:ext cx="2914015" cy="731520"/>
            <a:chOff x="5061521" y="5571707"/>
            <a:chExt cx="2914015" cy="731520"/>
          </a:xfrm>
        </p:grpSpPr>
        <p:sp>
          <p:nvSpPr>
            <p:cNvPr id="35" name="Freeform 34"/>
            <p:cNvSpPr/>
            <p:nvPr/>
          </p:nvSpPr>
          <p:spPr>
            <a:xfrm>
              <a:off x="5061521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56" name="Freeform 55"/>
            <p:cNvSpPr/>
            <p:nvPr/>
          </p:nvSpPr>
          <p:spPr>
            <a:xfrm>
              <a:off x="5767165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1" name="Freeform 60"/>
            <p:cNvSpPr/>
            <p:nvPr/>
          </p:nvSpPr>
          <p:spPr>
            <a:xfrm>
              <a:off x="6472809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6" name="Freeform 65"/>
            <p:cNvSpPr/>
            <p:nvPr/>
          </p:nvSpPr>
          <p:spPr>
            <a:xfrm>
              <a:off x="7178453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71" name="Freeform 70"/>
            <p:cNvSpPr/>
            <p:nvPr/>
          </p:nvSpPr>
          <p:spPr>
            <a:xfrm>
              <a:off x="7884096" y="5571707"/>
              <a:ext cx="91440" cy="731520"/>
            </a:xfrm>
            <a:custGeom>
              <a:avLst/>
              <a:gdLst>
                <a:gd name="connsiteX0" fmla="*/ 127000 w 196850"/>
                <a:gd name="connsiteY0" fmla="*/ 0 h 1625600"/>
                <a:gd name="connsiteX1" fmla="*/ 82550 w 196850"/>
                <a:gd name="connsiteY1" fmla="*/ 38100 h 1625600"/>
                <a:gd name="connsiteX2" fmla="*/ 50800 w 196850"/>
                <a:gd name="connsiteY2" fmla="*/ 76200 h 1625600"/>
                <a:gd name="connsiteX3" fmla="*/ 19050 w 196850"/>
                <a:gd name="connsiteY3" fmla="*/ 133350 h 1625600"/>
                <a:gd name="connsiteX4" fmla="*/ 0 w 196850"/>
                <a:gd name="connsiteY4" fmla="*/ 196850 h 1625600"/>
                <a:gd name="connsiteX5" fmla="*/ 25400 w 196850"/>
                <a:gd name="connsiteY5" fmla="*/ 323850 h 1625600"/>
                <a:gd name="connsiteX6" fmla="*/ 50800 w 196850"/>
                <a:gd name="connsiteY6" fmla="*/ 361950 h 1625600"/>
                <a:gd name="connsiteX7" fmla="*/ 82550 w 196850"/>
                <a:gd name="connsiteY7" fmla="*/ 393700 h 1625600"/>
                <a:gd name="connsiteX8" fmla="*/ 101600 w 196850"/>
                <a:gd name="connsiteY8" fmla="*/ 400050 h 1625600"/>
                <a:gd name="connsiteX9" fmla="*/ 165100 w 196850"/>
                <a:gd name="connsiteY9" fmla="*/ 476250 h 1625600"/>
                <a:gd name="connsiteX10" fmla="*/ 177800 w 196850"/>
                <a:gd name="connsiteY10" fmla="*/ 495300 h 1625600"/>
                <a:gd name="connsiteX11" fmla="*/ 184150 w 196850"/>
                <a:gd name="connsiteY11" fmla="*/ 514350 h 1625600"/>
                <a:gd name="connsiteX12" fmla="*/ 190500 w 196850"/>
                <a:gd name="connsiteY12" fmla="*/ 552450 h 1625600"/>
                <a:gd name="connsiteX13" fmla="*/ 196850 w 196850"/>
                <a:gd name="connsiteY13" fmla="*/ 577850 h 1625600"/>
                <a:gd name="connsiteX14" fmla="*/ 190500 w 196850"/>
                <a:gd name="connsiteY14" fmla="*/ 660400 h 1625600"/>
                <a:gd name="connsiteX15" fmla="*/ 158750 w 196850"/>
                <a:gd name="connsiteY15" fmla="*/ 717550 h 1625600"/>
                <a:gd name="connsiteX16" fmla="*/ 139700 w 196850"/>
                <a:gd name="connsiteY16" fmla="*/ 736600 h 1625600"/>
                <a:gd name="connsiteX17" fmla="*/ 107950 w 196850"/>
                <a:gd name="connsiteY17" fmla="*/ 768350 h 1625600"/>
                <a:gd name="connsiteX18" fmla="*/ 95250 w 196850"/>
                <a:gd name="connsiteY18" fmla="*/ 787400 h 1625600"/>
                <a:gd name="connsiteX19" fmla="*/ 88900 w 196850"/>
                <a:gd name="connsiteY19" fmla="*/ 806450 h 1625600"/>
                <a:gd name="connsiteX20" fmla="*/ 69850 w 196850"/>
                <a:gd name="connsiteY20" fmla="*/ 819150 h 1625600"/>
                <a:gd name="connsiteX21" fmla="*/ 44450 w 196850"/>
                <a:gd name="connsiteY21" fmla="*/ 863600 h 1625600"/>
                <a:gd name="connsiteX22" fmla="*/ 31750 w 196850"/>
                <a:gd name="connsiteY22" fmla="*/ 882650 h 1625600"/>
                <a:gd name="connsiteX23" fmla="*/ 19050 w 196850"/>
                <a:gd name="connsiteY23" fmla="*/ 927100 h 1625600"/>
                <a:gd name="connsiteX24" fmla="*/ 31750 w 196850"/>
                <a:gd name="connsiteY24" fmla="*/ 1060450 h 1625600"/>
                <a:gd name="connsiteX25" fmla="*/ 63500 w 196850"/>
                <a:gd name="connsiteY25" fmla="*/ 1092200 h 1625600"/>
                <a:gd name="connsiteX26" fmla="*/ 76200 w 196850"/>
                <a:gd name="connsiteY26" fmla="*/ 1111250 h 1625600"/>
                <a:gd name="connsiteX27" fmla="*/ 114300 w 196850"/>
                <a:gd name="connsiteY27" fmla="*/ 1136650 h 1625600"/>
                <a:gd name="connsiteX28" fmla="*/ 120650 w 196850"/>
                <a:gd name="connsiteY28" fmla="*/ 1155700 h 1625600"/>
                <a:gd name="connsiteX29" fmla="*/ 139700 w 196850"/>
                <a:gd name="connsiteY29" fmla="*/ 1168400 h 1625600"/>
                <a:gd name="connsiteX30" fmla="*/ 165100 w 196850"/>
                <a:gd name="connsiteY30" fmla="*/ 1187450 h 1625600"/>
                <a:gd name="connsiteX31" fmla="*/ 190500 w 196850"/>
                <a:gd name="connsiteY31" fmla="*/ 1225550 h 1625600"/>
                <a:gd name="connsiteX32" fmla="*/ 196850 w 196850"/>
                <a:gd name="connsiteY32" fmla="*/ 1250950 h 1625600"/>
                <a:gd name="connsiteX33" fmla="*/ 190500 w 196850"/>
                <a:gd name="connsiteY33" fmla="*/ 1339850 h 1625600"/>
                <a:gd name="connsiteX34" fmla="*/ 171450 w 196850"/>
                <a:gd name="connsiteY34" fmla="*/ 1403350 h 1625600"/>
                <a:gd name="connsiteX35" fmla="*/ 158750 w 196850"/>
                <a:gd name="connsiteY35" fmla="*/ 1422400 h 1625600"/>
                <a:gd name="connsiteX36" fmla="*/ 152400 w 196850"/>
                <a:gd name="connsiteY36" fmla="*/ 1441450 h 1625600"/>
                <a:gd name="connsiteX37" fmla="*/ 127000 w 196850"/>
                <a:gd name="connsiteY37" fmla="*/ 1498600 h 1625600"/>
                <a:gd name="connsiteX38" fmla="*/ 95250 w 196850"/>
                <a:gd name="connsiteY38" fmla="*/ 1555750 h 1625600"/>
                <a:gd name="connsiteX39" fmla="*/ 95250 w 196850"/>
                <a:gd name="connsiteY39" fmla="*/ 1625600 h 162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96850" h="1625600">
                  <a:moveTo>
                    <a:pt x="127000" y="0"/>
                  </a:moveTo>
                  <a:cubicBezTo>
                    <a:pt x="72901" y="32460"/>
                    <a:pt x="111869" y="2917"/>
                    <a:pt x="82550" y="38100"/>
                  </a:cubicBezTo>
                  <a:cubicBezTo>
                    <a:pt x="68308" y="55190"/>
                    <a:pt x="59809" y="55930"/>
                    <a:pt x="50800" y="76200"/>
                  </a:cubicBezTo>
                  <a:cubicBezTo>
                    <a:pt x="25936" y="132143"/>
                    <a:pt x="53821" y="98579"/>
                    <a:pt x="19050" y="133350"/>
                  </a:cubicBezTo>
                  <a:cubicBezTo>
                    <a:pt x="3590" y="179729"/>
                    <a:pt x="9597" y="158463"/>
                    <a:pt x="0" y="196850"/>
                  </a:cubicBezTo>
                  <a:cubicBezTo>
                    <a:pt x="14593" y="299002"/>
                    <a:pt x="3234" y="257352"/>
                    <a:pt x="25400" y="323850"/>
                  </a:cubicBezTo>
                  <a:cubicBezTo>
                    <a:pt x="30227" y="338330"/>
                    <a:pt x="42333" y="349250"/>
                    <a:pt x="50800" y="361950"/>
                  </a:cubicBezTo>
                  <a:cubicBezTo>
                    <a:pt x="63500" y="381000"/>
                    <a:pt x="61383" y="383117"/>
                    <a:pt x="82550" y="393700"/>
                  </a:cubicBezTo>
                  <a:cubicBezTo>
                    <a:pt x="88537" y="396693"/>
                    <a:pt x="95250" y="397933"/>
                    <a:pt x="101600" y="400050"/>
                  </a:cubicBezTo>
                  <a:cubicBezTo>
                    <a:pt x="150493" y="448943"/>
                    <a:pt x="129737" y="423206"/>
                    <a:pt x="165100" y="476250"/>
                  </a:cubicBezTo>
                  <a:cubicBezTo>
                    <a:pt x="169333" y="482600"/>
                    <a:pt x="175387" y="488060"/>
                    <a:pt x="177800" y="495300"/>
                  </a:cubicBezTo>
                  <a:cubicBezTo>
                    <a:pt x="179917" y="501650"/>
                    <a:pt x="182698" y="507816"/>
                    <a:pt x="184150" y="514350"/>
                  </a:cubicBezTo>
                  <a:cubicBezTo>
                    <a:pt x="186943" y="526919"/>
                    <a:pt x="187975" y="539825"/>
                    <a:pt x="190500" y="552450"/>
                  </a:cubicBezTo>
                  <a:cubicBezTo>
                    <a:pt x="192212" y="561008"/>
                    <a:pt x="194733" y="569383"/>
                    <a:pt x="196850" y="577850"/>
                  </a:cubicBezTo>
                  <a:cubicBezTo>
                    <a:pt x="194733" y="605367"/>
                    <a:pt x="193923" y="633015"/>
                    <a:pt x="190500" y="660400"/>
                  </a:cubicBezTo>
                  <a:cubicBezTo>
                    <a:pt x="188219" y="678652"/>
                    <a:pt x="167578" y="708722"/>
                    <a:pt x="158750" y="717550"/>
                  </a:cubicBezTo>
                  <a:cubicBezTo>
                    <a:pt x="152400" y="723900"/>
                    <a:pt x="145449" y="729701"/>
                    <a:pt x="139700" y="736600"/>
                  </a:cubicBezTo>
                  <a:cubicBezTo>
                    <a:pt x="113242" y="768350"/>
                    <a:pt x="142875" y="745067"/>
                    <a:pt x="107950" y="768350"/>
                  </a:cubicBezTo>
                  <a:cubicBezTo>
                    <a:pt x="103717" y="774700"/>
                    <a:pt x="98663" y="780574"/>
                    <a:pt x="95250" y="787400"/>
                  </a:cubicBezTo>
                  <a:cubicBezTo>
                    <a:pt x="92257" y="793387"/>
                    <a:pt x="93081" y="801223"/>
                    <a:pt x="88900" y="806450"/>
                  </a:cubicBezTo>
                  <a:cubicBezTo>
                    <a:pt x="84132" y="812409"/>
                    <a:pt x="76200" y="814917"/>
                    <a:pt x="69850" y="819150"/>
                  </a:cubicBezTo>
                  <a:cubicBezTo>
                    <a:pt x="38908" y="865562"/>
                    <a:pt x="76676" y="807204"/>
                    <a:pt x="44450" y="863600"/>
                  </a:cubicBezTo>
                  <a:cubicBezTo>
                    <a:pt x="40664" y="870226"/>
                    <a:pt x="35163" y="875824"/>
                    <a:pt x="31750" y="882650"/>
                  </a:cubicBezTo>
                  <a:cubicBezTo>
                    <a:pt x="27195" y="891760"/>
                    <a:pt x="21085" y="918962"/>
                    <a:pt x="19050" y="927100"/>
                  </a:cubicBezTo>
                  <a:cubicBezTo>
                    <a:pt x="19267" y="930136"/>
                    <a:pt x="24826" y="1037369"/>
                    <a:pt x="31750" y="1060450"/>
                  </a:cubicBezTo>
                  <a:cubicBezTo>
                    <a:pt x="37042" y="1078089"/>
                    <a:pt x="49742" y="1083028"/>
                    <a:pt x="63500" y="1092200"/>
                  </a:cubicBezTo>
                  <a:cubicBezTo>
                    <a:pt x="67733" y="1098550"/>
                    <a:pt x="70457" y="1106224"/>
                    <a:pt x="76200" y="1111250"/>
                  </a:cubicBezTo>
                  <a:cubicBezTo>
                    <a:pt x="87687" y="1121301"/>
                    <a:pt x="114300" y="1136650"/>
                    <a:pt x="114300" y="1136650"/>
                  </a:cubicBezTo>
                  <a:cubicBezTo>
                    <a:pt x="116417" y="1143000"/>
                    <a:pt x="116469" y="1150473"/>
                    <a:pt x="120650" y="1155700"/>
                  </a:cubicBezTo>
                  <a:cubicBezTo>
                    <a:pt x="125418" y="1161659"/>
                    <a:pt x="133490" y="1163964"/>
                    <a:pt x="139700" y="1168400"/>
                  </a:cubicBezTo>
                  <a:cubicBezTo>
                    <a:pt x="148312" y="1174551"/>
                    <a:pt x="158069" y="1179540"/>
                    <a:pt x="165100" y="1187450"/>
                  </a:cubicBezTo>
                  <a:cubicBezTo>
                    <a:pt x="175241" y="1198858"/>
                    <a:pt x="190500" y="1225550"/>
                    <a:pt x="190500" y="1225550"/>
                  </a:cubicBezTo>
                  <a:cubicBezTo>
                    <a:pt x="192617" y="1234017"/>
                    <a:pt x="196850" y="1242223"/>
                    <a:pt x="196850" y="1250950"/>
                  </a:cubicBezTo>
                  <a:cubicBezTo>
                    <a:pt x="196850" y="1280659"/>
                    <a:pt x="193781" y="1310323"/>
                    <a:pt x="190500" y="1339850"/>
                  </a:cubicBezTo>
                  <a:cubicBezTo>
                    <a:pt x="188901" y="1354245"/>
                    <a:pt x="174642" y="1393773"/>
                    <a:pt x="171450" y="1403350"/>
                  </a:cubicBezTo>
                  <a:cubicBezTo>
                    <a:pt x="169037" y="1410590"/>
                    <a:pt x="162163" y="1415574"/>
                    <a:pt x="158750" y="1422400"/>
                  </a:cubicBezTo>
                  <a:cubicBezTo>
                    <a:pt x="155757" y="1428387"/>
                    <a:pt x="155393" y="1435463"/>
                    <a:pt x="152400" y="1441450"/>
                  </a:cubicBezTo>
                  <a:cubicBezTo>
                    <a:pt x="122211" y="1501827"/>
                    <a:pt x="159765" y="1400306"/>
                    <a:pt x="127000" y="1498600"/>
                  </a:cubicBezTo>
                  <a:cubicBezTo>
                    <a:pt x="119404" y="1521388"/>
                    <a:pt x="96991" y="1531377"/>
                    <a:pt x="95250" y="1555750"/>
                  </a:cubicBezTo>
                  <a:cubicBezTo>
                    <a:pt x="93591" y="1578974"/>
                    <a:pt x="95250" y="1602317"/>
                    <a:pt x="95250" y="1625600"/>
                  </a:cubicBezTo>
                </a:path>
              </a:pathLst>
            </a:custGeom>
            <a:ln w="28575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12700">
                  <a:solidFill>
                    <a:schemeClr val="tx1"/>
                  </a:solidFill>
                </a:ln>
              </a:endParaRPr>
            </a:p>
          </p:txBody>
        </p:sp>
      </p:grpSp>
      <p:sp>
        <p:nvSpPr>
          <p:cNvPr id="8" name="TextBox 2">
            <a:extLst>
              <a:ext uri="{FF2B5EF4-FFF2-40B4-BE49-F238E27FC236}">
                <a16:creationId xmlns:a16="http://schemas.microsoft.com/office/drawing/2014/main" id="{5A6988E6-98CF-CC51-00E3-6B11D1E1D9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0663" y="6536377"/>
            <a:ext cx="529984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/>
              <a:t>Slides from Prof. </a:t>
            </a:r>
            <a:r>
              <a:rPr lang="en-US" altLang="ko-KR" sz="1200" dirty="0" err="1"/>
              <a:t>Hwu</a:t>
            </a:r>
            <a:r>
              <a:rPr lang="en-US" altLang="ko-KR" sz="1200" dirty="0"/>
              <a:t> et al, Programming Massively Parallel Processors</a:t>
            </a:r>
          </a:p>
        </p:txBody>
      </p:sp>
    </p:spTree>
    <p:extLst>
      <p:ext uri="{BB962C8B-B14F-4D97-AF65-F5344CB8AC3E}">
        <p14:creationId xmlns:p14="http://schemas.microsoft.com/office/powerpoint/2010/main" val="357374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제목 1">
            <a:extLst>
              <a:ext uri="{FF2B5EF4-FFF2-40B4-BE49-F238E27FC236}">
                <a16:creationId xmlns:a16="http://schemas.microsoft.com/office/drawing/2014/main" id="{FE5F8C6C-D7AF-C1F6-2B5D-2D895584EA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Creating a Parallel Program</a:t>
            </a:r>
            <a:endParaRPr lang="ko-KR" altLang="en-US" b="1" u="sng"/>
          </a:p>
        </p:txBody>
      </p:sp>
      <p:sp>
        <p:nvSpPr>
          <p:cNvPr id="21506" name="내용 개체 틀 2">
            <a:extLst>
              <a:ext uri="{FF2B5EF4-FFF2-40B4-BE49-F238E27FC236}">
                <a16:creationId xmlns:a16="http://schemas.microsoft.com/office/drawing/2014/main" id="{455918B8-B0EC-B49F-C93A-C2DC3FABC9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941888"/>
            <a:ext cx="8229600" cy="1223962"/>
          </a:xfrm>
        </p:spPr>
        <p:txBody>
          <a:bodyPr/>
          <a:lstStyle/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Decomposition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Assignment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Orchestration/Mapping</a:t>
            </a:r>
            <a:endParaRPr lang="ko-KR" altLang="en-US" sz="2400"/>
          </a:p>
        </p:txBody>
      </p:sp>
      <p:pic>
        <p:nvPicPr>
          <p:cNvPr id="21507" name="Picture 2">
            <a:extLst>
              <a:ext uri="{FF2B5EF4-FFF2-40B4-BE49-F238E27FC236}">
                <a16:creationId xmlns:a16="http://schemas.microsoft.com/office/drawing/2014/main" id="{1F0FC42E-82EE-C22D-1C29-C6688CF69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1341438"/>
            <a:ext cx="7221538" cy="3516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제목 1">
            <a:extLst>
              <a:ext uri="{FF2B5EF4-FFF2-40B4-BE49-F238E27FC236}">
                <a16:creationId xmlns:a16="http://schemas.microsoft.com/office/drawing/2014/main" id="{F43A70CC-6E7B-12BC-D14F-4D568C2E4A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Decomposition</a:t>
            </a:r>
            <a:endParaRPr lang="ko-KR" altLang="en-US" b="1" u="sng"/>
          </a:p>
        </p:txBody>
      </p:sp>
      <p:sp>
        <p:nvSpPr>
          <p:cNvPr id="22530" name="내용 개체 틀 2">
            <a:extLst>
              <a:ext uri="{FF2B5EF4-FFF2-40B4-BE49-F238E27FC236}">
                <a16:creationId xmlns:a16="http://schemas.microsoft.com/office/drawing/2014/main" id="{7973E5FC-9CA8-D29C-ADB0-0BCCF19E8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Break up computation into tasks to be divided among processes</a:t>
            </a:r>
          </a:p>
          <a:p>
            <a:r>
              <a:rPr lang="en-US" altLang="ko-KR"/>
              <a:t>identify concurrency and decide level at which to exploit it</a:t>
            </a:r>
            <a:endParaRPr lang="ko-KR" altLang="en-US"/>
          </a:p>
        </p:txBody>
      </p:sp>
      <p:pic>
        <p:nvPicPr>
          <p:cNvPr id="22531" name="Picture 4">
            <a:extLst>
              <a:ext uri="{FF2B5EF4-FFF2-40B4-BE49-F238E27FC236}">
                <a16:creationId xmlns:a16="http://schemas.microsoft.com/office/drawing/2014/main" id="{DF9F1759-5D28-C6D9-071D-8F6090B3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95"/>
          <a:stretch>
            <a:fillRect/>
          </a:stretch>
        </p:blipFill>
        <p:spPr bwMode="auto">
          <a:xfrm>
            <a:off x="250825" y="4221163"/>
            <a:ext cx="4233863" cy="1944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5">
            <a:extLst>
              <a:ext uri="{FF2B5EF4-FFF2-40B4-BE49-F238E27FC236}">
                <a16:creationId xmlns:a16="http://schemas.microsoft.com/office/drawing/2014/main" id="{A93BCB6F-A310-5C8E-7CDA-5DE62459B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06"/>
          <a:stretch>
            <a:fillRect/>
          </a:stretch>
        </p:blipFill>
        <p:spPr bwMode="auto">
          <a:xfrm>
            <a:off x="4965700" y="4076700"/>
            <a:ext cx="3854450" cy="2376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제목 1">
            <a:extLst>
              <a:ext uri="{FF2B5EF4-FFF2-40B4-BE49-F238E27FC236}">
                <a16:creationId xmlns:a16="http://schemas.microsoft.com/office/drawing/2014/main" id="{0926298B-34D0-1CEB-55D1-DBD5765141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Domain Decomposition</a:t>
            </a:r>
            <a:endParaRPr lang="ko-KR" altLang="en-US" b="1" u="sng"/>
          </a:p>
        </p:txBody>
      </p:sp>
      <p:sp>
        <p:nvSpPr>
          <p:cNvPr id="23554" name="내용 개체 틀 2">
            <a:extLst>
              <a:ext uri="{FF2B5EF4-FFF2-40B4-BE49-F238E27FC236}">
                <a16:creationId xmlns:a16="http://schemas.microsoft.com/office/drawing/2014/main" id="{0517F6C2-F231-7FD7-B25B-6E575F733F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lang="en-US" altLang="ko-KR" sz="2400"/>
              <a:t>data associated with a problem is decomposed. </a:t>
            </a:r>
          </a:p>
          <a:p>
            <a:r>
              <a:rPr lang="en-US" altLang="ko-KR" sz="2400"/>
              <a:t>Each parallel task then works on a portion of data.</a:t>
            </a:r>
            <a:endParaRPr lang="ko-KR" altLang="en-US" sz="2400"/>
          </a:p>
        </p:txBody>
      </p:sp>
      <p:pic>
        <p:nvPicPr>
          <p:cNvPr id="23555" name="Picture 2" descr="https://computing.llnl.gov/tutorials/parallel_comp/images/domain_decomp.gif">
            <a:extLst>
              <a:ext uri="{FF2B5EF4-FFF2-40B4-BE49-F238E27FC236}">
                <a16:creationId xmlns:a16="http://schemas.microsoft.com/office/drawing/2014/main" id="{17A8E93E-3DC3-C840-21D7-26A226C6B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2852738"/>
            <a:ext cx="3130550" cy="174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6" name="Picture 4" descr="https://computing.llnl.gov/tutorials/parallel_comp/images/distributions.gif">
            <a:extLst>
              <a:ext uri="{FF2B5EF4-FFF2-40B4-BE49-F238E27FC236}">
                <a16:creationId xmlns:a16="http://schemas.microsoft.com/office/drawing/2014/main" id="{BAAE90CA-50B2-D2FF-9E9E-30996558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2636838"/>
            <a:ext cx="4781550" cy="3676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제목 1">
            <a:extLst>
              <a:ext uri="{FF2B5EF4-FFF2-40B4-BE49-F238E27FC236}">
                <a16:creationId xmlns:a16="http://schemas.microsoft.com/office/drawing/2014/main" id="{191B3349-84BE-B9EC-301A-B7FF2EC645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Functional Decomposition</a:t>
            </a:r>
            <a:endParaRPr lang="ko-KR" altLang="en-US" b="1" u="sng"/>
          </a:p>
        </p:txBody>
      </p:sp>
      <p:sp>
        <p:nvSpPr>
          <p:cNvPr id="24578" name="내용 개체 틀 2">
            <a:extLst>
              <a:ext uri="{FF2B5EF4-FFF2-40B4-BE49-F238E27FC236}">
                <a16:creationId xmlns:a16="http://schemas.microsoft.com/office/drawing/2014/main" id="{3B2FEC42-48F4-5C80-12C9-723BC026A3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focus is on the computation that is to be performed rather than on the data </a:t>
            </a:r>
          </a:p>
          <a:p>
            <a:r>
              <a:rPr lang="en-US" altLang="ko-KR" sz="2400"/>
              <a:t>problem is decomposed according to the work that must be done. </a:t>
            </a:r>
          </a:p>
          <a:p>
            <a:r>
              <a:rPr lang="en-US" altLang="ko-KR" sz="2400"/>
              <a:t>Each task then performs a portion of the overall work.</a:t>
            </a:r>
            <a:endParaRPr lang="ko-KR" altLang="en-US" sz="2400"/>
          </a:p>
        </p:txBody>
      </p:sp>
      <p:pic>
        <p:nvPicPr>
          <p:cNvPr id="24579" name="Picture 2" descr="https://computing.llnl.gov/tutorials/parallel_comp/images/functional_decomp.gif">
            <a:extLst>
              <a:ext uri="{FF2B5EF4-FFF2-40B4-BE49-F238E27FC236}">
                <a16:creationId xmlns:a16="http://schemas.microsoft.com/office/drawing/2014/main" id="{78897A6D-2C04-4FCF-D620-B620A0E93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3933825"/>
            <a:ext cx="4392613" cy="2640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제목 1">
            <a:extLst>
              <a:ext uri="{FF2B5EF4-FFF2-40B4-BE49-F238E27FC236}">
                <a16:creationId xmlns:a16="http://schemas.microsoft.com/office/drawing/2014/main" id="{C7FD4766-E290-21A3-30B7-53FDF57C87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Assignment</a:t>
            </a:r>
            <a:endParaRPr lang="ko-KR" altLang="en-US" b="1" u="sng"/>
          </a:p>
        </p:txBody>
      </p:sp>
      <p:sp>
        <p:nvSpPr>
          <p:cNvPr id="25602" name="내용 개체 틀 2">
            <a:extLst>
              <a:ext uri="{FF2B5EF4-FFF2-40B4-BE49-F238E27FC236}">
                <a16:creationId xmlns:a16="http://schemas.microsoft.com/office/drawing/2014/main" id="{3218F49B-CE5F-4E81-A2D8-BE629356A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Assign tasks to threads</a:t>
            </a:r>
          </a:p>
          <a:p>
            <a:pPr lvl="1"/>
            <a:r>
              <a:rPr lang="en-US" altLang="ko-KR" sz="1800"/>
              <a:t>Balance workload, reduce communication and management cost</a:t>
            </a:r>
          </a:p>
          <a:p>
            <a:pPr lvl="1"/>
            <a:r>
              <a:rPr lang="en-US" altLang="ko-KR" sz="1800"/>
              <a:t>Together with decomposition, also called partitioning</a:t>
            </a:r>
          </a:p>
          <a:p>
            <a:pPr lvl="1"/>
            <a:endParaRPr lang="en-US" altLang="ko-KR" sz="1800"/>
          </a:p>
          <a:p>
            <a:r>
              <a:rPr lang="en-US" altLang="ko-KR" sz="2200"/>
              <a:t>Can be performed statically, or dynamically</a:t>
            </a:r>
          </a:p>
          <a:p>
            <a:endParaRPr lang="en-US" altLang="ko-KR" sz="2200"/>
          </a:p>
          <a:p>
            <a:r>
              <a:rPr lang="en-US" altLang="ko-KR" sz="2200"/>
              <a:t>Goal</a:t>
            </a:r>
          </a:p>
          <a:p>
            <a:pPr lvl="1"/>
            <a:r>
              <a:rPr lang="en-US" altLang="ko-KR" sz="1800"/>
              <a:t>Balanced workload</a:t>
            </a:r>
          </a:p>
          <a:p>
            <a:pPr lvl="1"/>
            <a:r>
              <a:rPr lang="en-US" altLang="ko-KR" sz="1800"/>
              <a:t>Reduced communication costs</a:t>
            </a:r>
          </a:p>
          <a:p>
            <a:pPr lvl="1"/>
            <a:endParaRPr lang="ko-KR" altLang="en-US"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제목 1">
            <a:extLst>
              <a:ext uri="{FF2B5EF4-FFF2-40B4-BE49-F238E27FC236}">
                <a16:creationId xmlns:a16="http://schemas.microsoft.com/office/drawing/2014/main" id="{1EE023A3-CB32-F28E-757E-838458F603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Orchestration</a:t>
            </a:r>
            <a:endParaRPr lang="ko-KR" altLang="en-US" b="1" u="sng"/>
          </a:p>
        </p:txBody>
      </p:sp>
      <p:sp>
        <p:nvSpPr>
          <p:cNvPr id="26626" name="내용 개체 틀 2">
            <a:extLst>
              <a:ext uri="{FF2B5EF4-FFF2-40B4-BE49-F238E27FC236}">
                <a16:creationId xmlns:a16="http://schemas.microsoft.com/office/drawing/2014/main" id="{512028FE-EBB6-D7B4-401B-E24C67F5A0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Structuring communication and synchronization</a:t>
            </a:r>
          </a:p>
          <a:p>
            <a:r>
              <a:rPr lang="en-US" altLang="ko-KR" sz="2400"/>
              <a:t>Organizing data structures in memory and scheduling tasks temporally</a:t>
            </a:r>
          </a:p>
          <a:p>
            <a:endParaRPr lang="en-US" altLang="ko-KR" sz="2400"/>
          </a:p>
          <a:p>
            <a:r>
              <a:rPr lang="en-US" altLang="ko-KR" sz="2400"/>
              <a:t>Goals</a:t>
            </a:r>
          </a:p>
          <a:p>
            <a:pPr lvl="1"/>
            <a:r>
              <a:rPr lang="en-US" altLang="ko-KR" sz="2000"/>
              <a:t>Reduce cost of communication and synchronization as seen by processors</a:t>
            </a:r>
          </a:p>
          <a:p>
            <a:pPr lvl="1"/>
            <a:r>
              <a:rPr lang="en-US" altLang="ko-KR" sz="2000"/>
              <a:t>Reserve locality of data reference (including data structure organization)</a:t>
            </a:r>
            <a:endParaRPr lang="ko-KR" altLang="en-US" sz="2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제목 1">
            <a:extLst>
              <a:ext uri="{FF2B5EF4-FFF2-40B4-BE49-F238E27FC236}">
                <a16:creationId xmlns:a16="http://schemas.microsoft.com/office/drawing/2014/main" id="{A4D4B361-F8BE-0FED-AB2A-E3F3944D85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Mapping</a:t>
            </a:r>
            <a:endParaRPr lang="ko-KR" altLang="en-US" b="1" u="sng"/>
          </a:p>
        </p:txBody>
      </p:sp>
      <p:sp>
        <p:nvSpPr>
          <p:cNvPr id="27650" name="내용 개체 틀 2">
            <a:extLst>
              <a:ext uri="{FF2B5EF4-FFF2-40B4-BE49-F238E27FC236}">
                <a16:creationId xmlns:a16="http://schemas.microsoft.com/office/drawing/2014/main" id="{2AF207A2-8F5A-8F3F-EE27-5361B9793A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Mapping threads to execution units (CPU cores)</a:t>
            </a:r>
          </a:p>
          <a:p>
            <a:r>
              <a:rPr lang="en-US" altLang="ko-KR" sz="2400"/>
              <a:t>Parallel application tries to use the entire machine</a:t>
            </a:r>
          </a:p>
          <a:p>
            <a:r>
              <a:rPr lang="en-US" altLang="ko-KR" sz="2400"/>
              <a:t>Usually a job for OS</a:t>
            </a:r>
          </a:p>
          <a:p>
            <a:r>
              <a:rPr lang="en-US" altLang="ko-KR" sz="2400"/>
              <a:t>Mapping decision</a:t>
            </a:r>
          </a:p>
          <a:p>
            <a:pPr lvl="1"/>
            <a:r>
              <a:rPr lang="en-US" altLang="ko-KR" sz="2000"/>
              <a:t>Place related threads (cooperating threads) on the same processor</a:t>
            </a:r>
          </a:p>
          <a:p>
            <a:pPr lvl="1"/>
            <a:r>
              <a:rPr lang="en-US" altLang="ko-KR" sz="2000"/>
              <a:t>maximize locality, data sharing, minimize costs of comm/sync</a:t>
            </a:r>
            <a:endParaRPr lang="ko-KR" altLang="en-US" sz="2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제목 1">
            <a:extLst>
              <a:ext uri="{FF2B5EF4-FFF2-40B4-BE49-F238E27FC236}">
                <a16:creationId xmlns:a16="http://schemas.microsoft.com/office/drawing/2014/main" id="{D224A018-E60F-2B80-9BEC-C61967CE5E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Performance of Parallel Programs</a:t>
            </a:r>
            <a:endParaRPr lang="ko-KR" altLang="en-US" sz="3600" b="1" u="sng"/>
          </a:p>
        </p:txBody>
      </p:sp>
      <p:sp>
        <p:nvSpPr>
          <p:cNvPr id="28674" name="내용 개체 틀 2">
            <a:extLst>
              <a:ext uri="{FF2B5EF4-FFF2-40B4-BE49-F238E27FC236}">
                <a16:creationId xmlns:a16="http://schemas.microsoft.com/office/drawing/2014/main" id="{5C7B67AF-1342-F8A0-491C-8D263C3559A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435975" cy="4525963"/>
          </a:xfrm>
        </p:spPr>
        <p:txBody>
          <a:bodyPr/>
          <a:lstStyle/>
          <a:p>
            <a:r>
              <a:rPr lang="en-US" altLang="ko-KR" sz="3200"/>
              <a:t>What factors affect the performance ?</a:t>
            </a:r>
          </a:p>
          <a:p>
            <a:pPr lvl="1"/>
            <a:endParaRPr lang="en-US" altLang="ko-KR" sz="2800" b="1"/>
          </a:p>
          <a:p>
            <a:pPr lvl="1"/>
            <a:r>
              <a:rPr lang="en-US" altLang="ko-KR" sz="2800" b="1"/>
              <a:t>Decomposition</a:t>
            </a:r>
          </a:p>
          <a:p>
            <a:pPr lvl="2"/>
            <a:r>
              <a:rPr lang="en-US" altLang="ko-KR" sz="2500" b="1"/>
              <a:t>Coverage </a:t>
            </a:r>
            <a:r>
              <a:rPr lang="en-US" altLang="ko-KR" sz="2500"/>
              <a:t>of parallelism in algorithm</a:t>
            </a:r>
            <a:endParaRPr lang="en-US" altLang="ko-KR" sz="3200"/>
          </a:p>
          <a:p>
            <a:pPr lvl="1"/>
            <a:r>
              <a:rPr lang="en-US" altLang="ko-KR" sz="2800" b="1"/>
              <a:t>Assignment</a:t>
            </a:r>
          </a:p>
          <a:p>
            <a:pPr lvl="2"/>
            <a:r>
              <a:rPr lang="en-US" altLang="ko-KR" sz="2500" b="1"/>
              <a:t>Granularity </a:t>
            </a:r>
            <a:r>
              <a:rPr lang="en-US" altLang="ko-KR" sz="2500"/>
              <a:t>of partitioning among processors</a:t>
            </a:r>
          </a:p>
          <a:p>
            <a:pPr lvl="1"/>
            <a:r>
              <a:rPr lang="en-US" altLang="ko-KR" sz="2800" b="1"/>
              <a:t>Orchestration/Mapping</a:t>
            </a:r>
          </a:p>
          <a:p>
            <a:pPr lvl="2"/>
            <a:r>
              <a:rPr lang="en-US" altLang="ko-KR" sz="2500" b="1"/>
              <a:t>Locality </a:t>
            </a:r>
            <a:r>
              <a:rPr lang="en-US" altLang="ko-KR" sz="2500"/>
              <a:t>of computation and communication</a:t>
            </a:r>
            <a:endParaRPr lang="ko-KR" altLang="en-US" sz="25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제목 1">
            <a:extLst>
              <a:ext uri="{FF2B5EF4-FFF2-40B4-BE49-F238E27FC236}">
                <a16:creationId xmlns:a16="http://schemas.microsoft.com/office/drawing/2014/main" id="{74A8B6EE-9676-FE9D-AF51-4C00FC7A2E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Coverage (Amdahl’s Law)</a:t>
            </a:r>
            <a:endParaRPr lang="ko-KR" altLang="en-US" b="1" u="sng"/>
          </a:p>
        </p:txBody>
      </p:sp>
      <p:sp>
        <p:nvSpPr>
          <p:cNvPr id="29698" name="내용 개체 틀 2">
            <a:extLst>
              <a:ext uri="{FF2B5EF4-FFF2-40B4-BE49-F238E27FC236}">
                <a16:creationId xmlns:a16="http://schemas.microsoft.com/office/drawing/2014/main" id="{3ECD7629-573B-1CB2-66C8-D204560E32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Potential program speedup is defined by the fraction of code that can be parallelized</a:t>
            </a:r>
            <a:endParaRPr lang="ko-KR" altLang="en-US"/>
          </a:p>
        </p:txBody>
      </p:sp>
      <p:pic>
        <p:nvPicPr>
          <p:cNvPr id="29699" name="Picture 2">
            <a:extLst>
              <a:ext uri="{FF2B5EF4-FFF2-40B4-BE49-F238E27FC236}">
                <a16:creationId xmlns:a16="http://schemas.microsoft.com/office/drawing/2014/main" id="{27EB098B-634D-E2CA-D928-DDB318D0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3357563"/>
            <a:ext cx="8942388" cy="2760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제목 1">
            <a:extLst>
              <a:ext uri="{FF2B5EF4-FFF2-40B4-BE49-F238E27FC236}">
                <a16:creationId xmlns:a16="http://schemas.microsoft.com/office/drawing/2014/main" id="{BFADF104-40B8-2756-042F-9CC997C5CF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0722" name="내용 개체 틀 2">
            <a:extLst>
              <a:ext uri="{FF2B5EF4-FFF2-40B4-BE49-F238E27FC236}">
                <a16:creationId xmlns:a16="http://schemas.microsoft.com/office/drawing/2014/main" id="{1E58C8E1-142D-F591-CD8A-E5AA307F8B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403725"/>
            <a:ext cx="8229600" cy="1978025"/>
          </a:xfrm>
        </p:spPr>
        <p:txBody>
          <a:bodyPr/>
          <a:lstStyle/>
          <a:p>
            <a:r>
              <a:rPr lang="en-US" altLang="ko-KR" sz="2400"/>
              <a:t>Speedup = old running time / new running time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100 sec / 60 sec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1.67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 (parallel version is 1.67 times faster)</a:t>
            </a:r>
            <a:endParaRPr lang="ko-KR" altLang="en-US" sz="2400"/>
          </a:p>
        </p:txBody>
      </p:sp>
      <p:pic>
        <p:nvPicPr>
          <p:cNvPr id="30723" name="Picture 2">
            <a:extLst>
              <a:ext uri="{FF2B5EF4-FFF2-40B4-BE49-F238E27FC236}">
                <a16:creationId xmlns:a16="http://schemas.microsoft.com/office/drawing/2014/main" id="{DAE5F989-9777-2506-3C31-4C8AF5B4C2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63" y="1460500"/>
            <a:ext cx="8942387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제목 1">
            <a:extLst>
              <a:ext uri="{FF2B5EF4-FFF2-40B4-BE49-F238E27FC236}">
                <a16:creationId xmlns:a16="http://schemas.microsoft.com/office/drawing/2014/main" id="{422FB6ED-07E9-7B6A-80AC-A2C8E1A4EA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1746" name="내용 개체 틀 2">
            <a:extLst>
              <a:ext uri="{FF2B5EF4-FFF2-40B4-BE49-F238E27FC236}">
                <a16:creationId xmlns:a16="http://schemas.microsoft.com/office/drawing/2014/main" id="{E833ADAB-AB59-250B-BC94-2582B96CFA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i="1" dirty="0"/>
              <a:t>p = fraction of work that can be parallelized</a:t>
            </a:r>
          </a:p>
          <a:p>
            <a:r>
              <a:rPr lang="en-US" altLang="ko-KR" sz="2800" i="1" dirty="0"/>
              <a:t>n = the number of processor</a:t>
            </a:r>
          </a:p>
          <a:p>
            <a:r>
              <a:rPr lang="en-US" altLang="ko-KR" sz="2800" i="1" dirty="0"/>
              <a:t>Speedup &lt; 1/(1-p)  as  n → infinity</a:t>
            </a:r>
            <a:endParaRPr lang="ko-KR" altLang="en-US" sz="2800" dirty="0"/>
          </a:p>
        </p:txBody>
      </p:sp>
      <p:pic>
        <p:nvPicPr>
          <p:cNvPr id="31747" name="Picture 2">
            <a:extLst>
              <a:ext uri="{FF2B5EF4-FFF2-40B4-BE49-F238E27FC236}">
                <a16:creationId xmlns:a16="http://schemas.microsoft.com/office/drawing/2014/main" id="{5430C091-8815-5BAE-1694-80A810242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284984"/>
            <a:ext cx="6499225" cy="3489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제목 1">
            <a:extLst>
              <a:ext uri="{FF2B5EF4-FFF2-40B4-BE49-F238E27FC236}">
                <a16:creationId xmlns:a16="http://schemas.microsoft.com/office/drawing/2014/main" id="{5640B87C-FF60-186A-B5A2-3AC96FD1F9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Implications of Amdahl’s Law</a:t>
            </a:r>
            <a:endParaRPr lang="ko-KR" altLang="en-US"/>
          </a:p>
        </p:txBody>
      </p:sp>
      <p:sp>
        <p:nvSpPr>
          <p:cNvPr id="32770" name="내용 개체 틀 2">
            <a:extLst>
              <a:ext uri="{FF2B5EF4-FFF2-40B4-BE49-F238E27FC236}">
                <a16:creationId xmlns:a16="http://schemas.microsoft.com/office/drawing/2014/main" id="{D10F90B0-5706-95CD-4283-B865D7AB78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Speedup tends to 1/(1-p) as number of processors tends to infinity</a:t>
            </a:r>
          </a:p>
          <a:p>
            <a:endParaRPr lang="en-US" altLang="ko-KR" sz="2400" dirty="0"/>
          </a:p>
          <a:p>
            <a:r>
              <a:rPr lang="en-US" altLang="ko-KR" sz="2400" dirty="0"/>
              <a:t>Even if the parallel part speeds up perfectly           performance is limited by the sequential part</a:t>
            </a:r>
          </a:p>
          <a:p>
            <a:endParaRPr lang="en-US" altLang="ko-KR" sz="2400" dirty="0"/>
          </a:p>
          <a:p>
            <a:r>
              <a:rPr lang="en-US" altLang="ko-KR" sz="2400" dirty="0"/>
              <a:t>Parallel programming is worthwhile when programs have a lot of work that is parallel in nature</a:t>
            </a:r>
            <a:endParaRPr lang="ko-KR" alt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04E6DD-6177-951A-B23F-D6A0C644D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Gustafson’s Law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CF879A-4CC9-308E-4E99-D9386E4FC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kumimoji="1" lang="en-US" altLang="ko-Kore-KR" dirty="0"/>
              <a:t>Amdahl’s law</a:t>
            </a:r>
          </a:p>
          <a:p>
            <a:pPr lvl="1"/>
            <a:r>
              <a:rPr lang="en-US" altLang="ko-Kore-KR" dirty="0"/>
              <a:t>how much faster you can run a fixed workload</a:t>
            </a:r>
          </a:p>
          <a:p>
            <a:r>
              <a:rPr kumimoji="1" lang="en-US" altLang="ko-Kore-KR" dirty="0"/>
              <a:t>Gustafson’s law</a:t>
            </a:r>
          </a:p>
          <a:p>
            <a:pPr lvl="1"/>
            <a:r>
              <a:rPr lang="en-US" altLang="ko-Kore-KR" dirty="0"/>
              <a:t>How much more work you can do in the same amount of time by adding processors</a:t>
            </a:r>
          </a:p>
          <a:p>
            <a:pPr lvl="1"/>
            <a:endParaRPr kumimoji="1" lang="en-US" altLang="ko-Kore-KR" dirty="0"/>
          </a:p>
          <a:p>
            <a:pPr lvl="1"/>
            <a:endParaRPr lang="en-US" altLang="ko-Kore-KR" dirty="0"/>
          </a:p>
          <a:p>
            <a:pPr marL="457200" lvl="1" indent="0">
              <a:buNone/>
            </a:pPr>
            <a:endParaRPr kumimoji="1" lang="en-US" altLang="ko-Kore-KR" dirty="0"/>
          </a:p>
          <a:p>
            <a:endParaRPr kumimoji="1" lang="ko-Kore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BF62A7D-2931-CF37-CCF1-1D4F10600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038416"/>
            <a:ext cx="2808312" cy="2783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6AFA70-CF8F-913A-272D-BEE334BB7099}"/>
              </a:ext>
            </a:extLst>
          </p:cNvPr>
          <p:cNvSpPr txBox="1"/>
          <p:nvPr/>
        </p:nvSpPr>
        <p:spPr>
          <a:xfrm>
            <a:off x="4644008" y="4293096"/>
            <a:ext cx="4392488" cy="2308324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s </a:t>
            </a:r>
            <a:r>
              <a:rPr kumimoji="1" lang="en-US" altLang="ko-Kore-KR" dirty="0"/>
              <a:t>: serial fraction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p </a:t>
            </a:r>
            <a:r>
              <a:rPr kumimoji="1" lang="en-US" altLang="ko-Kore-KR" dirty="0"/>
              <a:t>: parallel fraction</a:t>
            </a:r>
          </a:p>
          <a:p>
            <a:r>
              <a:rPr lang="en-US" altLang="ko-Kore-KR" dirty="0"/>
              <a:t>   ( </a:t>
            </a:r>
            <a:r>
              <a:rPr lang="en-US" altLang="ko-Kore-KR" i="1" dirty="0" err="1"/>
              <a:t>s</a:t>
            </a:r>
            <a:r>
              <a:rPr lang="en-US" altLang="ko-Kore-KR" dirty="0" err="1"/>
              <a:t>+</a:t>
            </a:r>
            <a:r>
              <a:rPr lang="en-US" altLang="ko-Kore-KR" i="1" dirty="0" err="1"/>
              <a:t>p</a:t>
            </a:r>
            <a:r>
              <a:rPr lang="en-US" altLang="ko-Kore-KR" dirty="0"/>
              <a:t> = 1 )</a:t>
            </a:r>
          </a:p>
          <a:p>
            <a:endParaRPr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N </a:t>
            </a:r>
            <a:r>
              <a:rPr lang="en-US" altLang="ko-Kore-KR" dirty="0"/>
              <a:t>: the number of processors</a:t>
            </a:r>
          </a:p>
          <a:p>
            <a:endParaRPr kumimoji="1"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1 </a:t>
            </a:r>
            <a:r>
              <a:rPr lang="en-US" altLang="ko-Kore-KR" dirty="0"/>
              <a:t>: running time on 1 processor</a:t>
            </a:r>
            <a:r>
              <a:rPr kumimoji="1" lang="en-US" altLang="ko-Kore-KR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N </a:t>
            </a:r>
            <a:r>
              <a:rPr lang="en-US" altLang="ko-Kore-KR" dirty="0"/>
              <a:t>: running time on N processor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4507183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23C8AE-E253-CBAE-4577-F1EC172B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Implications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9558AB-2DE8-2710-5621-015FFEE3F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992508" cy="4525963"/>
          </a:xfrm>
        </p:spPr>
        <p:txBody>
          <a:bodyPr/>
          <a:lstStyle/>
          <a:p>
            <a:r>
              <a:rPr kumimoji="1" lang="en-US" altLang="ko-Kore-KR" sz="2800" dirty="0"/>
              <a:t>Amdah</a:t>
            </a:r>
            <a:r>
              <a:rPr lang="en-US" altLang="ko-Kore-KR" sz="2800" dirty="0"/>
              <a:t>l’s law</a:t>
            </a:r>
          </a:p>
          <a:p>
            <a:pPr lvl="1"/>
            <a:r>
              <a:rPr kumimoji="1" lang="en-US" altLang="ko-Kore-KR" sz="2400" dirty="0"/>
              <a:t>often pessimistic </a:t>
            </a:r>
          </a:p>
          <a:p>
            <a:pPr marL="457200" lvl="1" indent="0">
              <a:buNone/>
            </a:pPr>
            <a:r>
              <a:rPr lang="en-US" altLang="ko-Kore-KR" sz="2400" dirty="0"/>
              <a:t>   (limited speed up)</a:t>
            </a:r>
            <a:endParaRPr kumimoji="1" lang="en-US" altLang="ko-Kore-KR" sz="2400" dirty="0"/>
          </a:p>
          <a:p>
            <a:pPr lvl="1"/>
            <a:r>
              <a:rPr lang="en-US" altLang="ko-Kore-KR" sz="2400" dirty="0"/>
              <a:t>assumes fixed </a:t>
            </a:r>
            <a:r>
              <a:rPr kumimoji="1" lang="en-US" altLang="ko-Kore-KR" sz="2400" dirty="0"/>
              <a:t>problem size </a:t>
            </a:r>
          </a:p>
          <a:p>
            <a:pPr lvl="1"/>
            <a:endParaRPr lang="en-US" altLang="ko-Kore-KR" sz="2400" dirty="0"/>
          </a:p>
          <a:p>
            <a:r>
              <a:rPr kumimoji="1" lang="en-US" altLang="ko-Kore-KR" sz="2800" dirty="0"/>
              <a:t>Gustafson’s law</a:t>
            </a:r>
          </a:p>
          <a:p>
            <a:pPr lvl="1"/>
            <a:r>
              <a:rPr lang="en-US" altLang="ko-Kore-KR" sz="2000" dirty="0"/>
              <a:t>Often optimistic</a:t>
            </a:r>
          </a:p>
          <a:p>
            <a:pPr marL="457200" lvl="1" indent="0">
              <a:buNone/>
            </a:pPr>
            <a:r>
              <a:rPr lang="en-US" altLang="ko-Kore-KR" sz="2000" dirty="0"/>
              <a:t>   ( linear speedup with N)</a:t>
            </a:r>
          </a:p>
          <a:p>
            <a:pPr lvl="1"/>
            <a:r>
              <a:rPr lang="en-US" altLang="ko-Kore-KR" sz="2000" dirty="0"/>
              <a:t>As we get more powerful computers, we run larger problems in the same amount of time. In this view, the speedup can scale almost    linearly with N</a:t>
            </a:r>
            <a:endParaRPr kumimoji="1" lang="ko-Kore-KR" altLang="en-US" sz="2000" dirty="0"/>
          </a:p>
        </p:txBody>
      </p:sp>
      <p:pic>
        <p:nvPicPr>
          <p:cNvPr id="83972" name="Picture 4" descr="undefined">
            <a:extLst>
              <a:ext uri="{FF2B5EF4-FFF2-40B4-BE49-F238E27FC236}">
                <a16:creationId xmlns:a16="http://schemas.microsoft.com/office/drawing/2014/main" id="{7638A0C4-9FFE-D062-A6AC-60810C8EF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9" y="1243622"/>
            <a:ext cx="3608670" cy="2819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974" name="Picture 6" descr="undefined">
            <a:extLst>
              <a:ext uri="{FF2B5EF4-FFF2-40B4-BE49-F238E27FC236}">
                <a16:creationId xmlns:a16="http://schemas.microsoft.com/office/drawing/2014/main" id="{1394A10A-1228-B942-035E-5B0DC6CEDC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8" y="4182887"/>
            <a:ext cx="3608671" cy="2532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611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제목 1">
            <a:extLst>
              <a:ext uri="{FF2B5EF4-FFF2-40B4-BE49-F238E27FC236}">
                <a16:creationId xmlns:a16="http://schemas.microsoft.com/office/drawing/2014/main" id="{C73B0A89-74E4-9982-0998-C34EE9B376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Performance Scalability</a:t>
            </a:r>
            <a:endParaRPr lang="ko-KR" altLang="en-US" b="1" u="sng"/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C9B03905-F2C8-6574-D0A9-5ADFE30009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412875"/>
            <a:ext cx="5378450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5" name="TextBox 5">
            <a:extLst>
              <a:ext uri="{FF2B5EF4-FFF2-40B4-BE49-F238E27FC236}">
                <a16:creationId xmlns:a16="http://schemas.microsoft.com/office/drawing/2014/main" id="{EAA83077-2AD4-DAF3-2D34-95646CE95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1530350"/>
            <a:ext cx="30956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ko-KR" sz="1800" b="1"/>
              <a:t> Scalability</a:t>
            </a:r>
            <a:r>
              <a:rPr lang="en-US" altLang="ko-KR" sz="1800"/>
              <a:t> : the capability of a system to increase total throughput under an increased load when resources (typically hardware) are added</a:t>
            </a:r>
            <a:endParaRPr lang="ko-KR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제목 1">
            <a:extLst>
              <a:ext uri="{FF2B5EF4-FFF2-40B4-BE49-F238E27FC236}">
                <a16:creationId xmlns:a16="http://schemas.microsoft.com/office/drawing/2014/main" id="{1B74AAAB-AF9F-D7F2-E064-980E4CE904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</a:t>
            </a:r>
            <a:endParaRPr lang="ko-KR" altLang="en-US" b="1" u="sng"/>
          </a:p>
        </p:txBody>
      </p:sp>
      <p:sp>
        <p:nvSpPr>
          <p:cNvPr id="34818" name="내용 개체 틀 2">
            <a:extLst>
              <a:ext uri="{FF2B5EF4-FFF2-40B4-BE49-F238E27FC236}">
                <a16:creationId xmlns:a16="http://schemas.microsoft.com/office/drawing/2014/main" id="{0FF8E2FF-3AC8-DA85-ABEE-A4D30B1C6A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Granularity is a qualitative measure of the ratio of computation to communication</a:t>
            </a:r>
          </a:p>
          <a:p>
            <a:pPr lvl="1"/>
            <a:r>
              <a:rPr lang="en-US" altLang="ko-KR" sz="2000" b="1"/>
              <a:t>Coarse</a:t>
            </a:r>
            <a:r>
              <a:rPr lang="en-US" altLang="ko-KR" sz="2000"/>
              <a:t>: relatively large amounts of computational work are done between communication events</a:t>
            </a:r>
          </a:p>
          <a:p>
            <a:pPr lvl="1"/>
            <a:r>
              <a:rPr lang="en-US" altLang="ko-KR" sz="2000" b="1"/>
              <a:t>Fine</a:t>
            </a:r>
            <a:r>
              <a:rPr lang="en-US" altLang="ko-KR" sz="2000"/>
              <a:t>: relatively small amounts of computational work are done between communication events</a:t>
            </a:r>
          </a:p>
          <a:p>
            <a:endParaRPr lang="en-US" altLang="ko-KR" sz="2800"/>
          </a:p>
          <a:p>
            <a:r>
              <a:rPr lang="en-US" altLang="ko-KR" sz="2800"/>
              <a:t>Computation stages are typically separated from periods of communication by synchronization events</a:t>
            </a:r>
            <a:endParaRPr lang="ko-KR" altLang="en-US" sz="2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제목 1">
            <a:extLst>
              <a:ext uri="{FF2B5EF4-FFF2-40B4-BE49-F238E27FC236}">
                <a16:creationId xmlns:a16="http://schemas.microsoft.com/office/drawing/2014/main" id="{6FD3B885-A5F4-0765-57A9-E89F681C1F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 (from wikipedia)</a:t>
            </a:r>
            <a:endParaRPr lang="ko-KR" altLang="en-US" b="1" u="sng"/>
          </a:p>
        </p:txBody>
      </p:sp>
      <p:sp>
        <p:nvSpPr>
          <p:cNvPr id="35842" name="내용 개체 틀 2">
            <a:extLst>
              <a:ext uri="{FF2B5EF4-FFF2-40B4-BE49-F238E27FC236}">
                <a16:creationId xmlns:a16="http://schemas.microsoft.com/office/drawing/2014/main" id="{EF59FF5C-B282-7317-592C-86B061FE49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Granularity </a:t>
            </a:r>
          </a:p>
          <a:p>
            <a:pPr lvl="1"/>
            <a:r>
              <a:rPr lang="en-US" altLang="ko-KR" sz="1800"/>
              <a:t>the extent to which a system is broken down into small parts</a:t>
            </a:r>
          </a:p>
          <a:p>
            <a:r>
              <a:rPr lang="en-US" altLang="ko-KR" sz="2400"/>
              <a:t>Coarse-grained systems </a:t>
            </a:r>
          </a:p>
          <a:p>
            <a:pPr lvl="1"/>
            <a:r>
              <a:rPr lang="en-US" altLang="ko-KR" sz="1800"/>
              <a:t>consist of fewer, larger components than fine-grained systems</a:t>
            </a:r>
          </a:p>
          <a:p>
            <a:pPr lvl="1"/>
            <a:r>
              <a:rPr lang="en-US" altLang="ko-KR" sz="1800"/>
              <a:t>regards large subcomponents </a:t>
            </a:r>
          </a:p>
          <a:p>
            <a:r>
              <a:rPr lang="en-US" altLang="ko-KR" sz="2400"/>
              <a:t>Fine-grained systems </a:t>
            </a:r>
          </a:p>
          <a:p>
            <a:pPr lvl="1"/>
            <a:r>
              <a:rPr lang="en-US" altLang="ko-KR" sz="1800"/>
              <a:t>regards smaller components of which the larger ones are composed.</a:t>
            </a:r>
            <a:endParaRPr lang="ko-KR" altLang="en-US"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제목 1">
            <a:extLst>
              <a:ext uri="{FF2B5EF4-FFF2-40B4-BE49-F238E27FC236}">
                <a16:creationId xmlns:a16="http://schemas.microsoft.com/office/drawing/2014/main" id="{8FECE2EB-BFC3-2260-5471-C689117290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 b="1" u="sng"/>
          </a:p>
        </p:txBody>
      </p:sp>
      <p:sp>
        <p:nvSpPr>
          <p:cNvPr id="36866" name="텍스트 개체 틀 3">
            <a:extLst>
              <a:ext uri="{FF2B5EF4-FFF2-40B4-BE49-F238E27FC236}">
                <a16:creationId xmlns:a16="http://schemas.microsoft.com/office/drawing/2014/main" id="{D9B56C3F-8E42-D07C-FAEB-3CC2222ECB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Fine-grain Parallelism</a:t>
            </a:r>
            <a:endParaRPr lang="ko-KR" altLang="en-US"/>
          </a:p>
        </p:txBody>
      </p:sp>
      <p:sp>
        <p:nvSpPr>
          <p:cNvPr id="36867" name="내용 개체 틀 4">
            <a:extLst>
              <a:ext uri="{FF2B5EF4-FFF2-40B4-BE49-F238E27FC236}">
                <a16:creationId xmlns:a16="http://schemas.microsoft.com/office/drawing/2014/main" id="{0D456764-0C04-02AE-B779-EB6BC7F123A1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sz="2000"/>
              <a:t>Low computation to communication ratio</a:t>
            </a:r>
          </a:p>
          <a:p>
            <a:r>
              <a:rPr lang="en-US" altLang="ko-KR" sz="2000"/>
              <a:t>Small amounts of computational work between communication stages</a:t>
            </a:r>
          </a:p>
          <a:p>
            <a:r>
              <a:rPr lang="en-US" altLang="ko-KR" sz="2000"/>
              <a:t>Less opportunity for performance enhancement</a:t>
            </a:r>
          </a:p>
          <a:p>
            <a:r>
              <a:rPr lang="en-US" altLang="ko-KR" sz="2000"/>
              <a:t>High communication overhead</a:t>
            </a:r>
            <a:endParaRPr lang="ko-KR" altLang="en-US" sz="2000"/>
          </a:p>
        </p:txBody>
      </p:sp>
      <p:sp>
        <p:nvSpPr>
          <p:cNvPr id="36868" name="텍스트 개체 틀 5">
            <a:extLst>
              <a:ext uri="{FF2B5EF4-FFF2-40B4-BE49-F238E27FC236}">
                <a16:creationId xmlns:a16="http://schemas.microsoft.com/office/drawing/2014/main" id="{E609D92D-9060-FCD3-0FC2-9A5107B996B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Coarse-grain Parallelism</a:t>
            </a:r>
            <a:endParaRPr lang="ko-KR" altLang="en-US"/>
          </a:p>
        </p:txBody>
      </p:sp>
      <p:sp>
        <p:nvSpPr>
          <p:cNvPr id="36869" name="내용 개체 틀 6">
            <a:extLst>
              <a:ext uri="{FF2B5EF4-FFF2-40B4-BE49-F238E27FC236}">
                <a16:creationId xmlns:a16="http://schemas.microsoft.com/office/drawing/2014/main" id="{3405E4ED-EEFB-22A1-FD07-D37A34F2A58B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altLang="ko-KR" sz="2000"/>
              <a:t>High computation to communication ratio</a:t>
            </a:r>
          </a:p>
          <a:p>
            <a:r>
              <a:rPr lang="en-US" altLang="ko-KR" sz="2000"/>
              <a:t>Large amounts of computational work between communication events</a:t>
            </a:r>
          </a:p>
          <a:p>
            <a:r>
              <a:rPr lang="en-US" altLang="ko-KR" sz="2000"/>
              <a:t>More opportunity for performance increase</a:t>
            </a:r>
          </a:p>
        </p:txBody>
      </p:sp>
      <p:pic>
        <p:nvPicPr>
          <p:cNvPr id="36870" name="Picture 2">
            <a:extLst>
              <a:ext uri="{FF2B5EF4-FFF2-40B4-BE49-F238E27FC236}">
                <a16:creationId xmlns:a16="http://schemas.microsoft.com/office/drawing/2014/main" id="{83062615-16B0-F2DF-FDF9-0840AA0E8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975" y="5157788"/>
            <a:ext cx="4619625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제목 1">
            <a:extLst>
              <a:ext uri="{FF2B5EF4-FFF2-40B4-BE49-F238E27FC236}">
                <a16:creationId xmlns:a16="http://schemas.microsoft.com/office/drawing/2014/main" id="{5BE6299E-B25D-2C2B-C3E3-BFF6F30DB4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/>
          </a:p>
        </p:txBody>
      </p:sp>
      <p:sp>
        <p:nvSpPr>
          <p:cNvPr id="37890" name="내용 개체 틀 2">
            <a:extLst>
              <a:ext uri="{FF2B5EF4-FFF2-40B4-BE49-F238E27FC236}">
                <a16:creationId xmlns:a16="http://schemas.microsoft.com/office/drawing/2014/main" id="{5CA74200-0B4D-0988-D9A1-A86D6393AD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most efficient granularity is dependent on the algorithm and the hardware</a:t>
            </a:r>
          </a:p>
          <a:p>
            <a:r>
              <a:rPr lang="en-US" altLang="ko-KR" sz="2400"/>
              <a:t>In most cases the overhead associated with communications and synchronization is high relative to execution speed so it is advantageous to have coarse granularity.</a:t>
            </a:r>
          </a:p>
          <a:p>
            <a:r>
              <a:rPr lang="en-US" altLang="ko-KR" sz="2400"/>
              <a:t>Fine-grain parallelism can help reduce overheads due to load imbalance.</a:t>
            </a:r>
            <a:endParaRPr lang="ko-KR" altLang="en-US" sz="2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제목 1">
            <a:extLst>
              <a:ext uri="{FF2B5EF4-FFF2-40B4-BE49-F238E27FC236}">
                <a16:creationId xmlns:a16="http://schemas.microsoft.com/office/drawing/2014/main" id="{3CAC987F-ED48-1B2F-4CC4-5C5C4C9057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Load Balancing</a:t>
            </a:r>
            <a:endParaRPr lang="ko-KR" altLang="en-US" sz="3600" b="1" u="sng"/>
          </a:p>
        </p:txBody>
      </p:sp>
      <p:sp>
        <p:nvSpPr>
          <p:cNvPr id="38914" name="내용 개체 틀 2">
            <a:extLst>
              <a:ext uri="{FF2B5EF4-FFF2-40B4-BE49-F238E27FC236}">
                <a16:creationId xmlns:a16="http://schemas.microsoft.com/office/drawing/2014/main" id="{4AD0ED2C-9058-2176-2150-A59EF4B6D2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distributing approximately equal amounts of work among tasks so that all tasks are kept busy all of the time. </a:t>
            </a:r>
          </a:p>
          <a:p>
            <a:r>
              <a:rPr lang="en-US" altLang="ko-KR" sz="2000"/>
              <a:t>It can be considered a minimization of task idle time.</a:t>
            </a:r>
          </a:p>
          <a:p>
            <a:endParaRPr lang="en-US" altLang="ko-KR" sz="2000"/>
          </a:p>
          <a:p>
            <a:r>
              <a:rPr lang="en-US" altLang="ko-KR" sz="2000"/>
              <a:t>For example, if all tasks are subject to a barrier synchronization point, the slowest task will determine the overall performance.</a:t>
            </a:r>
            <a:endParaRPr lang="ko-KR" altLang="en-US" sz="2000"/>
          </a:p>
        </p:txBody>
      </p:sp>
      <p:pic>
        <p:nvPicPr>
          <p:cNvPr id="38915" name="Picture 5" descr="Load Imbalance">
            <a:extLst>
              <a:ext uri="{FF2B5EF4-FFF2-40B4-BE49-F238E27FC236}">
                <a16:creationId xmlns:a16="http://schemas.microsoft.com/office/drawing/2014/main" id="{C4B37047-B1FD-6802-4AFA-F46AB50C7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4438" y="3860800"/>
            <a:ext cx="3838575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제목 1">
            <a:extLst>
              <a:ext uri="{FF2B5EF4-FFF2-40B4-BE49-F238E27FC236}">
                <a16:creationId xmlns:a16="http://schemas.microsoft.com/office/drawing/2014/main" id="{AA28D6F9-661C-26E5-EDEE-29812382B8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General Load Balancing Problem</a:t>
            </a:r>
            <a:endParaRPr lang="ko-KR" altLang="en-US" sz="3600" b="1" u="sng"/>
          </a:p>
        </p:txBody>
      </p:sp>
      <p:sp>
        <p:nvSpPr>
          <p:cNvPr id="39938" name="내용 개체 틀 2">
            <a:extLst>
              <a:ext uri="{FF2B5EF4-FFF2-40B4-BE49-F238E27FC236}">
                <a16:creationId xmlns:a16="http://schemas.microsoft.com/office/drawing/2014/main" id="{F741A157-0F9B-E7A4-63B5-9A6B9180FD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The whole work should be completed as fast as possible.</a:t>
            </a:r>
          </a:p>
          <a:p>
            <a:endParaRPr lang="en-US" altLang="ko-KR" sz="2000"/>
          </a:p>
          <a:p>
            <a:r>
              <a:rPr lang="en-US" altLang="ko-KR" sz="2000"/>
              <a:t>As workers are very expensive, they should be kept busy.</a:t>
            </a:r>
          </a:p>
          <a:p>
            <a:endParaRPr lang="en-US" altLang="ko-KR" sz="2000"/>
          </a:p>
          <a:p>
            <a:r>
              <a:rPr lang="en-US" altLang="ko-KR" sz="2000"/>
              <a:t>The work should be distributed fairly. About the same amount of work should be assigned to every worker.</a:t>
            </a:r>
          </a:p>
          <a:p>
            <a:endParaRPr lang="en-US" altLang="ko-KR" sz="2000"/>
          </a:p>
          <a:p>
            <a:r>
              <a:rPr lang="en-US" altLang="ko-KR" sz="2000"/>
              <a:t>There are precedence constraints between different tasks (we can start building the roof only after finishing the walls). Thus we also have to find a clever processing order of the different jobs.</a:t>
            </a:r>
          </a:p>
          <a:p>
            <a:endParaRPr lang="ko-KR" altLang="en-US" sz="2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제목 6">
            <a:extLst>
              <a:ext uri="{FF2B5EF4-FFF2-40B4-BE49-F238E27FC236}">
                <a16:creationId xmlns:a16="http://schemas.microsoft.com/office/drawing/2014/main" id="{FDDB823E-27CE-564A-E756-6C8A6930B8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Load Balancing Problem</a:t>
            </a:r>
            <a:endParaRPr lang="ko-KR" altLang="en-US" b="1" u="sng"/>
          </a:p>
        </p:txBody>
      </p:sp>
      <p:sp>
        <p:nvSpPr>
          <p:cNvPr id="40962" name="내용 개체 틀 7">
            <a:extLst>
              <a:ext uri="{FF2B5EF4-FFF2-40B4-BE49-F238E27FC236}">
                <a16:creationId xmlns:a16="http://schemas.microsoft.com/office/drawing/2014/main" id="{4EB28171-9265-E5F8-C4A8-70D940676E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400"/>
              <a:t>Processors that finish early have to wait for the processor with the largest amount of work to complete</a:t>
            </a:r>
          </a:p>
          <a:p>
            <a:pPr lvl="1"/>
            <a:r>
              <a:rPr lang="en-US" altLang="ko-KR" sz="2000"/>
              <a:t>Leads to idle time, lowers utilization</a:t>
            </a:r>
            <a:endParaRPr lang="ko-KR" altLang="en-US" sz="2000"/>
          </a:p>
        </p:txBody>
      </p:sp>
      <p:pic>
        <p:nvPicPr>
          <p:cNvPr id="40963" name="Picture 2">
            <a:extLst>
              <a:ext uri="{FF2B5EF4-FFF2-40B4-BE49-F238E27FC236}">
                <a16:creationId xmlns:a16="http://schemas.microsoft.com/office/drawing/2014/main" id="{A97914FB-6487-595C-9C45-B2F36AF81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890838"/>
            <a:ext cx="8856662" cy="385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제목 1">
            <a:extLst>
              <a:ext uri="{FF2B5EF4-FFF2-40B4-BE49-F238E27FC236}">
                <a16:creationId xmlns:a16="http://schemas.microsoft.com/office/drawing/2014/main" id="{EF918DD2-5173-9180-DF41-730B579E01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Static load balancing</a:t>
            </a:r>
            <a:endParaRPr lang="ko-KR" altLang="en-US" b="1" u="sng"/>
          </a:p>
        </p:txBody>
      </p:sp>
      <p:sp>
        <p:nvSpPr>
          <p:cNvPr id="41986" name="내용 개체 틀 2">
            <a:extLst>
              <a:ext uri="{FF2B5EF4-FFF2-40B4-BE49-F238E27FC236}">
                <a16:creationId xmlns:a16="http://schemas.microsoft.com/office/drawing/2014/main" id="{1A92AA20-D7AA-E7A8-18E4-B584F3D92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Programmer make decisions and assigns a fixed amount of work to each processing core a priori</a:t>
            </a:r>
          </a:p>
          <a:p>
            <a:r>
              <a:rPr lang="en-US" altLang="ko-KR" sz="2400"/>
              <a:t>Low run time overhead</a:t>
            </a:r>
          </a:p>
          <a:p>
            <a:r>
              <a:rPr lang="en-US" altLang="ko-KR" sz="2400"/>
              <a:t>Works well for homogeneous multicores</a:t>
            </a:r>
          </a:p>
          <a:p>
            <a:pPr lvl="1"/>
            <a:r>
              <a:rPr lang="en-US" altLang="ko-KR" sz="2000"/>
              <a:t>All core are the same</a:t>
            </a:r>
          </a:p>
          <a:p>
            <a:pPr lvl="1"/>
            <a:r>
              <a:rPr lang="en-US" altLang="ko-KR" sz="2000"/>
              <a:t>Each core has an equal amount of work</a:t>
            </a:r>
          </a:p>
          <a:p>
            <a:r>
              <a:rPr lang="en-US" altLang="ko-KR" sz="2400"/>
              <a:t>Not so well for heterogeneous multicores</a:t>
            </a:r>
          </a:p>
          <a:p>
            <a:pPr lvl="1"/>
            <a:r>
              <a:rPr lang="en-US" altLang="ko-KR" sz="2000"/>
              <a:t>Some cores may be faster than others</a:t>
            </a:r>
          </a:p>
          <a:p>
            <a:pPr lvl="1"/>
            <a:r>
              <a:rPr lang="en-US" altLang="ko-KR" sz="2000"/>
              <a:t>Work distribution is uneven</a:t>
            </a:r>
            <a:endParaRPr lang="ko-KR" altLang="en-US" sz="2000"/>
          </a:p>
        </p:txBody>
      </p:sp>
      <p:pic>
        <p:nvPicPr>
          <p:cNvPr id="41987" name="Picture 2">
            <a:extLst>
              <a:ext uri="{FF2B5EF4-FFF2-40B4-BE49-F238E27FC236}">
                <a16:creationId xmlns:a16="http://schemas.microsoft.com/office/drawing/2014/main" id="{58E11854-FEF1-F816-4392-6DCB49346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0" y="2541588"/>
            <a:ext cx="1409700" cy="240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제목 1">
            <a:extLst>
              <a:ext uri="{FF2B5EF4-FFF2-40B4-BE49-F238E27FC236}">
                <a16:creationId xmlns:a16="http://schemas.microsoft.com/office/drawing/2014/main" id="{0CECC29E-AE14-9874-F4BC-DB0F3B2987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Dynamic Load Balancing</a:t>
            </a:r>
            <a:endParaRPr lang="ko-KR" altLang="en-US" u="sng"/>
          </a:p>
        </p:txBody>
      </p:sp>
      <p:sp>
        <p:nvSpPr>
          <p:cNvPr id="43010" name="내용 개체 틀 2">
            <a:extLst>
              <a:ext uri="{FF2B5EF4-FFF2-40B4-BE49-F238E27FC236}">
                <a16:creationId xmlns:a16="http://schemas.microsoft.com/office/drawing/2014/main" id="{612777FC-F325-EA8F-2B88-CCB4D0B53F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When one core finishes its allocated work, it takes  work from a work queue or a core with the heaviest workload</a:t>
            </a:r>
          </a:p>
          <a:p>
            <a:r>
              <a:rPr lang="en-US" altLang="ko-KR" sz="2000"/>
              <a:t>Adapt partitioning at run time to balance load</a:t>
            </a:r>
          </a:p>
          <a:p>
            <a:r>
              <a:rPr lang="en-US" altLang="ko-KR" sz="2000"/>
              <a:t>High runtime overhead</a:t>
            </a:r>
          </a:p>
          <a:p>
            <a:r>
              <a:rPr lang="en-US" altLang="ko-KR" sz="2000"/>
              <a:t>Ideal for codes where work is uneven, unpredictable, and in heterogeneous multicore</a:t>
            </a:r>
            <a:endParaRPr lang="ko-KR" altLang="en-US" sz="2000"/>
          </a:p>
        </p:txBody>
      </p:sp>
      <p:pic>
        <p:nvPicPr>
          <p:cNvPr id="43011" name="Picture 2">
            <a:extLst>
              <a:ext uri="{FF2B5EF4-FFF2-40B4-BE49-F238E27FC236}">
                <a16:creationId xmlns:a16="http://schemas.microsoft.com/office/drawing/2014/main" id="{55D8D108-B43D-F73E-7262-3549470B6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3933825"/>
            <a:ext cx="7200900" cy="255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제목 1">
            <a:extLst>
              <a:ext uri="{FF2B5EF4-FFF2-40B4-BE49-F238E27FC236}">
                <a16:creationId xmlns:a16="http://schemas.microsoft.com/office/drawing/2014/main" id="{00DECA76-9A6C-17EA-2517-AEEC3129E4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Granularity and Performance Tradeoffs</a:t>
            </a:r>
            <a:endParaRPr lang="ko-KR" altLang="en-US" sz="32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6A9B17-AAE3-2042-9CB0-AFE1E7955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Load balancing</a:t>
            </a:r>
          </a:p>
          <a:p>
            <a:pPr marL="914400" lvl="1" indent="-514350">
              <a:defRPr/>
            </a:pPr>
            <a:r>
              <a:rPr lang="en-US" altLang="ko-KR" dirty="0"/>
              <a:t>How well is work distributed among cores?</a:t>
            </a:r>
          </a:p>
          <a:p>
            <a:pPr marL="514350" indent="-514350">
              <a:buFont typeface="Wingdings" pitchFamily="2" charset="2"/>
              <a:buAutoNum type="arabicPeriod"/>
              <a:defRPr/>
            </a:pPr>
            <a:endParaRPr lang="en-US" altLang="ko-KR" dirty="0"/>
          </a:p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Synchronization/Communication</a:t>
            </a:r>
          </a:p>
          <a:p>
            <a:pPr lvl="1">
              <a:defRPr/>
            </a:pPr>
            <a:r>
              <a:rPr lang="en-US" altLang="ko-KR" dirty="0"/>
              <a:t>Communication Overhead?</a:t>
            </a:r>
            <a:endParaRPr lang="ko-KR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제목 1">
            <a:extLst>
              <a:ext uri="{FF2B5EF4-FFF2-40B4-BE49-F238E27FC236}">
                <a16:creationId xmlns:a16="http://schemas.microsoft.com/office/drawing/2014/main" id="{CF827607-756E-8120-0DF7-E4617D911A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Communication</a:t>
            </a:r>
            <a:endParaRPr lang="ko-KR" altLang="en-US" b="1" u="sng"/>
          </a:p>
        </p:txBody>
      </p:sp>
      <p:sp>
        <p:nvSpPr>
          <p:cNvPr id="45058" name="내용 개체 틀 2">
            <a:extLst>
              <a:ext uri="{FF2B5EF4-FFF2-40B4-BE49-F238E27FC236}">
                <a16:creationId xmlns:a16="http://schemas.microsoft.com/office/drawing/2014/main" id="{9315482D-9141-AD33-DD51-933FDFE94B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With message passing, programmer has to understand the computation and orchestrate the communication accordingly</a:t>
            </a:r>
          </a:p>
          <a:p>
            <a:pPr lvl="1"/>
            <a:r>
              <a:rPr lang="en-US" altLang="ko-KR" sz="2000"/>
              <a:t>Point to Point</a:t>
            </a:r>
          </a:p>
          <a:p>
            <a:pPr lvl="1"/>
            <a:r>
              <a:rPr lang="en-US" altLang="ko-KR" sz="2000"/>
              <a:t>Broadcast (one to all) and Reduce (all to one)</a:t>
            </a:r>
          </a:p>
          <a:p>
            <a:pPr lvl="1"/>
            <a:r>
              <a:rPr lang="en-US" altLang="ko-KR" sz="2000"/>
              <a:t>All to All (each processor sends its data to all others)</a:t>
            </a:r>
          </a:p>
          <a:p>
            <a:pPr lvl="1"/>
            <a:r>
              <a:rPr lang="en-US" altLang="ko-KR" sz="2000"/>
              <a:t>Scatter (one to several) and Gather (several to one)</a:t>
            </a:r>
            <a:endParaRPr lang="ko-KR" altLang="en-US" sz="2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제목 1">
            <a:extLst>
              <a:ext uri="{FF2B5EF4-FFF2-40B4-BE49-F238E27FC236}">
                <a16:creationId xmlns:a16="http://schemas.microsoft.com/office/drawing/2014/main" id="{C75E92A1-5CB4-3A2C-B5B7-D7B61824A0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6082" name="내용 개체 틀 2">
            <a:extLst>
              <a:ext uri="{FF2B5EF4-FFF2-40B4-BE49-F238E27FC236}">
                <a16:creationId xmlns:a16="http://schemas.microsoft.com/office/drawing/2014/main" id="{F5833CE1-D6DF-749D-5DF7-DB68F8CE3D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Cost of communications</a:t>
            </a:r>
          </a:p>
          <a:p>
            <a:pPr lvl="1"/>
            <a:r>
              <a:rPr lang="en-US" altLang="ko-KR" sz="2400"/>
              <a:t>Inter-task communication virtually always implies overhead.</a:t>
            </a:r>
          </a:p>
          <a:p>
            <a:pPr lvl="1"/>
            <a:r>
              <a:rPr lang="en-US" altLang="ko-KR" sz="2400"/>
              <a:t>Communications frequently require some type of synchronization between tasks, which can result in tasks spending time ‘waiting’ instead of doing work.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제목 1">
            <a:extLst>
              <a:ext uri="{FF2B5EF4-FFF2-40B4-BE49-F238E27FC236}">
                <a16:creationId xmlns:a16="http://schemas.microsoft.com/office/drawing/2014/main" id="{F21D807F-78B5-794D-6E96-80106A933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7106" name="내용 개체 틀 2">
            <a:extLst>
              <a:ext uri="{FF2B5EF4-FFF2-40B4-BE49-F238E27FC236}">
                <a16:creationId xmlns:a16="http://schemas.microsoft.com/office/drawing/2014/main" id="{E9BDB214-7A87-511B-DF64-95A9367EED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Latency vs Bandwidth</a:t>
            </a:r>
          </a:p>
          <a:p>
            <a:pPr lvl="1"/>
            <a:r>
              <a:rPr lang="en-US" altLang="ko-KR" sz="2000"/>
              <a:t>Latency</a:t>
            </a:r>
          </a:p>
          <a:p>
            <a:pPr lvl="2"/>
            <a:r>
              <a:rPr lang="en-US" altLang="ko-KR" sz="1800"/>
              <a:t>the time it takes to send a minimal (0 byte) message from point A to point B.</a:t>
            </a:r>
          </a:p>
          <a:p>
            <a:pPr lvl="1"/>
            <a:r>
              <a:rPr lang="en-US" altLang="ko-KR" sz="2000"/>
              <a:t>Bandwidth</a:t>
            </a:r>
          </a:p>
          <a:p>
            <a:pPr lvl="2"/>
            <a:r>
              <a:rPr lang="en-US" altLang="ko-KR" sz="1800"/>
              <a:t>the amount of data that can be communicated per unit of time. </a:t>
            </a:r>
          </a:p>
          <a:p>
            <a:pPr lvl="1"/>
            <a:r>
              <a:rPr lang="en-US" altLang="ko-KR" sz="2000"/>
              <a:t>Sending many small messages can cause latency to dominate communication overheads. </a:t>
            </a:r>
          </a:p>
          <a:p>
            <a:pPr lvl="1"/>
            <a:r>
              <a:rPr lang="en-US" altLang="ko-KR" sz="2000"/>
              <a:t>Often it is more efficient to package small messages into a larger message.</a:t>
            </a:r>
            <a:endParaRPr lang="ko-KR" altLang="en-US" sz="2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제목 1">
            <a:extLst>
              <a:ext uri="{FF2B5EF4-FFF2-40B4-BE49-F238E27FC236}">
                <a16:creationId xmlns:a16="http://schemas.microsoft.com/office/drawing/2014/main" id="{1F3C3251-A045-2479-B2F5-B8C828E33F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8130" name="내용 개체 틀 2">
            <a:extLst>
              <a:ext uri="{FF2B5EF4-FFF2-40B4-BE49-F238E27FC236}">
                <a16:creationId xmlns:a16="http://schemas.microsoft.com/office/drawing/2014/main" id="{D600EE69-7122-283F-1F79-E863CD7CD9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synchronous vs asynchronous</a:t>
            </a:r>
          </a:p>
          <a:p>
            <a:pPr lvl="1"/>
            <a:r>
              <a:rPr lang="en-US" altLang="ko-KR" sz="2400"/>
              <a:t>Synchronous : require some type of ‘handshaking’ between tasks that share data</a:t>
            </a:r>
          </a:p>
          <a:p>
            <a:pPr lvl="1"/>
            <a:r>
              <a:rPr lang="en-US" altLang="ko-KR" sz="2400"/>
              <a:t>Asynchronous : transfer data independently from one another.</a:t>
            </a:r>
          </a:p>
          <a:p>
            <a:endParaRPr lang="en-US" altLang="ko-KR" sz="2800"/>
          </a:p>
          <a:p>
            <a:r>
              <a:rPr lang="en-US" altLang="ko-KR" sz="2800"/>
              <a:t>Scope of communication</a:t>
            </a:r>
          </a:p>
          <a:p>
            <a:pPr lvl="1"/>
            <a:r>
              <a:rPr lang="en-US" altLang="ko-KR" sz="2400"/>
              <a:t>Point-to-point</a:t>
            </a:r>
          </a:p>
          <a:p>
            <a:pPr lvl="1"/>
            <a:r>
              <a:rPr lang="en-US" altLang="ko-KR" sz="2400"/>
              <a:t>collective</a:t>
            </a:r>
            <a:endParaRPr lang="ko-KR" altLang="en-US" sz="2000"/>
          </a:p>
        </p:txBody>
      </p:sp>
      <p:pic>
        <p:nvPicPr>
          <p:cNvPr id="48131" name="Picture 2" descr="Collective communications examples">
            <a:extLst>
              <a:ext uri="{FF2B5EF4-FFF2-40B4-BE49-F238E27FC236}">
                <a16:creationId xmlns:a16="http://schemas.microsoft.com/office/drawing/2014/main" id="{6B49EBD7-DAC0-76F9-E26C-EB8BE0FFF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725" y="4149725"/>
            <a:ext cx="3089275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제목 1">
            <a:extLst>
              <a:ext uri="{FF2B5EF4-FFF2-40B4-BE49-F238E27FC236}">
                <a16:creationId xmlns:a16="http://schemas.microsoft.com/office/drawing/2014/main" id="{50ADF28B-A0CE-66FC-C1ED-42488ADF57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MPI : Message Passing Library</a:t>
            </a:r>
            <a:endParaRPr lang="ko-KR" altLang="en-US" sz="4000" b="1" u="sng"/>
          </a:p>
        </p:txBody>
      </p:sp>
      <p:sp>
        <p:nvSpPr>
          <p:cNvPr id="49154" name="내용 개체 틀 2">
            <a:extLst>
              <a:ext uri="{FF2B5EF4-FFF2-40B4-BE49-F238E27FC236}">
                <a16:creationId xmlns:a16="http://schemas.microsoft.com/office/drawing/2014/main" id="{F1B74929-7375-F7D2-370D-A6073917AD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MPI : portable specification</a:t>
            </a:r>
          </a:p>
          <a:p>
            <a:pPr lvl="1"/>
            <a:r>
              <a:rPr lang="en-US" altLang="ko-KR" sz="2000"/>
              <a:t>Not a language or compiler specification</a:t>
            </a:r>
          </a:p>
          <a:p>
            <a:pPr lvl="1"/>
            <a:r>
              <a:rPr lang="en-US" altLang="ko-KR" sz="2000"/>
              <a:t>Not a specific implementation or product</a:t>
            </a:r>
          </a:p>
          <a:p>
            <a:pPr lvl="1"/>
            <a:r>
              <a:rPr lang="nn-NO" altLang="ko-KR" sz="2000"/>
              <a:t>SPMD model (same program, multiple data)</a:t>
            </a:r>
            <a:endParaRPr lang="en-US" altLang="ko-KR" sz="2000"/>
          </a:p>
          <a:p>
            <a:r>
              <a:rPr lang="en-US" altLang="ko-KR" sz="2800"/>
              <a:t>For parallel computers, clusters, and heterogeneous networks, multicores</a:t>
            </a:r>
          </a:p>
          <a:p>
            <a:r>
              <a:rPr lang="en-US" altLang="ko-KR" sz="2800"/>
              <a:t>Multiple communication modes allow precise buffer management</a:t>
            </a:r>
          </a:p>
          <a:p>
            <a:r>
              <a:rPr lang="en-US" altLang="ko-KR" sz="2800"/>
              <a:t>Extensive collective operations for scalable global communication</a:t>
            </a:r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제목 1">
            <a:extLst>
              <a:ext uri="{FF2B5EF4-FFF2-40B4-BE49-F238E27FC236}">
                <a16:creationId xmlns:a16="http://schemas.microsoft.com/office/drawing/2014/main" id="{3FDD186D-599F-EEEE-B9A7-44CF72D9DE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Point-to-Point</a:t>
            </a:r>
            <a:endParaRPr lang="ko-KR" altLang="en-US" b="1" u="sng"/>
          </a:p>
        </p:txBody>
      </p:sp>
      <p:sp>
        <p:nvSpPr>
          <p:cNvPr id="50178" name="내용 개체 틀 2">
            <a:extLst>
              <a:ext uri="{FF2B5EF4-FFF2-40B4-BE49-F238E27FC236}">
                <a16:creationId xmlns:a16="http://schemas.microsoft.com/office/drawing/2014/main" id="{6192B157-5127-16A5-D168-8728B68ABD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Basic method of communication between two processors</a:t>
            </a:r>
          </a:p>
          <a:p>
            <a:pPr lvl="1"/>
            <a:r>
              <a:rPr lang="en-US" altLang="ko-KR" sz="1600"/>
              <a:t>Originating processor "sends" message to destination processor</a:t>
            </a:r>
          </a:p>
          <a:p>
            <a:pPr lvl="1"/>
            <a:r>
              <a:rPr lang="en-US" altLang="ko-KR" sz="1600"/>
              <a:t>Destination processor then "receives" the message</a:t>
            </a:r>
          </a:p>
          <a:p>
            <a:endParaRPr lang="en-US" altLang="ko-KR" sz="2000"/>
          </a:p>
          <a:p>
            <a:r>
              <a:rPr lang="en-US" altLang="ko-KR" sz="2000"/>
              <a:t>The message commonly includes</a:t>
            </a:r>
          </a:p>
          <a:p>
            <a:pPr lvl="1"/>
            <a:r>
              <a:rPr lang="en-US" altLang="ko-KR" sz="1600"/>
              <a:t>Data or other information</a:t>
            </a:r>
          </a:p>
          <a:p>
            <a:pPr lvl="1"/>
            <a:r>
              <a:rPr lang="en-US" altLang="ko-KR" sz="1600"/>
              <a:t>Length of the message</a:t>
            </a:r>
          </a:p>
          <a:p>
            <a:pPr lvl="1"/>
            <a:r>
              <a:rPr lang="en-US" altLang="ko-KR" sz="1600"/>
              <a:t>Destination address and possibly a tag</a:t>
            </a:r>
            <a:endParaRPr lang="ko-KR" altLang="en-US" sz="1600"/>
          </a:p>
        </p:txBody>
      </p:sp>
      <p:pic>
        <p:nvPicPr>
          <p:cNvPr id="50179" name="Picture 2">
            <a:extLst>
              <a:ext uri="{FF2B5EF4-FFF2-40B4-BE49-F238E27FC236}">
                <a16:creationId xmlns:a16="http://schemas.microsoft.com/office/drawing/2014/main" id="{68F011EE-F7B3-90BC-63BC-8CA5872FD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125" y="2708275"/>
            <a:ext cx="3319463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제목 1">
            <a:extLst>
              <a:ext uri="{FF2B5EF4-FFF2-40B4-BE49-F238E27FC236}">
                <a16:creationId xmlns:a16="http://schemas.microsoft.com/office/drawing/2014/main" id="{7257064B-F115-0903-384E-B520467C3E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Synchronous vs. Asynchronous Messages</a:t>
            </a:r>
            <a:endParaRPr lang="ko-KR" altLang="en-US" sz="3200" u="sng"/>
          </a:p>
        </p:txBody>
      </p:sp>
      <p:sp>
        <p:nvSpPr>
          <p:cNvPr id="51202" name="내용 개체 틀 2">
            <a:extLst>
              <a:ext uri="{FF2B5EF4-FFF2-40B4-BE49-F238E27FC236}">
                <a16:creationId xmlns:a16="http://schemas.microsoft.com/office/drawing/2014/main" id="{324B7CC1-AE38-99AC-7352-621DDB6E8E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1203" name="Picture 2">
            <a:extLst>
              <a:ext uri="{FF2B5EF4-FFF2-40B4-BE49-F238E27FC236}">
                <a16:creationId xmlns:a16="http://schemas.microsoft.com/office/drawing/2014/main" id="{E634FE97-0B86-431C-503D-8D08E70B9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341438"/>
            <a:ext cx="8170862" cy="5313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제목 1">
            <a:extLst>
              <a:ext uri="{FF2B5EF4-FFF2-40B4-BE49-F238E27FC236}">
                <a16:creationId xmlns:a16="http://schemas.microsoft.com/office/drawing/2014/main" id="{AF94F386-DB51-2912-2654-06585FF31D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Blocking vs. Non-Blocking Messages</a:t>
            </a:r>
            <a:endParaRPr lang="ko-KR" altLang="en-US" sz="3200" u="sng"/>
          </a:p>
        </p:txBody>
      </p:sp>
      <p:sp>
        <p:nvSpPr>
          <p:cNvPr id="52226" name="내용 개체 틀 2">
            <a:extLst>
              <a:ext uri="{FF2B5EF4-FFF2-40B4-BE49-F238E27FC236}">
                <a16:creationId xmlns:a16="http://schemas.microsoft.com/office/drawing/2014/main" id="{AA776A28-B938-B45F-4BAE-764DB73A70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2227" name="Picture 2">
            <a:extLst>
              <a:ext uri="{FF2B5EF4-FFF2-40B4-BE49-F238E27FC236}">
                <a16:creationId xmlns:a16="http://schemas.microsoft.com/office/drawing/2014/main" id="{9D9DB114-83B2-ECFF-A512-B65FBC546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584"/>
          <a:stretch>
            <a:fillRect/>
          </a:stretch>
        </p:blipFill>
        <p:spPr bwMode="auto">
          <a:xfrm>
            <a:off x="61913" y="1327150"/>
            <a:ext cx="9001125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제목 1">
            <a:extLst>
              <a:ext uri="{FF2B5EF4-FFF2-40B4-BE49-F238E27FC236}">
                <a16:creationId xmlns:a16="http://schemas.microsoft.com/office/drawing/2014/main" id="{BA87474D-1B08-5EEC-DFF4-6C23621D9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Broadcast</a:t>
            </a:r>
            <a:endParaRPr lang="ko-KR" altLang="en-US" u="sng"/>
          </a:p>
        </p:txBody>
      </p:sp>
      <p:sp>
        <p:nvSpPr>
          <p:cNvPr id="53250" name="내용 개체 틀 2">
            <a:extLst>
              <a:ext uri="{FF2B5EF4-FFF2-40B4-BE49-F238E27FC236}">
                <a16:creationId xmlns:a16="http://schemas.microsoft.com/office/drawing/2014/main" id="{C16120CA-0ADF-C494-39FB-027A1EF882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3251" name="Picture 2">
            <a:extLst>
              <a:ext uri="{FF2B5EF4-FFF2-40B4-BE49-F238E27FC236}">
                <a16:creationId xmlns:a16="http://schemas.microsoft.com/office/drawing/2014/main" id="{CE08141A-4BAC-F19D-EDA7-BB49FEBAD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8" y="1431925"/>
            <a:ext cx="8956675" cy="516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제목 1">
            <a:extLst>
              <a:ext uri="{FF2B5EF4-FFF2-40B4-BE49-F238E27FC236}">
                <a16:creationId xmlns:a16="http://schemas.microsoft.com/office/drawing/2014/main" id="{2F2DDF08-0EE3-AC58-B634-756C65494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Reduction</a:t>
            </a:r>
            <a:endParaRPr lang="ko-KR" altLang="en-US" u="sng"/>
          </a:p>
        </p:txBody>
      </p:sp>
      <p:sp>
        <p:nvSpPr>
          <p:cNvPr id="54274" name="내용 개체 틀 2">
            <a:extLst>
              <a:ext uri="{FF2B5EF4-FFF2-40B4-BE49-F238E27FC236}">
                <a16:creationId xmlns:a16="http://schemas.microsoft.com/office/drawing/2014/main" id="{9F44BEE9-34CF-03DD-4AF9-74832A669A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Example: every processor starts with a value and needs to know the sum of values stored on all processors</a:t>
            </a:r>
          </a:p>
          <a:p>
            <a:r>
              <a:rPr lang="en-US" altLang="ko-KR" sz="2400"/>
              <a:t>A reduction combines data from all processors and returns it to a single process</a:t>
            </a:r>
          </a:p>
          <a:p>
            <a:pPr lvl="1"/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MPI_REDUCE</a:t>
            </a:r>
          </a:p>
          <a:p>
            <a:pPr lvl="1"/>
            <a:r>
              <a:rPr lang="en-US" altLang="ko-KR" sz="1800"/>
              <a:t>Can apply any associative operation on gathered data</a:t>
            </a:r>
          </a:p>
          <a:p>
            <a:pPr lvl="2"/>
            <a:r>
              <a:rPr lang="en-US" altLang="ko-KR" sz="1400"/>
              <a:t>ADD, OR, AND, MAX, MIN, etc.</a:t>
            </a:r>
          </a:p>
          <a:p>
            <a:pPr lvl="1"/>
            <a:r>
              <a:rPr lang="en-US" altLang="ko-KR" sz="1800"/>
              <a:t>No processor can finish reduction before each processor has contributed a value</a:t>
            </a:r>
            <a:endParaRPr lang="en-US" altLang="ko-KR" sz="2400"/>
          </a:p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BCAST/REDUCE</a:t>
            </a:r>
            <a:r>
              <a:rPr lang="en-US" altLang="ko-KR" sz="2400" b="1"/>
              <a:t> can reduce programming complexity and may </a:t>
            </a:r>
            <a:r>
              <a:rPr lang="en-US" altLang="ko-KR" sz="2400"/>
              <a:t>be more efficient in some programs</a:t>
            </a:r>
            <a:endParaRPr lang="ko-KR" altLang="en-US" sz="24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제목 1">
            <a:extLst>
              <a:ext uri="{FF2B5EF4-FFF2-40B4-BE49-F238E27FC236}">
                <a16:creationId xmlns:a16="http://schemas.microsoft.com/office/drawing/2014/main" id="{65054A56-35B9-6FE0-8002-FD9529B79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Example : Parallel Numerical Integration</a:t>
            </a:r>
            <a:endParaRPr lang="ko-KR" altLang="en-US" sz="3200" b="1" u="sng"/>
          </a:p>
        </p:txBody>
      </p:sp>
      <p:sp>
        <p:nvSpPr>
          <p:cNvPr id="55298" name="내용 개체 틀 2">
            <a:extLst>
              <a:ext uri="{FF2B5EF4-FFF2-40B4-BE49-F238E27FC236}">
                <a16:creationId xmlns:a16="http://schemas.microsoft.com/office/drawing/2014/main" id="{1A469467-F9B1-8BDB-B6BA-498F0EBBAD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5299" name="Picture 2">
            <a:extLst>
              <a:ext uri="{FF2B5EF4-FFF2-40B4-BE49-F238E27FC236}">
                <a16:creationId xmlns:a16="http://schemas.microsoft.com/office/drawing/2014/main" id="{34BD975D-86E0-2715-9CAE-A4C4C922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701800"/>
            <a:ext cx="8869363" cy="453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제목 1">
            <a:extLst>
              <a:ext uri="{FF2B5EF4-FFF2-40B4-BE49-F238E27FC236}">
                <a16:creationId xmlns:a16="http://schemas.microsoft.com/office/drawing/2014/main" id="{F2ECBC3A-F0EA-019A-1CEA-ACF2A8E247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Computing the Integration (MPI)</a:t>
            </a:r>
            <a:endParaRPr lang="ko-KR" altLang="en-US" b="1" u="sng"/>
          </a:p>
        </p:txBody>
      </p:sp>
      <p:sp>
        <p:nvSpPr>
          <p:cNvPr id="56322" name="내용 개체 틀 2">
            <a:extLst>
              <a:ext uri="{FF2B5EF4-FFF2-40B4-BE49-F238E27FC236}">
                <a16:creationId xmlns:a16="http://schemas.microsoft.com/office/drawing/2014/main" id="{47BC4FB4-AE63-8C55-F923-2AE893A0C3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6323" name="Picture 2">
            <a:extLst>
              <a:ext uri="{FF2B5EF4-FFF2-40B4-BE49-F238E27FC236}">
                <a16:creationId xmlns:a16="http://schemas.microsoft.com/office/drawing/2014/main" id="{48F1108C-B500-6C36-2D19-E6E41B0A6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75" y="1576388"/>
            <a:ext cx="7064375" cy="519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제목 1">
            <a:extLst>
              <a:ext uri="{FF2B5EF4-FFF2-40B4-BE49-F238E27FC236}">
                <a16:creationId xmlns:a16="http://schemas.microsoft.com/office/drawing/2014/main" id="{C1ECDD80-5EC0-F090-CBAD-03FEF1800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Synchronization</a:t>
            </a:r>
            <a:endParaRPr lang="ko-KR" altLang="en-US" b="1" u="sng"/>
          </a:p>
        </p:txBody>
      </p:sp>
      <p:sp>
        <p:nvSpPr>
          <p:cNvPr id="57346" name="내용 개체 틀 2">
            <a:extLst>
              <a:ext uri="{FF2B5EF4-FFF2-40B4-BE49-F238E27FC236}">
                <a16:creationId xmlns:a16="http://schemas.microsoft.com/office/drawing/2014/main" id="{F0922D29-22DC-3988-C89A-9AE1C827F3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Coodination of simultaneous events (threads / processes) in order to obtain correct runtime order and avoid unexpected condition</a:t>
            </a:r>
          </a:p>
          <a:p>
            <a:endParaRPr lang="en-US" altLang="ko-KR" sz="2400"/>
          </a:p>
          <a:p>
            <a:r>
              <a:rPr lang="en-US" altLang="ko-KR" sz="2400"/>
              <a:t>Types of synchronization</a:t>
            </a:r>
          </a:p>
          <a:p>
            <a:pPr lvl="1"/>
            <a:r>
              <a:rPr lang="en-US" altLang="ko-KR" sz="2000"/>
              <a:t>Barrier</a:t>
            </a:r>
          </a:p>
          <a:p>
            <a:pPr lvl="2"/>
            <a:r>
              <a:rPr lang="en-US" altLang="ko-KR" sz="1700"/>
              <a:t>Any thread/process must stop at this point(barrier) and cannot proceed until all other threads/processes reach this barrier</a:t>
            </a:r>
          </a:p>
          <a:p>
            <a:pPr lvl="1"/>
            <a:r>
              <a:rPr lang="en-US" altLang="ko-KR" sz="2000"/>
              <a:t>Lock/semaphore</a:t>
            </a:r>
          </a:p>
          <a:p>
            <a:pPr lvl="2"/>
            <a:r>
              <a:rPr lang="en-US" altLang="ko-KR" sz="1700"/>
              <a:t>The first task acquires the lock. This task can then safely (serially) access the protected data or code.</a:t>
            </a:r>
          </a:p>
          <a:p>
            <a:pPr lvl="2"/>
            <a:r>
              <a:rPr lang="en-US" altLang="ko-KR" sz="1700"/>
              <a:t>Other tasks can attempt to acquire the lock but must wait until the task that owns the lock releases it.</a:t>
            </a:r>
          </a:p>
          <a:p>
            <a:endParaRPr lang="ko-KR" altLang="en-US" sz="24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제목 1">
            <a:extLst>
              <a:ext uri="{FF2B5EF4-FFF2-40B4-BE49-F238E27FC236}">
                <a16:creationId xmlns:a16="http://schemas.microsoft.com/office/drawing/2014/main" id="{F0B14320-0FDC-992C-4974-1D30EAA9A2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1143000"/>
          </a:xfrm>
        </p:spPr>
        <p:txBody>
          <a:bodyPr/>
          <a:lstStyle/>
          <a:p>
            <a:r>
              <a:rPr lang="en-US" altLang="ko-KR" sz="4000" b="1" u="sng"/>
              <a:t>Locality</a:t>
            </a:r>
            <a:endParaRPr lang="ko-KR" altLang="en-US" sz="4000" b="1" u="sn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35A44B-FC91-124D-973E-44A1177EB2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250" y="5013325"/>
            <a:ext cx="8001000" cy="1492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Large memories are slow, fast memories are small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Storage hierarchies are large and fast </a:t>
            </a:r>
            <a:r>
              <a:rPr lang="en-US" altLang="ko-KR" sz="1600" u="sng" kern="0" dirty="0">
                <a:latin typeface="+mn-lt"/>
                <a:ea typeface="+mn-ea"/>
              </a:rPr>
              <a:t>on average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Parallel processors, collectively, have large, fast cache</a:t>
            </a:r>
          </a:p>
          <a:p>
            <a:pPr marL="685800" lvl="1" indent="-19050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400" kern="0" dirty="0">
                <a:latin typeface="+mn-lt"/>
                <a:ea typeface="+mn-ea"/>
              </a:rPr>
              <a:t>the slow accesses to “remote” data we call “communication”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굴림" pitchFamily="50" charset="-127"/>
                <a:ea typeface="굴림" pitchFamily="50" charset="-127"/>
              </a:rPr>
              <a:t>Algorithm should do most work on local data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+mn-lt"/>
                <a:ea typeface="+mn-ea"/>
              </a:rPr>
              <a:t>Need to exploit spatial and temporal locality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endParaRPr lang="en-US" altLang="ko-KR" sz="3000" b="1" u="sng" kern="0" dirty="0">
              <a:latin typeface="+mn-lt"/>
              <a:ea typeface="+mn-ea"/>
            </a:endParaRPr>
          </a:p>
        </p:txBody>
      </p:sp>
      <p:sp>
        <p:nvSpPr>
          <p:cNvPr id="58371" name="Rectangle 4">
            <a:extLst>
              <a:ext uri="{FF2B5EF4-FFF2-40B4-BE49-F238E27FC236}">
                <a16:creationId xmlns:a16="http://schemas.microsoft.com/office/drawing/2014/main" id="{B93D33E7-4AA1-6E26-5D63-95A55B1F3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14509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2" name="Rectangle 5">
            <a:extLst>
              <a:ext uri="{FF2B5EF4-FFF2-40B4-BE49-F238E27FC236}">
                <a16:creationId xmlns:a16="http://schemas.microsoft.com/office/drawing/2014/main" id="{C8E98B4C-4618-FA4A-3ECB-AEF4EB8D40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950" y="15208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3" name="Rectangle 6">
            <a:extLst>
              <a:ext uri="{FF2B5EF4-FFF2-40B4-BE49-F238E27FC236}">
                <a16:creationId xmlns:a16="http://schemas.microsoft.com/office/drawing/2014/main" id="{0055A44C-5DE1-A66D-2081-AF9DE9CAE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5138" y="14208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74" name="Rectangle 7">
            <a:extLst>
              <a:ext uri="{FF2B5EF4-FFF2-40B4-BE49-F238E27FC236}">
                <a16:creationId xmlns:a16="http://schemas.microsoft.com/office/drawing/2014/main" id="{65E8B539-A18B-6380-B0BE-A9C48B972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0" y="17494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5" name="Rectangle 8">
            <a:extLst>
              <a:ext uri="{FF2B5EF4-FFF2-40B4-BE49-F238E27FC236}">
                <a16:creationId xmlns:a16="http://schemas.microsoft.com/office/drawing/2014/main" id="{0F33FDC4-056F-8F8E-B9A1-DD74023DC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8938" y="1706563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76" name="Rectangle 9">
            <a:extLst>
              <a:ext uri="{FF2B5EF4-FFF2-40B4-BE49-F238E27FC236}">
                <a16:creationId xmlns:a16="http://schemas.microsoft.com/office/drawing/2014/main" id="{D656D82C-4EE5-15F4-4CC6-13BFB786B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350" y="20542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7" name="Rectangle 10">
            <a:extLst>
              <a:ext uri="{FF2B5EF4-FFF2-40B4-BE49-F238E27FC236}">
                <a16:creationId xmlns:a16="http://schemas.microsoft.com/office/drawing/2014/main" id="{4DE9F5C6-0109-2720-ECA7-700FBCB14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6538" y="20113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78" name="Rectangle 11">
            <a:extLst>
              <a:ext uri="{FF2B5EF4-FFF2-40B4-BE49-F238E27FC236}">
                <a16:creationId xmlns:a16="http://schemas.microsoft.com/office/drawing/2014/main" id="{DC8211AB-9367-5702-EB9F-C3A667CA9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28924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9" name="Rectangle 12">
            <a:extLst>
              <a:ext uri="{FF2B5EF4-FFF2-40B4-BE49-F238E27FC236}">
                <a16:creationId xmlns:a16="http://schemas.microsoft.com/office/drawing/2014/main" id="{77A0C343-8019-7B61-C581-CC50C6BB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0338" y="30019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80" name="Rectangle 13">
            <a:extLst>
              <a:ext uri="{FF2B5EF4-FFF2-40B4-BE49-F238E27FC236}">
                <a16:creationId xmlns:a16="http://schemas.microsoft.com/office/drawing/2014/main" id="{721A55A9-6731-C2B5-05A0-55BD2FBE0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39592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1" name="Rectangle 14">
            <a:extLst>
              <a:ext uri="{FF2B5EF4-FFF2-40B4-BE49-F238E27FC236}">
                <a16:creationId xmlns:a16="http://schemas.microsoft.com/office/drawing/2014/main" id="{841F6BF3-52DB-AEE7-8AB1-B81C57F5C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925" y="41449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82" name="Line 15">
            <a:extLst>
              <a:ext uri="{FF2B5EF4-FFF2-40B4-BE49-F238E27FC236}">
                <a16:creationId xmlns:a16="http://schemas.microsoft.com/office/drawing/2014/main" id="{345182C0-1F0B-F213-05F3-B05871FCD2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25812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3" name="Line 16">
            <a:extLst>
              <a:ext uri="{FF2B5EF4-FFF2-40B4-BE49-F238E27FC236}">
                <a16:creationId xmlns:a16="http://schemas.microsoft.com/office/drawing/2014/main" id="{EC7F581B-A7CC-24AA-94D7-797261DB5DF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5718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4" name="Rectangle 17">
            <a:extLst>
              <a:ext uri="{FF2B5EF4-FFF2-40B4-BE49-F238E27FC236}">
                <a16:creationId xmlns:a16="http://schemas.microsoft.com/office/drawing/2014/main" id="{4DE9160D-4827-C750-60EA-80EC92295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25" y="1035050"/>
            <a:ext cx="15049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Conventional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Storage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Hierarchy</a:t>
            </a:r>
          </a:p>
        </p:txBody>
      </p:sp>
      <p:sp>
        <p:nvSpPr>
          <p:cNvPr id="58385" name="Rectangle 18">
            <a:extLst>
              <a:ext uri="{FF2B5EF4-FFF2-40B4-BE49-F238E27FC236}">
                <a16:creationId xmlns:a16="http://schemas.microsoft.com/office/drawing/2014/main" id="{DF2412E8-6861-F178-4F1A-67C29E33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6" name="Rectangle 19">
            <a:extLst>
              <a:ext uri="{FF2B5EF4-FFF2-40B4-BE49-F238E27FC236}">
                <a16:creationId xmlns:a16="http://schemas.microsoft.com/office/drawing/2014/main" id="{4FF789C1-3B6A-E1BC-C67E-79918479B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7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7" name="Rectangle 20">
            <a:extLst>
              <a:ext uri="{FF2B5EF4-FFF2-40B4-BE49-F238E27FC236}">
                <a16:creationId xmlns:a16="http://schemas.microsoft.com/office/drawing/2014/main" id="{0EE926E3-A01C-DC23-427D-B2554F9841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1365250"/>
            <a:ext cx="6286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88" name="Rectangle 21">
            <a:extLst>
              <a:ext uri="{FF2B5EF4-FFF2-40B4-BE49-F238E27FC236}">
                <a16:creationId xmlns:a16="http://schemas.microsoft.com/office/drawing/2014/main" id="{94D2D64A-2B21-8665-2BE6-AA997517C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9" name="Rectangle 22">
            <a:extLst>
              <a:ext uri="{FF2B5EF4-FFF2-40B4-BE49-F238E27FC236}">
                <a16:creationId xmlns:a16="http://schemas.microsoft.com/office/drawing/2014/main" id="{697268F5-8777-A488-9E87-58F7B2346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07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90" name="Rectangle 23">
            <a:extLst>
              <a:ext uri="{FF2B5EF4-FFF2-40B4-BE49-F238E27FC236}">
                <a16:creationId xmlns:a16="http://schemas.microsoft.com/office/drawing/2014/main" id="{8ABB1F13-0C3F-7027-031C-F3CF11A4C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1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1" name="Rectangle 24">
            <a:extLst>
              <a:ext uri="{FF2B5EF4-FFF2-40B4-BE49-F238E27FC236}">
                <a16:creationId xmlns:a16="http://schemas.microsoft.com/office/drawing/2014/main" id="{93A775E1-9EBE-5F44-A960-4C1C0279C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3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92" name="Rectangle 25">
            <a:extLst>
              <a:ext uri="{FF2B5EF4-FFF2-40B4-BE49-F238E27FC236}">
                <a16:creationId xmlns:a16="http://schemas.microsoft.com/office/drawing/2014/main" id="{0EA27043-47A7-BA71-CBB6-AB7A3E416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59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3" name="Rectangle 26">
            <a:extLst>
              <a:ext uri="{FF2B5EF4-FFF2-40B4-BE49-F238E27FC236}">
                <a16:creationId xmlns:a16="http://schemas.microsoft.com/office/drawing/2014/main" id="{A2B3B81A-0294-24F5-BE76-93B4A60A73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94" name="Rectangle 27">
            <a:extLst>
              <a:ext uri="{FF2B5EF4-FFF2-40B4-BE49-F238E27FC236}">
                <a16:creationId xmlns:a16="http://schemas.microsoft.com/office/drawing/2014/main" id="{54C638C8-0884-7C00-86B2-13413A9AA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73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5" name="Rectangle 28">
            <a:extLst>
              <a:ext uri="{FF2B5EF4-FFF2-40B4-BE49-F238E27FC236}">
                <a16:creationId xmlns:a16="http://schemas.microsoft.com/office/drawing/2014/main" id="{1C71B22F-38F3-0CB6-4C65-0AA82B01F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3725" y="4067175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96" name="Line 29">
            <a:extLst>
              <a:ext uri="{FF2B5EF4-FFF2-40B4-BE49-F238E27FC236}">
                <a16:creationId xmlns:a16="http://schemas.microsoft.com/office/drawing/2014/main" id="{A4BD910C-6358-D814-AB3E-D828304AED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7" name="Line 30">
            <a:extLst>
              <a:ext uri="{FF2B5EF4-FFF2-40B4-BE49-F238E27FC236}">
                <a16:creationId xmlns:a16="http://schemas.microsoft.com/office/drawing/2014/main" id="{803D72AE-4EF7-56DC-4C8D-A47D0C6013EA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8" name="Rectangle 31">
            <a:extLst>
              <a:ext uri="{FF2B5EF4-FFF2-40B4-BE49-F238E27FC236}">
                <a16:creationId xmlns:a16="http://schemas.microsoft.com/office/drawing/2014/main" id="{CE50764D-9AF3-8FE0-2F6C-B79C7DB626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35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9" name="Rectangle 32">
            <a:extLst>
              <a:ext uri="{FF2B5EF4-FFF2-40B4-BE49-F238E27FC236}">
                <a16:creationId xmlns:a16="http://schemas.microsoft.com/office/drawing/2014/main" id="{C7331C47-814A-16FA-B865-A5E615E89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0" name="Rectangle 33">
            <a:extLst>
              <a:ext uri="{FF2B5EF4-FFF2-40B4-BE49-F238E27FC236}">
                <a16:creationId xmlns:a16="http://schemas.microsoft.com/office/drawing/2014/main" id="{BCF59F34-6137-3244-80B1-FD921DFB1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8138" y="13573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401" name="Rectangle 34">
            <a:extLst>
              <a:ext uri="{FF2B5EF4-FFF2-40B4-BE49-F238E27FC236}">
                <a16:creationId xmlns:a16="http://schemas.microsoft.com/office/drawing/2014/main" id="{F5F6F72A-0763-9B98-2D7E-D67E6C3F0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57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2" name="Rectangle 35">
            <a:extLst>
              <a:ext uri="{FF2B5EF4-FFF2-40B4-BE49-F238E27FC236}">
                <a16:creationId xmlns:a16="http://schemas.microsoft.com/office/drawing/2014/main" id="{586AC35D-3806-59EB-7DAA-DEA43DFD0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19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403" name="Rectangle 36">
            <a:extLst>
              <a:ext uri="{FF2B5EF4-FFF2-40B4-BE49-F238E27FC236}">
                <a16:creationId xmlns:a16="http://schemas.microsoft.com/office/drawing/2014/main" id="{7C14626C-BF69-3A2A-20A7-CCEA9D77A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33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4" name="Rectangle 37">
            <a:extLst>
              <a:ext uri="{FF2B5EF4-FFF2-40B4-BE49-F238E27FC236}">
                <a16:creationId xmlns:a16="http://schemas.microsoft.com/office/drawing/2014/main" id="{0289268C-5C93-1469-42EA-20E656FC6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95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405" name="Rectangle 38">
            <a:extLst>
              <a:ext uri="{FF2B5EF4-FFF2-40B4-BE49-F238E27FC236}">
                <a16:creationId xmlns:a16="http://schemas.microsoft.com/office/drawing/2014/main" id="{4F64DFDC-C0D1-103E-9EEE-19C5C968C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71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6" name="Rectangle 39">
            <a:extLst>
              <a:ext uri="{FF2B5EF4-FFF2-40B4-BE49-F238E27FC236}">
                <a16:creationId xmlns:a16="http://schemas.microsoft.com/office/drawing/2014/main" id="{58433B4F-32A1-54AA-F2D2-514BF8DFB8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33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407" name="Rectangle 40">
            <a:extLst>
              <a:ext uri="{FF2B5EF4-FFF2-40B4-BE49-F238E27FC236}">
                <a16:creationId xmlns:a16="http://schemas.microsoft.com/office/drawing/2014/main" id="{0B0BB51C-9D8B-B860-8064-BD8107AE6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8" name="Rectangle 41">
            <a:extLst>
              <a:ext uri="{FF2B5EF4-FFF2-40B4-BE49-F238E27FC236}">
                <a16:creationId xmlns:a16="http://schemas.microsoft.com/office/drawing/2014/main" id="{6E8C1DDE-D975-C785-B678-B356DC823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40814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409" name="Line 42">
            <a:extLst>
              <a:ext uri="{FF2B5EF4-FFF2-40B4-BE49-F238E27FC236}">
                <a16:creationId xmlns:a16="http://schemas.microsoft.com/office/drawing/2014/main" id="{9EB5D4B4-040B-A246-F244-93664D5B20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0" name="Line 43">
            <a:extLst>
              <a:ext uri="{FF2B5EF4-FFF2-40B4-BE49-F238E27FC236}">
                <a16:creationId xmlns:a16="http://schemas.microsoft.com/office/drawing/2014/main" id="{259D686C-E3AA-781E-831C-34D69C6993FA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1" name="AutoShape 44" descr="Light downward diagonal">
            <a:extLst>
              <a:ext uri="{FF2B5EF4-FFF2-40B4-BE49-F238E27FC236}">
                <a16:creationId xmlns:a16="http://schemas.microsoft.com/office/drawing/2014/main" id="{965FD6E1-20CC-79A9-5834-D7424F162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2587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2" name="AutoShape 45" descr="Light downward diagonal">
            <a:extLst>
              <a:ext uri="{FF2B5EF4-FFF2-40B4-BE49-F238E27FC236}">
                <a16:creationId xmlns:a16="http://schemas.microsoft.com/office/drawing/2014/main" id="{5678E25D-8376-917B-B193-647413653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35782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3" name="AutoShape 46" descr="Light downward diagonal">
            <a:extLst>
              <a:ext uri="{FF2B5EF4-FFF2-40B4-BE49-F238E27FC236}">
                <a16:creationId xmlns:a16="http://schemas.microsoft.com/office/drawing/2014/main" id="{2AE843B6-0B09-0528-2987-55751562A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4873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4" name="Line 47">
            <a:extLst>
              <a:ext uri="{FF2B5EF4-FFF2-40B4-BE49-F238E27FC236}">
                <a16:creationId xmlns:a16="http://schemas.microsoft.com/office/drawing/2014/main" id="{0B800CB8-7A82-CFC6-0D67-81ED74669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5" name="Line 48">
            <a:extLst>
              <a:ext uri="{FF2B5EF4-FFF2-40B4-BE49-F238E27FC236}">
                <a16:creationId xmlns:a16="http://schemas.microsoft.com/office/drawing/2014/main" id="{EB267BE7-BA62-B7CA-79A2-2D6340A88B9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6" name="Rectangle 49">
            <a:extLst>
              <a:ext uri="{FF2B5EF4-FFF2-40B4-BE49-F238E27FC236}">
                <a16:creationId xmlns:a16="http://schemas.microsoft.com/office/drawing/2014/main" id="{036A0751-A618-3ADD-9CDE-B7ED69B95FE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781925" y="3119438"/>
            <a:ext cx="14890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potential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interconnects</a:t>
            </a:r>
          </a:p>
        </p:txBody>
      </p:sp>
      <p:sp>
        <p:nvSpPr>
          <p:cNvPr id="58417" name="Line 50">
            <a:extLst>
              <a:ext uri="{FF2B5EF4-FFF2-40B4-BE49-F238E27FC236}">
                <a16:creationId xmlns:a16="http://schemas.microsoft.com/office/drawing/2014/main" id="{82DEF94E-7D10-17D8-C374-3429BF671AB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72400" y="2733675"/>
            <a:ext cx="38100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8" name="Line 51">
            <a:extLst>
              <a:ext uri="{FF2B5EF4-FFF2-40B4-BE49-F238E27FC236}">
                <a16:creationId xmlns:a16="http://schemas.microsoft.com/office/drawing/2014/main" id="{607F9F77-D2EE-7072-0865-C49AAE7C33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14675"/>
            <a:ext cx="4572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9" name="Line 52">
            <a:extLst>
              <a:ext uri="{FF2B5EF4-FFF2-40B4-BE49-F238E27FC236}">
                <a16:creationId xmlns:a16="http://schemas.microsoft.com/office/drawing/2014/main" id="{B033986A-2E47-6D2D-764E-632400C681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90875"/>
            <a:ext cx="457200" cy="1676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제목 1">
            <a:extLst>
              <a:ext uri="{FF2B5EF4-FFF2-40B4-BE49-F238E27FC236}">
                <a16:creationId xmlns:a16="http://schemas.microsoft.com/office/drawing/2014/main" id="{C2B31E0B-7789-828C-6D8A-7A4F29B3D4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 b="1"/>
          </a:p>
        </p:txBody>
      </p:sp>
      <p:sp>
        <p:nvSpPr>
          <p:cNvPr id="59394" name="내용 개체 틀 2">
            <a:extLst>
              <a:ext uri="{FF2B5EF4-FFF2-40B4-BE49-F238E27FC236}">
                <a16:creationId xmlns:a16="http://schemas.microsoft.com/office/drawing/2014/main" id="{D2F57CE8-E579-989E-4F0E-0448847F6C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9395" name="Picture 2">
            <a:extLst>
              <a:ext uri="{FF2B5EF4-FFF2-40B4-BE49-F238E27FC236}">
                <a16:creationId xmlns:a16="http://schemas.microsoft.com/office/drawing/2014/main" id="{CB13D0B2-6B0D-DD68-AD81-886BDBB36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574800"/>
            <a:ext cx="8205787" cy="4878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제목 1">
            <a:extLst>
              <a:ext uri="{FF2B5EF4-FFF2-40B4-BE49-F238E27FC236}">
                <a16:creationId xmlns:a16="http://schemas.microsoft.com/office/drawing/2014/main" id="{C8239946-46C2-DD5C-B05D-F20C0740E7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/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A97B4C7E-7946-68DE-58F6-C33B9A980C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1587500"/>
            <a:ext cx="7920037" cy="479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제목 1">
            <a:extLst>
              <a:ext uri="{FF2B5EF4-FFF2-40B4-BE49-F238E27FC236}">
                <a16:creationId xmlns:a16="http://schemas.microsoft.com/office/drawing/2014/main" id="{C0498088-5A1E-47F1-5CAC-B1472D36C2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Memory Access Latency in</a:t>
            </a:r>
            <a:br>
              <a:rPr lang="en-US" altLang="ko-KR" sz="3600" b="1" u="sng"/>
            </a:br>
            <a:r>
              <a:rPr lang="en-US" altLang="ko-KR" sz="3600" b="1" u="sng"/>
              <a:t>Shared Memory Architectures</a:t>
            </a:r>
            <a:endParaRPr lang="ko-KR" altLang="en-US" sz="3600" u="sng"/>
          </a:p>
        </p:txBody>
      </p:sp>
      <p:sp>
        <p:nvSpPr>
          <p:cNvPr id="61442" name="내용 개체 틀 2">
            <a:extLst>
              <a:ext uri="{FF2B5EF4-FFF2-40B4-BE49-F238E27FC236}">
                <a16:creationId xmlns:a16="http://schemas.microsoft.com/office/drawing/2014/main" id="{9554494D-70C2-0A6F-797D-253AAC6182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Uniform Memory Access (UMA)</a:t>
            </a:r>
          </a:p>
          <a:p>
            <a:pPr lvl="1"/>
            <a:r>
              <a:rPr lang="en-US" altLang="ko-KR" sz="1800"/>
              <a:t>Centrally located memory</a:t>
            </a:r>
          </a:p>
          <a:p>
            <a:pPr lvl="1"/>
            <a:r>
              <a:rPr lang="en-US" altLang="ko-KR" sz="1800"/>
              <a:t>All processors are equidistant (access times)</a:t>
            </a:r>
          </a:p>
          <a:p>
            <a:endParaRPr lang="en-US" altLang="ko-KR" sz="2400"/>
          </a:p>
          <a:p>
            <a:r>
              <a:rPr lang="en-US" altLang="ko-KR" sz="2400"/>
              <a:t>Non-Uniform Access (NUMA)</a:t>
            </a:r>
          </a:p>
          <a:p>
            <a:pPr lvl="1"/>
            <a:r>
              <a:rPr lang="en-US" altLang="ko-KR" sz="1800"/>
              <a:t>Physically partitioned but accessible by all</a:t>
            </a:r>
          </a:p>
          <a:p>
            <a:pPr lvl="1"/>
            <a:r>
              <a:rPr lang="en-US" altLang="ko-KR" sz="1800"/>
              <a:t>Processors have the same address space</a:t>
            </a:r>
          </a:p>
          <a:p>
            <a:pPr lvl="1"/>
            <a:r>
              <a:rPr lang="en-US" altLang="ko-KR" sz="1800"/>
              <a:t>Placement of data affects performance</a:t>
            </a:r>
          </a:p>
          <a:p>
            <a:pPr lvl="1"/>
            <a:r>
              <a:rPr lang="en-US" altLang="ko-KR" sz="1800"/>
              <a:t>CC-NUMA (</a:t>
            </a:r>
            <a:r>
              <a:rPr lang="en-US" altLang="ko-KR" sz="1800" b="1"/>
              <a:t>Cache-Coherent</a:t>
            </a:r>
            <a:r>
              <a:rPr lang="en-US" altLang="ko-KR" sz="1800"/>
              <a:t> NUMA)</a:t>
            </a:r>
          </a:p>
        </p:txBody>
      </p:sp>
      <p:pic>
        <p:nvPicPr>
          <p:cNvPr id="61443" name="Picture 2">
            <a:extLst>
              <a:ext uri="{FF2B5EF4-FFF2-40B4-BE49-F238E27FC236}">
                <a16:creationId xmlns:a16="http://schemas.microsoft.com/office/drawing/2014/main" id="{0CC103FC-B9B9-E75B-2B94-24C164FB7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941888"/>
            <a:ext cx="2379662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4" name="Picture 3">
            <a:extLst>
              <a:ext uri="{FF2B5EF4-FFF2-40B4-BE49-F238E27FC236}">
                <a16:creationId xmlns:a16="http://schemas.microsoft.com/office/drawing/2014/main" id="{29090A67-A125-7BE0-35E3-1FB87D0D48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713" y="5084763"/>
            <a:ext cx="3097212" cy="156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제목 1">
            <a:extLst>
              <a:ext uri="{FF2B5EF4-FFF2-40B4-BE49-F238E27FC236}">
                <a16:creationId xmlns:a16="http://schemas.microsoft.com/office/drawing/2014/main" id="{24CAEA40-D045-5725-6860-CA540E173B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</a:t>
            </a:r>
            <a:endParaRPr lang="ko-KR" altLang="en-US" b="1" u="sng"/>
          </a:p>
        </p:txBody>
      </p:sp>
      <p:sp>
        <p:nvSpPr>
          <p:cNvPr id="68610" name="내용 개체 틀 2">
            <a:extLst>
              <a:ext uri="{FF2B5EF4-FFF2-40B4-BE49-F238E27FC236}">
                <a16:creationId xmlns:a16="http://schemas.microsoft.com/office/drawing/2014/main" id="{4C92C52A-2DC3-DA76-FB53-75353E8DF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800"/>
              <a:t>the uniformity of shared resource data that ends up stored in multiple local caches </a:t>
            </a:r>
            <a:endParaRPr lang="ko-KR" altLang="en-US" sz="2800"/>
          </a:p>
          <a:p>
            <a:endParaRPr lang="en-US" altLang="ko-KR" sz="2800"/>
          </a:p>
          <a:p>
            <a:r>
              <a:rPr lang="en-US" altLang="ko-KR" sz="2800"/>
              <a:t>Problem: When a processor modifies a shared variable in local cache, different processors may have different value of the variable.</a:t>
            </a:r>
          </a:p>
          <a:p>
            <a:pPr lvl="1"/>
            <a:r>
              <a:rPr lang="en-US" altLang="en-US" sz="2000"/>
              <a:t>Copies of a variable can be present in multiple caches</a:t>
            </a:r>
          </a:p>
          <a:p>
            <a:pPr lvl="1"/>
            <a:r>
              <a:rPr lang="en-US" altLang="en-US" sz="2000"/>
              <a:t>A write by one processor may not become visible to others</a:t>
            </a:r>
          </a:p>
          <a:p>
            <a:pPr lvl="1"/>
            <a:r>
              <a:rPr lang="en-US" altLang="en-US" sz="2000"/>
              <a:t>They'll keep accessing stale value in their caches</a:t>
            </a:r>
          </a:p>
          <a:p>
            <a:pPr lvl="1"/>
            <a:r>
              <a:rPr lang="en-US" altLang="en-US" sz="2000"/>
              <a:t>Need to take actions to ensure visibility or cache coherence</a:t>
            </a:r>
            <a:endParaRPr lang="en-US" altLang="ko-KR" sz="2000"/>
          </a:p>
          <a:p>
            <a:pPr lvl="1"/>
            <a:endParaRPr lang="en-US" altLang="ko-K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제목 1">
            <a:extLst>
              <a:ext uri="{FF2B5EF4-FFF2-40B4-BE49-F238E27FC236}">
                <a16:creationId xmlns:a16="http://schemas.microsoft.com/office/drawing/2014/main" id="{040247E4-D7F0-0A40-5B0E-678D8B3BED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 </a:t>
            </a:r>
            <a:endParaRPr lang="ko-KR" altLang="en-US" b="1" u="sng"/>
          </a:p>
        </p:txBody>
      </p:sp>
      <p:sp>
        <p:nvSpPr>
          <p:cNvPr id="69634" name="내용 개체 틀 2">
            <a:extLst>
              <a:ext uri="{FF2B5EF4-FFF2-40B4-BE49-F238E27FC236}">
                <a16:creationId xmlns:a16="http://schemas.microsoft.com/office/drawing/2014/main" id="{0A6F0FCD-80F2-4123-0016-620D1B25CC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/>
              <a:t>Snooping cache coherence</a:t>
            </a:r>
          </a:p>
          <a:p>
            <a:pPr lvl="1"/>
            <a:r>
              <a:rPr lang="en-US" altLang="ko-KR"/>
              <a:t>Send all requests for data to all processors</a:t>
            </a:r>
          </a:p>
          <a:p>
            <a:pPr lvl="1"/>
            <a:r>
              <a:rPr lang="en-US" altLang="ko-KR"/>
              <a:t>Works well for small systems</a:t>
            </a:r>
          </a:p>
          <a:p>
            <a:pPr lvl="1"/>
            <a:endParaRPr lang="en-US" altLang="ko-KR"/>
          </a:p>
          <a:p>
            <a:r>
              <a:rPr lang="en-US" altLang="ko-KR" b="1"/>
              <a:t>Directory-based cache coherence</a:t>
            </a:r>
          </a:p>
          <a:p>
            <a:pPr lvl="1"/>
            <a:r>
              <a:rPr lang="en-US" altLang="ko-KR"/>
              <a:t>Keep track of what is being shared in a directory</a:t>
            </a:r>
          </a:p>
          <a:p>
            <a:pPr lvl="1"/>
            <a:r>
              <a:rPr lang="en-US" altLang="ko-KR"/>
              <a:t>Send point-to-point requests to processors</a:t>
            </a:r>
            <a:endParaRPr lang="ko-KR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제목 1">
            <a:extLst>
              <a:ext uri="{FF2B5EF4-FFF2-40B4-BE49-F238E27FC236}">
                <a16:creationId xmlns:a16="http://schemas.microsoft.com/office/drawing/2014/main" id="{005C797D-A222-BCDE-00D0-DA821E7492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Shared Memory Architecture</a:t>
            </a:r>
            <a:endParaRPr lang="ko-KR" altLang="en-US" b="1" u="sng"/>
          </a:p>
        </p:txBody>
      </p:sp>
      <p:sp>
        <p:nvSpPr>
          <p:cNvPr id="62466" name="내용 개체 틀 2">
            <a:extLst>
              <a:ext uri="{FF2B5EF4-FFF2-40B4-BE49-F238E27FC236}">
                <a16:creationId xmlns:a16="http://schemas.microsoft.com/office/drawing/2014/main" id="{0A0A75AB-5457-7E47-81E6-D115756CF4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all processors to access all memory as global address space. (UMA , NUMA)</a:t>
            </a:r>
          </a:p>
          <a:p>
            <a:r>
              <a:rPr lang="en-US" altLang="ko-KR" sz="2400"/>
              <a:t>Advantage</a:t>
            </a:r>
          </a:p>
          <a:p>
            <a:pPr lvl="1"/>
            <a:r>
              <a:rPr lang="en-US" altLang="ko-KR" sz="1800"/>
              <a:t>Global address space provides a user-friendly programming perspective to memory</a:t>
            </a:r>
          </a:p>
          <a:p>
            <a:pPr lvl="1"/>
            <a:r>
              <a:rPr lang="en-US" altLang="ko-KR" sz="1800"/>
              <a:t>Data sharing between tasks is both fast and uniform due to the proximity of memory to CPUs</a:t>
            </a:r>
          </a:p>
          <a:p>
            <a:r>
              <a:rPr lang="en-US" altLang="ko-KR" sz="2400"/>
              <a:t>Disadvantage</a:t>
            </a:r>
          </a:p>
          <a:p>
            <a:pPr lvl="1"/>
            <a:r>
              <a:rPr lang="en-US" altLang="ko-KR" sz="1800"/>
              <a:t>Primary disadvantage is the lack of scalability between memory and CPUs</a:t>
            </a:r>
          </a:p>
          <a:p>
            <a:pPr lvl="1"/>
            <a:r>
              <a:rPr lang="en-US" altLang="ko-KR" sz="1800"/>
              <a:t>Programmer responsibility for synchronization</a:t>
            </a:r>
          </a:p>
          <a:p>
            <a:pPr lvl="1"/>
            <a:r>
              <a:rPr lang="en-US" altLang="ko-KR" sz="1800"/>
              <a:t>Expense: it becomes increasingly difficult and expensive to design and produce shared memory machines with ever increasing numbers of processors.</a:t>
            </a:r>
          </a:p>
          <a:p>
            <a:pPr lvl="1"/>
            <a:endParaRPr lang="ko-KR" altLang="en-US" sz="20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제목 1">
            <a:extLst>
              <a:ext uri="{FF2B5EF4-FFF2-40B4-BE49-F238E27FC236}">
                <a16:creationId xmlns:a16="http://schemas.microsoft.com/office/drawing/2014/main" id="{F02FDD7A-0F32-223C-BFF0-03A221CD42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Distributed Memory Architecture</a:t>
            </a:r>
            <a:endParaRPr lang="ko-KR" altLang="en-US" sz="4000" b="1" u="sng"/>
          </a:p>
        </p:txBody>
      </p:sp>
      <p:sp>
        <p:nvSpPr>
          <p:cNvPr id="63490" name="내용 개체 틀 2">
            <a:extLst>
              <a:ext uri="{FF2B5EF4-FFF2-40B4-BE49-F238E27FC236}">
                <a16:creationId xmlns:a16="http://schemas.microsoft.com/office/drawing/2014/main" id="{0AE12259-2364-34FB-F312-AFC2F6182A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Characteristics</a:t>
            </a:r>
          </a:p>
          <a:p>
            <a:pPr lvl="1"/>
            <a:r>
              <a:rPr lang="en-US" altLang="ko-KR" sz="2000"/>
              <a:t>Only private(local) memory</a:t>
            </a:r>
          </a:p>
          <a:p>
            <a:pPr lvl="1"/>
            <a:r>
              <a:rPr lang="en-US" altLang="ko-KR" sz="2000"/>
              <a:t>Independent</a:t>
            </a:r>
          </a:p>
          <a:p>
            <a:pPr lvl="1"/>
            <a:r>
              <a:rPr lang="en-US" altLang="ko-KR" sz="2000"/>
              <a:t>require a communication network to connect inter-processor memory</a:t>
            </a:r>
          </a:p>
          <a:p>
            <a:r>
              <a:rPr lang="en-US" altLang="ko-KR" sz="2800"/>
              <a:t>Advantages</a:t>
            </a:r>
          </a:p>
          <a:p>
            <a:pPr lvl="1"/>
            <a:r>
              <a:rPr lang="en-US" altLang="ko-KR" sz="2000"/>
              <a:t>Scalable (processors, memory)</a:t>
            </a:r>
          </a:p>
          <a:p>
            <a:pPr lvl="1"/>
            <a:r>
              <a:rPr lang="en-US" altLang="ko-KR" sz="2000"/>
              <a:t>Cost effective </a:t>
            </a:r>
          </a:p>
          <a:p>
            <a:r>
              <a:rPr lang="en-US" altLang="ko-KR" sz="2800"/>
              <a:t>Disadvantages</a:t>
            </a:r>
          </a:p>
          <a:p>
            <a:pPr lvl="1"/>
            <a:r>
              <a:rPr lang="en-US" altLang="ko-KR" sz="2000"/>
              <a:t>Programmer responsibility of data communication</a:t>
            </a:r>
          </a:p>
          <a:p>
            <a:pPr lvl="1"/>
            <a:r>
              <a:rPr lang="en-US" altLang="ko-KR" sz="2000"/>
              <a:t>No global memory access</a:t>
            </a:r>
          </a:p>
          <a:p>
            <a:pPr lvl="1"/>
            <a:r>
              <a:rPr lang="en-US" altLang="ko-KR" sz="2000"/>
              <a:t>Non-uniform memory access time</a:t>
            </a:r>
          </a:p>
          <a:p>
            <a:endParaRPr lang="en-US" altLang="ko-KR" sz="2800"/>
          </a:p>
          <a:p>
            <a:endParaRPr lang="ko-KR" altLang="en-US" sz="2800"/>
          </a:p>
        </p:txBody>
      </p:sp>
      <p:pic>
        <p:nvPicPr>
          <p:cNvPr id="63491" name="Picture 2">
            <a:extLst>
              <a:ext uri="{FF2B5EF4-FFF2-40B4-BE49-F238E27FC236}">
                <a16:creationId xmlns:a16="http://schemas.microsoft.com/office/drawing/2014/main" id="{43737C21-6B83-1751-68C9-10DAB81BC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888" y="1412875"/>
            <a:ext cx="3059112" cy="123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제목 1">
            <a:extLst>
              <a:ext uri="{FF2B5EF4-FFF2-40B4-BE49-F238E27FC236}">
                <a16:creationId xmlns:a16="http://schemas.microsoft.com/office/drawing/2014/main" id="{CF5FA555-5F8B-7C81-6285-041EED456C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Hybrid Architecture</a:t>
            </a:r>
            <a:endParaRPr lang="ko-KR" altLang="en-US" b="1" u="sng"/>
          </a:p>
        </p:txBody>
      </p:sp>
      <p:sp>
        <p:nvSpPr>
          <p:cNvPr id="64514" name="내용 개체 틀 2">
            <a:extLst>
              <a:ext uri="{FF2B5EF4-FFF2-40B4-BE49-F238E27FC236}">
                <a16:creationId xmlns:a16="http://schemas.microsoft.com/office/drawing/2014/main" id="{0E4CE25D-B182-A118-6C42-E2E8407123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Advantages/Disadvantage</a:t>
            </a:r>
          </a:p>
          <a:p>
            <a:pPr lvl="1"/>
            <a:r>
              <a:rPr lang="en-US" altLang="ko-KR"/>
              <a:t>Combination of Shared/Distributed architecture</a:t>
            </a:r>
          </a:p>
          <a:p>
            <a:pPr lvl="1"/>
            <a:r>
              <a:rPr lang="en-US" altLang="ko-KR"/>
              <a:t>Scalable</a:t>
            </a:r>
          </a:p>
          <a:p>
            <a:pPr lvl="1"/>
            <a:r>
              <a:rPr lang="en-US" altLang="ko-KR"/>
              <a:t>Increased programmer complexity</a:t>
            </a:r>
          </a:p>
          <a:p>
            <a:pPr lvl="1"/>
            <a:endParaRPr lang="ko-KR" altLang="en-US"/>
          </a:p>
        </p:txBody>
      </p:sp>
      <p:pic>
        <p:nvPicPr>
          <p:cNvPr id="64515" name="Picture 2" descr="Hybrid memory architecture">
            <a:extLst>
              <a:ext uri="{FF2B5EF4-FFF2-40B4-BE49-F238E27FC236}">
                <a16:creationId xmlns:a16="http://schemas.microsoft.com/office/drawing/2014/main" id="{0A7844DE-5CDF-7384-0FF8-D429BF78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916113"/>
            <a:ext cx="3889375" cy="157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16" name="Picture 4" descr="Hybrid memory architecture">
            <a:extLst>
              <a:ext uri="{FF2B5EF4-FFF2-40B4-BE49-F238E27FC236}">
                <a16:creationId xmlns:a16="http://schemas.microsoft.com/office/drawing/2014/main" id="{C3894869-301F-61F7-69BA-2E6B702BAB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1862138"/>
            <a:ext cx="4033837" cy="163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제목 1">
            <a:extLst>
              <a:ext uri="{FF2B5EF4-FFF2-40B4-BE49-F238E27FC236}">
                <a16:creationId xmlns:a16="http://schemas.microsoft.com/office/drawing/2014/main" id="{6E9B27EE-EE2D-D38D-718E-9AEAC10BF1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en-US" altLang="ko-KR" b="1" u="sng"/>
              <a:t>Example of Parallel Program</a:t>
            </a:r>
            <a:endParaRPr lang="ko-KR" altLang="en-US" b="1" u="sng"/>
          </a:p>
        </p:txBody>
      </p:sp>
      <p:sp>
        <p:nvSpPr>
          <p:cNvPr id="65538" name="내용 개체 틀 2">
            <a:extLst>
              <a:ext uri="{FF2B5EF4-FFF2-40B4-BE49-F238E27FC236}">
                <a16:creationId xmlns:a16="http://schemas.microsoft.com/office/drawing/2014/main" id="{05F34A85-D735-10A2-D9C0-2E2955103D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5539" name="Picture 3">
            <a:extLst>
              <a:ext uri="{FF2B5EF4-FFF2-40B4-BE49-F238E27FC236}">
                <a16:creationId xmlns:a16="http://schemas.microsoft.com/office/drawing/2014/main" id="{CE4DD824-90C5-AF54-AF6D-C83A2E103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120775"/>
            <a:ext cx="8785225" cy="5586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제목 1">
            <a:extLst>
              <a:ext uri="{FF2B5EF4-FFF2-40B4-BE49-F238E27FC236}">
                <a16:creationId xmlns:a16="http://schemas.microsoft.com/office/drawing/2014/main" id="{9AA9ABE9-C62D-B9A3-4849-7E35BFD765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Ray Tracing</a:t>
            </a:r>
            <a:endParaRPr lang="ko-KR" altLang="en-US" b="1" u="sng"/>
          </a:p>
        </p:txBody>
      </p:sp>
      <p:sp>
        <p:nvSpPr>
          <p:cNvPr id="66562" name="내용 개체 틀 2">
            <a:extLst>
              <a:ext uri="{FF2B5EF4-FFF2-40B4-BE49-F238E27FC236}">
                <a16:creationId xmlns:a16="http://schemas.microsoft.com/office/drawing/2014/main" id="{99542C80-145B-7CA8-BD51-FCA59BA2C4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Shoot a ray into scene through every pixel in image plane</a:t>
            </a:r>
          </a:p>
          <a:p>
            <a:r>
              <a:rPr lang="en-US" altLang="ko-KR" sz="2800"/>
              <a:t>Follow their paths</a:t>
            </a:r>
          </a:p>
          <a:p>
            <a:pPr lvl="1"/>
            <a:r>
              <a:rPr lang="en-US" altLang="ko-KR" sz="2400"/>
              <a:t>they bounce around as they strike objects</a:t>
            </a:r>
          </a:p>
          <a:p>
            <a:pPr lvl="1"/>
            <a:r>
              <a:rPr lang="en-US" altLang="ko-KR" sz="2400"/>
              <a:t>they generate new rays: ray tree per input ray</a:t>
            </a:r>
          </a:p>
          <a:p>
            <a:r>
              <a:rPr lang="en-US" altLang="ko-KR" sz="2800"/>
              <a:t>Result is color and opacity for that pixel</a:t>
            </a:r>
          </a:p>
          <a:p>
            <a:r>
              <a:rPr lang="en-US" altLang="ko-KR" sz="2800"/>
              <a:t>Parallelism across rays</a:t>
            </a:r>
            <a:endParaRPr lang="ko-KR" altLang="en-US" sz="28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BC3CF5-25D1-0150-FD1F-7BC180C45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Multithreading Benefits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382E3-9DB2-287B-7855-3D57927C2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Better CPU utilization (better throughput)</a:t>
            </a:r>
          </a:p>
          <a:p>
            <a:pPr lvl="1"/>
            <a:r>
              <a:rPr lang="en-US" altLang="ko-Kore-KR" dirty="0"/>
              <a:t>Blocking I/O + processing</a:t>
            </a:r>
          </a:p>
          <a:p>
            <a:r>
              <a:rPr kumimoji="1" lang="en-US" altLang="ko-Kore-KR" dirty="0"/>
              <a:t>More responsive programs</a:t>
            </a:r>
          </a:p>
          <a:p>
            <a:pPr lvl="1"/>
            <a:r>
              <a:rPr lang="en-US" altLang="ko-Kore-KR" dirty="0"/>
              <a:t>ex) server loop with listen-for/process request</a:t>
            </a:r>
          </a:p>
          <a:p>
            <a:pPr lvl="1"/>
            <a:r>
              <a:rPr lang="en-US" altLang="ko-Kore-KR" dirty="0"/>
              <a:t>ex) GUI</a:t>
            </a:r>
          </a:p>
          <a:p>
            <a:r>
              <a:rPr kumimoji="1" lang="en-US" altLang="ko-Kore-KR" dirty="0"/>
              <a:t>More fair distribution of CPU resources</a:t>
            </a:r>
          </a:p>
          <a:p>
            <a:endParaRPr lang="en-US" altLang="ko-Kore-KR" dirty="0"/>
          </a:p>
          <a:p>
            <a:r>
              <a:rPr kumimoji="1" lang="en-US" altLang="ko-Kore-KR" dirty="0"/>
              <a:t>High performance (parallel execution)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2789657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0B9B26-5CA2-B664-BF87-7E5344C0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Multithreading costs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0C6FF-5889-8E86-1F46-08DD1A9ED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525963"/>
          </a:xfrm>
        </p:spPr>
        <p:txBody>
          <a:bodyPr/>
          <a:lstStyle/>
          <a:p>
            <a:r>
              <a:rPr kumimoji="1" lang="en-US" altLang="ko-Kore-KR" dirty="0"/>
              <a:t>More complex design</a:t>
            </a:r>
          </a:p>
          <a:p>
            <a:pPr lvl="1"/>
            <a:r>
              <a:rPr lang="en-US" altLang="ko-Kore-KR" sz="2400" dirty="0"/>
              <a:t>ex) shared data access, thread interaction, bug fix</a:t>
            </a:r>
            <a:endParaRPr lang="en-US" altLang="ko-Kore-KR" dirty="0"/>
          </a:p>
          <a:p>
            <a:endParaRPr kumimoji="1" lang="en-US" altLang="ko-Kore-KR" dirty="0"/>
          </a:p>
          <a:p>
            <a:r>
              <a:rPr kumimoji="1" lang="en-US" altLang="ko-Kore-KR" dirty="0"/>
              <a:t>Context switching overhead</a:t>
            </a:r>
          </a:p>
          <a:p>
            <a:pPr lvl="1"/>
            <a:r>
              <a:rPr lang="en-US" altLang="ko-Kore-KR" sz="2400" dirty="0"/>
              <a:t>Saving local data and </a:t>
            </a:r>
            <a:r>
              <a:rPr lang="en-US" altLang="ko-Kore-KR" sz="2400" dirty="0" err="1"/>
              <a:t>etc</a:t>
            </a:r>
            <a:r>
              <a:rPr lang="en-US" altLang="ko-Kore-KR" sz="2400" dirty="0"/>
              <a:t> of current thread</a:t>
            </a:r>
          </a:p>
          <a:p>
            <a:pPr lvl="1"/>
            <a:r>
              <a:rPr lang="en-US" altLang="ko-Kore-KR" sz="2400" dirty="0"/>
              <a:t>Load the local data and </a:t>
            </a:r>
            <a:r>
              <a:rPr lang="en-US" altLang="ko-Kore-KR" sz="2400" dirty="0" err="1"/>
              <a:t>etc</a:t>
            </a:r>
            <a:r>
              <a:rPr lang="en-US" altLang="ko-Kore-KR" sz="2400" dirty="0"/>
              <a:t> of next thread</a:t>
            </a:r>
          </a:p>
          <a:p>
            <a:pPr lvl="1"/>
            <a:endParaRPr lang="en-US" altLang="ko-Kore-KR" dirty="0"/>
          </a:p>
          <a:p>
            <a:r>
              <a:rPr kumimoji="1" lang="en-US" altLang="ko-Kore-KR" dirty="0"/>
              <a:t>Increased resource consumption</a:t>
            </a:r>
          </a:p>
          <a:p>
            <a:pPr lvl="1"/>
            <a:r>
              <a:rPr lang="en-US" altLang="ko-Kore-KR" dirty="0"/>
              <a:t>Thread memory (local stack), OS management</a:t>
            </a:r>
          </a:p>
          <a:p>
            <a:pPr lvl="1"/>
            <a:r>
              <a:rPr kumimoji="1" lang="en-US" altLang="ko-Kore-KR" dirty="0"/>
              <a:t>Thread creation</a:t>
            </a:r>
            <a:r>
              <a:rPr lang="en-US" altLang="ko-Kore-KR" dirty="0"/>
              <a:t>/deletion overhead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631548237"/>
      </p:ext>
    </p:extLst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3039</TotalTime>
  <Words>2391</Words>
  <Application>Microsoft Macintosh PowerPoint</Application>
  <PresentationFormat>화면 슬라이드 쇼(4:3)</PresentationFormat>
  <Paragraphs>390</Paragraphs>
  <Slides>59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5" baseType="lpstr">
      <vt:lpstr>굴림</vt:lpstr>
      <vt:lpstr>맑은 고딕</vt:lpstr>
      <vt:lpstr>Arial</vt:lpstr>
      <vt:lpstr>Courier New</vt:lpstr>
      <vt:lpstr>Wingdings</vt:lpstr>
      <vt:lpstr>네모의 미</vt:lpstr>
      <vt:lpstr>Lecture 3 : Performance of Parallel Programs</vt:lpstr>
      <vt:lpstr>Flynn’s Taxonomy on Parallel Computer</vt:lpstr>
      <vt:lpstr>SISD (Single Instruction, Single Data)</vt:lpstr>
      <vt:lpstr>SIMD (Single Instruction, Multiple Data)</vt:lpstr>
      <vt:lpstr>MISD (Multiple Instruction, Single Data)</vt:lpstr>
      <vt:lpstr>MIMD (Multiple Instruction, Multiple Data)</vt:lpstr>
      <vt:lpstr>Parallel Program Models</vt:lpstr>
      <vt:lpstr>PowerPoint 프레젠테이션</vt:lpstr>
      <vt:lpstr>Creating a Parallel Program</vt:lpstr>
      <vt:lpstr>Decomposition</vt:lpstr>
      <vt:lpstr>Domain Decomposition</vt:lpstr>
      <vt:lpstr>Functional Decomposition</vt:lpstr>
      <vt:lpstr>Assignment</vt:lpstr>
      <vt:lpstr>Orchestration</vt:lpstr>
      <vt:lpstr>Mapping</vt:lpstr>
      <vt:lpstr>Performance of Parallel Programs</vt:lpstr>
      <vt:lpstr>Coverage (Amdahl’s Law)</vt:lpstr>
      <vt:lpstr>Amdahl’s Law</vt:lpstr>
      <vt:lpstr>Amdahl’s Law</vt:lpstr>
      <vt:lpstr>Implications of Amdahl’s Law</vt:lpstr>
      <vt:lpstr>Gustafson’s Law</vt:lpstr>
      <vt:lpstr>Implications</vt:lpstr>
      <vt:lpstr>Performance Scalability</vt:lpstr>
      <vt:lpstr>Granularity</vt:lpstr>
      <vt:lpstr>Granularity (from wikipedia)</vt:lpstr>
      <vt:lpstr>Fine vs. Coarse Granularity</vt:lpstr>
      <vt:lpstr>Fine vs. Coarse Granularity</vt:lpstr>
      <vt:lpstr>Load Balancing</vt:lpstr>
      <vt:lpstr>General Load Balancing Problem</vt:lpstr>
      <vt:lpstr>Load Balancing Problem</vt:lpstr>
      <vt:lpstr>Static load balancing</vt:lpstr>
      <vt:lpstr>Dynamic Load Balancing</vt:lpstr>
      <vt:lpstr>Granularity and Performance Tradeoffs</vt:lpstr>
      <vt:lpstr>Communication</vt:lpstr>
      <vt:lpstr>Factors to consider for communcation</vt:lpstr>
      <vt:lpstr>Factors to consider for communcation</vt:lpstr>
      <vt:lpstr>Factors to consider for communcation</vt:lpstr>
      <vt:lpstr>MPI : Message Passing Library</vt:lpstr>
      <vt:lpstr>Point-to-Point</vt:lpstr>
      <vt:lpstr>Synchronous vs. Asynchronous Messages</vt:lpstr>
      <vt:lpstr>Blocking vs. Non-Blocking Messages</vt:lpstr>
      <vt:lpstr>Broadcast</vt:lpstr>
      <vt:lpstr>Reduction</vt:lpstr>
      <vt:lpstr>Example : Parallel Numerical Integration</vt:lpstr>
      <vt:lpstr>Computing the Integration (MPI)</vt:lpstr>
      <vt:lpstr>Synchronization</vt:lpstr>
      <vt:lpstr>Locality</vt:lpstr>
      <vt:lpstr>Locality of memory access  (shared memory)</vt:lpstr>
      <vt:lpstr>Locality of memory access  (shared memory)</vt:lpstr>
      <vt:lpstr>Memory Access Latency in Shared Memory Architectures</vt:lpstr>
      <vt:lpstr>Cache Coherence</vt:lpstr>
      <vt:lpstr>Cache Coherence </vt:lpstr>
      <vt:lpstr>Shared Memory Architecture</vt:lpstr>
      <vt:lpstr>Distributed Memory Architecture</vt:lpstr>
      <vt:lpstr>Hybrid Architecture</vt:lpstr>
      <vt:lpstr>Example of Parallel Program</vt:lpstr>
      <vt:lpstr>Ray Tracing</vt:lpstr>
      <vt:lpstr>Multithreading Benefits</vt:lpstr>
      <vt:lpstr>Multithreading costs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Microsoft Office User</cp:lastModifiedBy>
  <cp:revision>178</cp:revision>
  <dcterms:created xsi:type="dcterms:W3CDTF">2008-03-06T00:32:01Z</dcterms:created>
  <dcterms:modified xsi:type="dcterms:W3CDTF">2026-03-21T01:40:54Z</dcterms:modified>
</cp:coreProperties>
</file>