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59"/>
  </p:notesMasterIdLst>
  <p:sldIdLst>
    <p:sldId id="346" r:id="rId2"/>
    <p:sldId id="351" r:id="rId3"/>
    <p:sldId id="352" r:id="rId4"/>
    <p:sldId id="354" r:id="rId5"/>
    <p:sldId id="353" r:id="rId6"/>
    <p:sldId id="355" r:id="rId7"/>
    <p:sldId id="366" r:id="rId8"/>
    <p:sldId id="271" r:id="rId9"/>
    <p:sldId id="337" r:id="rId10"/>
    <p:sldId id="336" r:id="rId11"/>
    <p:sldId id="349" r:id="rId12"/>
    <p:sldId id="350" r:id="rId13"/>
    <p:sldId id="338" r:id="rId14"/>
    <p:sldId id="339" r:id="rId15"/>
    <p:sldId id="340" r:id="rId16"/>
    <p:sldId id="308" r:id="rId17"/>
    <p:sldId id="313" r:id="rId18"/>
    <p:sldId id="314" r:id="rId19"/>
    <p:sldId id="315" r:id="rId20"/>
    <p:sldId id="316" r:id="rId21"/>
    <p:sldId id="364" r:id="rId22"/>
    <p:sldId id="365" r:id="rId23"/>
    <p:sldId id="317" r:id="rId24"/>
    <p:sldId id="310" r:id="rId25"/>
    <p:sldId id="319" r:id="rId26"/>
    <p:sldId id="318" r:id="rId27"/>
    <p:sldId id="361" r:id="rId28"/>
    <p:sldId id="323" r:id="rId29"/>
    <p:sldId id="360" r:id="rId30"/>
    <p:sldId id="320" r:id="rId31"/>
    <p:sldId id="321" r:id="rId32"/>
    <p:sldId id="322" r:id="rId33"/>
    <p:sldId id="324" r:id="rId34"/>
    <p:sldId id="325" r:id="rId35"/>
    <p:sldId id="356" r:id="rId36"/>
    <p:sldId id="357" r:id="rId37"/>
    <p:sldId id="358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59" r:id="rId47"/>
    <p:sldId id="311" r:id="rId48"/>
    <p:sldId id="335" r:id="rId49"/>
    <p:sldId id="343" r:id="rId50"/>
    <p:sldId id="344" r:id="rId51"/>
    <p:sldId id="362" r:id="rId52"/>
    <p:sldId id="363" r:id="rId53"/>
    <p:sldId id="345" r:id="rId54"/>
    <p:sldId id="347" r:id="rId55"/>
    <p:sldId id="348" r:id="rId56"/>
    <p:sldId id="341" r:id="rId57"/>
    <p:sldId id="342" r:id="rId58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5"/>
    <p:restoredTop sz="94626"/>
  </p:normalViewPr>
  <p:slideViewPr>
    <p:cSldViewPr>
      <p:cViewPr varScale="1">
        <p:scale>
          <a:sx n="121" d="100"/>
          <a:sy n="121" d="100"/>
        </p:scale>
        <p:origin x="6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168D21F-6B44-2243-B8AC-FA8CC432FC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452DA4-16B1-5B4B-BEC6-EB2D823E4C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E8317A2-4C9A-7A4F-90E2-7B433A7533CF}" type="datetimeFigureOut">
              <a:rPr lang="ko-KR" altLang="en-US"/>
              <a:pPr>
                <a:defRPr/>
              </a:pPr>
              <a:t>2026. 3. 15.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C69AA88-997C-1342-9422-A60CE1479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882BFA8-3F9F-8E47-BA0A-B95A76BC9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9F3F22-2226-4A46-B94F-E05EEC4A6E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7E1BBA-A771-9449-9D44-14DD2A7A5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04551D7-F650-284F-8B9D-7EAE90F91A6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DF69CC-4471-D033-E28A-5B17692EC84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4A4B262-8A70-1B3F-B3EB-A26E516F8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0FC7807B-4163-4076-217E-9B5F7FB73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EFF30C1-F054-4AEC-18E9-DA028CAA2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789AC6E-E90C-BAD5-95FD-A81313D00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DDE4CFD2-E48D-38B8-A67E-39F7DFFE7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37EC762F-70B2-1622-A809-EFE2F19C5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27F3531B-AB5F-8F04-A472-61A3DCDDD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4738A592-4489-8444-8A48-CB2DF09EC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DEE1E8E-BD7B-D036-01F3-D2858B91B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3330D7E7-AB3C-4FD5-9393-8A46A5476C7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B52EF9C5-837B-ACE2-13D5-818152E51D0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AB446CC-F04D-CB8F-7A5B-55372DD5352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A5E4989-70F6-60A3-DB29-02A33AB3CB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6371B5FC-71AE-2605-3E58-3D1CA4CCEAB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C8CA779E-F219-9D8C-2ED9-0C32EB4AF8C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5A36CF0-C9E3-1BAA-A07C-864828CF47D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C7415599-D8C3-CA5F-034F-CE29077935E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B72943F2-8558-5CD1-270D-B546B41CD1B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9433F882-A213-9036-53FC-CB8246FDB79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55F8773E-B5F6-C282-0E7C-C743650E113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0C6839E9-7176-D4B1-CD6B-7710CB5E944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AB48AE73-DB24-1FE1-7E31-96D77E169CB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C4407E7E-17DD-E1DE-D4A6-71AAF1E7329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43BDB497-A7E4-8C61-E907-DED8B2887EC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0D0255D-F123-0834-23DD-2699E51E2E4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08983BA2-E64C-40F2-93C9-B0AE6EAF2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F511EC81-44FA-DAD1-CCAC-F657EEA1D6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41D46-281F-784C-9FC6-6749B71A89C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625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67ACE5A-560D-DB41-9629-822939E7E0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16AA8CD-CD0B-6740-846E-46CE20DED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00A1E32-DE02-F3B4-1DE1-8089C4F09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593BF3-6D91-4E46-8EAD-47EA37CC5C7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854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AE04F79-4E8C-6180-64E3-0F2D3E0241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555C612-3738-34D9-F20D-FE4309960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1DEB0D9-E105-E207-FE16-04A5363627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CF0D1-6C2C-3E4E-908A-10E116FE1F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267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95ACECF-586F-2CD7-D04C-9185D37C42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EA0DBA00-9581-54F2-CA41-E8276EF97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34086CF-171C-4260-3753-D38FCA12AE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857846-1FE8-0043-AE57-7A2BBFA6D57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616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20D071A-2C6C-3CCC-1765-E059D1920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A51CA04B-4A17-649E-8F10-B2D1F6A5F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D4B29390-245D-397C-1C91-905EBB18A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E34A69-D91B-404C-B3B0-58B2A82E44C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380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DC358548-5D07-A005-CAAC-7B13303C1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71B327A1-12D1-5374-92C7-9BD7178743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0C6C9DAA-CA41-FE72-AF80-31F176E98A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272C4-10B5-0F4B-A9FE-59D08E148E2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770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90A5625D-515F-EE40-564D-B9CC827EC4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2E884FFD-8239-25BF-B4AC-8EC60F9A0F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290832D2-F133-2BB3-FE6C-72E6E19C1C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0B80D-0FEA-BC41-9BF3-7384F0B592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256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57434A8-1ABC-AF0E-68A8-3E8EAF6DCE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487907F-C3E0-F525-13F9-482398C0F8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669D96E-B891-3811-AE62-B4FE46BAFA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CBF1D-B3BE-CF42-805A-B34F66A087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657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E48A1B8-7DE3-E0B8-DBDA-6893CADD0A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E01CAB8-6610-E60D-D74C-6A8BA310B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5AA2F38-4FCE-60CF-6A47-5BDFF46EC8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69ED09-B7AC-2445-A3A8-43FB49B8103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235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98BA18F-11BC-9B3E-F434-04344E368B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E200A62-A785-4494-57A9-9147673DC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8BC72A4-96FB-C7D4-E08A-403B538439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6E1F8-4B13-A24E-8753-AAD3F94175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851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A18A1895-5F18-7A5C-C62C-17336E1384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36FBE85-41E6-9F81-8ED2-A47F5CF23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65A5280-A2EB-D24B-0DE5-1A4BE3FDBB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7494E-81CE-2743-8B32-5FD01BBEBB2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7179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F0B41969-FBDA-18B9-CB07-1667D46C5F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2B23BB9-5BD1-0D28-298E-575A722E3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EF5CA91-915D-4AA9-568F-6A95449022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3F5AB0-BFAE-AF49-9604-FAD600094BD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578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82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9FE8FD1-5587-7E7B-1E48-DDD7F531C79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0C86B909-AAB8-0E2B-B114-EC7531EB7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D38D5B9C-21E6-D124-5EC0-283061E12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AA89B7B8-AB35-A44C-9D0F-2584B6054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3FEFD92B-2400-99CB-7764-F725BC5EE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A68A88D6-C3C6-DB77-26B9-B4B6FFB5D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32BFEE48-968E-AEE9-B701-BE4F90632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599422F0-1691-FC47-AEE1-65B955DC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88963B2C-0411-273B-A2E3-F04611FCC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C51EBAD6-A8BF-5345-B402-F2EAD91AD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899B00AF-0249-5DF9-62D5-AE7DA88F248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99567EA2-ADB2-68CF-C0AC-108A996CE81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98732968-C5BE-FE0E-7C67-3E264E2DDA1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3208CCCA-A819-97D5-C55F-D99D05D9FE2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266181DF-26F5-D479-5153-EEBE334D753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61B38136-5B81-2869-ABBF-EF6F7E3C4C2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20D7A044-976D-FE2D-9C07-99C5EB51952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3795ED04-8B37-6F28-1FF0-7A09E63BD24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B0E9B98F-9957-3D25-E909-B9E4622A61A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2DD35AA9-B1DD-9A55-9A2F-C4F282ED76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034FB09B-0160-1F33-C05F-57486E91122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1A692FB7-789B-A774-69F0-9E0F69957BB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A95D373C-3064-356F-8E8D-B5B48A673CB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FDD161CD-3259-E95F-4344-C2B0A947161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55DED8A9-E98C-8657-8AA2-BE447A9A2F6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E116673F-F2CC-BC25-1D3A-09DC4A3D4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B44242C1-FD31-3238-7E37-D5652D1BD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1433B99E-1EF2-9D41-8513-D30F8677F5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FDA33DF2-F76E-2740-A893-7614333616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00AEE8D5-84BC-EC49-8A92-2CAF9C3174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fld id="{A0D725B3-BD67-C047-B423-6DBA3196ACE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9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91F07C4-2A4E-49D1-1F39-C188B7FF8A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/>
              <a:t>Lecture 3 :</a:t>
            </a:r>
            <a:br>
              <a:rPr lang="en-US" altLang="ko-KR" sz="3600" b="1"/>
            </a:br>
            <a:r>
              <a:rPr lang="en-US" altLang="ko-KR" sz="3600" b="1"/>
              <a:t>Performance of Parallel Programs</a:t>
            </a:r>
          </a:p>
        </p:txBody>
      </p:sp>
      <p:sp>
        <p:nvSpPr>
          <p:cNvPr id="15362" name="TextBox 2">
            <a:extLst>
              <a:ext uri="{FF2B5EF4-FFF2-40B4-BE49-F238E27FC236}">
                <a16:creationId xmlns:a16="http://schemas.microsoft.com/office/drawing/2014/main" id="{53527E47-AD35-A644-B699-E8C8E264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207125"/>
            <a:ext cx="5013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/>
              <a:t>Courtesy : MIT Prof. </a:t>
            </a:r>
            <a:r>
              <a:rPr lang="en-US" altLang="ko-KR" sz="1200" dirty="0" err="1"/>
              <a:t>Amarasinghe</a:t>
            </a:r>
            <a:r>
              <a:rPr lang="en-US" altLang="ko-KR" sz="1200" dirty="0"/>
              <a:t> and Dr. Rabbah’s course note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/>
              <a:t>               Introduction to Parallel Computing (Blaise Barney, LLNL)</a:t>
            </a:r>
            <a:endParaRPr lang="ko-KR" altLang="en-US" sz="1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9C64F516-963D-C79B-694A-B46DFCF2D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Flynn’s Taxonomy on Parallel Computer</a:t>
            </a:r>
            <a:endParaRPr lang="ko-KR" altLang="en-US" sz="2800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86832308-4702-4CBD-9709-2700390A8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Classified with two independent dimension</a:t>
            </a:r>
          </a:p>
          <a:p>
            <a:pPr lvl="1"/>
            <a:r>
              <a:rPr lang="en-US" altLang="ko-KR"/>
              <a:t>Instruction stream</a:t>
            </a:r>
          </a:p>
          <a:p>
            <a:pPr lvl="1"/>
            <a:r>
              <a:rPr lang="en-US" altLang="ko-KR"/>
              <a:t>Data stream</a:t>
            </a:r>
            <a:endParaRPr lang="ko-KR" altLang="en-US"/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9106BFE7-ABA0-F28A-684C-0AE367F7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213100"/>
            <a:ext cx="466725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C2CA5F79-48DB-E7F2-4F7C-402F5126F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SISD (Single Instruction, Single Data)</a:t>
            </a:r>
            <a:endParaRPr lang="ko-KR" altLang="en-US" sz="3200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F583732A-C1F4-4C11-2C50-C613E21E8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6491288" cy="4525963"/>
          </a:xfrm>
        </p:spPr>
        <p:txBody>
          <a:bodyPr/>
          <a:lstStyle/>
          <a:p>
            <a:r>
              <a:rPr lang="en-US" altLang="ko-KR" sz="2400"/>
              <a:t>A serial (non-parallel) computer</a:t>
            </a:r>
          </a:p>
          <a:p>
            <a:r>
              <a:rPr lang="en-US" altLang="ko-KR" sz="2400"/>
              <a:t>This is the oldest and even today, the most common type of computer</a:t>
            </a:r>
            <a:endParaRPr lang="ko-KR" altLang="en-US" sz="2400"/>
          </a:p>
        </p:txBody>
      </p:sp>
      <p:pic>
        <p:nvPicPr>
          <p:cNvPr id="17411" name="Picture 2" descr="SISD">
            <a:extLst>
              <a:ext uri="{FF2B5EF4-FFF2-40B4-BE49-F238E27FC236}">
                <a16:creationId xmlns:a16="http://schemas.microsoft.com/office/drawing/2014/main" id="{0AE8140F-95A2-824C-14C4-BA3CAC8CE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484313"/>
            <a:ext cx="17907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D2302240-BFE6-E7B9-0F79-EEED9089A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SIMD (Single Instruction, Multiple Data)</a:t>
            </a:r>
            <a:endParaRPr lang="ko-KR" altLang="en-US" sz="3200" b="1" u="sng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8074AD52-54C8-564C-17FD-55D22EAB15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r>
              <a:rPr lang="en-US" altLang="ko-KR" sz="2400"/>
              <a:t>All processing units execute the same instruction at any given clock cycle</a:t>
            </a:r>
          </a:p>
          <a:p>
            <a:r>
              <a:rPr lang="en-US" altLang="ko-KR" sz="2400"/>
              <a:t>Best suited for specialized problems characterized by a high degree of regularity, such as graphics/image processing.</a:t>
            </a:r>
            <a:endParaRPr lang="ko-KR" altLang="en-US" sz="2400"/>
          </a:p>
        </p:txBody>
      </p:sp>
      <p:pic>
        <p:nvPicPr>
          <p:cNvPr id="18435" name="Picture 4" descr="SIMD">
            <a:extLst>
              <a:ext uri="{FF2B5EF4-FFF2-40B4-BE49-F238E27FC236}">
                <a16:creationId xmlns:a16="http://schemas.microsoft.com/office/drawing/2014/main" id="{6B33903A-8AF9-9334-FE2B-B026B9310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479800"/>
            <a:ext cx="3384550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6" descr="https://computing.llnl.gov/tutorials/parallel_comp/images/simd2.gif">
            <a:extLst>
              <a:ext uri="{FF2B5EF4-FFF2-40B4-BE49-F238E27FC236}">
                <a16:creationId xmlns:a16="http://schemas.microsoft.com/office/drawing/2014/main" id="{6C517DA5-133C-C8BE-22E3-E2E5474EE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445125"/>
            <a:ext cx="3024187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2" descr="https://computing.llnl.gov/tutorials/parallel_comp/images/cellProcessor.200pix.jpg">
            <a:extLst>
              <a:ext uri="{FF2B5EF4-FFF2-40B4-BE49-F238E27FC236}">
                <a16:creationId xmlns:a16="http://schemas.microsoft.com/office/drawing/2014/main" id="{21A0445E-30B3-D703-BBE7-27AE730F9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3429000"/>
            <a:ext cx="17049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7">
            <a:extLst>
              <a:ext uri="{FF2B5EF4-FFF2-40B4-BE49-F238E27FC236}">
                <a16:creationId xmlns:a16="http://schemas.microsoft.com/office/drawing/2014/main" id="{32C9C602-FF35-9385-9DEA-F94C5463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300663"/>
            <a:ext cx="96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/>
              <a:t>&lt;GPU&gt;</a:t>
            </a:r>
            <a:endParaRPr lang="ko-KR" altLang="en-US"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6C195FDA-94F8-66CE-C0D7-34F9E27EA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MISD (Multiple Instruction, Single Data)</a:t>
            </a:r>
            <a:endParaRPr lang="ko-KR" altLang="en-US" sz="2800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B75DACBD-E0ED-71FA-203E-9F0DB58188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Each processing unit operates on the data independently via separate instruction streams.</a:t>
            </a:r>
          </a:p>
          <a:p>
            <a:r>
              <a:rPr lang="en-US" altLang="ko-KR" sz="2400"/>
              <a:t>Few actual examples of this class of parallel computer have ever existed.</a:t>
            </a:r>
            <a:endParaRPr lang="ko-KR" altLang="en-US" sz="2400"/>
          </a:p>
        </p:txBody>
      </p:sp>
      <p:pic>
        <p:nvPicPr>
          <p:cNvPr id="19459" name="Picture 2" descr="MISD">
            <a:extLst>
              <a:ext uri="{FF2B5EF4-FFF2-40B4-BE49-F238E27FC236}">
                <a16:creationId xmlns:a16="http://schemas.microsoft.com/office/drawing/2014/main" id="{8716CDD2-853F-300A-F04C-422314AE6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789363"/>
            <a:ext cx="41719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제목 1">
            <a:extLst>
              <a:ext uri="{FF2B5EF4-FFF2-40B4-BE49-F238E27FC236}">
                <a16:creationId xmlns:a16="http://schemas.microsoft.com/office/drawing/2014/main" id="{9E4858A0-0DF7-0116-438F-82C4CB74C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27463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MIMD (Multiple Instruction, Multiple Data)</a:t>
            </a:r>
            <a:endParaRPr lang="ko-KR" altLang="en-US" sz="2800"/>
          </a:p>
        </p:txBody>
      </p:sp>
      <p:sp>
        <p:nvSpPr>
          <p:cNvPr id="20482" name="내용 개체 틀 2">
            <a:extLst>
              <a:ext uri="{FF2B5EF4-FFF2-40B4-BE49-F238E27FC236}">
                <a16:creationId xmlns:a16="http://schemas.microsoft.com/office/drawing/2014/main" id="{9F031697-9D8E-8CFF-3B9B-E623184A1A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Every processor may be executing a different instruction stream</a:t>
            </a:r>
          </a:p>
          <a:p>
            <a:r>
              <a:rPr lang="en-US" altLang="ko-KR" sz="2400"/>
              <a:t>Every processor may be working with a different data stream</a:t>
            </a:r>
          </a:p>
          <a:p>
            <a:r>
              <a:rPr lang="en-US" altLang="ko-KR" sz="2400"/>
              <a:t>the most common type of parallel computer</a:t>
            </a:r>
          </a:p>
          <a:p>
            <a:r>
              <a:rPr lang="en-US" altLang="ko-KR" sz="2400"/>
              <a:t>Most modern supercomputers fall into this category</a:t>
            </a:r>
            <a:endParaRPr lang="ko-KR" altLang="en-US" sz="2400"/>
          </a:p>
        </p:txBody>
      </p:sp>
      <p:pic>
        <p:nvPicPr>
          <p:cNvPr id="20483" name="Picture 4" descr="MIMD">
            <a:extLst>
              <a:ext uri="{FF2B5EF4-FFF2-40B4-BE49-F238E27FC236}">
                <a16:creationId xmlns:a16="http://schemas.microsoft.com/office/drawing/2014/main" id="{4CCCB2F6-7A2A-5603-9601-89C762EA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292600"/>
            <a:ext cx="417195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 descr="https://computing.llnl.gov/tutorials/parallel_comp/images/ibmPower5Cluster.200pix.jpg">
            <a:extLst>
              <a:ext uri="{FF2B5EF4-FFF2-40B4-BE49-F238E27FC236}">
                <a16:creationId xmlns:a16="http://schemas.microsoft.com/office/drawing/2014/main" id="{C5E9EA7D-94BF-E171-1ABC-FA334B54A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4437063"/>
            <a:ext cx="28670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Box 6">
            <a:extLst>
              <a:ext uri="{FF2B5EF4-FFF2-40B4-BE49-F238E27FC236}">
                <a16:creationId xmlns:a16="http://schemas.microsoft.com/office/drawing/2014/main" id="{071E9E70-F3D1-E0C4-984D-24228D430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381750"/>
            <a:ext cx="191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/>
              <a:t>&lt; IBM Power 5&gt;</a:t>
            </a:r>
            <a:endParaRPr lang="ko-KR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1CC9E-128E-53FC-E3AB-68D172EB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Parallel Program Models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64174-29ED-7C2E-AB05-97BFD140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SPMD (Single Program Multiple Data)</a:t>
            </a:r>
          </a:p>
          <a:p>
            <a:pPr lvl="1"/>
            <a:r>
              <a:rPr lang="en-US" altLang="ko-Kore-KR" sz="2400" dirty="0"/>
              <a:t>All tasks execute their copy of </a:t>
            </a:r>
          </a:p>
          <a:p>
            <a:pPr marL="457200" lvl="1" indent="0">
              <a:buNone/>
            </a:pPr>
            <a:r>
              <a:rPr lang="en-US" altLang="ko-Kore-KR" sz="2400" dirty="0"/>
              <a:t>  the same program simultaneously</a:t>
            </a:r>
          </a:p>
          <a:p>
            <a:pPr lvl="1"/>
            <a:r>
              <a:rPr lang="en-US" altLang="ko-Kore-KR" sz="2400" dirty="0"/>
              <a:t>All tasks may use different data</a:t>
            </a:r>
          </a:p>
          <a:p>
            <a:endParaRPr lang="en-US" altLang="ko-Kore-KR" dirty="0"/>
          </a:p>
          <a:p>
            <a:r>
              <a:rPr kumimoji="1" lang="en-US" altLang="ko-Kore-KR" dirty="0"/>
              <a:t>MPMD (Multiple Program Multiple Data)</a:t>
            </a:r>
          </a:p>
          <a:p>
            <a:pPr lvl="1"/>
            <a:r>
              <a:rPr lang="en-US" altLang="ko-Kore-KR" sz="2400" dirty="0"/>
              <a:t>Tasks may execute different </a:t>
            </a:r>
          </a:p>
          <a:p>
            <a:pPr marL="457200" lvl="1" indent="0">
              <a:buNone/>
            </a:pPr>
            <a:r>
              <a:rPr lang="en-US" altLang="ko-Kore-KR" sz="2400" dirty="0"/>
              <a:t>  programs simultaneously</a:t>
            </a:r>
          </a:p>
          <a:p>
            <a:pPr lvl="1"/>
            <a:r>
              <a:rPr kumimoji="1" lang="en-US" altLang="ko-Kore-KR" sz="2400" dirty="0"/>
              <a:t>All tasks may use different data</a:t>
            </a:r>
            <a:endParaRPr kumimoji="1" lang="ko-Kore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C78114-D6F4-618A-ADD3-24C1FC8D3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750" y="2143850"/>
            <a:ext cx="2900250" cy="12021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2B1407-9BE4-0292-1049-6D4AC784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50" y="4560715"/>
            <a:ext cx="2900250" cy="12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7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29842" y="838886"/>
            <a:ext cx="3868340" cy="645898"/>
          </a:xfrm>
        </p:spPr>
        <p:txBody>
          <a:bodyPr>
            <a:noAutofit/>
          </a:bodyPr>
          <a:lstStyle/>
          <a:p>
            <a:pPr algn="ctr"/>
            <a:r>
              <a:rPr lang="en-US" u="sng" dirty="0"/>
              <a:t>Task Parallelism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479461"/>
            <a:ext cx="3868340" cy="5261907"/>
          </a:xfrm>
        </p:spPr>
        <p:txBody>
          <a:bodyPr>
            <a:noAutofit/>
          </a:bodyPr>
          <a:lstStyle/>
          <a:p>
            <a:r>
              <a:rPr lang="en-US" dirty="0"/>
              <a:t>Different operations performed on same or different data</a:t>
            </a:r>
          </a:p>
          <a:p>
            <a:r>
              <a:rPr lang="en-US" dirty="0"/>
              <a:t>Usually a modest number of tasks unleashing a modest amount of parallelism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36712"/>
            <a:ext cx="3887391" cy="645898"/>
          </a:xfrm>
        </p:spPr>
        <p:txBody>
          <a:bodyPr/>
          <a:lstStyle/>
          <a:p>
            <a:pPr algn="ctr"/>
            <a:r>
              <a:rPr lang="en-US" u="sng" dirty="0"/>
              <a:t>Data Parallelism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484784"/>
            <a:ext cx="3887391" cy="5261907"/>
          </a:xfrm>
        </p:spPr>
        <p:txBody>
          <a:bodyPr>
            <a:noAutofit/>
          </a:bodyPr>
          <a:lstStyle/>
          <a:p>
            <a:r>
              <a:rPr lang="en-US" dirty="0"/>
              <a:t>Same operations performed on different data</a:t>
            </a:r>
          </a:p>
          <a:p>
            <a:r>
              <a:rPr lang="en-US" dirty="0"/>
              <a:t>Potentially massive amounts of data unleashing massive amounts of parallelism</a:t>
            </a:r>
          </a:p>
          <a:p>
            <a:pPr lvl="1"/>
            <a:r>
              <a:rPr lang="en-US" dirty="0"/>
              <a:t>Most suitable for GPUs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>
          <a:xfrm>
            <a:off x="827584" y="455176"/>
            <a:ext cx="7886700" cy="453544"/>
          </a:xfrm>
        </p:spPr>
        <p:txBody>
          <a:bodyPr/>
          <a:lstStyle/>
          <a:p>
            <a:r>
              <a:rPr lang="en-US" sz="3200" b="1" u="sng" dirty="0">
                <a:solidFill>
                  <a:schemeClr val="tx1"/>
                </a:solidFill>
              </a:rPr>
              <a:t>Types of Parallelism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1018908" y="3541834"/>
            <a:ext cx="2616988" cy="1787931"/>
            <a:chOff x="1018908" y="3541834"/>
            <a:chExt cx="2616988" cy="1787931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1018908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9" name="Regular Pentagon 8"/>
            <p:cNvSpPr>
              <a:spLocks noChangeAspect="1"/>
            </p:cNvSpPr>
            <p:nvPr/>
          </p:nvSpPr>
          <p:spPr>
            <a:xfrm>
              <a:off x="2911546" y="4689685"/>
              <a:ext cx="724350" cy="640080"/>
            </a:xfrm>
            <a:prstGeom prst="pentagon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C</a:t>
              </a:r>
            </a:p>
          </p:txBody>
        </p:sp>
        <p:sp>
          <p:nvSpPr>
            <p:cNvPr id="10" name="Plaque 9"/>
            <p:cNvSpPr>
              <a:spLocks noChangeAspect="1"/>
            </p:cNvSpPr>
            <p:nvPr/>
          </p:nvSpPr>
          <p:spPr>
            <a:xfrm>
              <a:off x="1948416" y="4689685"/>
              <a:ext cx="640080" cy="640080"/>
            </a:xfrm>
            <a:prstGeom prst="plaqu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B</a:t>
              </a:r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1483662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1</a:t>
              </a:r>
            </a:p>
          </p:txBody>
        </p:sp>
        <p:sp>
          <p:nvSpPr>
            <p:cNvPr id="12" name="Rectangle 11"/>
            <p:cNvSpPr>
              <a:spLocks noChangeAspect="1"/>
            </p:cNvSpPr>
            <p:nvPr/>
          </p:nvSpPr>
          <p:spPr>
            <a:xfrm>
              <a:off x="2927548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2</a:t>
              </a:r>
            </a:p>
          </p:txBody>
        </p:sp>
        <p:cxnSp>
          <p:nvCxnSpPr>
            <p:cNvPr id="14" name="Straight Arrow Connector 13"/>
            <p:cNvCxnSpPr>
              <a:stCxn id="11" idx="2"/>
              <a:endCxn id="2" idx="0"/>
            </p:cNvCxnSpPr>
            <p:nvPr/>
          </p:nvCxnSpPr>
          <p:spPr>
            <a:xfrm flipH="1">
              <a:off x="1338948" y="4181914"/>
              <a:ext cx="464754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2"/>
              <a:endCxn id="10" idx="0"/>
            </p:cNvCxnSpPr>
            <p:nvPr/>
          </p:nvCxnSpPr>
          <p:spPr>
            <a:xfrm>
              <a:off x="1803702" y="4181914"/>
              <a:ext cx="464754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/>
              <a:stCxn id="12" idx="2"/>
              <a:endCxn id="9" idx="0"/>
            </p:cNvCxnSpPr>
            <p:nvPr/>
          </p:nvCxnSpPr>
          <p:spPr>
            <a:xfrm>
              <a:off x="3247588" y="4181914"/>
              <a:ext cx="26133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1293228" y="5571707"/>
            <a:ext cx="2000080" cy="731520"/>
            <a:chOff x="1293228" y="5571707"/>
            <a:chExt cx="2000080" cy="731520"/>
          </a:xfrm>
        </p:grpSpPr>
        <p:sp>
          <p:nvSpPr>
            <p:cNvPr id="22" name="Freeform 21"/>
            <p:cNvSpPr/>
            <p:nvPr/>
          </p:nvSpPr>
          <p:spPr>
            <a:xfrm>
              <a:off x="1293228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2222736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3201868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787201" y="3541834"/>
            <a:ext cx="3462655" cy="1787931"/>
            <a:chOff x="4787201" y="3541834"/>
            <a:chExt cx="3462655" cy="1787931"/>
          </a:xfrm>
        </p:grpSpPr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4787201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30" name="Rectangle 29"/>
            <p:cNvSpPr>
              <a:spLocks noChangeAspect="1"/>
            </p:cNvSpPr>
            <p:nvPr/>
          </p:nvSpPr>
          <p:spPr>
            <a:xfrm>
              <a:off x="4787201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1</a:t>
              </a:r>
            </a:p>
          </p:txBody>
        </p:sp>
        <p:cxnSp>
          <p:nvCxnSpPr>
            <p:cNvPr id="32" name="Straight Arrow Connector 31"/>
            <p:cNvCxnSpPr>
              <a:stCxn id="30" idx="2"/>
              <a:endCxn id="27" idx="0"/>
            </p:cNvCxnSpPr>
            <p:nvPr/>
          </p:nvCxnSpPr>
          <p:spPr>
            <a:xfrm>
              <a:off x="5107241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5492845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54" name="Rectangle 53"/>
            <p:cNvSpPr>
              <a:spLocks noChangeAspect="1"/>
            </p:cNvSpPr>
            <p:nvPr/>
          </p:nvSpPr>
          <p:spPr>
            <a:xfrm>
              <a:off x="5492845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2</a:t>
              </a:r>
            </a:p>
          </p:txBody>
        </p:sp>
        <p:cxnSp>
          <p:nvCxnSpPr>
            <p:cNvPr id="55" name="Straight Arrow Connector 54"/>
            <p:cNvCxnSpPr>
              <a:stCxn id="54" idx="2"/>
              <a:endCxn id="53" idx="0"/>
            </p:cNvCxnSpPr>
            <p:nvPr/>
          </p:nvCxnSpPr>
          <p:spPr>
            <a:xfrm>
              <a:off x="5812885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6198489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59" name="Rectangle 58"/>
            <p:cNvSpPr>
              <a:spLocks noChangeAspect="1"/>
            </p:cNvSpPr>
            <p:nvPr/>
          </p:nvSpPr>
          <p:spPr>
            <a:xfrm>
              <a:off x="6198489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3</a:t>
              </a:r>
            </a:p>
          </p:txBody>
        </p:sp>
        <p:cxnSp>
          <p:nvCxnSpPr>
            <p:cNvPr id="60" name="Straight Arrow Connector 59"/>
            <p:cNvCxnSpPr>
              <a:stCxn id="59" idx="2"/>
              <a:endCxn id="58" idx="0"/>
            </p:cNvCxnSpPr>
            <p:nvPr/>
          </p:nvCxnSpPr>
          <p:spPr>
            <a:xfrm>
              <a:off x="6518529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6904133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64" name="Rectangle 63"/>
            <p:cNvSpPr>
              <a:spLocks noChangeAspect="1"/>
            </p:cNvSpPr>
            <p:nvPr/>
          </p:nvSpPr>
          <p:spPr>
            <a:xfrm>
              <a:off x="6904133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4</a:t>
              </a:r>
            </a:p>
          </p:txBody>
        </p:sp>
        <p:cxnSp>
          <p:nvCxnSpPr>
            <p:cNvPr id="65" name="Straight Arrow Connector 64"/>
            <p:cNvCxnSpPr>
              <a:stCxn id="64" idx="2"/>
              <a:endCxn id="63" idx="0"/>
            </p:cNvCxnSpPr>
            <p:nvPr/>
          </p:nvCxnSpPr>
          <p:spPr>
            <a:xfrm>
              <a:off x="7224173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7609776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Task A</a:t>
              </a:r>
            </a:p>
          </p:txBody>
        </p:sp>
        <p:sp>
          <p:nvSpPr>
            <p:cNvPr id="69" name="Rectangle 68"/>
            <p:cNvSpPr>
              <a:spLocks noChangeAspect="1"/>
            </p:cNvSpPr>
            <p:nvPr/>
          </p:nvSpPr>
          <p:spPr>
            <a:xfrm>
              <a:off x="7609776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Data 5</a:t>
              </a:r>
            </a:p>
          </p:txBody>
        </p:sp>
        <p:cxnSp>
          <p:nvCxnSpPr>
            <p:cNvPr id="70" name="Straight Arrow Connector 69"/>
            <p:cNvCxnSpPr>
              <a:stCxn id="69" idx="2"/>
              <a:endCxn id="68" idx="0"/>
            </p:cNvCxnSpPr>
            <p:nvPr/>
          </p:nvCxnSpPr>
          <p:spPr>
            <a:xfrm>
              <a:off x="7929816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5061521" y="5571707"/>
            <a:ext cx="2914015" cy="731520"/>
            <a:chOff x="5061521" y="5571707"/>
            <a:chExt cx="2914015" cy="731520"/>
          </a:xfrm>
        </p:grpSpPr>
        <p:sp>
          <p:nvSpPr>
            <p:cNvPr id="35" name="Freeform 34"/>
            <p:cNvSpPr/>
            <p:nvPr/>
          </p:nvSpPr>
          <p:spPr>
            <a:xfrm>
              <a:off x="5061521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5767165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>
              <a:off x="6472809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7178453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>
              <a:off x="7884096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5A6988E6-98CF-CC51-00E3-6B11D1E1D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663" y="6536377"/>
            <a:ext cx="52998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/>
              <a:t>Slides from Prof. </a:t>
            </a:r>
            <a:r>
              <a:rPr lang="en-US" altLang="ko-KR" sz="1200" dirty="0" err="1"/>
              <a:t>Hwu</a:t>
            </a:r>
            <a:r>
              <a:rPr lang="en-US" altLang="ko-KR" sz="1200" dirty="0"/>
              <a:t> et al, Programming Massively Parallel Processors</a:t>
            </a:r>
          </a:p>
        </p:txBody>
      </p:sp>
    </p:spTree>
    <p:extLst>
      <p:ext uri="{BB962C8B-B14F-4D97-AF65-F5344CB8AC3E}">
        <p14:creationId xmlns:p14="http://schemas.microsoft.com/office/powerpoint/2010/main" val="35737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제목 1">
            <a:extLst>
              <a:ext uri="{FF2B5EF4-FFF2-40B4-BE49-F238E27FC236}">
                <a16:creationId xmlns:a16="http://schemas.microsoft.com/office/drawing/2014/main" id="{FE5F8C6C-D7AF-C1F6-2B5D-2D895584E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Creating a Parallel Program</a:t>
            </a:r>
            <a:endParaRPr lang="ko-KR" altLang="en-US" b="1" u="sng"/>
          </a:p>
        </p:txBody>
      </p:sp>
      <p:sp>
        <p:nvSpPr>
          <p:cNvPr id="21506" name="내용 개체 틀 2">
            <a:extLst>
              <a:ext uri="{FF2B5EF4-FFF2-40B4-BE49-F238E27FC236}">
                <a16:creationId xmlns:a16="http://schemas.microsoft.com/office/drawing/2014/main" id="{455918B8-B0EC-B49F-C93A-C2DC3FABC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941888"/>
            <a:ext cx="8229600" cy="1223962"/>
          </a:xfrm>
        </p:spPr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Decomposition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Assignment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Orchestration/Mapping</a:t>
            </a:r>
            <a:endParaRPr lang="ko-KR" altLang="en-US" sz="2400"/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1F0FC42E-82EE-C22D-1C29-C6688CF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1438"/>
            <a:ext cx="7221538" cy="351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제목 1">
            <a:extLst>
              <a:ext uri="{FF2B5EF4-FFF2-40B4-BE49-F238E27FC236}">
                <a16:creationId xmlns:a16="http://schemas.microsoft.com/office/drawing/2014/main" id="{F43A70CC-6E7B-12BC-D14F-4D568C2E4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Decomposition</a:t>
            </a:r>
            <a:endParaRPr lang="ko-KR" altLang="en-US" b="1" u="sng"/>
          </a:p>
        </p:txBody>
      </p:sp>
      <p:sp>
        <p:nvSpPr>
          <p:cNvPr id="22530" name="내용 개체 틀 2">
            <a:extLst>
              <a:ext uri="{FF2B5EF4-FFF2-40B4-BE49-F238E27FC236}">
                <a16:creationId xmlns:a16="http://schemas.microsoft.com/office/drawing/2014/main" id="{7973E5FC-9CA8-D29C-ADB0-0BCCF19E8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Break up computation into tasks to be divided among processes</a:t>
            </a:r>
          </a:p>
          <a:p>
            <a:r>
              <a:rPr lang="en-US" altLang="ko-KR"/>
              <a:t>identify concurrency and decide level at which to exploit it</a:t>
            </a:r>
            <a:endParaRPr lang="ko-KR" altLang="en-US"/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DF9F1759-5D28-C6D9-071D-8F6090B35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95"/>
          <a:stretch>
            <a:fillRect/>
          </a:stretch>
        </p:blipFill>
        <p:spPr bwMode="auto">
          <a:xfrm>
            <a:off x="250825" y="4221163"/>
            <a:ext cx="4233863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5">
            <a:extLst>
              <a:ext uri="{FF2B5EF4-FFF2-40B4-BE49-F238E27FC236}">
                <a16:creationId xmlns:a16="http://schemas.microsoft.com/office/drawing/2014/main" id="{A93BCB6F-A310-5C8E-7CDA-5DE62459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06"/>
          <a:stretch>
            <a:fillRect/>
          </a:stretch>
        </p:blipFill>
        <p:spPr bwMode="auto">
          <a:xfrm>
            <a:off x="4965700" y="4076700"/>
            <a:ext cx="385445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0926298B-34D0-1CEB-55D1-DBD576514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Domain Decomposition</a:t>
            </a:r>
            <a:endParaRPr lang="ko-KR" altLang="en-US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0517F6C2-F231-7FD7-B25B-6E575F733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ko-KR" sz="2400"/>
              <a:t>data associated with a problem is decomposed. </a:t>
            </a:r>
          </a:p>
          <a:p>
            <a:r>
              <a:rPr lang="en-US" altLang="ko-KR" sz="2400"/>
              <a:t>Each parallel task then works on a portion of data.</a:t>
            </a:r>
            <a:endParaRPr lang="ko-KR" altLang="en-US" sz="2400"/>
          </a:p>
        </p:txBody>
      </p:sp>
      <p:pic>
        <p:nvPicPr>
          <p:cNvPr id="23555" name="Picture 2" descr="https://computing.llnl.gov/tutorials/parallel_comp/images/domain_decomp.gif">
            <a:extLst>
              <a:ext uri="{FF2B5EF4-FFF2-40B4-BE49-F238E27FC236}">
                <a16:creationId xmlns:a16="http://schemas.microsoft.com/office/drawing/2014/main" id="{17A8E93E-3DC3-C840-21D7-26A226C6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852738"/>
            <a:ext cx="31305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 descr="https://computing.llnl.gov/tutorials/parallel_comp/images/distributions.gif">
            <a:extLst>
              <a:ext uri="{FF2B5EF4-FFF2-40B4-BE49-F238E27FC236}">
                <a16:creationId xmlns:a16="http://schemas.microsoft.com/office/drawing/2014/main" id="{BAAE90CA-50B2-D2FF-9E9E-309965580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636838"/>
            <a:ext cx="478155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191B3349-84BE-B9EC-301A-B7FF2EC64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Functional Decomposition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3B2FEC42-48F4-5C80-12C9-723BC026A3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the focus is on the computation that is to be performed rather than on the data </a:t>
            </a:r>
          </a:p>
          <a:p>
            <a:r>
              <a:rPr lang="en-US" altLang="ko-KR" sz="2400"/>
              <a:t>problem is decomposed according to the work that must be done. </a:t>
            </a:r>
          </a:p>
          <a:p>
            <a:r>
              <a:rPr lang="en-US" altLang="ko-KR" sz="2400"/>
              <a:t>Each task then performs a portion of the overall work.</a:t>
            </a:r>
            <a:endParaRPr lang="ko-KR" altLang="en-US" sz="2400"/>
          </a:p>
        </p:txBody>
      </p:sp>
      <p:pic>
        <p:nvPicPr>
          <p:cNvPr id="24579" name="Picture 2" descr="https://computing.llnl.gov/tutorials/parallel_comp/images/functional_decomp.gif">
            <a:extLst>
              <a:ext uri="{FF2B5EF4-FFF2-40B4-BE49-F238E27FC236}">
                <a16:creationId xmlns:a16="http://schemas.microsoft.com/office/drawing/2014/main" id="{78897A6D-2C04-4FCF-D620-B620A0E9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933825"/>
            <a:ext cx="4392613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C7FD4766-E290-21A3-30B7-53FDF57C8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Assignment</a:t>
            </a:r>
            <a:endParaRPr lang="ko-KR" altLang="en-US" b="1" u="sng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3218F49B-CE5F-4E81-A2D8-BE629356A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Assign tasks to threads</a:t>
            </a:r>
          </a:p>
          <a:p>
            <a:pPr lvl="1"/>
            <a:r>
              <a:rPr lang="en-US" altLang="ko-KR" sz="1800"/>
              <a:t>Balance workload, reduce communication and management cost</a:t>
            </a:r>
          </a:p>
          <a:p>
            <a:pPr lvl="1"/>
            <a:r>
              <a:rPr lang="en-US" altLang="ko-KR" sz="1800"/>
              <a:t>Together with decomposition, also called partitioning</a:t>
            </a:r>
          </a:p>
          <a:p>
            <a:pPr lvl="1"/>
            <a:endParaRPr lang="en-US" altLang="ko-KR" sz="1800"/>
          </a:p>
          <a:p>
            <a:r>
              <a:rPr lang="en-US" altLang="ko-KR" sz="2200"/>
              <a:t>Can be performed statically, or dynamically</a:t>
            </a:r>
          </a:p>
          <a:p>
            <a:endParaRPr lang="en-US" altLang="ko-KR" sz="2200"/>
          </a:p>
          <a:p>
            <a:r>
              <a:rPr lang="en-US" altLang="ko-KR" sz="2200"/>
              <a:t>Goal</a:t>
            </a:r>
          </a:p>
          <a:p>
            <a:pPr lvl="1"/>
            <a:r>
              <a:rPr lang="en-US" altLang="ko-KR" sz="1800"/>
              <a:t>Balanced workload</a:t>
            </a:r>
          </a:p>
          <a:p>
            <a:pPr lvl="1"/>
            <a:r>
              <a:rPr lang="en-US" altLang="ko-KR" sz="1800"/>
              <a:t>Reduced communication costs</a:t>
            </a:r>
          </a:p>
          <a:p>
            <a:pPr lvl="1"/>
            <a:endParaRPr lang="ko-KR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1EE023A3-CB32-F28E-757E-838458F60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Orchestration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512028FE-EBB6-D7B4-401B-E24C67F5A0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Structuring communication and synchronization</a:t>
            </a:r>
          </a:p>
          <a:p>
            <a:r>
              <a:rPr lang="en-US" altLang="ko-KR" sz="2400"/>
              <a:t>Organizing data structures in memory and scheduling tasks temporally</a:t>
            </a:r>
          </a:p>
          <a:p>
            <a:endParaRPr lang="en-US" altLang="ko-KR" sz="2400"/>
          </a:p>
          <a:p>
            <a:r>
              <a:rPr lang="en-US" altLang="ko-KR" sz="2400"/>
              <a:t>Goals</a:t>
            </a:r>
          </a:p>
          <a:p>
            <a:pPr lvl="1"/>
            <a:r>
              <a:rPr lang="en-US" altLang="ko-KR" sz="2000"/>
              <a:t>Reduce cost of communication and synchronization as seen by processors</a:t>
            </a:r>
          </a:p>
          <a:p>
            <a:pPr lvl="1"/>
            <a:r>
              <a:rPr lang="en-US" altLang="ko-KR" sz="2000"/>
              <a:t>Reserve locality of data reference (including data structure organization)</a:t>
            </a:r>
            <a:endParaRPr lang="ko-KR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A4D4B361-F8BE-0FED-AB2A-E3F3944D8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Mapping</a:t>
            </a:r>
            <a:endParaRPr lang="ko-KR" altLang="en-US" b="1" u="sng"/>
          </a:p>
        </p:txBody>
      </p:sp>
      <p:sp>
        <p:nvSpPr>
          <p:cNvPr id="27650" name="내용 개체 틀 2">
            <a:extLst>
              <a:ext uri="{FF2B5EF4-FFF2-40B4-BE49-F238E27FC236}">
                <a16:creationId xmlns:a16="http://schemas.microsoft.com/office/drawing/2014/main" id="{2AF207A2-8F5A-8F3F-EE27-5361B9793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Mapping threads to execution units (CPU cores)</a:t>
            </a:r>
          </a:p>
          <a:p>
            <a:r>
              <a:rPr lang="en-US" altLang="ko-KR" sz="2400"/>
              <a:t>Parallel application tries to use the entire machine</a:t>
            </a:r>
          </a:p>
          <a:p>
            <a:r>
              <a:rPr lang="en-US" altLang="ko-KR" sz="2400"/>
              <a:t>Usually a job for OS</a:t>
            </a:r>
          </a:p>
          <a:p>
            <a:r>
              <a:rPr lang="en-US" altLang="ko-KR" sz="2400"/>
              <a:t>Mapping decision</a:t>
            </a:r>
          </a:p>
          <a:p>
            <a:pPr lvl="1"/>
            <a:r>
              <a:rPr lang="en-US" altLang="ko-KR" sz="2000"/>
              <a:t>Place related threads (cooperating threads) on the same processor</a:t>
            </a:r>
          </a:p>
          <a:p>
            <a:pPr lvl="1"/>
            <a:r>
              <a:rPr lang="en-US" altLang="ko-KR" sz="2000"/>
              <a:t>maximize locality, data sharing, minimize costs of comm/sync</a:t>
            </a:r>
            <a:endParaRPr lang="ko-KR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>
            <a:extLst>
              <a:ext uri="{FF2B5EF4-FFF2-40B4-BE49-F238E27FC236}">
                <a16:creationId xmlns:a16="http://schemas.microsoft.com/office/drawing/2014/main" id="{D224A018-E60F-2B80-9BEC-C61967CE5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Performance of Parallel Programs</a:t>
            </a:r>
            <a:endParaRPr lang="ko-KR" altLang="en-US" sz="3600" b="1" u="sng"/>
          </a:p>
        </p:txBody>
      </p:sp>
      <p:sp>
        <p:nvSpPr>
          <p:cNvPr id="28674" name="내용 개체 틀 2">
            <a:extLst>
              <a:ext uri="{FF2B5EF4-FFF2-40B4-BE49-F238E27FC236}">
                <a16:creationId xmlns:a16="http://schemas.microsoft.com/office/drawing/2014/main" id="{5C7B67AF-1342-F8A0-491C-8D263C355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r>
              <a:rPr lang="en-US" altLang="ko-KR" sz="3200"/>
              <a:t>What factors affect the performance ?</a:t>
            </a:r>
          </a:p>
          <a:p>
            <a:pPr lvl="1"/>
            <a:endParaRPr lang="en-US" altLang="ko-KR" sz="2800" b="1"/>
          </a:p>
          <a:p>
            <a:pPr lvl="1"/>
            <a:r>
              <a:rPr lang="en-US" altLang="ko-KR" sz="2800" b="1"/>
              <a:t>Decomposition</a:t>
            </a:r>
          </a:p>
          <a:p>
            <a:pPr lvl="2"/>
            <a:r>
              <a:rPr lang="en-US" altLang="ko-KR" sz="2500" b="1"/>
              <a:t>Coverage </a:t>
            </a:r>
            <a:r>
              <a:rPr lang="en-US" altLang="ko-KR" sz="2500"/>
              <a:t>of parallelism in algorithm</a:t>
            </a:r>
            <a:endParaRPr lang="en-US" altLang="ko-KR" sz="3200"/>
          </a:p>
          <a:p>
            <a:pPr lvl="1"/>
            <a:r>
              <a:rPr lang="en-US" altLang="ko-KR" sz="2800" b="1"/>
              <a:t>Assignment</a:t>
            </a:r>
          </a:p>
          <a:p>
            <a:pPr lvl="2"/>
            <a:r>
              <a:rPr lang="en-US" altLang="ko-KR" sz="2500" b="1"/>
              <a:t>Granularity </a:t>
            </a:r>
            <a:r>
              <a:rPr lang="en-US" altLang="ko-KR" sz="2500"/>
              <a:t>of partitioning among processors</a:t>
            </a:r>
          </a:p>
          <a:p>
            <a:pPr lvl="1"/>
            <a:r>
              <a:rPr lang="en-US" altLang="ko-KR" sz="2800" b="1"/>
              <a:t>Orchestration/Mapping</a:t>
            </a:r>
          </a:p>
          <a:p>
            <a:pPr lvl="2"/>
            <a:r>
              <a:rPr lang="en-US" altLang="ko-KR" sz="2500" b="1"/>
              <a:t>Locality </a:t>
            </a:r>
            <a:r>
              <a:rPr lang="en-US" altLang="ko-KR" sz="2500"/>
              <a:t>of computation and communication</a:t>
            </a:r>
            <a:endParaRPr lang="ko-KR" altLang="en-US"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제목 1">
            <a:extLst>
              <a:ext uri="{FF2B5EF4-FFF2-40B4-BE49-F238E27FC236}">
                <a16:creationId xmlns:a16="http://schemas.microsoft.com/office/drawing/2014/main" id="{74A8B6EE-9676-FE9D-AF51-4C00FC7A2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Coverage (Amdahl’s Law)</a:t>
            </a:r>
            <a:endParaRPr lang="ko-KR" altLang="en-US" b="1" u="sng"/>
          </a:p>
        </p:txBody>
      </p:sp>
      <p:sp>
        <p:nvSpPr>
          <p:cNvPr id="29698" name="내용 개체 틀 2">
            <a:extLst>
              <a:ext uri="{FF2B5EF4-FFF2-40B4-BE49-F238E27FC236}">
                <a16:creationId xmlns:a16="http://schemas.microsoft.com/office/drawing/2014/main" id="{3ECD7629-573B-1CB2-66C8-D204560E32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Potential program speedup is defined by the fraction of code that can be parallelized</a:t>
            </a:r>
            <a:endParaRPr lang="ko-KR" altLang="en-US"/>
          </a:p>
        </p:txBody>
      </p:sp>
      <p:pic>
        <p:nvPicPr>
          <p:cNvPr id="29699" name="Picture 2">
            <a:extLst>
              <a:ext uri="{FF2B5EF4-FFF2-40B4-BE49-F238E27FC236}">
                <a16:creationId xmlns:a16="http://schemas.microsoft.com/office/drawing/2014/main" id="{27EB098B-634D-E2CA-D928-DDB318D01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357563"/>
            <a:ext cx="8942388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>
            <a:extLst>
              <a:ext uri="{FF2B5EF4-FFF2-40B4-BE49-F238E27FC236}">
                <a16:creationId xmlns:a16="http://schemas.microsoft.com/office/drawing/2014/main" id="{BFADF104-40B8-2756-042F-9CC997C5C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Amdahl’s Law</a:t>
            </a:r>
            <a:endParaRPr lang="ko-KR" altLang="en-US"/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1E58C8E1-142D-F591-CD8A-E5AA307F8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403725"/>
            <a:ext cx="8229600" cy="1978025"/>
          </a:xfrm>
        </p:spPr>
        <p:txBody>
          <a:bodyPr/>
          <a:lstStyle/>
          <a:p>
            <a:r>
              <a:rPr lang="en-US" altLang="ko-KR" sz="2400"/>
              <a:t>Speedup = old running time / new running time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          = 100 sec / 60 sec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          = 1.67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           (parallel version is 1.67 times faster)</a:t>
            </a:r>
            <a:endParaRPr lang="ko-KR" altLang="en-US" sz="2400"/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DAE5F989-9777-2506-3C31-4C8AF5B4C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460500"/>
            <a:ext cx="8942387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제목 1">
            <a:extLst>
              <a:ext uri="{FF2B5EF4-FFF2-40B4-BE49-F238E27FC236}">
                <a16:creationId xmlns:a16="http://schemas.microsoft.com/office/drawing/2014/main" id="{422FB6ED-07E9-7B6A-80AC-A2C8E1A4E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Amdahl’s Law</a:t>
            </a:r>
            <a:endParaRPr lang="ko-KR" altLang="en-US"/>
          </a:p>
        </p:txBody>
      </p:sp>
      <p:sp>
        <p:nvSpPr>
          <p:cNvPr id="31746" name="내용 개체 틀 2">
            <a:extLst>
              <a:ext uri="{FF2B5EF4-FFF2-40B4-BE49-F238E27FC236}">
                <a16:creationId xmlns:a16="http://schemas.microsoft.com/office/drawing/2014/main" id="{E833ADAB-AB59-250B-BC94-2582B96CF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i="1" dirty="0"/>
              <a:t>p = fraction of work that can be parallelized</a:t>
            </a:r>
          </a:p>
          <a:p>
            <a:r>
              <a:rPr lang="en-US" altLang="ko-KR" sz="2800" i="1" dirty="0"/>
              <a:t>n = the number of processor</a:t>
            </a:r>
          </a:p>
          <a:p>
            <a:r>
              <a:rPr lang="en-US" altLang="ko-KR" sz="2800" i="1" dirty="0"/>
              <a:t>Speedup &lt; 1/(1-p)  as  n → infinity</a:t>
            </a:r>
            <a:endParaRPr lang="ko-KR" altLang="en-US" sz="2800" dirty="0"/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5430C091-8815-5BAE-1694-80A810242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84984"/>
            <a:ext cx="6499225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제목 1">
            <a:extLst>
              <a:ext uri="{FF2B5EF4-FFF2-40B4-BE49-F238E27FC236}">
                <a16:creationId xmlns:a16="http://schemas.microsoft.com/office/drawing/2014/main" id="{5640B87C-FF60-186A-B5A2-3AC96FD1F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Implications of Amdahl’s Law</a:t>
            </a:r>
            <a:endParaRPr lang="ko-KR" altLang="en-US"/>
          </a:p>
        </p:txBody>
      </p:sp>
      <p:sp>
        <p:nvSpPr>
          <p:cNvPr id="32770" name="내용 개체 틀 2">
            <a:extLst>
              <a:ext uri="{FF2B5EF4-FFF2-40B4-BE49-F238E27FC236}">
                <a16:creationId xmlns:a16="http://schemas.microsoft.com/office/drawing/2014/main" id="{D10F90B0-5706-95CD-4283-B865D7AB7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Speedup tends to 1/(1-p) as number of processors tends to infinity</a:t>
            </a:r>
          </a:p>
          <a:p>
            <a:endParaRPr lang="en-US" altLang="ko-KR" sz="2400" dirty="0"/>
          </a:p>
          <a:p>
            <a:r>
              <a:rPr lang="en-US" altLang="ko-KR" sz="2400" dirty="0"/>
              <a:t>Even if the parallel part speeds up perfectly           performance is limited by the sequential part</a:t>
            </a:r>
          </a:p>
          <a:p>
            <a:endParaRPr lang="en-US" altLang="ko-KR" sz="2400" dirty="0"/>
          </a:p>
          <a:p>
            <a:r>
              <a:rPr lang="en-US" altLang="ko-KR" sz="2400" dirty="0"/>
              <a:t>Parallel programming is worthwhile when programs have a lot of work that is parallel in nature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4E6DD-6177-951A-B23F-D6A0C644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Gustafson’s Law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F879A-4CC9-308E-4E99-D9386E4FC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en-US" altLang="ko-Kore-KR" dirty="0"/>
              <a:t>Amdahl’s law</a:t>
            </a:r>
          </a:p>
          <a:p>
            <a:pPr lvl="1"/>
            <a:r>
              <a:rPr lang="en-US" altLang="ko-Kore-KR" dirty="0"/>
              <a:t>how much faster you can run a fixed workload</a:t>
            </a:r>
          </a:p>
          <a:p>
            <a:r>
              <a:rPr kumimoji="1" lang="en-US" altLang="ko-Kore-KR" dirty="0"/>
              <a:t>Gustafson’s law</a:t>
            </a:r>
          </a:p>
          <a:p>
            <a:pPr lvl="1"/>
            <a:r>
              <a:rPr lang="en-US" altLang="ko-Kore-KR" dirty="0"/>
              <a:t>How much more work you can do in the same amount of time by adding processors</a:t>
            </a:r>
          </a:p>
          <a:p>
            <a:pPr lvl="1"/>
            <a:endParaRPr kumimoji="1" lang="en-US" altLang="ko-Kore-KR" dirty="0"/>
          </a:p>
          <a:p>
            <a:pPr lvl="1"/>
            <a:endParaRPr lang="en-US" altLang="ko-Kore-KR" dirty="0"/>
          </a:p>
          <a:p>
            <a:pPr marL="457200" lvl="1" indent="0">
              <a:buNone/>
            </a:pPr>
            <a:endParaRPr kumimoji="1" lang="en-US" altLang="ko-Kore-KR" dirty="0"/>
          </a:p>
          <a:p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F62A7D-2931-CF37-CCF1-1D4F1060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38416"/>
            <a:ext cx="2808312" cy="2783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AFA70-CF8F-913A-272D-BEE334BB7099}"/>
              </a:ext>
            </a:extLst>
          </p:cNvPr>
          <p:cNvSpPr txBox="1"/>
          <p:nvPr/>
        </p:nvSpPr>
        <p:spPr>
          <a:xfrm>
            <a:off x="4644008" y="4293096"/>
            <a:ext cx="4392488" cy="230832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i="1" dirty="0"/>
              <a:t>s </a:t>
            </a:r>
            <a:r>
              <a:rPr kumimoji="1" lang="en-US" altLang="ko-Kore-KR" dirty="0"/>
              <a:t>: serial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i="1" dirty="0"/>
              <a:t>p </a:t>
            </a:r>
            <a:r>
              <a:rPr kumimoji="1" lang="en-US" altLang="ko-Kore-KR" dirty="0"/>
              <a:t>: parallel fraction</a:t>
            </a:r>
          </a:p>
          <a:p>
            <a:r>
              <a:rPr lang="en-US" altLang="ko-Kore-KR" dirty="0"/>
              <a:t>   ( </a:t>
            </a:r>
            <a:r>
              <a:rPr lang="en-US" altLang="ko-Kore-KR" i="1" dirty="0" err="1"/>
              <a:t>s</a:t>
            </a:r>
            <a:r>
              <a:rPr lang="en-US" altLang="ko-Kore-KR" dirty="0" err="1"/>
              <a:t>+</a:t>
            </a:r>
            <a:r>
              <a:rPr lang="en-US" altLang="ko-Kore-KR" i="1" dirty="0" err="1"/>
              <a:t>p</a:t>
            </a:r>
            <a:r>
              <a:rPr lang="en-US" altLang="ko-Kore-KR" dirty="0"/>
              <a:t> = 1 )</a:t>
            </a:r>
          </a:p>
          <a:p>
            <a:endParaRPr lang="en-US" altLang="ko-Kore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ore-KR" i="1" dirty="0"/>
              <a:t>N </a:t>
            </a:r>
            <a:r>
              <a:rPr lang="en-US" altLang="ko-Kore-KR" dirty="0"/>
              <a:t>: the number of processors</a:t>
            </a:r>
          </a:p>
          <a:p>
            <a:endParaRPr kumimoji="1" lang="en-US" altLang="ko-Kore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ore-KR" i="1" dirty="0"/>
              <a:t>T</a:t>
            </a:r>
            <a:r>
              <a:rPr lang="en-US" altLang="ko-Kore-KR" i="1" baseline="-25000" dirty="0"/>
              <a:t>1 </a:t>
            </a:r>
            <a:r>
              <a:rPr lang="en-US" altLang="ko-Kore-KR" dirty="0"/>
              <a:t>: running time on 1 processor</a:t>
            </a:r>
            <a:r>
              <a:rPr kumimoji="1" lang="en-US" altLang="ko-Kore-KR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ore-KR" i="1" dirty="0"/>
              <a:t>T</a:t>
            </a:r>
            <a:r>
              <a:rPr lang="en-US" altLang="ko-Kore-KR" i="1" baseline="-25000" dirty="0"/>
              <a:t>N </a:t>
            </a:r>
            <a:r>
              <a:rPr lang="en-US" altLang="ko-Kore-KR" dirty="0"/>
              <a:t>: running time on N processor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50718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3C8AE-E253-CBAE-4577-F1EC172B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Implications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9558AB-2DE8-2710-5621-015FFEE3F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92508" cy="4525963"/>
          </a:xfrm>
        </p:spPr>
        <p:txBody>
          <a:bodyPr/>
          <a:lstStyle/>
          <a:p>
            <a:r>
              <a:rPr kumimoji="1" lang="en-US" altLang="ko-Kore-KR" sz="2800" dirty="0"/>
              <a:t>Amdah</a:t>
            </a:r>
            <a:r>
              <a:rPr lang="en-US" altLang="ko-Kore-KR" sz="2800" dirty="0"/>
              <a:t>l’s law</a:t>
            </a:r>
          </a:p>
          <a:p>
            <a:pPr lvl="1"/>
            <a:r>
              <a:rPr kumimoji="1" lang="en-US" altLang="ko-Kore-KR" sz="2400" dirty="0"/>
              <a:t>often pessimistic </a:t>
            </a:r>
          </a:p>
          <a:p>
            <a:pPr marL="457200" lvl="1" indent="0">
              <a:buNone/>
            </a:pPr>
            <a:r>
              <a:rPr lang="en-US" altLang="ko-Kore-KR" sz="2400" dirty="0"/>
              <a:t>   (limited speed up)</a:t>
            </a:r>
            <a:endParaRPr kumimoji="1" lang="en-US" altLang="ko-Kore-KR" sz="2400" dirty="0"/>
          </a:p>
          <a:p>
            <a:pPr lvl="1"/>
            <a:r>
              <a:rPr lang="en-US" altLang="ko-Kore-KR" sz="2400" dirty="0"/>
              <a:t>assumes fixed </a:t>
            </a:r>
            <a:r>
              <a:rPr kumimoji="1" lang="en-US" altLang="ko-Kore-KR" sz="2400" dirty="0"/>
              <a:t>problem size </a:t>
            </a:r>
          </a:p>
          <a:p>
            <a:pPr lvl="1"/>
            <a:endParaRPr lang="en-US" altLang="ko-Kore-KR" sz="2400" dirty="0"/>
          </a:p>
          <a:p>
            <a:r>
              <a:rPr kumimoji="1" lang="en-US" altLang="ko-Kore-KR" sz="2800" dirty="0"/>
              <a:t>Gustafson’s law</a:t>
            </a:r>
          </a:p>
          <a:p>
            <a:pPr lvl="1"/>
            <a:r>
              <a:rPr lang="en-US" altLang="ko-Kore-KR" sz="2000" dirty="0"/>
              <a:t>Often optimistic</a:t>
            </a:r>
          </a:p>
          <a:p>
            <a:pPr marL="457200" lvl="1" indent="0">
              <a:buNone/>
            </a:pPr>
            <a:r>
              <a:rPr lang="en-US" altLang="ko-Kore-KR" sz="2000" dirty="0"/>
              <a:t>   ( linear speedup with N)</a:t>
            </a:r>
          </a:p>
          <a:p>
            <a:pPr lvl="1"/>
            <a:r>
              <a:rPr lang="en-US" altLang="ko-Kore-KR" sz="2000" dirty="0"/>
              <a:t>As we get more powerful computers, we run larger problems in the same amount of time. In this view, the speedup can scale almost    linearly with N</a:t>
            </a:r>
            <a:endParaRPr kumimoji="1" lang="ko-Kore-KR" altLang="en-US" sz="2000" dirty="0"/>
          </a:p>
        </p:txBody>
      </p:sp>
      <p:pic>
        <p:nvPicPr>
          <p:cNvPr id="83972" name="Picture 4" descr="undefined">
            <a:extLst>
              <a:ext uri="{FF2B5EF4-FFF2-40B4-BE49-F238E27FC236}">
                <a16:creationId xmlns:a16="http://schemas.microsoft.com/office/drawing/2014/main" id="{7638A0C4-9FFE-D062-A6AC-60810C8EF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709" y="1243622"/>
            <a:ext cx="3608670" cy="281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74" name="Picture 6" descr="undefined">
            <a:extLst>
              <a:ext uri="{FF2B5EF4-FFF2-40B4-BE49-F238E27FC236}">
                <a16:creationId xmlns:a16="http://schemas.microsoft.com/office/drawing/2014/main" id="{1394A10A-1228-B942-035E-5B0DC6CE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708" y="4182887"/>
            <a:ext cx="3608671" cy="253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611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제목 1">
            <a:extLst>
              <a:ext uri="{FF2B5EF4-FFF2-40B4-BE49-F238E27FC236}">
                <a16:creationId xmlns:a16="http://schemas.microsoft.com/office/drawing/2014/main" id="{C73B0A89-74E4-9982-0998-C34EE9B37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Performance Scalability</a:t>
            </a:r>
            <a:endParaRPr lang="ko-KR" altLang="en-US" b="1" u="sng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C9B03905-F2C8-6574-D0A9-5ADFE3000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12875"/>
            <a:ext cx="537845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Box 5">
            <a:extLst>
              <a:ext uri="{FF2B5EF4-FFF2-40B4-BE49-F238E27FC236}">
                <a16:creationId xmlns:a16="http://schemas.microsoft.com/office/drawing/2014/main" id="{EAA83077-2AD4-DAF3-2D34-95646CE95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530350"/>
            <a:ext cx="30956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800" b="1"/>
              <a:t> Scalability</a:t>
            </a:r>
            <a:r>
              <a:rPr lang="en-US" altLang="ko-KR" sz="1800"/>
              <a:t> : the capability of a system to increase total throughput under an increased load when resources (typically hardware) are added</a:t>
            </a:r>
            <a:endParaRPr lang="ko-KR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제목 1">
            <a:extLst>
              <a:ext uri="{FF2B5EF4-FFF2-40B4-BE49-F238E27FC236}">
                <a16:creationId xmlns:a16="http://schemas.microsoft.com/office/drawing/2014/main" id="{1B74AAAB-AF9F-D7F2-E064-980E4CE90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Granularity</a:t>
            </a:r>
            <a:endParaRPr lang="ko-KR" altLang="en-US" b="1" u="sng"/>
          </a:p>
        </p:txBody>
      </p:sp>
      <p:sp>
        <p:nvSpPr>
          <p:cNvPr id="34818" name="내용 개체 틀 2">
            <a:extLst>
              <a:ext uri="{FF2B5EF4-FFF2-40B4-BE49-F238E27FC236}">
                <a16:creationId xmlns:a16="http://schemas.microsoft.com/office/drawing/2014/main" id="{0FF8E2FF-3AC8-DA85-ABEE-A4D30B1C6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Granularity is a qualitative measure of the ratio of computation to communication</a:t>
            </a:r>
          </a:p>
          <a:p>
            <a:pPr lvl="1"/>
            <a:r>
              <a:rPr lang="en-US" altLang="ko-KR" sz="2000" b="1"/>
              <a:t>Coarse</a:t>
            </a:r>
            <a:r>
              <a:rPr lang="en-US" altLang="ko-KR" sz="2000"/>
              <a:t>: relatively large amounts of computational work are done between communication events</a:t>
            </a:r>
          </a:p>
          <a:p>
            <a:pPr lvl="1"/>
            <a:r>
              <a:rPr lang="en-US" altLang="ko-KR" sz="2000" b="1"/>
              <a:t>Fine</a:t>
            </a:r>
            <a:r>
              <a:rPr lang="en-US" altLang="ko-KR" sz="2000"/>
              <a:t>: relatively small amounts of computational work are done between communication events</a:t>
            </a:r>
          </a:p>
          <a:p>
            <a:endParaRPr lang="en-US" altLang="ko-KR" sz="2800"/>
          </a:p>
          <a:p>
            <a:r>
              <a:rPr lang="en-US" altLang="ko-KR" sz="2800"/>
              <a:t>Computation stages are typically separated from periods of communication by synchronization events</a:t>
            </a:r>
            <a:endParaRPr lang="ko-KR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제목 1">
            <a:extLst>
              <a:ext uri="{FF2B5EF4-FFF2-40B4-BE49-F238E27FC236}">
                <a16:creationId xmlns:a16="http://schemas.microsoft.com/office/drawing/2014/main" id="{6FD3B885-A5F4-0765-57A9-E89F681C1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Granularity (from wikipedia)</a:t>
            </a:r>
            <a:endParaRPr lang="ko-KR" altLang="en-US" b="1" u="sng"/>
          </a:p>
        </p:txBody>
      </p:sp>
      <p:sp>
        <p:nvSpPr>
          <p:cNvPr id="35842" name="내용 개체 틀 2">
            <a:extLst>
              <a:ext uri="{FF2B5EF4-FFF2-40B4-BE49-F238E27FC236}">
                <a16:creationId xmlns:a16="http://schemas.microsoft.com/office/drawing/2014/main" id="{EF59FF5C-B282-7317-592C-86B061FE49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Granularity </a:t>
            </a:r>
          </a:p>
          <a:p>
            <a:pPr lvl="1"/>
            <a:r>
              <a:rPr lang="en-US" altLang="ko-KR" sz="1800"/>
              <a:t>the extent to which a system is broken down into small parts</a:t>
            </a:r>
          </a:p>
          <a:p>
            <a:r>
              <a:rPr lang="en-US" altLang="ko-KR" sz="2400"/>
              <a:t>Coarse-grained systems </a:t>
            </a:r>
          </a:p>
          <a:p>
            <a:pPr lvl="1"/>
            <a:r>
              <a:rPr lang="en-US" altLang="ko-KR" sz="1800"/>
              <a:t>consist of fewer, larger components than fine-grained systems</a:t>
            </a:r>
          </a:p>
          <a:p>
            <a:pPr lvl="1"/>
            <a:r>
              <a:rPr lang="en-US" altLang="ko-KR" sz="1800"/>
              <a:t>regards large subcomponents </a:t>
            </a:r>
          </a:p>
          <a:p>
            <a:r>
              <a:rPr lang="en-US" altLang="ko-KR" sz="2400"/>
              <a:t>Fine-grained systems </a:t>
            </a:r>
          </a:p>
          <a:p>
            <a:pPr lvl="1"/>
            <a:r>
              <a:rPr lang="en-US" altLang="ko-KR" sz="1800"/>
              <a:t>regards smaller components of which the larger ones are composed.</a:t>
            </a:r>
            <a:endParaRPr lang="ko-KR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제목 1">
            <a:extLst>
              <a:ext uri="{FF2B5EF4-FFF2-40B4-BE49-F238E27FC236}">
                <a16:creationId xmlns:a16="http://schemas.microsoft.com/office/drawing/2014/main" id="{8FECE2EB-BFC3-2260-5471-C68911729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Fine vs. Coarse Granularity</a:t>
            </a:r>
            <a:endParaRPr lang="ko-KR" altLang="en-US" b="1" u="sng"/>
          </a:p>
        </p:txBody>
      </p:sp>
      <p:sp>
        <p:nvSpPr>
          <p:cNvPr id="36866" name="텍스트 개체 틀 3">
            <a:extLst>
              <a:ext uri="{FF2B5EF4-FFF2-40B4-BE49-F238E27FC236}">
                <a16:creationId xmlns:a16="http://schemas.microsoft.com/office/drawing/2014/main" id="{D9B56C3F-8E42-D07C-FAEB-3CC2222EC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Fine-grain Parallelism</a:t>
            </a:r>
            <a:endParaRPr lang="ko-KR" altLang="en-US"/>
          </a:p>
        </p:txBody>
      </p:sp>
      <p:sp>
        <p:nvSpPr>
          <p:cNvPr id="36867" name="내용 개체 틀 4">
            <a:extLst>
              <a:ext uri="{FF2B5EF4-FFF2-40B4-BE49-F238E27FC236}">
                <a16:creationId xmlns:a16="http://schemas.microsoft.com/office/drawing/2014/main" id="{0D456764-0C04-02AE-B779-EB6BC7F123A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sz="2000"/>
              <a:t>Low computation to communication ratio</a:t>
            </a:r>
          </a:p>
          <a:p>
            <a:r>
              <a:rPr lang="en-US" altLang="ko-KR" sz="2000"/>
              <a:t>Small amounts of computational work between communication stages</a:t>
            </a:r>
          </a:p>
          <a:p>
            <a:r>
              <a:rPr lang="en-US" altLang="ko-KR" sz="2000"/>
              <a:t>Less opportunity for performance enhancement</a:t>
            </a:r>
          </a:p>
          <a:p>
            <a:r>
              <a:rPr lang="en-US" altLang="ko-KR" sz="2000"/>
              <a:t>High communication overhead</a:t>
            </a:r>
            <a:endParaRPr lang="ko-KR" altLang="en-US" sz="2000"/>
          </a:p>
        </p:txBody>
      </p:sp>
      <p:sp>
        <p:nvSpPr>
          <p:cNvPr id="36868" name="텍스트 개체 틀 5">
            <a:extLst>
              <a:ext uri="{FF2B5EF4-FFF2-40B4-BE49-F238E27FC236}">
                <a16:creationId xmlns:a16="http://schemas.microsoft.com/office/drawing/2014/main" id="{E609D92D-9060-FCD3-0FC2-9A5107B996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/>
              <a:t> Coarse-grain Parallelism</a:t>
            </a:r>
            <a:endParaRPr lang="ko-KR" altLang="en-US"/>
          </a:p>
        </p:txBody>
      </p:sp>
      <p:sp>
        <p:nvSpPr>
          <p:cNvPr id="36869" name="내용 개체 틀 6">
            <a:extLst>
              <a:ext uri="{FF2B5EF4-FFF2-40B4-BE49-F238E27FC236}">
                <a16:creationId xmlns:a16="http://schemas.microsoft.com/office/drawing/2014/main" id="{3405E4ED-EEFB-22A1-FD07-D37A34F2A58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ko-KR" sz="2000"/>
              <a:t>High computation to communication ratio</a:t>
            </a:r>
          </a:p>
          <a:p>
            <a:r>
              <a:rPr lang="en-US" altLang="ko-KR" sz="2000"/>
              <a:t>Large amounts of computational work between communication events</a:t>
            </a:r>
          </a:p>
          <a:p>
            <a:r>
              <a:rPr lang="en-US" altLang="ko-KR" sz="2000"/>
              <a:t>More opportunity for performance increase</a:t>
            </a:r>
          </a:p>
        </p:txBody>
      </p:sp>
      <p:pic>
        <p:nvPicPr>
          <p:cNvPr id="36870" name="Picture 2">
            <a:extLst>
              <a:ext uri="{FF2B5EF4-FFF2-40B4-BE49-F238E27FC236}">
                <a16:creationId xmlns:a16="http://schemas.microsoft.com/office/drawing/2014/main" id="{83062615-16B0-F2DF-FDF9-0840AA0E8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5157788"/>
            <a:ext cx="46196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제목 1">
            <a:extLst>
              <a:ext uri="{FF2B5EF4-FFF2-40B4-BE49-F238E27FC236}">
                <a16:creationId xmlns:a16="http://schemas.microsoft.com/office/drawing/2014/main" id="{5BE6299E-B25D-2C2B-C3E3-BFF6F30DB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Fine vs. Coarse Granularity</a:t>
            </a:r>
            <a:endParaRPr lang="ko-KR" altLang="en-US"/>
          </a:p>
        </p:txBody>
      </p:sp>
      <p:sp>
        <p:nvSpPr>
          <p:cNvPr id="37890" name="내용 개체 틀 2">
            <a:extLst>
              <a:ext uri="{FF2B5EF4-FFF2-40B4-BE49-F238E27FC236}">
                <a16:creationId xmlns:a16="http://schemas.microsoft.com/office/drawing/2014/main" id="{5CA74200-0B4D-0988-D9A1-A86D6393A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The most efficient granularity is dependent on the algorithm and the hardware</a:t>
            </a:r>
          </a:p>
          <a:p>
            <a:r>
              <a:rPr lang="en-US" altLang="ko-KR" sz="2400"/>
              <a:t>In most cases the overhead associated with communications and synchronization is high relative to execution speed so it is advantageous to have coarse granularity.</a:t>
            </a:r>
          </a:p>
          <a:p>
            <a:r>
              <a:rPr lang="en-US" altLang="ko-KR" sz="2400"/>
              <a:t>Fine-grain parallelism can help reduce overheads due to load imbalance.</a:t>
            </a:r>
            <a:endParaRPr lang="ko-KR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제목 1">
            <a:extLst>
              <a:ext uri="{FF2B5EF4-FFF2-40B4-BE49-F238E27FC236}">
                <a16:creationId xmlns:a16="http://schemas.microsoft.com/office/drawing/2014/main" id="{3CAC987F-ED48-1B2F-4CC4-5C5C4C905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Load Balancing</a:t>
            </a:r>
            <a:endParaRPr lang="ko-KR" altLang="en-US" sz="3600" b="1" u="sng"/>
          </a:p>
        </p:txBody>
      </p:sp>
      <p:sp>
        <p:nvSpPr>
          <p:cNvPr id="38914" name="내용 개체 틀 2">
            <a:extLst>
              <a:ext uri="{FF2B5EF4-FFF2-40B4-BE49-F238E27FC236}">
                <a16:creationId xmlns:a16="http://schemas.microsoft.com/office/drawing/2014/main" id="{4AD0ED2C-9058-2176-2150-A59EF4B6D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distributing approximately equal amounts of work among tasks so that all tasks are kept busy all of the time. </a:t>
            </a:r>
          </a:p>
          <a:p>
            <a:r>
              <a:rPr lang="en-US" altLang="ko-KR" sz="2000"/>
              <a:t>It can be considered a minimization of task idle time.</a:t>
            </a:r>
          </a:p>
          <a:p>
            <a:endParaRPr lang="en-US" altLang="ko-KR" sz="2000"/>
          </a:p>
          <a:p>
            <a:r>
              <a:rPr lang="en-US" altLang="ko-KR" sz="2000"/>
              <a:t>For example, if all tasks are subject to a barrier synchronization point, the slowest task will determine the overall performance.</a:t>
            </a:r>
            <a:endParaRPr lang="ko-KR" altLang="en-US" sz="2000"/>
          </a:p>
        </p:txBody>
      </p:sp>
      <p:pic>
        <p:nvPicPr>
          <p:cNvPr id="38915" name="Picture 5" descr="Load Imbalance">
            <a:extLst>
              <a:ext uri="{FF2B5EF4-FFF2-40B4-BE49-F238E27FC236}">
                <a16:creationId xmlns:a16="http://schemas.microsoft.com/office/drawing/2014/main" id="{C4B37047-B1FD-6802-4AFA-F46AB50C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860800"/>
            <a:ext cx="38385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제목 1">
            <a:extLst>
              <a:ext uri="{FF2B5EF4-FFF2-40B4-BE49-F238E27FC236}">
                <a16:creationId xmlns:a16="http://schemas.microsoft.com/office/drawing/2014/main" id="{AA28D6F9-661C-26E5-EDEE-29812382B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General Load Balancing Problem</a:t>
            </a:r>
            <a:endParaRPr lang="ko-KR" altLang="en-US" sz="3600" b="1" u="sng"/>
          </a:p>
        </p:txBody>
      </p:sp>
      <p:sp>
        <p:nvSpPr>
          <p:cNvPr id="39938" name="내용 개체 틀 2">
            <a:extLst>
              <a:ext uri="{FF2B5EF4-FFF2-40B4-BE49-F238E27FC236}">
                <a16:creationId xmlns:a16="http://schemas.microsoft.com/office/drawing/2014/main" id="{F741A157-0F9B-E7A4-63B5-9A6B9180FD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The whole work should be completed as fast as possible.</a:t>
            </a:r>
          </a:p>
          <a:p>
            <a:endParaRPr lang="en-US" altLang="ko-KR" sz="2000"/>
          </a:p>
          <a:p>
            <a:r>
              <a:rPr lang="en-US" altLang="ko-KR" sz="2000"/>
              <a:t>As workers are very expensive, they should be kept busy.</a:t>
            </a:r>
          </a:p>
          <a:p>
            <a:endParaRPr lang="en-US" altLang="ko-KR" sz="2000"/>
          </a:p>
          <a:p>
            <a:r>
              <a:rPr lang="en-US" altLang="ko-KR" sz="2000"/>
              <a:t>The work should be distributed fairly. About the same amount of work should be assigned to every worker.</a:t>
            </a:r>
          </a:p>
          <a:p>
            <a:endParaRPr lang="en-US" altLang="ko-KR" sz="2000"/>
          </a:p>
          <a:p>
            <a:r>
              <a:rPr lang="en-US" altLang="ko-KR" sz="2000"/>
              <a:t>There are precedence constraints between different tasks (we can start building the roof only after finishing the walls). Thus we also have to find a clever processing order of the different jobs.</a:t>
            </a: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제목 6">
            <a:extLst>
              <a:ext uri="{FF2B5EF4-FFF2-40B4-BE49-F238E27FC236}">
                <a16:creationId xmlns:a16="http://schemas.microsoft.com/office/drawing/2014/main" id="{FDDB823E-27CE-564A-E756-6C8A6930B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Load Balancing Problem</a:t>
            </a:r>
            <a:endParaRPr lang="ko-KR" altLang="en-US" b="1" u="sng"/>
          </a:p>
        </p:txBody>
      </p:sp>
      <p:sp>
        <p:nvSpPr>
          <p:cNvPr id="40962" name="내용 개체 틀 7">
            <a:extLst>
              <a:ext uri="{FF2B5EF4-FFF2-40B4-BE49-F238E27FC236}">
                <a16:creationId xmlns:a16="http://schemas.microsoft.com/office/drawing/2014/main" id="{4EB28171-9265-E5F8-C4A8-70D940676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 sz="2400"/>
              <a:t>Processors that finish early have to wait for the processor with the largest amount of work to complete</a:t>
            </a:r>
          </a:p>
          <a:p>
            <a:pPr lvl="1"/>
            <a:r>
              <a:rPr lang="en-US" altLang="ko-KR" sz="2000"/>
              <a:t>Leads to idle time, lowers utilization</a:t>
            </a:r>
            <a:endParaRPr lang="ko-KR" altLang="en-US" sz="2000"/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A97914FB-6487-595C-9C45-B2F36AF8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890838"/>
            <a:ext cx="8856662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제목 1">
            <a:extLst>
              <a:ext uri="{FF2B5EF4-FFF2-40B4-BE49-F238E27FC236}">
                <a16:creationId xmlns:a16="http://schemas.microsoft.com/office/drawing/2014/main" id="{EF918DD2-5173-9180-DF41-730B579E0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Static load balancing</a:t>
            </a:r>
            <a:endParaRPr lang="ko-KR" altLang="en-US" b="1" u="sng"/>
          </a:p>
        </p:txBody>
      </p:sp>
      <p:sp>
        <p:nvSpPr>
          <p:cNvPr id="41986" name="내용 개체 틀 2">
            <a:extLst>
              <a:ext uri="{FF2B5EF4-FFF2-40B4-BE49-F238E27FC236}">
                <a16:creationId xmlns:a16="http://schemas.microsoft.com/office/drawing/2014/main" id="{1A92AA20-D7AA-E7A8-18E4-B584F3D92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Programmer make decisions and assigns a fixed amount of work to each processing core a priori</a:t>
            </a:r>
          </a:p>
          <a:p>
            <a:r>
              <a:rPr lang="en-US" altLang="ko-KR" sz="2400"/>
              <a:t>Low run time overhead</a:t>
            </a:r>
          </a:p>
          <a:p>
            <a:r>
              <a:rPr lang="en-US" altLang="ko-KR" sz="2400"/>
              <a:t>Works well for homogeneous multicores</a:t>
            </a:r>
          </a:p>
          <a:p>
            <a:pPr lvl="1"/>
            <a:r>
              <a:rPr lang="en-US" altLang="ko-KR" sz="2000"/>
              <a:t>All core are the same</a:t>
            </a:r>
          </a:p>
          <a:p>
            <a:pPr lvl="1"/>
            <a:r>
              <a:rPr lang="en-US" altLang="ko-KR" sz="2000"/>
              <a:t>Each core has an equal amount of work</a:t>
            </a:r>
          </a:p>
          <a:p>
            <a:r>
              <a:rPr lang="en-US" altLang="ko-KR" sz="2400"/>
              <a:t>Not so well for heterogeneous multicores</a:t>
            </a:r>
          </a:p>
          <a:p>
            <a:pPr lvl="1"/>
            <a:r>
              <a:rPr lang="en-US" altLang="ko-KR" sz="2000"/>
              <a:t>Some cores may be faster than others</a:t>
            </a:r>
          </a:p>
          <a:p>
            <a:pPr lvl="1"/>
            <a:r>
              <a:rPr lang="en-US" altLang="ko-KR" sz="2000"/>
              <a:t>Work distribution is uneven</a:t>
            </a:r>
            <a:endParaRPr lang="ko-KR" altLang="en-US" sz="2000"/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58E11854-FEF1-F816-4392-6DCB49346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2541588"/>
            <a:ext cx="14097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제목 1">
            <a:extLst>
              <a:ext uri="{FF2B5EF4-FFF2-40B4-BE49-F238E27FC236}">
                <a16:creationId xmlns:a16="http://schemas.microsoft.com/office/drawing/2014/main" id="{0CECC29E-AE14-9874-F4BC-DB0F3B298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Dynamic Load Balancing</a:t>
            </a:r>
            <a:endParaRPr lang="ko-KR" altLang="en-US" u="sng"/>
          </a:p>
        </p:txBody>
      </p:sp>
      <p:sp>
        <p:nvSpPr>
          <p:cNvPr id="43010" name="내용 개체 틀 2">
            <a:extLst>
              <a:ext uri="{FF2B5EF4-FFF2-40B4-BE49-F238E27FC236}">
                <a16:creationId xmlns:a16="http://schemas.microsoft.com/office/drawing/2014/main" id="{612777FC-F325-EA8F-2B88-CCB4D0B53F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When one core finishes its allocated work, it takes  work from a work queue or a core with the heaviest workload</a:t>
            </a:r>
          </a:p>
          <a:p>
            <a:r>
              <a:rPr lang="en-US" altLang="ko-KR" sz="2000"/>
              <a:t>Adapt partitioning at run time to balance load</a:t>
            </a:r>
          </a:p>
          <a:p>
            <a:r>
              <a:rPr lang="en-US" altLang="ko-KR" sz="2000"/>
              <a:t>High runtime overhead</a:t>
            </a:r>
          </a:p>
          <a:p>
            <a:r>
              <a:rPr lang="en-US" altLang="ko-KR" sz="2000"/>
              <a:t>Ideal for codes where work is uneven, unpredictable, and in heterogeneous multicore</a:t>
            </a:r>
            <a:endParaRPr lang="ko-KR" altLang="en-US" sz="2000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55D8D108-B43D-F73E-7262-3549470B6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933825"/>
            <a:ext cx="72009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제목 1">
            <a:extLst>
              <a:ext uri="{FF2B5EF4-FFF2-40B4-BE49-F238E27FC236}">
                <a16:creationId xmlns:a16="http://schemas.microsoft.com/office/drawing/2014/main" id="{00DECA76-9A6C-17EA-2517-AEEC3129E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Granularity and Performance Tradeoffs</a:t>
            </a:r>
            <a:endParaRPr lang="ko-KR" altLang="en-US" sz="32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6A9B17-AAE3-2042-9CB0-AFE1E795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Load balancing</a:t>
            </a:r>
          </a:p>
          <a:p>
            <a:pPr marL="914400" lvl="1" indent="-514350">
              <a:defRPr/>
            </a:pPr>
            <a:r>
              <a:rPr lang="en-US" altLang="ko-KR" dirty="0"/>
              <a:t>How well is work distributed among cores?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Synchronization/Communication</a:t>
            </a:r>
          </a:p>
          <a:p>
            <a:pPr lvl="1">
              <a:defRPr/>
            </a:pPr>
            <a:r>
              <a:rPr lang="en-US" altLang="ko-KR" dirty="0"/>
              <a:t>Communication Overhead?</a:t>
            </a:r>
            <a:endParaRPr lang="ko-KR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제목 1">
            <a:extLst>
              <a:ext uri="{FF2B5EF4-FFF2-40B4-BE49-F238E27FC236}">
                <a16:creationId xmlns:a16="http://schemas.microsoft.com/office/drawing/2014/main" id="{CF827607-756E-8120-0DF7-E4617D911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Communication</a:t>
            </a:r>
            <a:endParaRPr lang="ko-KR" altLang="en-US" b="1" u="sng"/>
          </a:p>
        </p:txBody>
      </p:sp>
      <p:sp>
        <p:nvSpPr>
          <p:cNvPr id="45058" name="내용 개체 틀 2">
            <a:extLst>
              <a:ext uri="{FF2B5EF4-FFF2-40B4-BE49-F238E27FC236}">
                <a16:creationId xmlns:a16="http://schemas.microsoft.com/office/drawing/2014/main" id="{9315482D-9141-AD33-DD51-933FDFE94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With message passing, programmer has to understand the computation and orchestrate the communication accordingly</a:t>
            </a:r>
          </a:p>
          <a:p>
            <a:pPr lvl="1"/>
            <a:r>
              <a:rPr lang="en-US" altLang="ko-KR" sz="2000"/>
              <a:t>Point to Point</a:t>
            </a:r>
          </a:p>
          <a:p>
            <a:pPr lvl="1"/>
            <a:r>
              <a:rPr lang="en-US" altLang="ko-KR" sz="2000"/>
              <a:t>Broadcast (one to all) and Reduce (all to one)</a:t>
            </a:r>
          </a:p>
          <a:p>
            <a:pPr lvl="1"/>
            <a:r>
              <a:rPr lang="en-US" altLang="ko-KR" sz="2000"/>
              <a:t>All to All (each processor sends its data to all others)</a:t>
            </a:r>
          </a:p>
          <a:p>
            <a:pPr lvl="1"/>
            <a:r>
              <a:rPr lang="en-US" altLang="ko-KR" sz="2000"/>
              <a:t>Scatter (one to several) and Gather (several to one)</a:t>
            </a:r>
            <a:endParaRPr lang="ko-KR" alt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제목 1">
            <a:extLst>
              <a:ext uri="{FF2B5EF4-FFF2-40B4-BE49-F238E27FC236}">
                <a16:creationId xmlns:a16="http://schemas.microsoft.com/office/drawing/2014/main" id="{C75E92A1-5CB4-3A2C-B5B7-D7B61824A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Factors to consider for communcation</a:t>
            </a:r>
            <a:endParaRPr lang="ko-KR" altLang="en-US" sz="3200" b="1" u="sng"/>
          </a:p>
        </p:txBody>
      </p:sp>
      <p:sp>
        <p:nvSpPr>
          <p:cNvPr id="46082" name="내용 개체 틀 2">
            <a:extLst>
              <a:ext uri="{FF2B5EF4-FFF2-40B4-BE49-F238E27FC236}">
                <a16:creationId xmlns:a16="http://schemas.microsoft.com/office/drawing/2014/main" id="{F5833CE1-D6DF-749D-5DF7-DB68F8CE3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Cost of communications</a:t>
            </a:r>
          </a:p>
          <a:p>
            <a:pPr lvl="1"/>
            <a:r>
              <a:rPr lang="en-US" altLang="ko-KR" sz="2400"/>
              <a:t>Inter-task communication virtually always implies overhead.</a:t>
            </a:r>
          </a:p>
          <a:p>
            <a:pPr lvl="1"/>
            <a:r>
              <a:rPr lang="en-US" altLang="ko-KR" sz="2400"/>
              <a:t>Communications frequently require some type of synchronization between tasks, which can result in tasks spending time ‘waiting’ instead of doing work.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제목 1">
            <a:extLst>
              <a:ext uri="{FF2B5EF4-FFF2-40B4-BE49-F238E27FC236}">
                <a16:creationId xmlns:a16="http://schemas.microsoft.com/office/drawing/2014/main" id="{F21D807F-78B5-794D-6E96-80106A933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Factors to consider for communcation</a:t>
            </a:r>
            <a:endParaRPr lang="ko-KR" altLang="en-US" sz="3200" b="1" u="sng"/>
          </a:p>
        </p:txBody>
      </p:sp>
      <p:sp>
        <p:nvSpPr>
          <p:cNvPr id="47106" name="내용 개체 틀 2">
            <a:extLst>
              <a:ext uri="{FF2B5EF4-FFF2-40B4-BE49-F238E27FC236}">
                <a16:creationId xmlns:a16="http://schemas.microsoft.com/office/drawing/2014/main" id="{E9BDB214-7A87-511B-DF64-95A9367EE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Latency vs Bandwidth</a:t>
            </a:r>
          </a:p>
          <a:p>
            <a:pPr lvl="1"/>
            <a:r>
              <a:rPr lang="en-US" altLang="ko-KR" sz="2000"/>
              <a:t>Latency</a:t>
            </a:r>
          </a:p>
          <a:p>
            <a:pPr lvl="2"/>
            <a:r>
              <a:rPr lang="en-US" altLang="ko-KR" sz="1800"/>
              <a:t>the time it takes to send a minimal (0 byte) message from point A to point B.</a:t>
            </a:r>
          </a:p>
          <a:p>
            <a:pPr lvl="1"/>
            <a:r>
              <a:rPr lang="en-US" altLang="ko-KR" sz="2000"/>
              <a:t>Bandwidth</a:t>
            </a:r>
          </a:p>
          <a:p>
            <a:pPr lvl="2"/>
            <a:r>
              <a:rPr lang="en-US" altLang="ko-KR" sz="1800"/>
              <a:t>the amount of data that can be communicated per unit of time. </a:t>
            </a:r>
          </a:p>
          <a:p>
            <a:pPr lvl="1"/>
            <a:r>
              <a:rPr lang="en-US" altLang="ko-KR" sz="2000"/>
              <a:t>Sending many small messages can cause latency to dominate communication overheads. </a:t>
            </a:r>
          </a:p>
          <a:p>
            <a:pPr lvl="1"/>
            <a:r>
              <a:rPr lang="en-US" altLang="ko-KR" sz="2000"/>
              <a:t>Often it is more efficient to package small messages into a larger message.</a:t>
            </a:r>
            <a:endParaRPr lang="ko-KR" alt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제목 1">
            <a:extLst>
              <a:ext uri="{FF2B5EF4-FFF2-40B4-BE49-F238E27FC236}">
                <a16:creationId xmlns:a16="http://schemas.microsoft.com/office/drawing/2014/main" id="{1F3C3251-A045-2479-B2F5-B8C828E33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Factors to consider for communcation</a:t>
            </a:r>
            <a:endParaRPr lang="ko-KR" altLang="en-US" sz="3200" b="1" u="sng"/>
          </a:p>
        </p:txBody>
      </p:sp>
      <p:sp>
        <p:nvSpPr>
          <p:cNvPr id="48130" name="내용 개체 틀 2">
            <a:extLst>
              <a:ext uri="{FF2B5EF4-FFF2-40B4-BE49-F238E27FC236}">
                <a16:creationId xmlns:a16="http://schemas.microsoft.com/office/drawing/2014/main" id="{D600EE69-7122-283F-1F79-E863CD7CD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synchronous vs asynchronous</a:t>
            </a:r>
          </a:p>
          <a:p>
            <a:pPr lvl="1"/>
            <a:r>
              <a:rPr lang="en-US" altLang="ko-KR" sz="2400"/>
              <a:t>Synchronous : require some type of ‘handshaking’ between tasks that share data</a:t>
            </a:r>
          </a:p>
          <a:p>
            <a:pPr lvl="1"/>
            <a:r>
              <a:rPr lang="en-US" altLang="ko-KR" sz="2400"/>
              <a:t>Asynchronous : transfer data independently from one another.</a:t>
            </a:r>
          </a:p>
          <a:p>
            <a:endParaRPr lang="en-US" altLang="ko-KR" sz="2800"/>
          </a:p>
          <a:p>
            <a:r>
              <a:rPr lang="en-US" altLang="ko-KR" sz="2800"/>
              <a:t>Scope of communication</a:t>
            </a:r>
          </a:p>
          <a:p>
            <a:pPr lvl="1"/>
            <a:r>
              <a:rPr lang="en-US" altLang="ko-KR" sz="2400"/>
              <a:t>Point-to-point</a:t>
            </a:r>
          </a:p>
          <a:p>
            <a:pPr lvl="1"/>
            <a:r>
              <a:rPr lang="en-US" altLang="ko-KR" sz="2400"/>
              <a:t>collective</a:t>
            </a:r>
            <a:endParaRPr lang="ko-KR" altLang="en-US" sz="2000"/>
          </a:p>
        </p:txBody>
      </p:sp>
      <p:pic>
        <p:nvPicPr>
          <p:cNvPr id="48131" name="Picture 2" descr="Collective communications examples">
            <a:extLst>
              <a:ext uri="{FF2B5EF4-FFF2-40B4-BE49-F238E27FC236}">
                <a16:creationId xmlns:a16="http://schemas.microsoft.com/office/drawing/2014/main" id="{6B49EBD7-DAC0-76F9-E26C-EB8BE0FFF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149725"/>
            <a:ext cx="30892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제목 1">
            <a:extLst>
              <a:ext uri="{FF2B5EF4-FFF2-40B4-BE49-F238E27FC236}">
                <a16:creationId xmlns:a16="http://schemas.microsoft.com/office/drawing/2014/main" id="{50ADF28B-A0CE-66FC-C1ED-42488ADF5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MPI : Message Passing Library</a:t>
            </a:r>
            <a:endParaRPr lang="ko-KR" altLang="en-US" sz="4000" b="1" u="sng"/>
          </a:p>
        </p:txBody>
      </p:sp>
      <p:sp>
        <p:nvSpPr>
          <p:cNvPr id="49154" name="내용 개체 틀 2">
            <a:extLst>
              <a:ext uri="{FF2B5EF4-FFF2-40B4-BE49-F238E27FC236}">
                <a16:creationId xmlns:a16="http://schemas.microsoft.com/office/drawing/2014/main" id="{F1B74929-7375-F7D2-370D-A6073917AD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MPI : portable specification</a:t>
            </a:r>
          </a:p>
          <a:p>
            <a:pPr lvl="1"/>
            <a:r>
              <a:rPr lang="en-US" altLang="ko-KR" sz="2000"/>
              <a:t>Not a language or compiler specification</a:t>
            </a:r>
          </a:p>
          <a:p>
            <a:pPr lvl="1"/>
            <a:r>
              <a:rPr lang="en-US" altLang="ko-KR" sz="2000"/>
              <a:t>Not a specific implementation or product</a:t>
            </a:r>
          </a:p>
          <a:p>
            <a:pPr lvl="1"/>
            <a:r>
              <a:rPr lang="nn-NO" altLang="ko-KR" sz="2000"/>
              <a:t>SPMD model (same program, multiple data)</a:t>
            </a:r>
            <a:endParaRPr lang="en-US" altLang="ko-KR" sz="2000"/>
          </a:p>
          <a:p>
            <a:r>
              <a:rPr lang="en-US" altLang="ko-KR" sz="2800"/>
              <a:t>For parallel computers, clusters, and heterogeneous networks, multicores</a:t>
            </a:r>
          </a:p>
          <a:p>
            <a:r>
              <a:rPr lang="en-US" altLang="ko-KR" sz="2800"/>
              <a:t>Multiple communication modes allow precise buffer management</a:t>
            </a:r>
          </a:p>
          <a:p>
            <a:r>
              <a:rPr lang="en-US" altLang="ko-KR" sz="2800"/>
              <a:t>Extensive collective operations for scalable global communication</a:t>
            </a:r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제목 1">
            <a:extLst>
              <a:ext uri="{FF2B5EF4-FFF2-40B4-BE49-F238E27FC236}">
                <a16:creationId xmlns:a16="http://schemas.microsoft.com/office/drawing/2014/main" id="{3FDD186D-599F-EEEE-B9A7-44CF72D9D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Point-to-Point</a:t>
            </a:r>
            <a:endParaRPr lang="ko-KR" altLang="en-US" b="1" u="sng"/>
          </a:p>
        </p:txBody>
      </p:sp>
      <p:sp>
        <p:nvSpPr>
          <p:cNvPr id="50178" name="내용 개체 틀 2">
            <a:extLst>
              <a:ext uri="{FF2B5EF4-FFF2-40B4-BE49-F238E27FC236}">
                <a16:creationId xmlns:a16="http://schemas.microsoft.com/office/drawing/2014/main" id="{6192B157-5127-16A5-D168-8728B68ABD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Basic method of communication between two processors</a:t>
            </a:r>
          </a:p>
          <a:p>
            <a:pPr lvl="1"/>
            <a:r>
              <a:rPr lang="en-US" altLang="ko-KR" sz="1600"/>
              <a:t>Originating processor "sends" message to destination processor</a:t>
            </a:r>
          </a:p>
          <a:p>
            <a:pPr lvl="1"/>
            <a:r>
              <a:rPr lang="en-US" altLang="ko-KR" sz="1600"/>
              <a:t>Destination processor then "receives" the message</a:t>
            </a:r>
          </a:p>
          <a:p>
            <a:endParaRPr lang="en-US" altLang="ko-KR" sz="2000"/>
          </a:p>
          <a:p>
            <a:r>
              <a:rPr lang="en-US" altLang="ko-KR" sz="2000"/>
              <a:t>The message commonly includes</a:t>
            </a:r>
          </a:p>
          <a:p>
            <a:pPr lvl="1"/>
            <a:r>
              <a:rPr lang="en-US" altLang="ko-KR" sz="1600"/>
              <a:t>Data or other information</a:t>
            </a:r>
          </a:p>
          <a:p>
            <a:pPr lvl="1"/>
            <a:r>
              <a:rPr lang="en-US" altLang="ko-KR" sz="1600"/>
              <a:t>Length of the message</a:t>
            </a:r>
          </a:p>
          <a:p>
            <a:pPr lvl="1"/>
            <a:r>
              <a:rPr lang="en-US" altLang="ko-KR" sz="1600"/>
              <a:t>Destination address and possibly a tag</a:t>
            </a:r>
            <a:endParaRPr lang="ko-KR" altLang="en-US" sz="1600"/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68F011EE-F7B3-90BC-63BC-8CA5872FD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2708275"/>
            <a:ext cx="331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제목 1">
            <a:extLst>
              <a:ext uri="{FF2B5EF4-FFF2-40B4-BE49-F238E27FC236}">
                <a16:creationId xmlns:a16="http://schemas.microsoft.com/office/drawing/2014/main" id="{7257064B-F115-0903-384E-B520467C3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Synchronous vs. Asynchronous Messages</a:t>
            </a:r>
            <a:endParaRPr lang="ko-KR" altLang="en-US" sz="3200" u="sng"/>
          </a:p>
        </p:txBody>
      </p:sp>
      <p:sp>
        <p:nvSpPr>
          <p:cNvPr id="51202" name="내용 개체 틀 2">
            <a:extLst>
              <a:ext uri="{FF2B5EF4-FFF2-40B4-BE49-F238E27FC236}">
                <a16:creationId xmlns:a16="http://schemas.microsoft.com/office/drawing/2014/main" id="{324B7CC1-AE38-99AC-7352-621DDB6E8E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1203" name="Picture 2">
            <a:extLst>
              <a:ext uri="{FF2B5EF4-FFF2-40B4-BE49-F238E27FC236}">
                <a16:creationId xmlns:a16="http://schemas.microsoft.com/office/drawing/2014/main" id="{E634FE97-0B86-431C-503D-8D08E70B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341438"/>
            <a:ext cx="8170862" cy="531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제목 1">
            <a:extLst>
              <a:ext uri="{FF2B5EF4-FFF2-40B4-BE49-F238E27FC236}">
                <a16:creationId xmlns:a16="http://schemas.microsoft.com/office/drawing/2014/main" id="{AF94F386-DB51-2912-2654-06585FF31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Blocking vs. Non-Blocking Messages</a:t>
            </a:r>
            <a:endParaRPr lang="ko-KR" altLang="en-US" sz="3200" u="sng"/>
          </a:p>
        </p:txBody>
      </p:sp>
      <p:sp>
        <p:nvSpPr>
          <p:cNvPr id="52226" name="내용 개체 틀 2">
            <a:extLst>
              <a:ext uri="{FF2B5EF4-FFF2-40B4-BE49-F238E27FC236}">
                <a16:creationId xmlns:a16="http://schemas.microsoft.com/office/drawing/2014/main" id="{AA776A28-B938-B45F-4BAE-764DB73A70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9D9DB114-83B2-ECFF-A512-B65FBC546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84"/>
          <a:stretch>
            <a:fillRect/>
          </a:stretch>
        </p:blipFill>
        <p:spPr bwMode="auto">
          <a:xfrm>
            <a:off x="61913" y="1327150"/>
            <a:ext cx="900112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제목 1">
            <a:extLst>
              <a:ext uri="{FF2B5EF4-FFF2-40B4-BE49-F238E27FC236}">
                <a16:creationId xmlns:a16="http://schemas.microsoft.com/office/drawing/2014/main" id="{BA87474D-1B08-5EEC-DFF4-6C23621D9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Broadcast</a:t>
            </a:r>
            <a:endParaRPr lang="ko-KR" altLang="en-US" u="sng"/>
          </a:p>
        </p:txBody>
      </p:sp>
      <p:sp>
        <p:nvSpPr>
          <p:cNvPr id="53250" name="내용 개체 틀 2">
            <a:extLst>
              <a:ext uri="{FF2B5EF4-FFF2-40B4-BE49-F238E27FC236}">
                <a16:creationId xmlns:a16="http://schemas.microsoft.com/office/drawing/2014/main" id="{C16120CA-0ADF-C494-39FB-027A1EF88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3251" name="Picture 2">
            <a:extLst>
              <a:ext uri="{FF2B5EF4-FFF2-40B4-BE49-F238E27FC236}">
                <a16:creationId xmlns:a16="http://schemas.microsoft.com/office/drawing/2014/main" id="{CE08141A-4BAC-F19D-EDA7-BB49FEBAD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8" y="1431925"/>
            <a:ext cx="8956675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제목 1">
            <a:extLst>
              <a:ext uri="{FF2B5EF4-FFF2-40B4-BE49-F238E27FC236}">
                <a16:creationId xmlns:a16="http://schemas.microsoft.com/office/drawing/2014/main" id="{2F2DDF08-0EE3-AC58-B634-756C65494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Reduction</a:t>
            </a:r>
            <a:endParaRPr lang="ko-KR" altLang="en-US" u="sng"/>
          </a:p>
        </p:txBody>
      </p:sp>
      <p:sp>
        <p:nvSpPr>
          <p:cNvPr id="54274" name="내용 개체 틀 2">
            <a:extLst>
              <a:ext uri="{FF2B5EF4-FFF2-40B4-BE49-F238E27FC236}">
                <a16:creationId xmlns:a16="http://schemas.microsoft.com/office/drawing/2014/main" id="{9F44BEE9-34CF-03DD-4AF9-74832A669A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Example: every processor starts with a value and needs to know the sum of values stored on all processors</a:t>
            </a:r>
          </a:p>
          <a:p>
            <a:r>
              <a:rPr lang="en-US" altLang="ko-KR" sz="2400"/>
              <a:t>A reduction combines data from all processors and returns it to a single process</a:t>
            </a:r>
          </a:p>
          <a:p>
            <a:pPr lvl="1"/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MPI_REDUCE</a:t>
            </a:r>
          </a:p>
          <a:p>
            <a:pPr lvl="1"/>
            <a:r>
              <a:rPr lang="en-US" altLang="ko-KR" sz="1800"/>
              <a:t>Can apply any associative operation on gathered data</a:t>
            </a:r>
          </a:p>
          <a:p>
            <a:pPr lvl="2"/>
            <a:r>
              <a:rPr lang="en-US" altLang="ko-KR" sz="1400"/>
              <a:t>ADD, OR, AND, MAX, MIN, etc.</a:t>
            </a:r>
          </a:p>
          <a:p>
            <a:pPr lvl="1"/>
            <a:r>
              <a:rPr lang="en-US" altLang="ko-KR" sz="1800"/>
              <a:t>No processor can finish reduction before each processor has contributed a value</a:t>
            </a:r>
            <a:endParaRPr lang="en-US" altLang="ko-KR" sz="2400"/>
          </a:p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BCAST/REDUCE</a:t>
            </a:r>
            <a:r>
              <a:rPr lang="en-US" altLang="ko-KR" sz="2400" b="1"/>
              <a:t> can reduce programming complexity and may </a:t>
            </a:r>
            <a:r>
              <a:rPr lang="en-US" altLang="ko-KR" sz="2400"/>
              <a:t>be more efficient in some programs</a:t>
            </a:r>
            <a:endParaRPr lang="ko-KR" alt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제목 1">
            <a:extLst>
              <a:ext uri="{FF2B5EF4-FFF2-40B4-BE49-F238E27FC236}">
                <a16:creationId xmlns:a16="http://schemas.microsoft.com/office/drawing/2014/main" id="{65054A56-35B9-6FE0-8002-FD9529B79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Example : Parallel Numerical Integration</a:t>
            </a:r>
            <a:endParaRPr lang="ko-KR" altLang="en-US" sz="3200" b="1" u="sng"/>
          </a:p>
        </p:txBody>
      </p:sp>
      <p:sp>
        <p:nvSpPr>
          <p:cNvPr id="55298" name="내용 개체 틀 2">
            <a:extLst>
              <a:ext uri="{FF2B5EF4-FFF2-40B4-BE49-F238E27FC236}">
                <a16:creationId xmlns:a16="http://schemas.microsoft.com/office/drawing/2014/main" id="{1A469467-F9B1-8BDB-B6BA-498F0EBBA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5299" name="Picture 2">
            <a:extLst>
              <a:ext uri="{FF2B5EF4-FFF2-40B4-BE49-F238E27FC236}">
                <a16:creationId xmlns:a16="http://schemas.microsoft.com/office/drawing/2014/main" id="{34BD975D-86E0-2715-9CAE-A4C4C922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701800"/>
            <a:ext cx="8869363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제목 1">
            <a:extLst>
              <a:ext uri="{FF2B5EF4-FFF2-40B4-BE49-F238E27FC236}">
                <a16:creationId xmlns:a16="http://schemas.microsoft.com/office/drawing/2014/main" id="{F2ECBC3A-F0EA-019A-1CEA-ACF2A8E24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Computing the Integration (MPI)</a:t>
            </a:r>
            <a:endParaRPr lang="ko-KR" altLang="en-US" b="1" u="sng"/>
          </a:p>
        </p:txBody>
      </p:sp>
      <p:sp>
        <p:nvSpPr>
          <p:cNvPr id="56322" name="내용 개체 틀 2">
            <a:extLst>
              <a:ext uri="{FF2B5EF4-FFF2-40B4-BE49-F238E27FC236}">
                <a16:creationId xmlns:a16="http://schemas.microsoft.com/office/drawing/2014/main" id="{47BC4FB4-AE63-8C55-F923-2AE893A0C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6323" name="Picture 2">
            <a:extLst>
              <a:ext uri="{FF2B5EF4-FFF2-40B4-BE49-F238E27FC236}">
                <a16:creationId xmlns:a16="http://schemas.microsoft.com/office/drawing/2014/main" id="{48F1108C-B500-6C36-2D19-E6E41B0A6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1576388"/>
            <a:ext cx="7064375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제목 1">
            <a:extLst>
              <a:ext uri="{FF2B5EF4-FFF2-40B4-BE49-F238E27FC236}">
                <a16:creationId xmlns:a16="http://schemas.microsoft.com/office/drawing/2014/main" id="{C1ECDD80-5EC0-F090-CBAD-03FEF1800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Synchronization</a:t>
            </a:r>
            <a:endParaRPr lang="ko-KR" altLang="en-US" b="1" u="sng"/>
          </a:p>
        </p:txBody>
      </p:sp>
      <p:sp>
        <p:nvSpPr>
          <p:cNvPr id="57346" name="내용 개체 틀 2">
            <a:extLst>
              <a:ext uri="{FF2B5EF4-FFF2-40B4-BE49-F238E27FC236}">
                <a16:creationId xmlns:a16="http://schemas.microsoft.com/office/drawing/2014/main" id="{F0922D29-22DC-3988-C89A-9AE1C827F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Coodination of simultaneous events (threads / processes) in order to obtain correct runtime order and avoid unexpected condition</a:t>
            </a:r>
          </a:p>
          <a:p>
            <a:endParaRPr lang="en-US" altLang="ko-KR" sz="2400"/>
          </a:p>
          <a:p>
            <a:r>
              <a:rPr lang="en-US" altLang="ko-KR" sz="2400"/>
              <a:t>Types of synchronization</a:t>
            </a:r>
          </a:p>
          <a:p>
            <a:pPr lvl="1"/>
            <a:r>
              <a:rPr lang="en-US" altLang="ko-KR" sz="2000"/>
              <a:t>Barrier</a:t>
            </a:r>
          </a:p>
          <a:p>
            <a:pPr lvl="2"/>
            <a:r>
              <a:rPr lang="en-US" altLang="ko-KR" sz="1700"/>
              <a:t>Any thread/process must stop at this point(barrier) and cannot proceed until all other threads/processes reach this barrier</a:t>
            </a:r>
          </a:p>
          <a:p>
            <a:pPr lvl="1"/>
            <a:r>
              <a:rPr lang="en-US" altLang="ko-KR" sz="2000"/>
              <a:t>Lock/semaphore</a:t>
            </a:r>
          </a:p>
          <a:p>
            <a:pPr lvl="2"/>
            <a:r>
              <a:rPr lang="en-US" altLang="ko-KR" sz="1700"/>
              <a:t>The first task acquires the lock. This task can then safely (serially) access the protected data or code.</a:t>
            </a:r>
          </a:p>
          <a:p>
            <a:pPr lvl="2"/>
            <a:r>
              <a:rPr lang="en-US" altLang="ko-KR" sz="1700"/>
              <a:t>Other tasks can attempt to acquire the lock but must wait until the task that owns the lock releases it.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제목 1">
            <a:extLst>
              <a:ext uri="{FF2B5EF4-FFF2-40B4-BE49-F238E27FC236}">
                <a16:creationId xmlns:a16="http://schemas.microsoft.com/office/drawing/2014/main" id="{F0B14320-0FDC-992C-4974-1D30EAA9A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</p:spPr>
        <p:txBody>
          <a:bodyPr/>
          <a:lstStyle/>
          <a:p>
            <a:r>
              <a:rPr lang="en-US" altLang="ko-KR" sz="4000" b="1" u="sng"/>
              <a:t>Locality</a:t>
            </a:r>
            <a:endParaRPr lang="ko-KR" altLang="en-US" sz="4000" b="1" u="sn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5A44B-FC91-124D-973E-44A1177EB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5013325"/>
            <a:ext cx="8001000" cy="14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1600" kern="0" dirty="0">
                <a:latin typeface="+mn-lt"/>
                <a:ea typeface="+mn-ea"/>
              </a:rPr>
              <a:t>Large memories are slow, fast memories are small</a:t>
            </a:r>
          </a:p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1600" kern="0" dirty="0">
                <a:latin typeface="+mn-lt"/>
                <a:ea typeface="+mn-ea"/>
              </a:rPr>
              <a:t>Storage hierarchies are large and fast </a:t>
            </a:r>
            <a:r>
              <a:rPr lang="en-US" altLang="ko-KR" sz="1600" u="sng" kern="0" dirty="0">
                <a:latin typeface="+mn-lt"/>
                <a:ea typeface="+mn-ea"/>
              </a:rPr>
              <a:t>on average</a:t>
            </a:r>
          </a:p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1600" kern="0" dirty="0">
                <a:latin typeface="+mn-lt"/>
                <a:ea typeface="+mn-ea"/>
              </a:rPr>
              <a:t>Parallel processors, collectively, have large, fast cache</a:t>
            </a:r>
          </a:p>
          <a:p>
            <a:pPr marL="685800" lvl="1" indent="-19050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400" kern="0" dirty="0">
                <a:latin typeface="+mn-lt"/>
                <a:ea typeface="+mn-ea"/>
              </a:rPr>
              <a:t>the slow accesses to “remote” data we call “communication”</a:t>
            </a:r>
          </a:p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1600" b="1" u="sng" kern="0" dirty="0">
                <a:latin typeface="굴림" pitchFamily="50" charset="-127"/>
                <a:ea typeface="굴림" pitchFamily="50" charset="-127"/>
              </a:rPr>
              <a:t>Algorithm should do most work on local data</a:t>
            </a:r>
          </a:p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ko-KR" sz="1600" b="1" u="sng" kern="0" dirty="0">
                <a:latin typeface="+mn-lt"/>
                <a:ea typeface="+mn-ea"/>
              </a:rPr>
              <a:t>Need to exploit spatial and temporal locality</a:t>
            </a:r>
          </a:p>
          <a:p>
            <a:pPr marL="342900" indent="-342900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/>
            </a:pPr>
            <a:endParaRPr lang="en-US" altLang="ko-KR" sz="3000" b="1" u="sng" kern="0" dirty="0">
              <a:latin typeface="+mn-lt"/>
              <a:ea typeface="+mn-ea"/>
            </a:endParaRPr>
          </a:p>
        </p:txBody>
      </p:sp>
      <p:sp>
        <p:nvSpPr>
          <p:cNvPr id="58371" name="Rectangle 4">
            <a:extLst>
              <a:ext uri="{FF2B5EF4-FFF2-40B4-BE49-F238E27FC236}">
                <a16:creationId xmlns:a16="http://schemas.microsoft.com/office/drawing/2014/main" id="{B93D33E7-4AA1-6E26-5D63-95A55B1F3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450975"/>
            <a:ext cx="1193800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72" name="Rectangle 5">
            <a:extLst>
              <a:ext uri="{FF2B5EF4-FFF2-40B4-BE49-F238E27FC236}">
                <a16:creationId xmlns:a16="http://schemas.microsoft.com/office/drawing/2014/main" id="{C8E98B4C-4618-FA4A-3ECB-AEF4EB8D4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1520825"/>
            <a:ext cx="5969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73" name="Rectangle 6">
            <a:extLst>
              <a:ext uri="{FF2B5EF4-FFF2-40B4-BE49-F238E27FC236}">
                <a16:creationId xmlns:a16="http://schemas.microsoft.com/office/drawing/2014/main" id="{0055A44C-5DE1-A66D-2081-AF9DE9CAE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1420813"/>
            <a:ext cx="628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Proc</a:t>
            </a:r>
          </a:p>
        </p:txBody>
      </p:sp>
      <p:sp>
        <p:nvSpPr>
          <p:cNvPr id="58374" name="Rectangle 7">
            <a:extLst>
              <a:ext uri="{FF2B5EF4-FFF2-40B4-BE49-F238E27FC236}">
                <a16:creationId xmlns:a16="http://schemas.microsoft.com/office/drawing/2014/main" id="{65E8B539-A18B-6380-B0BE-A9C48B972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1749425"/>
            <a:ext cx="7493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75" name="Rectangle 8">
            <a:extLst>
              <a:ext uri="{FF2B5EF4-FFF2-40B4-BE49-F238E27FC236}">
                <a16:creationId xmlns:a16="http://schemas.microsoft.com/office/drawing/2014/main" id="{0F33FDC4-056F-8F8E-B9A1-DD74023DC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706563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Cache</a:t>
            </a:r>
          </a:p>
        </p:txBody>
      </p:sp>
      <p:sp>
        <p:nvSpPr>
          <p:cNvPr id="58376" name="Rectangle 9">
            <a:extLst>
              <a:ext uri="{FF2B5EF4-FFF2-40B4-BE49-F238E27FC236}">
                <a16:creationId xmlns:a16="http://schemas.microsoft.com/office/drawing/2014/main" id="{D656D82C-4EE5-15F4-4CC6-13BFB786B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054225"/>
            <a:ext cx="1054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77" name="Rectangle 10">
            <a:extLst>
              <a:ext uri="{FF2B5EF4-FFF2-40B4-BE49-F238E27FC236}">
                <a16:creationId xmlns:a16="http://schemas.microsoft.com/office/drawing/2014/main" id="{4DE9F5C6-0109-2720-ECA7-700FBCB14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2011363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L2 Cache</a:t>
            </a:r>
          </a:p>
        </p:txBody>
      </p:sp>
      <p:sp>
        <p:nvSpPr>
          <p:cNvPr id="58378" name="Rectangle 11">
            <a:extLst>
              <a:ext uri="{FF2B5EF4-FFF2-40B4-BE49-F238E27FC236}">
                <a16:creationId xmlns:a16="http://schemas.microsoft.com/office/drawing/2014/main" id="{DC8211AB-9367-5702-EB9F-C3A667CA9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150" y="2892425"/>
            <a:ext cx="1206500" cy="673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79" name="Rectangle 12">
            <a:extLst>
              <a:ext uri="{FF2B5EF4-FFF2-40B4-BE49-F238E27FC236}">
                <a16:creationId xmlns:a16="http://schemas.microsoft.com/office/drawing/2014/main" id="{77A0C343-8019-7B61-C581-CC50C6BBD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3001963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L3 Cache</a:t>
            </a:r>
          </a:p>
        </p:txBody>
      </p:sp>
      <p:sp>
        <p:nvSpPr>
          <p:cNvPr id="58380" name="Rectangle 13">
            <a:extLst>
              <a:ext uri="{FF2B5EF4-FFF2-40B4-BE49-F238E27FC236}">
                <a16:creationId xmlns:a16="http://schemas.microsoft.com/office/drawing/2014/main" id="{721A55A9-6731-C2B5-05A0-55BD2FBE0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3959225"/>
            <a:ext cx="1587500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81" name="Rectangle 14">
            <a:extLst>
              <a:ext uri="{FF2B5EF4-FFF2-40B4-BE49-F238E27FC236}">
                <a16:creationId xmlns:a16="http://schemas.microsoft.com/office/drawing/2014/main" id="{841F6BF3-52DB-AEE7-8AB1-B81C57F5C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25" y="4144963"/>
            <a:ext cx="942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8382" name="Line 15">
            <a:extLst>
              <a:ext uri="{FF2B5EF4-FFF2-40B4-BE49-F238E27FC236}">
                <a16:creationId xmlns:a16="http://schemas.microsoft.com/office/drawing/2014/main" id="{345182C0-1F0B-F213-05F3-B05871FCD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5812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383" name="Line 16">
            <a:extLst>
              <a:ext uri="{FF2B5EF4-FFF2-40B4-BE49-F238E27FC236}">
                <a16:creationId xmlns:a16="http://schemas.microsoft.com/office/drawing/2014/main" id="{EC7F581B-A7CC-24AA-94D7-797261DB5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71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384" name="Rectangle 17">
            <a:extLst>
              <a:ext uri="{FF2B5EF4-FFF2-40B4-BE49-F238E27FC236}">
                <a16:creationId xmlns:a16="http://schemas.microsoft.com/office/drawing/2014/main" id="{4DE9160D-4827-C750-60EA-80EC9229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1035050"/>
            <a:ext cx="15049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005400"/>
                </a:solidFill>
              </a:rPr>
              <a:t>Conventional 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005400"/>
                </a:solidFill>
              </a:rPr>
              <a:t>Storage 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005400"/>
                </a:solidFill>
              </a:rPr>
              <a:t>Hierarchy</a:t>
            </a:r>
          </a:p>
        </p:txBody>
      </p:sp>
      <p:sp>
        <p:nvSpPr>
          <p:cNvPr id="58385" name="Rectangle 18">
            <a:extLst>
              <a:ext uri="{FF2B5EF4-FFF2-40B4-BE49-F238E27FC236}">
                <a16:creationId xmlns:a16="http://schemas.microsoft.com/office/drawing/2014/main" id="{DF2412E8-6861-F178-4F1A-67C29E33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1374775"/>
            <a:ext cx="1193800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86" name="Rectangle 19">
            <a:extLst>
              <a:ext uri="{FF2B5EF4-FFF2-40B4-BE49-F238E27FC236}">
                <a16:creationId xmlns:a16="http://schemas.microsoft.com/office/drawing/2014/main" id="{4FF789C1-3B6A-E1BC-C67E-79918479B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1444625"/>
            <a:ext cx="5969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87" name="Rectangle 20">
            <a:extLst>
              <a:ext uri="{FF2B5EF4-FFF2-40B4-BE49-F238E27FC236}">
                <a16:creationId xmlns:a16="http://schemas.microsoft.com/office/drawing/2014/main" id="{0EE926E3-A01C-DC23-427D-B2554F984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1365250"/>
            <a:ext cx="628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Proc</a:t>
            </a:r>
          </a:p>
        </p:txBody>
      </p:sp>
      <p:sp>
        <p:nvSpPr>
          <p:cNvPr id="58388" name="Rectangle 21">
            <a:extLst>
              <a:ext uri="{FF2B5EF4-FFF2-40B4-BE49-F238E27FC236}">
                <a16:creationId xmlns:a16="http://schemas.microsoft.com/office/drawing/2014/main" id="{94D2D64A-2B21-8665-2BE6-AA997517C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1673225"/>
            <a:ext cx="7493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89" name="Rectangle 22">
            <a:extLst>
              <a:ext uri="{FF2B5EF4-FFF2-40B4-BE49-F238E27FC236}">
                <a16:creationId xmlns:a16="http://schemas.microsoft.com/office/drawing/2014/main" id="{697268F5-8777-A488-9E87-58F7B2346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1628775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Cache</a:t>
            </a:r>
          </a:p>
        </p:txBody>
      </p:sp>
      <p:sp>
        <p:nvSpPr>
          <p:cNvPr id="58390" name="Rectangle 23">
            <a:extLst>
              <a:ext uri="{FF2B5EF4-FFF2-40B4-BE49-F238E27FC236}">
                <a16:creationId xmlns:a16="http://schemas.microsoft.com/office/drawing/2014/main" id="{8ABB1F13-0C3F-7027-031C-F3CF11A4C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978025"/>
            <a:ext cx="1054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91" name="Rectangle 24">
            <a:extLst>
              <a:ext uri="{FF2B5EF4-FFF2-40B4-BE49-F238E27FC236}">
                <a16:creationId xmlns:a16="http://schemas.microsoft.com/office/drawing/2014/main" id="{93A775E1-9EBE-5F44-A960-4C1C0279C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1933575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L2 Cache</a:t>
            </a:r>
          </a:p>
        </p:txBody>
      </p:sp>
      <p:sp>
        <p:nvSpPr>
          <p:cNvPr id="58392" name="Rectangle 25">
            <a:extLst>
              <a:ext uri="{FF2B5EF4-FFF2-40B4-BE49-F238E27FC236}">
                <a16:creationId xmlns:a16="http://schemas.microsoft.com/office/drawing/2014/main" id="{0EA27043-47A7-BA71-CBB6-AB7A3E41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2816225"/>
            <a:ext cx="1206500" cy="673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93" name="Rectangle 26">
            <a:extLst>
              <a:ext uri="{FF2B5EF4-FFF2-40B4-BE49-F238E27FC236}">
                <a16:creationId xmlns:a16="http://schemas.microsoft.com/office/drawing/2014/main" id="{A2B3B81A-0294-24F5-BE76-93B4A60A7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2924175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L3 Cache</a:t>
            </a:r>
          </a:p>
        </p:txBody>
      </p:sp>
      <p:sp>
        <p:nvSpPr>
          <p:cNvPr id="58394" name="Rectangle 27">
            <a:extLst>
              <a:ext uri="{FF2B5EF4-FFF2-40B4-BE49-F238E27FC236}">
                <a16:creationId xmlns:a16="http://schemas.microsoft.com/office/drawing/2014/main" id="{54C638C8-0884-7C00-86B2-13413A9AA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883025"/>
            <a:ext cx="1587500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95" name="Rectangle 28">
            <a:extLst>
              <a:ext uri="{FF2B5EF4-FFF2-40B4-BE49-F238E27FC236}">
                <a16:creationId xmlns:a16="http://schemas.microsoft.com/office/drawing/2014/main" id="{1C71B22F-38F3-0CB6-4C65-0AA82B01F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4067175"/>
            <a:ext cx="942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8396" name="Line 29">
            <a:extLst>
              <a:ext uri="{FF2B5EF4-FFF2-40B4-BE49-F238E27FC236}">
                <a16:creationId xmlns:a16="http://schemas.microsoft.com/office/drawing/2014/main" id="{A4BD910C-6358-D814-AB3E-D828304AE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050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397" name="Line 30">
            <a:extLst>
              <a:ext uri="{FF2B5EF4-FFF2-40B4-BE49-F238E27FC236}">
                <a16:creationId xmlns:a16="http://schemas.microsoft.com/office/drawing/2014/main" id="{803D72AE-4EF7-56DC-4C8D-A47D0C601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4956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398" name="Rectangle 31">
            <a:extLst>
              <a:ext uri="{FF2B5EF4-FFF2-40B4-BE49-F238E27FC236}">
                <a16:creationId xmlns:a16="http://schemas.microsoft.com/office/drawing/2014/main" id="{CE50764D-9AF3-8FE0-2F6C-B79C7DB62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1374775"/>
            <a:ext cx="1193800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399" name="Rectangle 32">
            <a:extLst>
              <a:ext uri="{FF2B5EF4-FFF2-40B4-BE49-F238E27FC236}">
                <a16:creationId xmlns:a16="http://schemas.microsoft.com/office/drawing/2014/main" id="{C7331C47-814A-16FA-B865-A5E615E8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1444625"/>
            <a:ext cx="5969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00" name="Rectangle 33">
            <a:extLst>
              <a:ext uri="{FF2B5EF4-FFF2-40B4-BE49-F238E27FC236}">
                <a16:creationId xmlns:a16="http://schemas.microsoft.com/office/drawing/2014/main" id="{BCF59F34-6137-3244-80B1-FD921DFB1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1357313"/>
            <a:ext cx="628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Proc</a:t>
            </a:r>
          </a:p>
        </p:txBody>
      </p:sp>
      <p:sp>
        <p:nvSpPr>
          <p:cNvPr id="58401" name="Rectangle 34">
            <a:extLst>
              <a:ext uri="{FF2B5EF4-FFF2-40B4-BE49-F238E27FC236}">
                <a16:creationId xmlns:a16="http://schemas.microsoft.com/office/drawing/2014/main" id="{F5F6F72A-0763-9B98-2D7E-D67E6C3F0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1673225"/>
            <a:ext cx="7493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02" name="Rectangle 35">
            <a:extLst>
              <a:ext uri="{FF2B5EF4-FFF2-40B4-BE49-F238E27FC236}">
                <a16:creationId xmlns:a16="http://schemas.microsoft.com/office/drawing/2014/main" id="{586AC35D-3806-59EB-7DAA-DEA43DFD0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938" y="1628775"/>
            <a:ext cx="800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Cache</a:t>
            </a:r>
          </a:p>
        </p:txBody>
      </p:sp>
      <p:sp>
        <p:nvSpPr>
          <p:cNvPr id="58403" name="Rectangle 36">
            <a:extLst>
              <a:ext uri="{FF2B5EF4-FFF2-40B4-BE49-F238E27FC236}">
                <a16:creationId xmlns:a16="http://schemas.microsoft.com/office/drawing/2014/main" id="{7C14626C-BF69-3A2A-20A7-CCEA9D77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1978025"/>
            <a:ext cx="1054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04" name="Rectangle 37">
            <a:extLst>
              <a:ext uri="{FF2B5EF4-FFF2-40B4-BE49-F238E27FC236}">
                <a16:creationId xmlns:a16="http://schemas.microsoft.com/office/drawing/2014/main" id="{0289268C-5C93-1469-42EA-20E656FC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1933575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L2 Cache</a:t>
            </a:r>
          </a:p>
        </p:txBody>
      </p:sp>
      <p:sp>
        <p:nvSpPr>
          <p:cNvPr id="58405" name="Rectangle 38">
            <a:extLst>
              <a:ext uri="{FF2B5EF4-FFF2-40B4-BE49-F238E27FC236}">
                <a16:creationId xmlns:a16="http://schemas.microsoft.com/office/drawing/2014/main" id="{4F64DFDC-C0D1-103E-9EEE-19C5C968C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2816225"/>
            <a:ext cx="1206500" cy="673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06" name="Rectangle 39">
            <a:extLst>
              <a:ext uri="{FF2B5EF4-FFF2-40B4-BE49-F238E27FC236}">
                <a16:creationId xmlns:a16="http://schemas.microsoft.com/office/drawing/2014/main" id="{58433B4F-32A1-54AA-F2D2-514BF8DF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924175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L3 Cache</a:t>
            </a:r>
          </a:p>
        </p:txBody>
      </p:sp>
      <p:sp>
        <p:nvSpPr>
          <p:cNvPr id="58407" name="Rectangle 40">
            <a:extLst>
              <a:ext uri="{FF2B5EF4-FFF2-40B4-BE49-F238E27FC236}">
                <a16:creationId xmlns:a16="http://schemas.microsoft.com/office/drawing/2014/main" id="{0B0BB51C-9D8B-B860-8064-BD8107AE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883025"/>
            <a:ext cx="1587500" cy="825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08" name="Rectangle 41">
            <a:extLst>
              <a:ext uri="{FF2B5EF4-FFF2-40B4-BE49-F238E27FC236}">
                <a16:creationId xmlns:a16="http://schemas.microsoft.com/office/drawing/2014/main" id="{6E8C1DDE-D975-C785-B678-B356DC823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925" y="4081463"/>
            <a:ext cx="942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8409" name="Line 42">
            <a:extLst>
              <a:ext uri="{FF2B5EF4-FFF2-40B4-BE49-F238E27FC236}">
                <a16:creationId xmlns:a16="http://schemas.microsoft.com/office/drawing/2014/main" id="{9EB5D4B4-040B-A246-F244-93664D5B2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5050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0" name="Line 43">
            <a:extLst>
              <a:ext uri="{FF2B5EF4-FFF2-40B4-BE49-F238E27FC236}">
                <a16:creationId xmlns:a16="http://schemas.microsoft.com/office/drawing/2014/main" id="{259D686C-E3AA-781E-831C-34D69C69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4956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1" name="AutoShape 44" descr="Light downward diagonal">
            <a:extLst>
              <a:ext uri="{FF2B5EF4-FFF2-40B4-BE49-F238E27FC236}">
                <a16:creationId xmlns:a16="http://schemas.microsoft.com/office/drawing/2014/main" id="{965FD6E1-20CC-79A9-5834-D7424F162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2587625"/>
            <a:ext cx="3492500" cy="139700"/>
          </a:xfrm>
          <a:prstGeom prst="roundRect">
            <a:avLst>
              <a:gd name="adj" fmla="val 4999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12" name="AutoShape 45" descr="Light downward diagonal">
            <a:extLst>
              <a:ext uri="{FF2B5EF4-FFF2-40B4-BE49-F238E27FC236}">
                <a16:creationId xmlns:a16="http://schemas.microsoft.com/office/drawing/2014/main" id="{5678E25D-8376-917B-B193-647413653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578225"/>
            <a:ext cx="3492500" cy="139700"/>
          </a:xfrm>
          <a:prstGeom prst="roundRect">
            <a:avLst>
              <a:gd name="adj" fmla="val 4999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13" name="AutoShape 46" descr="Light downward diagonal">
            <a:extLst>
              <a:ext uri="{FF2B5EF4-FFF2-40B4-BE49-F238E27FC236}">
                <a16:creationId xmlns:a16="http://schemas.microsoft.com/office/drawing/2014/main" id="{2AE843B6-0B09-0528-2987-55751562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873625"/>
            <a:ext cx="3492500" cy="139700"/>
          </a:xfrm>
          <a:prstGeom prst="roundRect">
            <a:avLst>
              <a:gd name="adj" fmla="val 4999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/>
          </a:p>
        </p:txBody>
      </p:sp>
      <p:sp>
        <p:nvSpPr>
          <p:cNvPr id="58414" name="Line 47">
            <a:extLst>
              <a:ext uri="{FF2B5EF4-FFF2-40B4-BE49-F238E27FC236}">
                <a16:creationId xmlns:a16="http://schemas.microsoft.com/office/drawing/2014/main" id="{0B800CB8-7A82-CFC6-0D67-81ED74669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714875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5" name="Line 48">
            <a:extLst>
              <a:ext uri="{FF2B5EF4-FFF2-40B4-BE49-F238E27FC236}">
                <a16:creationId xmlns:a16="http://schemas.microsoft.com/office/drawing/2014/main" id="{EB267BE7-BA62-B7CA-79A2-2D6340A88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714875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6" name="Rectangle 49">
            <a:extLst>
              <a:ext uri="{FF2B5EF4-FFF2-40B4-BE49-F238E27FC236}">
                <a16:creationId xmlns:a16="http://schemas.microsoft.com/office/drawing/2014/main" id="{036A0751-A618-3ADD-9CDE-B7ED69B95FE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81925" y="3119438"/>
            <a:ext cx="1489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chemeClr val="accent2"/>
                </a:solidFill>
              </a:rPr>
              <a:t>potential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chemeClr val="accent2"/>
                </a:solidFill>
              </a:rPr>
              <a:t>interconnects</a:t>
            </a:r>
          </a:p>
        </p:txBody>
      </p:sp>
      <p:sp>
        <p:nvSpPr>
          <p:cNvPr id="58417" name="Line 50">
            <a:extLst>
              <a:ext uri="{FF2B5EF4-FFF2-40B4-BE49-F238E27FC236}">
                <a16:creationId xmlns:a16="http://schemas.microsoft.com/office/drawing/2014/main" id="{82DEF94E-7D10-17D8-C374-3429BF671A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72400" y="2733675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8" name="Line 51">
            <a:extLst>
              <a:ext uri="{FF2B5EF4-FFF2-40B4-BE49-F238E27FC236}">
                <a16:creationId xmlns:a16="http://schemas.microsoft.com/office/drawing/2014/main" id="{607F9F77-D2EE-7072-0865-C49AAE7C33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3114675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  <p:sp>
        <p:nvSpPr>
          <p:cNvPr id="58419" name="Line 52">
            <a:extLst>
              <a:ext uri="{FF2B5EF4-FFF2-40B4-BE49-F238E27FC236}">
                <a16:creationId xmlns:a16="http://schemas.microsoft.com/office/drawing/2014/main" id="{B033986A-2E47-6D2D-764E-632400C681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3190875"/>
            <a:ext cx="45720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제목 1">
            <a:extLst>
              <a:ext uri="{FF2B5EF4-FFF2-40B4-BE49-F238E27FC236}">
                <a16:creationId xmlns:a16="http://schemas.microsoft.com/office/drawing/2014/main" id="{C2B31E0B-7789-828C-6D8A-7A4F29B3D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Locality of memory access </a:t>
            </a:r>
            <a:br>
              <a:rPr lang="en-US" altLang="ko-KR" sz="3600" b="1" u="sng"/>
            </a:br>
            <a:r>
              <a:rPr lang="en-US" altLang="ko-KR" sz="3600" b="1"/>
              <a:t>(shared memory)</a:t>
            </a:r>
            <a:endParaRPr lang="ko-KR" altLang="en-US" sz="3600" b="1"/>
          </a:p>
        </p:txBody>
      </p:sp>
      <p:sp>
        <p:nvSpPr>
          <p:cNvPr id="59394" name="내용 개체 틀 2">
            <a:extLst>
              <a:ext uri="{FF2B5EF4-FFF2-40B4-BE49-F238E27FC236}">
                <a16:creationId xmlns:a16="http://schemas.microsoft.com/office/drawing/2014/main" id="{D2F57CE8-E579-989E-4F0E-0448847F6C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9395" name="Picture 2">
            <a:extLst>
              <a:ext uri="{FF2B5EF4-FFF2-40B4-BE49-F238E27FC236}">
                <a16:creationId xmlns:a16="http://schemas.microsoft.com/office/drawing/2014/main" id="{CB13D0B2-6B0D-DD68-AD81-886BDBB36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574800"/>
            <a:ext cx="8205787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제목 1">
            <a:extLst>
              <a:ext uri="{FF2B5EF4-FFF2-40B4-BE49-F238E27FC236}">
                <a16:creationId xmlns:a16="http://schemas.microsoft.com/office/drawing/2014/main" id="{C8239946-46C2-DD5C-B05D-F20C0740E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Locality of memory access </a:t>
            </a:r>
            <a:br>
              <a:rPr lang="en-US" altLang="ko-KR" sz="3600" b="1" u="sng"/>
            </a:br>
            <a:r>
              <a:rPr lang="en-US" altLang="ko-KR" sz="3600" b="1"/>
              <a:t>(shared memory)</a:t>
            </a:r>
            <a:endParaRPr lang="ko-KR" altLang="en-US" sz="3600"/>
          </a:p>
        </p:txBody>
      </p:sp>
      <p:pic>
        <p:nvPicPr>
          <p:cNvPr id="60418" name="Picture 2">
            <a:extLst>
              <a:ext uri="{FF2B5EF4-FFF2-40B4-BE49-F238E27FC236}">
                <a16:creationId xmlns:a16="http://schemas.microsoft.com/office/drawing/2014/main" id="{A97B4C7E-7946-68DE-58F6-C33B9A980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587500"/>
            <a:ext cx="7920037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제목 1">
            <a:extLst>
              <a:ext uri="{FF2B5EF4-FFF2-40B4-BE49-F238E27FC236}">
                <a16:creationId xmlns:a16="http://schemas.microsoft.com/office/drawing/2014/main" id="{C0498088-5A1E-47F1-5CAC-B1472D36C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Memory Access Latency in</a:t>
            </a:r>
            <a:br>
              <a:rPr lang="en-US" altLang="ko-KR" sz="3600" b="1" u="sng"/>
            </a:br>
            <a:r>
              <a:rPr lang="en-US" altLang="ko-KR" sz="3600" b="1" u="sng"/>
              <a:t>Shared Memory Architectures</a:t>
            </a:r>
            <a:endParaRPr lang="ko-KR" altLang="en-US" sz="3600" u="sng"/>
          </a:p>
        </p:txBody>
      </p:sp>
      <p:sp>
        <p:nvSpPr>
          <p:cNvPr id="61442" name="내용 개체 틀 2">
            <a:extLst>
              <a:ext uri="{FF2B5EF4-FFF2-40B4-BE49-F238E27FC236}">
                <a16:creationId xmlns:a16="http://schemas.microsoft.com/office/drawing/2014/main" id="{9554494D-70C2-0A6F-797D-253AAC618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Uniform Memory Access (UMA)</a:t>
            </a:r>
          </a:p>
          <a:p>
            <a:pPr lvl="1"/>
            <a:r>
              <a:rPr lang="en-US" altLang="ko-KR" sz="1800"/>
              <a:t>Centrally located memory</a:t>
            </a:r>
          </a:p>
          <a:p>
            <a:pPr lvl="1"/>
            <a:r>
              <a:rPr lang="en-US" altLang="ko-KR" sz="1800"/>
              <a:t>All processors are equidistant (access times)</a:t>
            </a:r>
          </a:p>
          <a:p>
            <a:endParaRPr lang="en-US" altLang="ko-KR" sz="2400"/>
          </a:p>
          <a:p>
            <a:r>
              <a:rPr lang="en-US" altLang="ko-KR" sz="2400"/>
              <a:t>Non-Uniform Access (NUMA)</a:t>
            </a:r>
          </a:p>
          <a:p>
            <a:pPr lvl="1"/>
            <a:r>
              <a:rPr lang="en-US" altLang="ko-KR" sz="1800"/>
              <a:t>Physically partitioned but accessible by all</a:t>
            </a:r>
          </a:p>
          <a:p>
            <a:pPr lvl="1"/>
            <a:r>
              <a:rPr lang="en-US" altLang="ko-KR" sz="1800"/>
              <a:t>Processors have the same address space</a:t>
            </a:r>
          </a:p>
          <a:p>
            <a:pPr lvl="1"/>
            <a:r>
              <a:rPr lang="en-US" altLang="ko-KR" sz="1800"/>
              <a:t>Placement of data affects performance</a:t>
            </a:r>
          </a:p>
          <a:p>
            <a:pPr lvl="1"/>
            <a:r>
              <a:rPr lang="en-US" altLang="ko-KR" sz="1800"/>
              <a:t>CC-NUMA (</a:t>
            </a:r>
            <a:r>
              <a:rPr lang="en-US" altLang="ko-KR" sz="1800" b="1"/>
              <a:t>Cache-Coherent</a:t>
            </a:r>
            <a:r>
              <a:rPr lang="en-US" altLang="ko-KR" sz="1800"/>
              <a:t> NUMA)</a:t>
            </a:r>
          </a:p>
        </p:txBody>
      </p:sp>
      <p:pic>
        <p:nvPicPr>
          <p:cNvPr id="61443" name="Picture 2">
            <a:extLst>
              <a:ext uri="{FF2B5EF4-FFF2-40B4-BE49-F238E27FC236}">
                <a16:creationId xmlns:a16="http://schemas.microsoft.com/office/drawing/2014/main" id="{0CC103FC-B9B9-E75B-2B94-24C164FB7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941888"/>
            <a:ext cx="2379662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>
            <a:extLst>
              <a:ext uri="{FF2B5EF4-FFF2-40B4-BE49-F238E27FC236}">
                <a16:creationId xmlns:a16="http://schemas.microsoft.com/office/drawing/2014/main" id="{29090A67-A125-7BE0-35E3-1FB87D0D4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13" y="5084763"/>
            <a:ext cx="3097212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제목 1">
            <a:extLst>
              <a:ext uri="{FF2B5EF4-FFF2-40B4-BE49-F238E27FC236}">
                <a16:creationId xmlns:a16="http://schemas.microsoft.com/office/drawing/2014/main" id="{24CAEA40-D045-5725-6860-CA540E173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Cache Coherence</a:t>
            </a:r>
            <a:endParaRPr lang="ko-KR" altLang="en-US" b="1" u="sng"/>
          </a:p>
        </p:txBody>
      </p:sp>
      <p:sp>
        <p:nvSpPr>
          <p:cNvPr id="68610" name="내용 개체 틀 2">
            <a:extLst>
              <a:ext uri="{FF2B5EF4-FFF2-40B4-BE49-F238E27FC236}">
                <a16:creationId xmlns:a16="http://schemas.microsoft.com/office/drawing/2014/main" id="{4C92C52A-2DC3-DA76-FB53-75353E8DF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 sz="2800"/>
              <a:t>the uniformity of shared resource data that ends up stored in multiple local caches </a:t>
            </a:r>
            <a:endParaRPr lang="ko-KR" altLang="en-US" sz="2800"/>
          </a:p>
          <a:p>
            <a:endParaRPr lang="en-US" altLang="ko-KR" sz="2800"/>
          </a:p>
          <a:p>
            <a:r>
              <a:rPr lang="en-US" altLang="ko-KR" sz="2800"/>
              <a:t>Problem: When a processor modifies a shared variable in local cache, different processors may have different value of the variable.</a:t>
            </a:r>
          </a:p>
          <a:p>
            <a:pPr lvl="1"/>
            <a:r>
              <a:rPr lang="en-US" altLang="en-US" sz="2000"/>
              <a:t>Copies of a variable can be present in multiple caches</a:t>
            </a:r>
          </a:p>
          <a:p>
            <a:pPr lvl="1"/>
            <a:r>
              <a:rPr lang="en-US" altLang="en-US" sz="2000"/>
              <a:t>A write by one processor may not become visible to others</a:t>
            </a:r>
          </a:p>
          <a:p>
            <a:pPr lvl="1"/>
            <a:r>
              <a:rPr lang="en-US" altLang="en-US" sz="2000"/>
              <a:t>They'll keep accessing stale value in their caches</a:t>
            </a:r>
          </a:p>
          <a:p>
            <a:pPr lvl="1"/>
            <a:r>
              <a:rPr lang="en-US" altLang="en-US" sz="2000"/>
              <a:t>Need to take actions to ensure visibility or cache coherence</a:t>
            </a:r>
            <a:endParaRPr lang="en-US" altLang="ko-KR" sz="2000"/>
          </a:p>
          <a:p>
            <a:pPr lvl="1"/>
            <a:endParaRPr lang="en-US" altLang="ko-K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제목 1">
            <a:extLst>
              <a:ext uri="{FF2B5EF4-FFF2-40B4-BE49-F238E27FC236}">
                <a16:creationId xmlns:a16="http://schemas.microsoft.com/office/drawing/2014/main" id="{040247E4-D7F0-0A40-5B0E-678D8B3BE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Cache Coherence </a:t>
            </a:r>
            <a:endParaRPr lang="ko-KR" altLang="en-US" b="1" u="sng"/>
          </a:p>
        </p:txBody>
      </p:sp>
      <p:sp>
        <p:nvSpPr>
          <p:cNvPr id="69634" name="내용 개체 틀 2">
            <a:extLst>
              <a:ext uri="{FF2B5EF4-FFF2-40B4-BE49-F238E27FC236}">
                <a16:creationId xmlns:a16="http://schemas.microsoft.com/office/drawing/2014/main" id="{0A6F0FCD-80F2-4123-0016-620D1B25C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Snooping cache coherence</a:t>
            </a:r>
          </a:p>
          <a:p>
            <a:pPr lvl="1"/>
            <a:r>
              <a:rPr lang="en-US" altLang="ko-KR"/>
              <a:t>Send all requests for data to all processors</a:t>
            </a:r>
          </a:p>
          <a:p>
            <a:pPr lvl="1"/>
            <a:r>
              <a:rPr lang="en-US" altLang="ko-KR"/>
              <a:t>Works well for small systems</a:t>
            </a:r>
          </a:p>
          <a:p>
            <a:pPr lvl="1"/>
            <a:endParaRPr lang="en-US" altLang="ko-KR"/>
          </a:p>
          <a:p>
            <a:r>
              <a:rPr lang="en-US" altLang="ko-KR" b="1"/>
              <a:t>Directory-based cache coherence</a:t>
            </a:r>
          </a:p>
          <a:p>
            <a:pPr lvl="1"/>
            <a:r>
              <a:rPr lang="en-US" altLang="ko-KR"/>
              <a:t>Keep track of what is being shared in a directory</a:t>
            </a:r>
          </a:p>
          <a:p>
            <a:pPr lvl="1"/>
            <a:r>
              <a:rPr lang="en-US" altLang="ko-KR"/>
              <a:t>Send point-to-point requests to processors</a:t>
            </a:r>
            <a:endParaRPr lang="ko-KR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제목 1">
            <a:extLst>
              <a:ext uri="{FF2B5EF4-FFF2-40B4-BE49-F238E27FC236}">
                <a16:creationId xmlns:a16="http://schemas.microsoft.com/office/drawing/2014/main" id="{005C797D-A222-BCDE-00D0-DA821E749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Shared Memory Architecture</a:t>
            </a:r>
            <a:endParaRPr lang="ko-KR" altLang="en-US" b="1" u="sng"/>
          </a:p>
        </p:txBody>
      </p:sp>
      <p:sp>
        <p:nvSpPr>
          <p:cNvPr id="62466" name="내용 개체 틀 2">
            <a:extLst>
              <a:ext uri="{FF2B5EF4-FFF2-40B4-BE49-F238E27FC236}">
                <a16:creationId xmlns:a16="http://schemas.microsoft.com/office/drawing/2014/main" id="{0A0A75AB-5457-7E47-81E6-D115756CF4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all processors to access all memory as global address space. (UMA , NUMA)</a:t>
            </a:r>
          </a:p>
          <a:p>
            <a:r>
              <a:rPr lang="en-US" altLang="ko-KR" sz="2400"/>
              <a:t>Advantage</a:t>
            </a:r>
          </a:p>
          <a:p>
            <a:pPr lvl="1"/>
            <a:r>
              <a:rPr lang="en-US" altLang="ko-KR" sz="1800"/>
              <a:t>Global address space provides a user-friendly programming perspective to memory</a:t>
            </a:r>
          </a:p>
          <a:p>
            <a:pPr lvl="1"/>
            <a:r>
              <a:rPr lang="en-US" altLang="ko-KR" sz="1800"/>
              <a:t>Data sharing between tasks is both fast and uniform due to the proximity of memory to CPUs</a:t>
            </a:r>
          </a:p>
          <a:p>
            <a:r>
              <a:rPr lang="en-US" altLang="ko-KR" sz="2400"/>
              <a:t>Disadvantage</a:t>
            </a:r>
          </a:p>
          <a:p>
            <a:pPr lvl="1"/>
            <a:r>
              <a:rPr lang="en-US" altLang="ko-KR" sz="1800"/>
              <a:t>Primary disadvantage is the lack of scalability between memory and CPUs</a:t>
            </a:r>
          </a:p>
          <a:p>
            <a:pPr lvl="1"/>
            <a:r>
              <a:rPr lang="en-US" altLang="ko-KR" sz="1800"/>
              <a:t>Programmer responsibility for synchronization</a:t>
            </a:r>
          </a:p>
          <a:p>
            <a:pPr lvl="1"/>
            <a:r>
              <a:rPr lang="en-US" altLang="ko-KR" sz="1800"/>
              <a:t>Expense: it becomes increasingly difficult and expensive to design and produce shared memory machines with ever increasing numbers of processors.</a:t>
            </a:r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제목 1">
            <a:extLst>
              <a:ext uri="{FF2B5EF4-FFF2-40B4-BE49-F238E27FC236}">
                <a16:creationId xmlns:a16="http://schemas.microsoft.com/office/drawing/2014/main" id="{F02FDD7A-0F32-223C-BFF0-03A221CD4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Distributed Memory Architecture</a:t>
            </a:r>
            <a:endParaRPr lang="ko-KR" altLang="en-US" sz="4000" b="1" u="sng"/>
          </a:p>
        </p:txBody>
      </p:sp>
      <p:sp>
        <p:nvSpPr>
          <p:cNvPr id="63490" name="내용 개체 틀 2">
            <a:extLst>
              <a:ext uri="{FF2B5EF4-FFF2-40B4-BE49-F238E27FC236}">
                <a16:creationId xmlns:a16="http://schemas.microsoft.com/office/drawing/2014/main" id="{0AE12259-2364-34FB-F312-AFC2F6182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Characteristics</a:t>
            </a:r>
          </a:p>
          <a:p>
            <a:pPr lvl="1"/>
            <a:r>
              <a:rPr lang="en-US" altLang="ko-KR" sz="2000"/>
              <a:t>Only private(local) memory</a:t>
            </a:r>
          </a:p>
          <a:p>
            <a:pPr lvl="1"/>
            <a:r>
              <a:rPr lang="en-US" altLang="ko-KR" sz="2000"/>
              <a:t>Independent</a:t>
            </a:r>
          </a:p>
          <a:p>
            <a:pPr lvl="1"/>
            <a:r>
              <a:rPr lang="en-US" altLang="ko-KR" sz="2000"/>
              <a:t>require a communication network to connect inter-processor memory</a:t>
            </a:r>
          </a:p>
          <a:p>
            <a:r>
              <a:rPr lang="en-US" altLang="ko-KR" sz="2800"/>
              <a:t>Advantages</a:t>
            </a:r>
          </a:p>
          <a:p>
            <a:pPr lvl="1"/>
            <a:r>
              <a:rPr lang="en-US" altLang="ko-KR" sz="2000"/>
              <a:t>Scalable (processors, memory)</a:t>
            </a:r>
          </a:p>
          <a:p>
            <a:pPr lvl="1"/>
            <a:r>
              <a:rPr lang="en-US" altLang="ko-KR" sz="2000"/>
              <a:t>Cost effective </a:t>
            </a:r>
          </a:p>
          <a:p>
            <a:r>
              <a:rPr lang="en-US" altLang="ko-KR" sz="2800"/>
              <a:t>Disadvantages</a:t>
            </a:r>
          </a:p>
          <a:p>
            <a:pPr lvl="1"/>
            <a:r>
              <a:rPr lang="en-US" altLang="ko-KR" sz="2000"/>
              <a:t>Programmer responsibility of data communication</a:t>
            </a:r>
          </a:p>
          <a:p>
            <a:pPr lvl="1"/>
            <a:r>
              <a:rPr lang="en-US" altLang="ko-KR" sz="2000"/>
              <a:t>No global memory access</a:t>
            </a:r>
          </a:p>
          <a:p>
            <a:pPr lvl="1"/>
            <a:r>
              <a:rPr lang="en-US" altLang="ko-KR" sz="2000"/>
              <a:t>Non-uniform memory access time</a:t>
            </a:r>
          </a:p>
          <a:p>
            <a:endParaRPr lang="en-US" altLang="ko-KR" sz="2800"/>
          </a:p>
          <a:p>
            <a:endParaRPr lang="ko-KR" altLang="en-US" sz="2800"/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43737C21-6B83-1751-68C9-10DAB81BC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412875"/>
            <a:ext cx="3059112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제목 1">
            <a:extLst>
              <a:ext uri="{FF2B5EF4-FFF2-40B4-BE49-F238E27FC236}">
                <a16:creationId xmlns:a16="http://schemas.microsoft.com/office/drawing/2014/main" id="{CF5FA555-5F8B-7C81-6285-041EED456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Hybrid Architecture</a:t>
            </a:r>
            <a:endParaRPr lang="ko-KR" altLang="en-US" b="1" u="sng"/>
          </a:p>
        </p:txBody>
      </p:sp>
      <p:sp>
        <p:nvSpPr>
          <p:cNvPr id="64514" name="내용 개체 틀 2">
            <a:extLst>
              <a:ext uri="{FF2B5EF4-FFF2-40B4-BE49-F238E27FC236}">
                <a16:creationId xmlns:a16="http://schemas.microsoft.com/office/drawing/2014/main" id="{0E4CE25D-B182-A118-6C42-E2E8407123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Advantages/Disadvantage</a:t>
            </a:r>
          </a:p>
          <a:p>
            <a:pPr lvl="1"/>
            <a:r>
              <a:rPr lang="en-US" altLang="ko-KR"/>
              <a:t>Combination of Shared/Distributed architecture</a:t>
            </a:r>
          </a:p>
          <a:p>
            <a:pPr lvl="1"/>
            <a:r>
              <a:rPr lang="en-US" altLang="ko-KR"/>
              <a:t>Scalable</a:t>
            </a:r>
          </a:p>
          <a:p>
            <a:pPr lvl="1"/>
            <a:r>
              <a:rPr lang="en-US" altLang="ko-KR"/>
              <a:t>Increased programmer complexity</a:t>
            </a:r>
          </a:p>
          <a:p>
            <a:pPr lvl="1"/>
            <a:endParaRPr lang="ko-KR" altLang="en-US"/>
          </a:p>
        </p:txBody>
      </p:sp>
      <p:pic>
        <p:nvPicPr>
          <p:cNvPr id="64515" name="Picture 2" descr="Hybrid memory architecture">
            <a:extLst>
              <a:ext uri="{FF2B5EF4-FFF2-40B4-BE49-F238E27FC236}">
                <a16:creationId xmlns:a16="http://schemas.microsoft.com/office/drawing/2014/main" id="{0A7844DE-5CDF-7384-0FF8-D429BF78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6113"/>
            <a:ext cx="3889375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4" descr="Hybrid memory architecture">
            <a:extLst>
              <a:ext uri="{FF2B5EF4-FFF2-40B4-BE49-F238E27FC236}">
                <a16:creationId xmlns:a16="http://schemas.microsoft.com/office/drawing/2014/main" id="{C3894869-301F-61F7-69BA-2E6B702BA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862138"/>
            <a:ext cx="40338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제목 1">
            <a:extLst>
              <a:ext uri="{FF2B5EF4-FFF2-40B4-BE49-F238E27FC236}">
                <a16:creationId xmlns:a16="http://schemas.microsoft.com/office/drawing/2014/main" id="{6E9B27EE-EE2D-D38D-718E-9AEAC10BF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en-US" altLang="ko-KR" b="1" u="sng"/>
              <a:t>Example of Parallel Program</a:t>
            </a:r>
            <a:endParaRPr lang="ko-KR" altLang="en-US" b="1" u="sng"/>
          </a:p>
        </p:txBody>
      </p:sp>
      <p:sp>
        <p:nvSpPr>
          <p:cNvPr id="65538" name="내용 개체 틀 2">
            <a:extLst>
              <a:ext uri="{FF2B5EF4-FFF2-40B4-BE49-F238E27FC236}">
                <a16:creationId xmlns:a16="http://schemas.microsoft.com/office/drawing/2014/main" id="{05F34A85-D735-10A2-D9C0-2E2955103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5539" name="Picture 3">
            <a:extLst>
              <a:ext uri="{FF2B5EF4-FFF2-40B4-BE49-F238E27FC236}">
                <a16:creationId xmlns:a16="http://schemas.microsoft.com/office/drawing/2014/main" id="{CE4DD824-90C5-AF54-AF6D-C83A2E103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20775"/>
            <a:ext cx="8785225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제목 1">
            <a:extLst>
              <a:ext uri="{FF2B5EF4-FFF2-40B4-BE49-F238E27FC236}">
                <a16:creationId xmlns:a16="http://schemas.microsoft.com/office/drawing/2014/main" id="{9AA9ABE9-C62D-B9A3-4849-7E35BFD76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Ray Tracing</a:t>
            </a:r>
            <a:endParaRPr lang="ko-KR" altLang="en-US" b="1" u="sng"/>
          </a:p>
        </p:txBody>
      </p:sp>
      <p:sp>
        <p:nvSpPr>
          <p:cNvPr id="66562" name="내용 개체 틀 2">
            <a:extLst>
              <a:ext uri="{FF2B5EF4-FFF2-40B4-BE49-F238E27FC236}">
                <a16:creationId xmlns:a16="http://schemas.microsoft.com/office/drawing/2014/main" id="{99542C80-145B-7CA8-BD51-FCA59BA2C4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Shoot a ray into scene through every pixel in image plane</a:t>
            </a:r>
          </a:p>
          <a:p>
            <a:r>
              <a:rPr lang="en-US" altLang="ko-KR" sz="2800"/>
              <a:t>Follow their paths</a:t>
            </a:r>
          </a:p>
          <a:p>
            <a:pPr lvl="1"/>
            <a:r>
              <a:rPr lang="en-US" altLang="ko-KR" sz="2400"/>
              <a:t>they bounce around as they strike objects</a:t>
            </a:r>
          </a:p>
          <a:p>
            <a:pPr lvl="1"/>
            <a:r>
              <a:rPr lang="en-US" altLang="ko-KR" sz="2400"/>
              <a:t>they generate new rays: ray tree per input ray</a:t>
            </a:r>
          </a:p>
          <a:p>
            <a:r>
              <a:rPr lang="en-US" altLang="ko-KR" sz="2800"/>
              <a:t>Result is color and opacity for that pixel</a:t>
            </a:r>
          </a:p>
          <a:p>
            <a:r>
              <a:rPr lang="en-US" altLang="ko-KR" sz="2800"/>
              <a:t>Parallelism across rays</a:t>
            </a:r>
            <a:endParaRPr lang="ko-KR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3014</TotalTime>
  <Words>2297</Words>
  <Application>Microsoft Macintosh PowerPoint</Application>
  <PresentationFormat>화면 슬라이드 쇼(4:3)</PresentationFormat>
  <Paragraphs>370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굴림</vt:lpstr>
      <vt:lpstr>맑은 고딕</vt:lpstr>
      <vt:lpstr>Arial</vt:lpstr>
      <vt:lpstr>Courier New</vt:lpstr>
      <vt:lpstr>Wingdings</vt:lpstr>
      <vt:lpstr>네모의 미</vt:lpstr>
      <vt:lpstr>Lecture 3 : Performance of Parallel Programs</vt:lpstr>
      <vt:lpstr>Flynn’s Taxonomy on Parallel Computer</vt:lpstr>
      <vt:lpstr>SISD (Single Instruction, Single Data)</vt:lpstr>
      <vt:lpstr>SIMD (Single Instruction, Multiple Data)</vt:lpstr>
      <vt:lpstr>MISD (Multiple Instruction, Single Data)</vt:lpstr>
      <vt:lpstr>MIMD (Multiple Instruction, Multiple Data)</vt:lpstr>
      <vt:lpstr>Parallel Program Models</vt:lpstr>
      <vt:lpstr>PowerPoint 프레젠테이션</vt:lpstr>
      <vt:lpstr>Creating a Parallel Program</vt:lpstr>
      <vt:lpstr>Decomposition</vt:lpstr>
      <vt:lpstr>Domain Decomposition</vt:lpstr>
      <vt:lpstr>Functional Decomposition</vt:lpstr>
      <vt:lpstr>Assignment</vt:lpstr>
      <vt:lpstr>Orchestration</vt:lpstr>
      <vt:lpstr>Mapping</vt:lpstr>
      <vt:lpstr>Performance of Parallel Programs</vt:lpstr>
      <vt:lpstr>Coverage (Amdahl’s Law)</vt:lpstr>
      <vt:lpstr>Amdahl’s Law</vt:lpstr>
      <vt:lpstr>Amdahl’s Law</vt:lpstr>
      <vt:lpstr>Implications of Amdahl’s Law</vt:lpstr>
      <vt:lpstr>Gustafson’s Law</vt:lpstr>
      <vt:lpstr>Implications</vt:lpstr>
      <vt:lpstr>Performance Scalability</vt:lpstr>
      <vt:lpstr>Granularity</vt:lpstr>
      <vt:lpstr>Granularity (from wikipedia)</vt:lpstr>
      <vt:lpstr>Fine vs. Coarse Granularity</vt:lpstr>
      <vt:lpstr>Fine vs. Coarse Granularity</vt:lpstr>
      <vt:lpstr>Load Balancing</vt:lpstr>
      <vt:lpstr>General Load Balancing Problem</vt:lpstr>
      <vt:lpstr>Load Balancing Problem</vt:lpstr>
      <vt:lpstr>Static load balancing</vt:lpstr>
      <vt:lpstr>Dynamic Load Balancing</vt:lpstr>
      <vt:lpstr>Granularity and Performance Tradeoffs</vt:lpstr>
      <vt:lpstr>Communication</vt:lpstr>
      <vt:lpstr>Factors to consider for communcation</vt:lpstr>
      <vt:lpstr>Factors to consider for communcation</vt:lpstr>
      <vt:lpstr>Factors to consider for communcation</vt:lpstr>
      <vt:lpstr>MPI : Message Passing Library</vt:lpstr>
      <vt:lpstr>Point-to-Point</vt:lpstr>
      <vt:lpstr>Synchronous vs. Asynchronous Messages</vt:lpstr>
      <vt:lpstr>Blocking vs. Non-Blocking Messages</vt:lpstr>
      <vt:lpstr>Broadcast</vt:lpstr>
      <vt:lpstr>Reduction</vt:lpstr>
      <vt:lpstr>Example : Parallel Numerical Integration</vt:lpstr>
      <vt:lpstr>Computing the Integration (MPI)</vt:lpstr>
      <vt:lpstr>Synchronization</vt:lpstr>
      <vt:lpstr>Locality</vt:lpstr>
      <vt:lpstr>Locality of memory access  (shared memory)</vt:lpstr>
      <vt:lpstr>Locality of memory access  (shared memory)</vt:lpstr>
      <vt:lpstr>Memory Access Latency in Shared Memory Architectures</vt:lpstr>
      <vt:lpstr>Cache Coherence</vt:lpstr>
      <vt:lpstr>Cache Coherence </vt:lpstr>
      <vt:lpstr>Shared Memory Architecture</vt:lpstr>
      <vt:lpstr>Distributed Memory Architecture</vt:lpstr>
      <vt:lpstr>Hybrid Architecture</vt:lpstr>
      <vt:lpstr>Example of Parallel Program</vt:lpstr>
      <vt:lpstr>Ray Tracing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Microsoft Office User</cp:lastModifiedBy>
  <cp:revision>177</cp:revision>
  <dcterms:created xsi:type="dcterms:W3CDTF">2008-03-06T00:32:01Z</dcterms:created>
  <dcterms:modified xsi:type="dcterms:W3CDTF">2026-03-15T01:50:05Z</dcterms:modified>
</cp:coreProperties>
</file>