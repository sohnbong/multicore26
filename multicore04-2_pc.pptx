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0.xml" ContentType="application/vnd.openxmlformats-officedocument.presentationml.notesSlide+xml"/>
  <Override PartName="/ppt/tags/tag28.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3"/>
  </p:notesMasterIdLst>
  <p:handoutMasterIdLst>
    <p:handoutMasterId r:id="rId14"/>
  </p:handoutMasterIdLst>
  <p:sldIdLst>
    <p:sldId id="357" r:id="rId2"/>
    <p:sldId id="371" r:id="rId3"/>
    <p:sldId id="358" r:id="rId4"/>
    <p:sldId id="359" r:id="rId5"/>
    <p:sldId id="360" r:id="rId6"/>
    <p:sldId id="361" r:id="rId7"/>
    <p:sldId id="362" r:id="rId8"/>
    <p:sldId id="363" r:id="rId9"/>
    <p:sldId id="369" r:id="rId10"/>
    <p:sldId id="364" r:id="rId11"/>
    <p:sldId id="370" r:id="rId12"/>
  </p:sldIdLst>
  <p:sldSz cx="9144000" cy="6858000" type="screen4x3"/>
  <p:notesSz cx="6934200" cy="9220200"/>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mn-cs"/>
      </a:defRPr>
    </a:lvl1pPr>
    <a:lvl2pPr marL="457200" algn="l" rtl="0" fontAlgn="base">
      <a:spcBef>
        <a:spcPct val="0"/>
      </a:spcBef>
      <a:spcAft>
        <a:spcPct val="0"/>
      </a:spcAft>
      <a:defRPr sz="2400" b="1" kern="1200">
        <a:solidFill>
          <a:schemeClr val="tx1"/>
        </a:solidFill>
        <a:latin typeface="Times New Roman" pitchFamily="18" charset="0"/>
        <a:ea typeface="+mn-ea"/>
        <a:cs typeface="+mn-cs"/>
      </a:defRPr>
    </a:lvl2pPr>
    <a:lvl3pPr marL="914400" algn="l" rtl="0" fontAlgn="base">
      <a:spcBef>
        <a:spcPct val="0"/>
      </a:spcBef>
      <a:spcAft>
        <a:spcPct val="0"/>
      </a:spcAft>
      <a:defRPr sz="2400" b="1" kern="1200">
        <a:solidFill>
          <a:schemeClr val="tx1"/>
        </a:solidFill>
        <a:latin typeface="Times New Roman" pitchFamily="18" charset="0"/>
        <a:ea typeface="+mn-ea"/>
        <a:cs typeface="+mn-cs"/>
      </a:defRPr>
    </a:lvl3pPr>
    <a:lvl4pPr marL="1371600" algn="l" rtl="0" fontAlgn="base">
      <a:spcBef>
        <a:spcPct val="0"/>
      </a:spcBef>
      <a:spcAft>
        <a:spcPct val="0"/>
      </a:spcAft>
      <a:defRPr sz="2400" b="1" kern="1200">
        <a:solidFill>
          <a:schemeClr val="tx1"/>
        </a:solidFill>
        <a:latin typeface="Times New Roman" pitchFamily="18" charset="0"/>
        <a:ea typeface="+mn-ea"/>
        <a:cs typeface="+mn-cs"/>
      </a:defRPr>
    </a:lvl4pPr>
    <a:lvl5pPr marL="1828800" algn="l" rtl="0" fontAlgn="base">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0" hangingPunct="1">
      <a:defRPr sz="2400" b="1" kern="1200">
        <a:solidFill>
          <a:schemeClr val="tx1"/>
        </a:solidFill>
        <a:latin typeface="Times New Roman" pitchFamily="18" charset="0"/>
        <a:ea typeface="+mn-ea"/>
        <a:cs typeface="+mn-cs"/>
      </a:defRPr>
    </a:lvl6pPr>
    <a:lvl7pPr marL="2743200" algn="l" defTabSz="914400" rtl="0" eaLnBrk="1" latinLnBrk="0" hangingPunct="1">
      <a:defRPr sz="2400" b="1" kern="1200">
        <a:solidFill>
          <a:schemeClr val="tx1"/>
        </a:solidFill>
        <a:latin typeface="Times New Roman" pitchFamily="18" charset="0"/>
        <a:ea typeface="+mn-ea"/>
        <a:cs typeface="+mn-cs"/>
      </a:defRPr>
    </a:lvl7pPr>
    <a:lvl8pPr marL="3200400" algn="l" defTabSz="914400" rtl="0" eaLnBrk="1" latinLnBrk="0" hangingPunct="1">
      <a:defRPr sz="2400" b="1" kern="1200">
        <a:solidFill>
          <a:schemeClr val="tx1"/>
        </a:solidFill>
        <a:latin typeface="Times New Roman" pitchFamily="18" charset="0"/>
        <a:ea typeface="+mn-ea"/>
        <a:cs typeface="+mn-cs"/>
      </a:defRPr>
    </a:lvl8pPr>
    <a:lvl9pPr marL="3657600" algn="l" defTabSz="914400" rtl="0" eaLnBrk="1" latinLnBrk="0" hangingPunct="1">
      <a:defRPr sz="2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9F33"/>
    <a:srgbClr val="FFFF99"/>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0"/>
    <p:restoredTop sz="94649"/>
  </p:normalViewPr>
  <p:slideViewPr>
    <p:cSldViewPr>
      <p:cViewPr varScale="1">
        <p:scale>
          <a:sx n="149" d="100"/>
          <a:sy n="149" d="100"/>
        </p:scale>
        <p:origin x="3000"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05121" cy="460400"/>
          </a:xfrm>
          <a:prstGeom prst="rect">
            <a:avLst/>
          </a:prstGeom>
        </p:spPr>
        <p:txBody>
          <a:bodyPr vert="horz" lIns="87316" tIns="43658" rIns="87316" bIns="43658" rtlCol="0"/>
          <a:lstStyle>
            <a:lvl1pPr algn="l">
              <a:defRPr sz="1100"/>
            </a:lvl1pPr>
          </a:lstStyle>
          <a:p>
            <a:endParaRPr lang="en-US"/>
          </a:p>
        </p:txBody>
      </p:sp>
      <p:sp>
        <p:nvSpPr>
          <p:cNvPr id="3" name="Date Placeholder 2"/>
          <p:cNvSpPr>
            <a:spLocks noGrp="1"/>
          </p:cNvSpPr>
          <p:nvPr>
            <p:ph type="dt" sz="quarter" idx="1"/>
          </p:nvPr>
        </p:nvSpPr>
        <p:spPr>
          <a:xfrm>
            <a:off x="3927574" y="1"/>
            <a:ext cx="3005121" cy="460400"/>
          </a:xfrm>
          <a:prstGeom prst="rect">
            <a:avLst/>
          </a:prstGeom>
        </p:spPr>
        <p:txBody>
          <a:bodyPr vert="horz" lIns="87316" tIns="43658" rIns="87316" bIns="43658" rtlCol="0"/>
          <a:lstStyle>
            <a:lvl1pPr algn="r">
              <a:defRPr sz="1100"/>
            </a:lvl1pPr>
          </a:lstStyle>
          <a:p>
            <a:fld id="{52039197-9A5D-4426-8BE1-7E0DB9D27619}" type="datetimeFigureOut">
              <a:rPr lang="en-US" smtClean="0"/>
              <a:pPr/>
              <a:t>3/26/18</a:t>
            </a:fld>
            <a:endParaRPr lang="en-US"/>
          </a:p>
        </p:txBody>
      </p:sp>
      <p:sp>
        <p:nvSpPr>
          <p:cNvPr id="4" name="Footer Placeholder 3"/>
          <p:cNvSpPr>
            <a:spLocks noGrp="1"/>
          </p:cNvSpPr>
          <p:nvPr>
            <p:ph type="ftr" sz="quarter" idx="2"/>
          </p:nvPr>
        </p:nvSpPr>
        <p:spPr>
          <a:xfrm>
            <a:off x="0" y="8758276"/>
            <a:ext cx="3005121" cy="460400"/>
          </a:xfrm>
          <a:prstGeom prst="rect">
            <a:avLst/>
          </a:prstGeom>
        </p:spPr>
        <p:txBody>
          <a:bodyPr vert="horz" lIns="87316" tIns="43658" rIns="87316" bIns="43658" rtlCol="0" anchor="b"/>
          <a:lstStyle>
            <a:lvl1pPr algn="l">
              <a:defRPr sz="1100"/>
            </a:lvl1pPr>
          </a:lstStyle>
          <a:p>
            <a:endParaRPr lang="en-US"/>
          </a:p>
        </p:txBody>
      </p:sp>
      <p:sp>
        <p:nvSpPr>
          <p:cNvPr id="5" name="Slide Number Placeholder 4"/>
          <p:cNvSpPr>
            <a:spLocks noGrp="1"/>
          </p:cNvSpPr>
          <p:nvPr>
            <p:ph type="sldNum" sz="quarter" idx="3"/>
          </p:nvPr>
        </p:nvSpPr>
        <p:spPr>
          <a:xfrm>
            <a:off x="3927574" y="8758276"/>
            <a:ext cx="3005121" cy="460400"/>
          </a:xfrm>
          <a:prstGeom prst="rect">
            <a:avLst/>
          </a:prstGeom>
        </p:spPr>
        <p:txBody>
          <a:bodyPr vert="horz" lIns="87316" tIns="43658" rIns="87316" bIns="43658" rtlCol="0" anchor="b"/>
          <a:lstStyle>
            <a:lvl1pPr algn="r">
              <a:defRPr sz="1100"/>
            </a:lvl1pPr>
          </a:lstStyle>
          <a:p>
            <a:fld id="{C77A13E8-25B5-4ABF-A87C-CEC207C206B4}" type="slidenum">
              <a:rPr lang="en-US" smtClean="0"/>
              <a:pPr/>
              <a:t>‹#›</a:t>
            </a:fld>
            <a:endParaRPr lang="en-US"/>
          </a:p>
        </p:txBody>
      </p:sp>
    </p:spTree>
    <p:extLst>
      <p:ext uri="{BB962C8B-B14F-4D97-AF65-F5344CB8AC3E}">
        <p14:creationId xmlns:p14="http://schemas.microsoft.com/office/powerpoint/2010/main" val="80225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04820" cy="46101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defRPr sz="1200" b="0">
                <a:latin typeface="Arial" pitchFamily="34" charset="0"/>
              </a:defRPr>
            </a:lvl1pPr>
          </a:lstStyle>
          <a:p>
            <a:endParaRPr lang="en-US"/>
          </a:p>
        </p:txBody>
      </p:sp>
      <p:sp>
        <p:nvSpPr>
          <p:cNvPr id="3075" name="Rectangle 3"/>
          <p:cNvSpPr>
            <a:spLocks noGrp="1" noChangeArrowheads="1"/>
          </p:cNvSpPr>
          <p:nvPr>
            <p:ph type="dt" idx="1"/>
          </p:nvPr>
        </p:nvSpPr>
        <p:spPr bwMode="auto">
          <a:xfrm>
            <a:off x="3927775" y="0"/>
            <a:ext cx="3004820" cy="46101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r">
              <a:defRPr sz="1200" b="0">
                <a:latin typeface="Arial" pitchFamily="34" charset="0"/>
              </a:defRPr>
            </a:lvl1pPr>
          </a:lstStyle>
          <a:p>
            <a:endParaRPr lang="en-US"/>
          </a:p>
        </p:txBody>
      </p:sp>
      <p:sp>
        <p:nvSpPr>
          <p:cNvPr id="3076" name="Rectangle 4"/>
          <p:cNvSpPr>
            <a:spLocks noGrp="1" noRot="1" noChangeAspect="1"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693420" y="4379595"/>
            <a:ext cx="5547360" cy="414909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757590"/>
            <a:ext cx="3004820" cy="46101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defRPr sz="1200" b="0">
                <a:latin typeface="Arial" pitchFamily="34" charset="0"/>
              </a:defRPr>
            </a:lvl1pPr>
          </a:lstStyle>
          <a:p>
            <a:endParaRPr lang="en-US"/>
          </a:p>
        </p:txBody>
      </p:sp>
      <p:sp>
        <p:nvSpPr>
          <p:cNvPr id="3079" name="Rectangle 7"/>
          <p:cNvSpPr>
            <a:spLocks noGrp="1" noChangeArrowheads="1"/>
          </p:cNvSpPr>
          <p:nvPr>
            <p:ph type="sldNum" sz="quarter" idx="5"/>
          </p:nvPr>
        </p:nvSpPr>
        <p:spPr bwMode="auto">
          <a:xfrm>
            <a:off x="3927775" y="8757590"/>
            <a:ext cx="3004820" cy="46101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r">
              <a:defRPr sz="1200" b="0">
                <a:latin typeface="Arial" pitchFamily="34" charset="0"/>
              </a:defRPr>
            </a:lvl1pPr>
          </a:lstStyle>
          <a:p>
            <a:fld id="{C142CCA2-2949-4325-A78A-A7C3B63D73CE}" type="slidenum">
              <a:rPr lang="en-US"/>
              <a:pPr/>
              <a:t>‹#›</a:t>
            </a:fld>
            <a:endParaRPr lang="en-US"/>
          </a:p>
        </p:txBody>
      </p:sp>
    </p:spTree>
    <p:extLst>
      <p:ext uri="{BB962C8B-B14F-4D97-AF65-F5344CB8AC3E}">
        <p14:creationId xmlns:p14="http://schemas.microsoft.com/office/powerpoint/2010/main" val="402546946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717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p:cNvSpPr>
            <a:spLocks noGrp="1"/>
          </p:cNvSpPr>
          <p:nvPr>
            <p:ph type="sldNum" sz="quarter" idx="11"/>
          </p:nvPr>
        </p:nvSpPr>
        <p:spPr/>
        <p:txBody>
          <a:bodyPr/>
          <a:lstStyle/>
          <a:p>
            <a:fld id="{3B048AC8-D41E-4C7B-8EE3-A52489AA1F05}" type="slidenum">
              <a:rPr lang="en-US" smtClean="0"/>
              <a:pPr/>
              <a:t>‹#›</a:t>
            </a:fld>
            <a:endParaRPr lang="en-US"/>
          </a:p>
        </p:txBody>
      </p:sp>
      <p:sp>
        <p:nvSpPr>
          <p:cNvPr id="9" name="Footer Placeholder 8"/>
          <p:cNvSpPr>
            <a:spLocks noGrp="1"/>
          </p:cNvSpPr>
          <p:nvPr>
            <p:ph type="ftr" sz="quarter" idx="12"/>
          </p:nvPr>
        </p:nvSpPr>
        <p:spPr>
          <a:xfrm>
            <a:off x="685800" y="6400800"/>
            <a:ext cx="4038600" cy="457200"/>
          </a:xfrm>
        </p:spPr>
        <p:txBody>
          <a:bodyPr/>
          <a:lstStyle/>
          <a:p>
            <a:r>
              <a:rPr lang="en-US" dirty="0"/>
              <a:t>Sophomoric Parallelism &amp; Concurrency, Lecture 6</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en-US"/>
              <a:t>Spring 2010</a:t>
            </a:r>
          </a:p>
        </p:txBody>
      </p:sp>
      <p:sp>
        <p:nvSpPr>
          <p:cNvPr id="5" name="Footer Placeholder 4"/>
          <p:cNvSpPr>
            <a:spLocks noGrp="1"/>
          </p:cNvSpPr>
          <p:nvPr>
            <p:ph type="ftr" sz="quarter" idx="11"/>
          </p:nvPr>
        </p:nvSpPr>
        <p:spPr/>
        <p:txBody>
          <a:bodyPr/>
          <a:lstStyle>
            <a:lvl1pPr>
              <a:defRPr/>
            </a:lvl1pPr>
          </a:lstStyle>
          <a:p>
            <a:r>
              <a:rPr lang="en-US"/>
              <a:t>Sophomoric Parallelism &amp; Concurrency, Lecture 6</a:t>
            </a:r>
          </a:p>
        </p:txBody>
      </p:sp>
      <p:sp>
        <p:nvSpPr>
          <p:cNvPr id="6" name="Slide Number Placeholder 5"/>
          <p:cNvSpPr>
            <a:spLocks noGrp="1"/>
          </p:cNvSpPr>
          <p:nvPr>
            <p:ph type="sldNum" sz="quarter" idx="12"/>
          </p:nvPr>
        </p:nvSpPr>
        <p:spPr/>
        <p:txBody>
          <a:bodyPr/>
          <a:lstStyle>
            <a:lvl1pPr>
              <a:defRPr/>
            </a:lvl1pPr>
          </a:lstStyle>
          <a:p>
            <a:fld id="{53883048-0376-4A94-A445-C2F5CD3FC350}" type="slidenum">
              <a:rPr lang="en-US"/>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r>
              <a:rPr lang="en-US"/>
              <a:t>Spring 2010</a:t>
            </a:r>
          </a:p>
        </p:txBody>
      </p:sp>
      <p:sp>
        <p:nvSpPr>
          <p:cNvPr id="6" name="Footer Placeholder 5"/>
          <p:cNvSpPr>
            <a:spLocks noGrp="1"/>
          </p:cNvSpPr>
          <p:nvPr>
            <p:ph type="ftr" sz="quarter" idx="11"/>
          </p:nvPr>
        </p:nvSpPr>
        <p:spPr/>
        <p:txBody>
          <a:bodyPr/>
          <a:lstStyle>
            <a:lvl1pPr>
              <a:defRPr/>
            </a:lvl1pPr>
          </a:lstStyle>
          <a:p>
            <a:r>
              <a:rPr lang="en-US"/>
              <a:t>Sophomoric Parallelism &amp; Concurrency, Lecture 6</a:t>
            </a:r>
          </a:p>
        </p:txBody>
      </p:sp>
      <p:sp>
        <p:nvSpPr>
          <p:cNvPr id="7" name="Slide Number Placeholder 6"/>
          <p:cNvSpPr>
            <a:spLocks noGrp="1"/>
          </p:cNvSpPr>
          <p:nvPr>
            <p:ph type="sldNum" sz="quarter" idx="12"/>
          </p:nvPr>
        </p:nvSpPr>
        <p:spPr/>
        <p:txBody>
          <a:bodyPr/>
          <a:lstStyle>
            <a:lvl1pPr>
              <a:defRPr/>
            </a:lvl1pPr>
          </a:lstStyle>
          <a:p>
            <a:fld id="{B5EA12F5-03B5-4BEE-BF40-7EC1D15EBEE1}" type="slidenum">
              <a:rPr lang="en-US"/>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r>
              <a:rPr lang="en-US"/>
              <a:t>Spring 2010</a:t>
            </a:r>
          </a:p>
        </p:txBody>
      </p:sp>
      <p:sp>
        <p:nvSpPr>
          <p:cNvPr id="8" name="Footer Placeholder 7"/>
          <p:cNvSpPr>
            <a:spLocks noGrp="1"/>
          </p:cNvSpPr>
          <p:nvPr>
            <p:ph type="ftr" sz="quarter" idx="11"/>
          </p:nvPr>
        </p:nvSpPr>
        <p:spPr/>
        <p:txBody>
          <a:bodyPr/>
          <a:lstStyle>
            <a:lvl1pPr>
              <a:defRPr/>
            </a:lvl1pPr>
          </a:lstStyle>
          <a:p>
            <a:r>
              <a:rPr lang="en-US"/>
              <a:t>Sophomoric Parallelism &amp; Concurrency, Lecture 6</a:t>
            </a:r>
          </a:p>
        </p:txBody>
      </p:sp>
      <p:sp>
        <p:nvSpPr>
          <p:cNvPr id="9" name="Slide Number Placeholder 8"/>
          <p:cNvSpPr>
            <a:spLocks noGrp="1"/>
          </p:cNvSpPr>
          <p:nvPr>
            <p:ph type="sldNum" sz="quarter" idx="12"/>
          </p:nvPr>
        </p:nvSpPr>
        <p:spPr/>
        <p:txBody>
          <a:bodyPr/>
          <a:lstStyle>
            <a:lvl1pPr>
              <a:defRPr/>
            </a:lvl1pPr>
          </a:lstStyle>
          <a:p>
            <a:fld id="{957FCB40-9664-45B5-BAA8-170CAD353393}" type="slidenum">
              <a:rPr lang="en-US"/>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r>
              <a:rPr lang="en-US"/>
              <a:t>Spring 2010</a:t>
            </a:r>
          </a:p>
        </p:txBody>
      </p:sp>
      <p:sp>
        <p:nvSpPr>
          <p:cNvPr id="4" name="Footer Placeholder 3"/>
          <p:cNvSpPr>
            <a:spLocks noGrp="1"/>
          </p:cNvSpPr>
          <p:nvPr>
            <p:ph type="ftr" sz="quarter" idx="11"/>
          </p:nvPr>
        </p:nvSpPr>
        <p:spPr/>
        <p:txBody>
          <a:bodyPr/>
          <a:lstStyle>
            <a:lvl1pPr>
              <a:defRPr/>
            </a:lvl1pPr>
          </a:lstStyle>
          <a:p>
            <a:r>
              <a:rPr lang="en-US"/>
              <a:t>Sophomoric Parallelism &amp; Concurrency, Lecture 6</a:t>
            </a:r>
          </a:p>
        </p:txBody>
      </p:sp>
      <p:sp>
        <p:nvSpPr>
          <p:cNvPr id="5" name="Slide Number Placeholder 4"/>
          <p:cNvSpPr>
            <a:spLocks noGrp="1"/>
          </p:cNvSpPr>
          <p:nvPr>
            <p:ph type="sldNum" sz="quarter" idx="12"/>
          </p:nvPr>
        </p:nvSpPr>
        <p:spPr/>
        <p:txBody>
          <a:bodyPr/>
          <a:lstStyle>
            <a:lvl1pPr>
              <a:defRPr/>
            </a:lvl1pPr>
          </a:lstStyle>
          <a:p>
            <a:fld id="{A04D69B1-7287-44D7-BAC9-82A718B3128A}" type="slidenum">
              <a:rPr lang="en-US"/>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Spring 2010</a:t>
            </a:r>
          </a:p>
        </p:txBody>
      </p:sp>
      <p:sp>
        <p:nvSpPr>
          <p:cNvPr id="3" name="Footer Placeholder 2"/>
          <p:cNvSpPr>
            <a:spLocks noGrp="1"/>
          </p:cNvSpPr>
          <p:nvPr>
            <p:ph type="ftr" sz="quarter" idx="11"/>
          </p:nvPr>
        </p:nvSpPr>
        <p:spPr/>
        <p:txBody>
          <a:bodyPr/>
          <a:lstStyle>
            <a:lvl1pPr>
              <a:defRPr/>
            </a:lvl1pPr>
          </a:lstStyle>
          <a:p>
            <a:r>
              <a:rPr lang="en-US"/>
              <a:t>Sophomoric Parallelism &amp; Concurrency, Lecture 6</a:t>
            </a:r>
          </a:p>
        </p:txBody>
      </p:sp>
      <p:sp>
        <p:nvSpPr>
          <p:cNvPr id="4" name="Slide Number Placeholder 3"/>
          <p:cNvSpPr>
            <a:spLocks noGrp="1"/>
          </p:cNvSpPr>
          <p:nvPr>
            <p:ph type="sldNum" sz="quarter" idx="12"/>
          </p:nvPr>
        </p:nvSpPr>
        <p:spPr/>
        <p:txBody>
          <a:bodyPr/>
          <a:lstStyle>
            <a:lvl1pPr>
              <a:defRPr/>
            </a:lvl1pPr>
          </a:lstStyle>
          <a:p>
            <a:fld id="{B53CE0B5-4587-46C9-88FF-288BD15E3202}" type="slidenum">
              <a:rPr lang="en-US"/>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Spring 2010</a:t>
            </a:r>
          </a:p>
        </p:txBody>
      </p:sp>
      <p:sp>
        <p:nvSpPr>
          <p:cNvPr id="6" name="Footer Placeholder 5"/>
          <p:cNvSpPr>
            <a:spLocks noGrp="1"/>
          </p:cNvSpPr>
          <p:nvPr>
            <p:ph type="ftr" sz="quarter" idx="11"/>
          </p:nvPr>
        </p:nvSpPr>
        <p:spPr/>
        <p:txBody>
          <a:bodyPr/>
          <a:lstStyle>
            <a:lvl1pPr>
              <a:defRPr/>
            </a:lvl1pPr>
          </a:lstStyle>
          <a:p>
            <a:r>
              <a:rPr lang="en-US"/>
              <a:t>Sophomoric Parallelism &amp; Concurrency, Lecture 6</a:t>
            </a:r>
          </a:p>
        </p:txBody>
      </p:sp>
      <p:sp>
        <p:nvSpPr>
          <p:cNvPr id="7" name="Slide Number Placeholder 6"/>
          <p:cNvSpPr>
            <a:spLocks noGrp="1"/>
          </p:cNvSpPr>
          <p:nvPr>
            <p:ph type="sldNum" sz="quarter" idx="12"/>
          </p:nvPr>
        </p:nvSpPr>
        <p:spPr/>
        <p:txBody>
          <a:bodyPr/>
          <a:lstStyle>
            <a:lvl1pPr>
              <a:defRPr/>
            </a:lvl1pPr>
          </a:lstStyle>
          <a:p>
            <a:fld id="{EDD7DB5F-D2ED-41DB-B30F-B019AB82D775}" type="slidenum">
              <a:rPr lang="en-US"/>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Spring 2010</a:t>
            </a:r>
          </a:p>
        </p:txBody>
      </p:sp>
      <p:sp>
        <p:nvSpPr>
          <p:cNvPr id="6" name="Footer Placeholder 5"/>
          <p:cNvSpPr>
            <a:spLocks noGrp="1"/>
          </p:cNvSpPr>
          <p:nvPr>
            <p:ph type="ftr" sz="quarter" idx="11"/>
          </p:nvPr>
        </p:nvSpPr>
        <p:spPr/>
        <p:txBody>
          <a:bodyPr/>
          <a:lstStyle>
            <a:lvl1pPr>
              <a:defRPr/>
            </a:lvl1pPr>
          </a:lstStyle>
          <a:p>
            <a:r>
              <a:rPr lang="en-US"/>
              <a:t>Sophomoric Parallelism &amp; Concurrency, Lecture 6</a:t>
            </a:r>
          </a:p>
        </p:txBody>
      </p:sp>
      <p:sp>
        <p:nvSpPr>
          <p:cNvPr id="7" name="Slide Number Placeholder 6"/>
          <p:cNvSpPr>
            <a:spLocks noGrp="1"/>
          </p:cNvSpPr>
          <p:nvPr>
            <p:ph type="sldNum" sz="quarter" idx="12"/>
          </p:nvPr>
        </p:nvSpPr>
        <p:spPr/>
        <p:txBody>
          <a:bodyPr/>
          <a:lstStyle>
            <a:lvl1pPr>
              <a:defRPr/>
            </a:lvl1pPr>
          </a:lstStyle>
          <a:p>
            <a:fld id="{892279E5-AC96-4A1A-8381-1C3686D4000A}" type="slidenum">
              <a:rPr lang="en-US"/>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Spring 2010</a:t>
            </a:r>
          </a:p>
        </p:txBody>
      </p:sp>
      <p:sp>
        <p:nvSpPr>
          <p:cNvPr id="5" name="Footer Placeholder 4"/>
          <p:cNvSpPr>
            <a:spLocks noGrp="1"/>
          </p:cNvSpPr>
          <p:nvPr>
            <p:ph type="ftr" sz="quarter" idx="11"/>
          </p:nvPr>
        </p:nvSpPr>
        <p:spPr/>
        <p:txBody>
          <a:bodyPr/>
          <a:lstStyle>
            <a:lvl1pPr>
              <a:defRPr/>
            </a:lvl1pPr>
          </a:lstStyle>
          <a:p>
            <a:r>
              <a:rPr lang="en-US"/>
              <a:t>Sophomoric Parallelism &amp; Concurrency, Lecture 6</a:t>
            </a:r>
          </a:p>
        </p:txBody>
      </p:sp>
      <p:sp>
        <p:nvSpPr>
          <p:cNvPr id="6" name="Slide Number Placeholder 5"/>
          <p:cNvSpPr>
            <a:spLocks noGrp="1"/>
          </p:cNvSpPr>
          <p:nvPr>
            <p:ph type="sldNum" sz="quarter" idx="12"/>
          </p:nvPr>
        </p:nvSpPr>
        <p:spPr/>
        <p:txBody>
          <a:bodyPr/>
          <a:lstStyle>
            <a:lvl1pPr>
              <a:defRPr/>
            </a:lvl1pPr>
          </a:lstStyle>
          <a:p>
            <a:fld id="{47E115C0-909B-4E1C-9E6E-04B3E9103591}" type="slidenum">
              <a:rPr lang="en-US"/>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Spring 2010</a:t>
            </a:r>
          </a:p>
        </p:txBody>
      </p:sp>
      <p:sp>
        <p:nvSpPr>
          <p:cNvPr id="5" name="Footer Placeholder 4"/>
          <p:cNvSpPr>
            <a:spLocks noGrp="1"/>
          </p:cNvSpPr>
          <p:nvPr>
            <p:ph type="ftr" sz="quarter" idx="11"/>
          </p:nvPr>
        </p:nvSpPr>
        <p:spPr/>
        <p:txBody>
          <a:bodyPr/>
          <a:lstStyle>
            <a:lvl1pPr>
              <a:defRPr/>
            </a:lvl1pPr>
          </a:lstStyle>
          <a:p>
            <a:r>
              <a:rPr lang="en-US"/>
              <a:t>Sophomoric Parallelism &amp; Concurrency, Lecture 6</a:t>
            </a:r>
          </a:p>
        </p:txBody>
      </p:sp>
      <p:sp>
        <p:nvSpPr>
          <p:cNvPr id="6" name="Slide Number Placeholder 5"/>
          <p:cNvSpPr>
            <a:spLocks noGrp="1"/>
          </p:cNvSpPr>
          <p:nvPr>
            <p:ph type="sldNum" sz="quarter" idx="12"/>
          </p:nvPr>
        </p:nvSpPr>
        <p:spPr/>
        <p:txBody>
          <a:bodyPr/>
          <a:lstStyle>
            <a:lvl1pPr>
              <a:defRPr/>
            </a:lvl1pPr>
          </a:lstStyle>
          <a:p>
            <a:fld id="{D082AAE3-B489-4A15-89C7-18993943A37A}" type="slidenum">
              <a:rPr lang="en-US"/>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85800" y="3048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147" name="Rectangle 3"/>
          <p:cNvSpPr>
            <a:spLocks noGrp="1" noChangeArrowheads="1"/>
          </p:cNvSpPr>
          <p:nvPr>
            <p:ph type="body" idx="1"/>
          </p:nvPr>
        </p:nvSpPr>
        <p:spPr bwMode="auto">
          <a:xfrm>
            <a:off x="685800" y="1600200"/>
            <a:ext cx="7772400"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48" name="Rectangle 4"/>
          <p:cNvSpPr>
            <a:spLocks noGrp="1" noChangeArrowheads="1"/>
          </p:cNvSpPr>
          <p:nvPr>
            <p:ph type="dt" sz="half" idx="2"/>
          </p:nvPr>
        </p:nvSpPr>
        <p:spPr bwMode="auto">
          <a:xfrm>
            <a:off x="6858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r>
              <a:rPr lang="en-US"/>
              <a:t>Spring 2010</a:t>
            </a:r>
          </a:p>
        </p:txBody>
      </p:sp>
      <p:sp>
        <p:nvSpPr>
          <p:cNvPr id="6149" name="Rectangle 5"/>
          <p:cNvSpPr>
            <a:spLocks noGrp="1" noChangeArrowheads="1"/>
          </p:cNvSpPr>
          <p:nvPr>
            <p:ph type="ftr" sz="quarter" idx="3"/>
          </p:nvPr>
        </p:nvSpPr>
        <p:spPr bwMode="auto">
          <a:xfrm>
            <a:off x="2895600" y="6400800"/>
            <a:ext cx="3429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r>
              <a:rPr lang="en-US"/>
              <a:t>Sophomoric Parallelism &amp; Concurrency, Lecture 6</a:t>
            </a:r>
          </a:p>
        </p:txBody>
      </p:sp>
      <p:sp>
        <p:nvSpPr>
          <p:cNvPr id="6150" name="Rectangle 6"/>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fld id="{3B048AC8-D41E-4C7B-8EE3-A52489AA1F0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hf hdr="0" dt="0"/>
  <p:txStyles>
    <p:titleStyle>
      <a:lvl1pPr algn="l" rtl="0" fontAlgn="base">
        <a:spcBef>
          <a:spcPct val="0"/>
        </a:spcBef>
        <a:spcAft>
          <a:spcPct val="0"/>
        </a:spcAft>
        <a:defRPr sz="3600" i="1">
          <a:solidFill>
            <a:schemeClr val="tx1"/>
          </a:solidFill>
          <a:latin typeface="+mj-lt"/>
          <a:ea typeface="+mj-ea"/>
          <a:cs typeface="+mj-cs"/>
        </a:defRPr>
      </a:lvl1pPr>
      <a:lvl2pPr algn="l" rtl="0" fontAlgn="base">
        <a:spcBef>
          <a:spcPct val="0"/>
        </a:spcBef>
        <a:spcAft>
          <a:spcPct val="0"/>
        </a:spcAft>
        <a:defRPr sz="3600" i="1">
          <a:solidFill>
            <a:schemeClr val="tx1"/>
          </a:solidFill>
          <a:latin typeface="Arial" pitchFamily="34" charset="0"/>
        </a:defRPr>
      </a:lvl2pPr>
      <a:lvl3pPr algn="l" rtl="0" fontAlgn="base">
        <a:spcBef>
          <a:spcPct val="0"/>
        </a:spcBef>
        <a:spcAft>
          <a:spcPct val="0"/>
        </a:spcAft>
        <a:defRPr sz="3600" i="1">
          <a:solidFill>
            <a:schemeClr val="tx1"/>
          </a:solidFill>
          <a:latin typeface="Arial" pitchFamily="34" charset="0"/>
        </a:defRPr>
      </a:lvl3pPr>
      <a:lvl4pPr algn="l" rtl="0" fontAlgn="base">
        <a:spcBef>
          <a:spcPct val="0"/>
        </a:spcBef>
        <a:spcAft>
          <a:spcPct val="0"/>
        </a:spcAft>
        <a:defRPr sz="3600" i="1">
          <a:solidFill>
            <a:schemeClr val="tx1"/>
          </a:solidFill>
          <a:latin typeface="Arial" pitchFamily="34" charset="0"/>
        </a:defRPr>
      </a:lvl4pPr>
      <a:lvl5pPr algn="l" rtl="0" fontAlgn="base">
        <a:spcBef>
          <a:spcPct val="0"/>
        </a:spcBef>
        <a:spcAft>
          <a:spcPct val="0"/>
        </a:spcAft>
        <a:defRPr sz="3600" i="1">
          <a:solidFill>
            <a:schemeClr val="tx1"/>
          </a:solidFill>
          <a:latin typeface="Arial" pitchFamily="34" charset="0"/>
        </a:defRPr>
      </a:lvl5pPr>
      <a:lvl6pPr marL="457200" algn="l" rtl="0" fontAlgn="base">
        <a:spcBef>
          <a:spcPct val="0"/>
        </a:spcBef>
        <a:spcAft>
          <a:spcPct val="0"/>
        </a:spcAft>
        <a:defRPr sz="3600" i="1">
          <a:solidFill>
            <a:schemeClr val="tx1"/>
          </a:solidFill>
          <a:latin typeface="Arial" pitchFamily="34" charset="0"/>
        </a:defRPr>
      </a:lvl6pPr>
      <a:lvl7pPr marL="914400" algn="l" rtl="0" fontAlgn="base">
        <a:spcBef>
          <a:spcPct val="0"/>
        </a:spcBef>
        <a:spcAft>
          <a:spcPct val="0"/>
        </a:spcAft>
        <a:defRPr sz="3600" i="1">
          <a:solidFill>
            <a:schemeClr val="tx1"/>
          </a:solidFill>
          <a:latin typeface="Arial" pitchFamily="34" charset="0"/>
        </a:defRPr>
      </a:lvl7pPr>
      <a:lvl8pPr marL="1371600" algn="l" rtl="0" fontAlgn="base">
        <a:spcBef>
          <a:spcPct val="0"/>
        </a:spcBef>
        <a:spcAft>
          <a:spcPct val="0"/>
        </a:spcAft>
        <a:defRPr sz="3600" i="1">
          <a:solidFill>
            <a:schemeClr val="tx1"/>
          </a:solidFill>
          <a:latin typeface="Arial" pitchFamily="34" charset="0"/>
        </a:defRPr>
      </a:lvl8pPr>
      <a:lvl9pPr marL="1828800" algn="l" rtl="0" fontAlgn="base">
        <a:spcBef>
          <a:spcPct val="0"/>
        </a:spcBef>
        <a:spcAft>
          <a:spcPct val="0"/>
        </a:spcAft>
        <a:defRPr sz="3600" i="1">
          <a:solidFill>
            <a:schemeClr val="tx1"/>
          </a:solidFill>
          <a:latin typeface="Arial" pitchFamily="34" charset="0"/>
        </a:defRPr>
      </a:lvl9pPr>
    </p:titleStyle>
    <p:bodyStyle>
      <a:lvl1pPr marL="342900" indent="-342900" algn="l" rtl="0" fontAlgn="base">
        <a:spcBef>
          <a:spcPct val="20000"/>
        </a:spcBef>
        <a:spcAft>
          <a:spcPct val="0"/>
        </a:spcAft>
        <a:buChar char="•"/>
        <a:defRPr sz="2000">
          <a:solidFill>
            <a:schemeClr val="tx1"/>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en.wikipedia.org/wiki/Buffer_(computer_scienc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en.wikipedia.org/wiki/Queue_(data_structure)" TargetMode="Externa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0.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b="1" u="sng" dirty="0"/>
              <a:t>Producer-Consumer Problem</a:t>
            </a:r>
          </a:p>
        </p:txBody>
      </p:sp>
      <p:sp>
        <p:nvSpPr>
          <p:cNvPr id="3" name="Content Placeholder 2"/>
          <p:cNvSpPr>
            <a:spLocks noGrp="1"/>
          </p:cNvSpPr>
          <p:nvPr>
            <p:ph idx="1"/>
          </p:nvPr>
        </p:nvSpPr>
        <p:spPr>
          <a:xfrm>
            <a:off x="609600" y="1143000"/>
            <a:ext cx="8077200" cy="3352800"/>
          </a:xfrm>
        </p:spPr>
        <p:txBody>
          <a:bodyPr/>
          <a:lstStyle/>
          <a:p>
            <a:r>
              <a:rPr lang="en-US" altLang="ko-KR" dirty="0"/>
              <a:t>The problem describes two processes, the producer and the consumer, who share a common, fixed-size </a:t>
            </a:r>
            <a:r>
              <a:rPr lang="en-US" altLang="ko-KR" dirty="0">
                <a:hlinkClick r:id="rId3" tooltip="Buffer (computer science)"/>
              </a:rPr>
              <a:t>buffer</a:t>
            </a:r>
            <a:r>
              <a:rPr lang="en-US" altLang="ko-KR" dirty="0"/>
              <a:t> used as a </a:t>
            </a:r>
            <a:r>
              <a:rPr lang="en-US" altLang="ko-KR" dirty="0">
                <a:hlinkClick r:id="rId4" tooltip="Queue (data structure)"/>
              </a:rPr>
              <a:t>queue</a:t>
            </a:r>
            <a:r>
              <a:rPr lang="en-US" altLang="ko-KR" dirty="0"/>
              <a:t>. </a:t>
            </a:r>
          </a:p>
          <a:p>
            <a:pPr lvl="1"/>
            <a:r>
              <a:rPr lang="en-US" altLang="ko-KR" dirty="0"/>
              <a:t>producer: generate a piece of data, put it into the buffer and start again. At the same time, </a:t>
            </a:r>
          </a:p>
          <a:p>
            <a:pPr lvl="1"/>
            <a:r>
              <a:rPr lang="en-US" altLang="ko-KR" dirty="0"/>
              <a:t>consumer:  consumes the data (i.e., removing it from the buffer) one piece at a time. </a:t>
            </a:r>
          </a:p>
          <a:p>
            <a:pPr lvl="1"/>
            <a:r>
              <a:rPr lang="en-US" altLang="ko-KR" dirty="0"/>
              <a:t>The problem is to make sure that the producer won't try to add data into the buffer if it's full and that the consumer won't try to remove data from an empty buffer.</a:t>
            </a:r>
          </a:p>
          <a:p>
            <a:r>
              <a:rPr lang="en-US" altLang="ko-KR" dirty="0"/>
              <a:t>The solution for the producer is to go to sleep if the buffer is full. The next time the consumer removes an item from the buffer, it notifies the producer, who starts to fill the buffer again. </a:t>
            </a:r>
          </a:p>
          <a:p>
            <a:r>
              <a:rPr lang="en-US" altLang="ko-KR" dirty="0"/>
              <a:t>In the same way, the consumer can go to sleep if it finds the buffer to be empty. The next time the producer puts data into the buffer, it wakes up the sleeping consumer. </a:t>
            </a:r>
          </a:p>
          <a:p>
            <a:r>
              <a:rPr lang="en-US" altLang="ko-KR" dirty="0"/>
              <a:t>generalized to have multiple producers and consumers.</a:t>
            </a:r>
          </a:p>
        </p:txBody>
      </p:sp>
      <p:sp>
        <p:nvSpPr>
          <p:cNvPr id="5" name="Slide Number Placeholder 4"/>
          <p:cNvSpPr>
            <a:spLocks noGrp="1"/>
          </p:cNvSpPr>
          <p:nvPr>
            <p:ph type="sldNum" sz="quarter" idx="11"/>
          </p:nvPr>
        </p:nvSpPr>
        <p:spPr/>
        <p:txBody>
          <a:bodyPr/>
          <a:lstStyle/>
          <a:p>
            <a:fld id="{3B048AC8-D41E-4C7B-8EE3-A52489AA1F05}" type="slidenum">
              <a:rPr lang="en-US" smtClean="0"/>
              <a:pPr/>
              <a:t>1</a:t>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b="1" u="sng" dirty="0"/>
              <a:t>Producer-Consumer Problem</a:t>
            </a:r>
          </a:p>
        </p:txBody>
      </p:sp>
      <p:sp>
        <p:nvSpPr>
          <p:cNvPr id="3" name="Content Placeholder 2"/>
          <p:cNvSpPr>
            <a:spLocks noGrp="1"/>
          </p:cNvSpPr>
          <p:nvPr>
            <p:ph idx="1"/>
          </p:nvPr>
        </p:nvSpPr>
        <p:spPr>
          <a:xfrm>
            <a:off x="609600" y="3048000"/>
            <a:ext cx="8077200" cy="3352800"/>
          </a:xfrm>
        </p:spPr>
        <p:txBody>
          <a:bodyPr/>
          <a:lstStyle/>
          <a:p>
            <a:pPr>
              <a:buNone/>
            </a:pPr>
            <a:r>
              <a:rPr lang="en-US" dirty="0"/>
              <a:t>To motivate condition variables, consider the canonical example of a </a:t>
            </a:r>
            <a:r>
              <a:rPr lang="en-US" dirty="0">
                <a:solidFill>
                  <a:schemeClr val="accent2"/>
                </a:solidFill>
              </a:rPr>
              <a:t>bounded buffer</a:t>
            </a:r>
            <a:r>
              <a:rPr lang="en-US" dirty="0"/>
              <a:t> for sharing work among threads</a:t>
            </a:r>
          </a:p>
          <a:p>
            <a:pPr>
              <a:buNone/>
            </a:pPr>
            <a:endParaRPr lang="en-US" sz="1000" dirty="0"/>
          </a:p>
          <a:p>
            <a:pPr>
              <a:buNone/>
            </a:pPr>
            <a:r>
              <a:rPr lang="en-US" dirty="0"/>
              <a:t>Bounded buffer: A queue with a fixed size</a:t>
            </a:r>
          </a:p>
          <a:p>
            <a:pPr lvl="1"/>
            <a:r>
              <a:rPr lang="en-US" dirty="0"/>
              <a:t>(Unbounded still needs a condition variable, but 1 instead of 2)</a:t>
            </a:r>
          </a:p>
          <a:p>
            <a:pPr lvl="1"/>
            <a:endParaRPr lang="en-US" sz="1000" dirty="0"/>
          </a:p>
          <a:p>
            <a:pPr>
              <a:buNone/>
            </a:pPr>
            <a:r>
              <a:rPr lang="en-US" dirty="0"/>
              <a:t>For sharing work – think an assembly line: </a:t>
            </a:r>
          </a:p>
          <a:p>
            <a:pPr lvl="1"/>
            <a:r>
              <a:rPr lang="en-US" dirty="0"/>
              <a:t>Producer thread(s) do some work and </a:t>
            </a:r>
            <a:r>
              <a:rPr lang="en-US" dirty="0" err="1"/>
              <a:t>enqueue</a:t>
            </a:r>
            <a:r>
              <a:rPr lang="en-US" dirty="0"/>
              <a:t> result objects</a:t>
            </a:r>
          </a:p>
          <a:p>
            <a:pPr lvl="1"/>
            <a:r>
              <a:rPr lang="en-US" dirty="0"/>
              <a:t>Consumer thread(s) </a:t>
            </a:r>
            <a:r>
              <a:rPr lang="en-US" dirty="0" err="1"/>
              <a:t>dequeue</a:t>
            </a:r>
            <a:r>
              <a:rPr lang="en-US" dirty="0"/>
              <a:t> objects and do next stage</a:t>
            </a:r>
          </a:p>
          <a:p>
            <a:pPr lvl="1"/>
            <a:r>
              <a:rPr lang="en-US" dirty="0"/>
              <a:t>Must synchronize access to the queue</a:t>
            </a:r>
          </a:p>
          <a:p>
            <a:pPr>
              <a:buNone/>
            </a:pPr>
            <a:endParaRPr lang="en-US" dirty="0"/>
          </a:p>
        </p:txBody>
      </p:sp>
      <p:sp>
        <p:nvSpPr>
          <p:cNvPr id="5" name="Slide Number Placeholder 4"/>
          <p:cNvSpPr>
            <a:spLocks noGrp="1"/>
          </p:cNvSpPr>
          <p:nvPr>
            <p:ph type="sldNum" sz="quarter" idx="11"/>
          </p:nvPr>
        </p:nvSpPr>
        <p:spPr/>
        <p:txBody>
          <a:bodyPr/>
          <a:lstStyle/>
          <a:p>
            <a:fld id="{3B048AC8-D41E-4C7B-8EE3-A52489AA1F05}" type="slidenum">
              <a:rPr lang="en-US" smtClean="0"/>
              <a:pPr/>
              <a:t>2</a:t>
            </a:fld>
            <a:endParaRPr lang="en-US"/>
          </a:p>
        </p:txBody>
      </p:sp>
      <p:sp>
        <p:nvSpPr>
          <p:cNvPr id="8" name="Rectangle 7"/>
          <p:cNvSpPr/>
          <p:nvPr/>
        </p:nvSpPr>
        <p:spPr bwMode="auto">
          <a:xfrm>
            <a:off x="685800" y="1219200"/>
            <a:ext cx="7772400" cy="17526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Times New Roman" pitchFamily="18" charset="0"/>
            </a:endParaRPr>
          </a:p>
        </p:txBody>
      </p:sp>
      <p:sp>
        <p:nvSpPr>
          <p:cNvPr id="15" name="Rectangle 10"/>
          <p:cNvSpPr>
            <a:spLocks noChangeArrowheads="1"/>
          </p:cNvSpPr>
          <p:nvPr>
            <p:custDataLst>
              <p:tags r:id="rId1"/>
            </p:custDataLst>
          </p:nvPr>
        </p:nvSpPr>
        <p:spPr bwMode="auto">
          <a:xfrm>
            <a:off x="3581400" y="1295400"/>
            <a:ext cx="304800" cy="304800"/>
          </a:xfrm>
          <a:prstGeom prst="rect">
            <a:avLst/>
          </a:prstGeom>
          <a:noFill/>
          <a:ln w="9525">
            <a:solidFill>
              <a:schemeClr val="tx1"/>
            </a:solidFill>
            <a:miter lim="800000"/>
            <a:headEnd/>
            <a:tailEnd/>
          </a:ln>
        </p:spPr>
        <p:txBody>
          <a:bodyPr wrap="none" anchor="ctr"/>
          <a:lstStyle/>
          <a:p>
            <a:endParaRPr lang="en-US"/>
          </a:p>
        </p:txBody>
      </p:sp>
      <p:sp>
        <p:nvSpPr>
          <p:cNvPr id="16" name="Rectangle 11"/>
          <p:cNvSpPr>
            <a:spLocks noChangeArrowheads="1"/>
          </p:cNvSpPr>
          <p:nvPr>
            <p:custDataLst>
              <p:tags r:id="rId2"/>
            </p:custDataLst>
          </p:nvPr>
        </p:nvSpPr>
        <p:spPr bwMode="auto">
          <a:xfrm>
            <a:off x="3886200" y="1295400"/>
            <a:ext cx="304800" cy="304800"/>
          </a:xfrm>
          <a:prstGeom prst="rect">
            <a:avLst/>
          </a:prstGeom>
          <a:noFill/>
          <a:ln w="9525">
            <a:solidFill>
              <a:schemeClr val="tx1"/>
            </a:solidFill>
            <a:miter lim="800000"/>
            <a:headEnd/>
            <a:tailEnd/>
          </a:ln>
        </p:spPr>
        <p:txBody>
          <a:bodyPr wrap="none" anchor="ctr"/>
          <a:lstStyle/>
          <a:p>
            <a:pPr algn="ctr">
              <a:lnSpc>
                <a:spcPct val="100000"/>
              </a:lnSpc>
              <a:spcBef>
                <a:spcPct val="0"/>
              </a:spcBef>
            </a:pPr>
            <a:endParaRPr lang="en-US" sz="1800" dirty="0">
              <a:solidFill>
                <a:schemeClr val="tx1"/>
              </a:solidFill>
            </a:endParaRPr>
          </a:p>
        </p:txBody>
      </p:sp>
      <p:sp>
        <p:nvSpPr>
          <p:cNvPr id="17" name="Rectangle 12"/>
          <p:cNvSpPr>
            <a:spLocks noChangeArrowheads="1"/>
          </p:cNvSpPr>
          <p:nvPr>
            <p:custDataLst>
              <p:tags r:id="rId3"/>
            </p:custDataLst>
          </p:nvPr>
        </p:nvSpPr>
        <p:spPr bwMode="auto">
          <a:xfrm>
            <a:off x="4191000" y="1295400"/>
            <a:ext cx="304800" cy="304800"/>
          </a:xfrm>
          <a:prstGeom prst="rect">
            <a:avLst/>
          </a:prstGeom>
          <a:noFill/>
          <a:ln w="9525">
            <a:solidFill>
              <a:schemeClr val="tx1"/>
            </a:solidFill>
            <a:miter lim="800000"/>
            <a:headEnd/>
            <a:tailEnd/>
          </a:ln>
        </p:spPr>
        <p:txBody>
          <a:bodyPr wrap="none" anchor="ctr"/>
          <a:lstStyle/>
          <a:p>
            <a:pPr algn="ctr">
              <a:lnSpc>
                <a:spcPct val="100000"/>
              </a:lnSpc>
              <a:spcBef>
                <a:spcPct val="0"/>
              </a:spcBef>
            </a:pPr>
            <a:r>
              <a:rPr lang="en-US" sz="1800" dirty="0">
                <a:solidFill>
                  <a:schemeClr val="tx1"/>
                </a:solidFill>
              </a:rPr>
              <a:t>f</a:t>
            </a:r>
          </a:p>
        </p:txBody>
      </p:sp>
      <p:sp>
        <p:nvSpPr>
          <p:cNvPr id="18" name="Rectangle 13"/>
          <p:cNvSpPr>
            <a:spLocks noChangeArrowheads="1"/>
          </p:cNvSpPr>
          <p:nvPr>
            <p:custDataLst>
              <p:tags r:id="rId4"/>
            </p:custDataLst>
          </p:nvPr>
        </p:nvSpPr>
        <p:spPr bwMode="auto">
          <a:xfrm>
            <a:off x="4495800" y="1295400"/>
            <a:ext cx="304800" cy="304800"/>
          </a:xfrm>
          <a:prstGeom prst="rect">
            <a:avLst/>
          </a:prstGeom>
          <a:noFill/>
          <a:ln w="9525">
            <a:solidFill>
              <a:schemeClr val="tx1"/>
            </a:solidFill>
            <a:miter lim="800000"/>
            <a:headEnd/>
            <a:tailEnd/>
          </a:ln>
        </p:spPr>
        <p:txBody>
          <a:bodyPr wrap="none" anchor="ctr"/>
          <a:lstStyle/>
          <a:p>
            <a:pPr algn="ctr">
              <a:lnSpc>
                <a:spcPct val="100000"/>
              </a:lnSpc>
              <a:spcBef>
                <a:spcPct val="0"/>
              </a:spcBef>
            </a:pPr>
            <a:r>
              <a:rPr lang="en-US" sz="1800" dirty="0">
                <a:solidFill>
                  <a:schemeClr val="tx1"/>
                </a:solidFill>
              </a:rPr>
              <a:t>e</a:t>
            </a:r>
          </a:p>
        </p:txBody>
      </p:sp>
      <p:sp>
        <p:nvSpPr>
          <p:cNvPr id="19" name="Rectangle 14"/>
          <p:cNvSpPr>
            <a:spLocks noChangeArrowheads="1"/>
          </p:cNvSpPr>
          <p:nvPr>
            <p:custDataLst>
              <p:tags r:id="rId5"/>
            </p:custDataLst>
          </p:nvPr>
        </p:nvSpPr>
        <p:spPr bwMode="auto">
          <a:xfrm>
            <a:off x="4800600" y="1295400"/>
            <a:ext cx="304800" cy="304800"/>
          </a:xfrm>
          <a:prstGeom prst="rect">
            <a:avLst/>
          </a:prstGeom>
          <a:noFill/>
          <a:ln w="9525">
            <a:solidFill>
              <a:schemeClr val="tx1"/>
            </a:solidFill>
            <a:miter lim="800000"/>
            <a:headEnd/>
            <a:tailEnd/>
          </a:ln>
        </p:spPr>
        <p:txBody>
          <a:bodyPr wrap="none" anchor="ctr"/>
          <a:lstStyle/>
          <a:p>
            <a:pPr algn="ctr">
              <a:lnSpc>
                <a:spcPct val="100000"/>
              </a:lnSpc>
              <a:spcBef>
                <a:spcPct val="0"/>
              </a:spcBef>
            </a:pPr>
            <a:r>
              <a:rPr lang="en-US" sz="1800" dirty="0">
                <a:solidFill>
                  <a:schemeClr val="tx1"/>
                </a:solidFill>
              </a:rPr>
              <a:t>d</a:t>
            </a:r>
          </a:p>
        </p:txBody>
      </p:sp>
      <p:sp>
        <p:nvSpPr>
          <p:cNvPr id="20" name="Rectangle 15"/>
          <p:cNvSpPr>
            <a:spLocks noChangeArrowheads="1"/>
          </p:cNvSpPr>
          <p:nvPr>
            <p:custDataLst>
              <p:tags r:id="rId6"/>
            </p:custDataLst>
          </p:nvPr>
        </p:nvSpPr>
        <p:spPr bwMode="auto">
          <a:xfrm>
            <a:off x="5105400" y="1295400"/>
            <a:ext cx="304800" cy="304800"/>
          </a:xfrm>
          <a:prstGeom prst="rect">
            <a:avLst/>
          </a:prstGeom>
          <a:noFill/>
          <a:ln w="9525">
            <a:solidFill>
              <a:schemeClr val="tx1"/>
            </a:solidFill>
            <a:miter lim="800000"/>
            <a:headEnd/>
            <a:tailEnd/>
          </a:ln>
        </p:spPr>
        <p:txBody>
          <a:bodyPr wrap="none" anchor="ctr"/>
          <a:lstStyle/>
          <a:p>
            <a:pPr algn="ctr">
              <a:lnSpc>
                <a:spcPct val="100000"/>
              </a:lnSpc>
              <a:spcBef>
                <a:spcPct val="0"/>
              </a:spcBef>
            </a:pPr>
            <a:r>
              <a:rPr lang="en-US" sz="1800" dirty="0">
                <a:solidFill>
                  <a:schemeClr val="tx1"/>
                </a:solidFill>
              </a:rPr>
              <a:t>c</a:t>
            </a:r>
          </a:p>
        </p:txBody>
      </p:sp>
      <p:sp>
        <p:nvSpPr>
          <p:cNvPr id="21" name="Rectangle 16"/>
          <p:cNvSpPr>
            <a:spLocks noChangeArrowheads="1"/>
          </p:cNvSpPr>
          <p:nvPr>
            <p:custDataLst>
              <p:tags r:id="rId7"/>
            </p:custDataLst>
          </p:nvPr>
        </p:nvSpPr>
        <p:spPr bwMode="auto">
          <a:xfrm>
            <a:off x="5410200" y="1295400"/>
            <a:ext cx="304800" cy="304800"/>
          </a:xfrm>
          <a:prstGeom prst="rect">
            <a:avLst/>
          </a:prstGeom>
          <a:noFill/>
          <a:ln w="9525">
            <a:solidFill>
              <a:schemeClr val="tx1"/>
            </a:solidFill>
            <a:miter lim="800000"/>
            <a:headEnd/>
            <a:tailEnd/>
          </a:ln>
        </p:spPr>
        <p:txBody>
          <a:bodyPr wrap="none" anchor="ctr"/>
          <a:lstStyle/>
          <a:p>
            <a:endParaRPr lang="en-US"/>
          </a:p>
        </p:txBody>
      </p:sp>
      <p:sp>
        <p:nvSpPr>
          <p:cNvPr id="22" name="Rectangle 17"/>
          <p:cNvSpPr>
            <a:spLocks noChangeArrowheads="1"/>
          </p:cNvSpPr>
          <p:nvPr>
            <p:custDataLst>
              <p:tags r:id="rId8"/>
            </p:custDataLst>
          </p:nvPr>
        </p:nvSpPr>
        <p:spPr bwMode="auto">
          <a:xfrm>
            <a:off x="5715000" y="1295400"/>
            <a:ext cx="304800" cy="304800"/>
          </a:xfrm>
          <a:prstGeom prst="rect">
            <a:avLst/>
          </a:prstGeom>
          <a:noFill/>
          <a:ln w="9525">
            <a:solidFill>
              <a:schemeClr val="tx1"/>
            </a:solidFill>
            <a:miter lim="800000"/>
            <a:headEnd/>
            <a:tailEnd/>
          </a:ln>
        </p:spPr>
        <p:txBody>
          <a:bodyPr wrap="none" anchor="ctr"/>
          <a:lstStyle/>
          <a:p>
            <a:endParaRPr lang="en-US"/>
          </a:p>
        </p:txBody>
      </p:sp>
      <p:sp>
        <p:nvSpPr>
          <p:cNvPr id="23" name="Rectangle 18"/>
          <p:cNvSpPr>
            <a:spLocks noChangeArrowheads="1"/>
          </p:cNvSpPr>
          <p:nvPr>
            <p:custDataLst>
              <p:tags r:id="rId9"/>
            </p:custDataLst>
          </p:nvPr>
        </p:nvSpPr>
        <p:spPr bwMode="auto">
          <a:xfrm>
            <a:off x="6019800" y="1295400"/>
            <a:ext cx="304800" cy="304800"/>
          </a:xfrm>
          <a:prstGeom prst="rect">
            <a:avLst/>
          </a:prstGeom>
          <a:noFill/>
          <a:ln w="9525">
            <a:solidFill>
              <a:schemeClr val="tx1"/>
            </a:solidFill>
            <a:miter lim="800000"/>
            <a:headEnd/>
            <a:tailEnd/>
          </a:ln>
        </p:spPr>
        <p:txBody>
          <a:bodyPr wrap="none" anchor="ctr"/>
          <a:lstStyle/>
          <a:p>
            <a:endParaRPr lang="en-US"/>
          </a:p>
        </p:txBody>
      </p:sp>
      <p:sp>
        <p:nvSpPr>
          <p:cNvPr id="29" name="Text Box 24"/>
          <p:cNvSpPr txBox="1">
            <a:spLocks noChangeArrowheads="1"/>
          </p:cNvSpPr>
          <p:nvPr>
            <p:custDataLst>
              <p:tags r:id="rId10"/>
            </p:custDataLst>
          </p:nvPr>
        </p:nvSpPr>
        <p:spPr bwMode="auto">
          <a:xfrm>
            <a:off x="2671126" y="1219200"/>
            <a:ext cx="834074" cy="400110"/>
          </a:xfrm>
          <a:prstGeom prst="rect">
            <a:avLst/>
          </a:prstGeom>
          <a:noFill/>
          <a:ln w="9525">
            <a:noFill/>
            <a:miter lim="800000"/>
            <a:headEnd/>
            <a:tailEnd/>
          </a:ln>
        </p:spPr>
        <p:txBody>
          <a:bodyPr wrap="none">
            <a:spAutoFit/>
          </a:bodyPr>
          <a:lstStyle/>
          <a:p>
            <a:pPr>
              <a:lnSpc>
                <a:spcPct val="100000"/>
              </a:lnSpc>
              <a:spcBef>
                <a:spcPct val="0"/>
              </a:spcBef>
            </a:pPr>
            <a:r>
              <a:rPr lang="en-US" sz="2000" b="0" dirty="0">
                <a:solidFill>
                  <a:schemeClr val="tx1"/>
                </a:solidFill>
                <a:latin typeface="+mj-lt"/>
              </a:rPr>
              <a:t>buffer</a:t>
            </a:r>
          </a:p>
        </p:txBody>
      </p:sp>
      <p:cxnSp>
        <p:nvCxnSpPr>
          <p:cNvPr id="32" name="AutoShape 29"/>
          <p:cNvCxnSpPr>
            <a:cxnSpLocks noChangeShapeType="1"/>
            <a:endCxn id="16" idx="2"/>
          </p:cNvCxnSpPr>
          <p:nvPr>
            <p:custDataLst>
              <p:tags r:id="rId11"/>
            </p:custDataLst>
          </p:nvPr>
        </p:nvCxnSpPr>
        <p:spPr bwMode="auto">
          <a:xfrm flipH="1" flipV="1">
            <a:off x="4038600" y="1600200"/>
            <a:ext cx="1588" cy="273050"/>
          </a:xfrm>
          <a:prstGeom prst="straightConnector1">
            <a:avLst/>
          </a:prstGeom>
          <a:noFill/>
          <a:ln w="9525">
            <a:solidFill>
              <a:schemeClr val="tx1"/>
            </a:solidFill>
            <a:round/>
            <a:headEnd/>
            <a:tailEnd type="triangle" w="med" len="med"/>
          </a:ln>
        </p:spPr>
      </p:cxnSp>
      <p:cxnSp>
        <p:nvCxnSpPr>
          <p:cNvPr id="33" name="AutoShape 30"/>
          <p:cNvCxnSpPr>
            <a:cxnSpLocks noChangeShapeType="1"/>
          </p:cNvCxnSpPr>
          <p:nvPr>
            <p:custDataLst>
              <p:tags r:id="rId12"/>
            </p:custDataLst>
          </p:nvPr>
        </p:nvCxnSpPr>
        <p:spPr bwMode="auto">
          <a:xfrm flipV="1">
            <a:off x="5257800" y="1600200"/>
            <a:ext cx="6350" cy="273050"/>
          </a:xfrm>
          <a:prstGeom prst="straightConnector1">
            <a:avLst/>
          </a:prstGeom>
          <a:noFill/>
          <a:ln w="9525">
            <a:solidFill>
              <a:schemeClr val="tx1"/>
            </a:solidFill>
            <a:round/>
            <a:headEnd/>
            <a:tailEnd type="triangle" w="med" len="med"/>
          </a:ln>
        </p:spPr>
      </p:cxnSp>
      <p:sp>
        <p:nvSpPr>
          <p:cNvPr id="34" name="Text Box 25"/>
          <p:cNvSpPr txBox="1">
            <a:spLocks noChangeArrowheads="1"/>
          </p:cNvSpPr>
          <p:nvPr>
            <p:custDataLst>
              <p:tags r:id="rId13"/>
            </p:custDataLst>
          </p:nvPr>
        </p:nvSpPr>
        <p:spPr bwMode="auto">
          <a:xfrm>
            <a:off x="3429000" y="1676400"/>
            <a:ext cx="726481" cy="400110"/>
          </a:xfrm>
          <a:prstGeom prst="rect">
            <a:avLst/>
          </a:prstGeom>
          <a:noFill/>
          <a:ln w="9525">
            <a:noFill/>
            <a:miter lim="800000"/>
            <a:headEnd/>
            <a:tailEnd/>
          </a:ln>
        </p:spPr>
        <p:txBody>
          <a:bodyPr wrap="none">
            <a:spAutoFit/>
          </a:bodyPr>
          <a:lstStyle/>
          <a:p>
            <a:pPr>
              <a:lnSpc>
                <a:spcPct val="100000"/>
              </a:lnSpc>
              <a:spcBef>
                <a:spcPct val="0"/>
              </a:spcBef>
            </a:pPr>
            <a:r>
              <a:rPr lang="en-US" sz="2000" b="0" dirty="0">
                <a:solidFill>
                  <a:schemeClr val="tx1"/>
                </a:solidFill>
                <a:latin typeface="+mn-lt"/>
              </a:rPr>
              <a:t>back</a:t>
            </a:r>
          </a:p>
        </p:txBody>
      </p:sp>
      <p:sp>
        <p:nvSpPr>
          <p:cNvPr id="35" name="Text Box 25"/>
          <p:cNvSpPr txBox="1">
            <a:spLocks noChangeArrowheads="1"/>
          </p:cNvSpPr>
          <p:nvPr>
            <p:custDataLst>
              <p:tags r:id="rId14"/>
            </p:custDataLst>
          </p:nvPr>
        </p:nvSpPr>
        <p:spPr bwMode="auto">
          <a:xfrm>
            <a:off x="4648200" y="1733490"/>
            <a:ext cx="696024" cy="400110"/>
          </a:xfrm>
          <a:prstGeom prst="rect">
            <a:avLst/>
          </a:prstGeom>
          <a:noFill/>
          <a:ln w="9525">
            <a:noFill/>
            <a:miter lim="800000"/>
            <a:headEnd/>
            <a:tailEnd/>
          </a:ln>
        </p:spPr>
        <p:txBody>
          <a:bodyPr wrap="none">
            <a:spAutoFit/>
          </a:bodyPr>
          <a:lstStyle/>
          <a:p>
            <a:pPr>
              <a:lnSpc>
                <a:spcPct val="100000"/>
              </a:lnSpc>
              <a:spcBef>
                <a:spcPct val="0"/>
              </a:spcBef>
            </a:pPr>
            <a:r>
              <a:rPr lang="en-US" sz="2000" b="0" dirty="0">
                <a:solidFill>
                  <a:schemeClr val="tx1"/>
                </a:solidFill>
                <a:latin typeface="+mn-lt"/>
              </a:rPr>
              <a:t>front</a:t>
            </a:r>
          </a:p>
        </p:txBody>
      </p:sp>
      <p:sp>
        <p:nvSpPr>
          <p:cNvPr id="36" name="Text Box 24"/>
          <p:cNvSpPr txBox="1">
            <a:spLocks noChangeArrowheads="1"/>
          </p:cNvSpPr>
          <p:nvPr>
            <p:custDataLst>
              <p:tags r:id="rId15"/>
            </p:custDataLst>
          </p:nvPr>
        </p:nvSpPr>
        <p:spPr bwMode="auto">
          <a:xfrm>
            <a:off x="914400" y="1295400"/>
            <a:ext cx="1494320" cy="707886"/>
          </a:xfrm>
          <a:prstGeom prst="rect">
            <a:avLst/>
          </a:prstGeom>
          <a:noFill/>
          <a:ln w="9525">
            <a:noFill/>
            <a:miter lim="800000"/>
            <a:headEnd/>
            <a:tailEnd/>
          </a:ln>
        </p:spPr>
        <p:txBody>
          <a:bodyPr wrap="none">
            <a:spAutoFit/>
          </a:bodyPr>
          <a:lstStyle/>
          <a:p>
            <a:pPr>
              <a:lnSpc>
                <a:spcPct val="100000"/>
              </a:lnSpc>
              <a:spcBef>
                <a:spcPct val="0"/>
              </a:spcBef>
            </a:pPr>
            <a:r>
              <a:rPr lang="en-US" sz="2000" b="0" dirty="0">
                <a:solidFill>
                  <a:schemeClr val="tx1"/>
                </a:solidFill>
                <a:latin typeface="+mj-lt"/>
              </a:rPr>
              <a:t>producer(s)</a:t>
            </a:r>
          </a:p>
          <a:p>
            <a:pPr>
              <a:lnSpc>
                <a:spcPct val="100000"/>
              </a:lnSpc>
              <a:spcBef>
                <a:spcPct val="0"/>
              </a:spcBef>
            </a:pPr>
            <a:r>
              <a:rPr lang="en-US" sz="2000" b="0" dirty="0" err="1">
                <a:latin typeface="+mj-lt"/>
              </a:rPr>
              <a:t>enqueue</a:t>
            </a:r>
            <a:endParaRPr lang="en-US" sz="2000" b="0" dirty="0">
              <a:solidFill>
                <a:schemeClr val="tx1"/>
              </a:solidFill>
              <a:latin typeface="+mj-lt"/>
            </a:endParaRPr>
          </a:p>
        </p:txBody>
      </p:sp>
      <p:sp>
        <p:nvSpPr>
          <p:cNvPr id="37" name="Text Box 24"/>
          <p:cNvSpPr txBox="1">
            <a:spLocks noChangeArrowheads="1"/>
          </p:cNvSpPr>
          <p:nvPr>
            <p:custDataLst>
              <p:tags r:id="rId16"/>
            </p:custDataLst>
          </p:nvPr>
        </p:nvSpPr>
        <p:spPr bwMode="auto">
          <a:xfrm>
            <a:off x="6850067" y="1295400"/>
            <a:ext cx="1608133" cy="707886"/>
          </a:xfrm>
          <a:prstGeom prst="rect">
            <a:avLst/>
          </a:prstGeom>
          <a:noFill/>
          <a:ln w="9525">
            <a:noFill/>
            <a:miter lim="800000"/>
            <a:headEnd/>
            <a:tailEnd/>
          </a:ln>
        </p:spPr>
        <p:txBody>
          <a:bodyPr wrap="none">
            <a:spAutoFit/>
          </a:bodyPr>
          <a:lstStyle/>
          <a:p>
            <a:pPr>
              <a:lnSpc>
                <a:spcPct val="100000"/>
              </a:lnSpc>
              <a:spcBef>
                <a:spcPct val="0"/>
              </a:spcBef>
            </a:pPr>
            <a:r>
              <a:rPr lang="en-US" sz="2000" b="0" dirty="0">
                <a:solidFill>
                  <a:schemeClr val="tx1"/>
                </a:solidFill>
                <a:latin typeface="+mj-lt"/>
              </a:rPr>
              <a:t>consumer(s)</a:t>
            </a:r>
          </a:p>
          <a:p>
            <a:pPr>
              <a:lnSpc>
                <a:spcPct val="100000"/>
              </a:lnSpc>
              <a:spcBef>
                <a:spcPct val="0"/>
              </a:spcBef>
            </a:pPr>
            <a:r>
              <a:rPr lang="en-US" sz="2000" b="0" dirty="0" err="1">
                <a:latin typeface="+mj-lt"/>
              </a:rPr>
              <a:t>dequeue</a:t>
            </a:r>
            <a:endParaRPr lang="en-US" sz="2000" b="0" dirty="0">
              <a:solidFill>
                <a:schemeClr val="tx1"/>
              </a:solidFill>
              <a:latin typeface="+mj-lt"/>
            </a:endParaRPr>
          </a:p>
        </p:txBody>
      </p:sp>
      <p:sp>
        <p:nvSpPr>
          <p:cNvPr id="39" name="Oval 38"/>
          <p:cNvSpPr/>
          <p:nvPr/>
        </p:nvSpPr>
        <p:spPr bwMode="auto">
          <a:xfrm>
            <a:off x="1019937" y="1981200"/>
            <a:ext cx="732663" cy="914400"/>
          </a:xfrm>
          <a:prstGeom prst="ellipse">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0" name="Rectangle 39"/>
          <p:cNvSpPr/>
          <p:nvPr/>
        </p:nvSpPr>
        <p:spPr bwMode="auto">
          <a:xfrm>
            <a:off x="1195091" y="21456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2" name="Rectangle 41"/>
          <p:cNvSpPr/>
          <p:nvPr/>
        </p:nvSpPr>
        <p:spPr bwMode="auto">
          <a:xfrm>
            <a:off x="1195091" y="22980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3" name="Rectangle 42"/>
          <p:cNvSpPr/>
          <p:nvPr/>
        </p:nvSpPr>
        <p:spPr bwMode="auto">
          <a:xfrm>
            <a:off x="1195091" y="24504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4" name="Rectangle 43"/>
          <p:cNvSpPr/>
          <p:nvPr/>
        </p:nvSpPr>
        <p:spPr bwMode="auto">
          <a:xfrm>
            <a:off x="1195091" y="26028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7" name="Oval 46"/>
          <p:cNvSpPr/>
          <p:nvPr/>
        </p:nvSpPr>
        <p:spPr bwMode="auto">
          <a:xfrm>
            <a:off x="1858137" y="1981200"/>
            <a:ext cx="732663" cy="914400"/>
          </a:xfrm>
          <a:prstGeom prst="ellipse">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8" name="Rectangle 47"/>
          <p:cNvSpPr/>
          <p:nvPr/>
        </p:nvSpPr>
        <p:spPr bwMode="auto">
          <a:xfrm>
            <a:off x="2033291" y="21456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49" name="Rectangle 48"/>
          <p:cNvSpPr/>
          <p:nvPr/>
        </p:nvSpPr>
        <p:spPr bwMode="auto">
          <a:xfrm>
            <a:off x="2033291" y="22980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0" name="Rectangle 49"/>
          <p:cNvSpPr/>
          <p:nvPr/>
        </p:nvSpPr>
        <p:spPr bwMode="auto">
          <a:xfrm>
            <a:off x="2033291" y="24504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1" name="Rectangle 50"/>
          <p:cNvSpPr/>
          <p:nvPr/>
        </p:nvSpPr>
        <p:spPr bwMode="auto">
          <a:xfrm>
            <a:off x="2033291" y="26028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2" name="Oval 51"/>
          <p:cNvSpPr/>
          <p:nvPr/>
        </p:nvSpPr>
        <p:spPr bwMode="auto">
          <a:xfrm>
            <a:off x="6049137" y="2057400"/>
            <a:ext cx="732663" cy="914400"/>
          </a:xfrm>
          <a:prstGeom prst="ellipse">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3" name="Rectangle 52"/>
          <p:cNvSpPr/>
          <p:nvPr/>
        </p:nvSpPr>
        <p:spPr bwMode="auto">
          <a:xfrm>
            <a:off x="6224291" y="22218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4" name="Rectangle 53"/>
          <p:cNvSpPr/>
          <p:nvPr/>
        </p:nvSpPr>
        <p:spPr bwMode="auto">
          <a:xfrm>
            <a:off x="6224291" y="23742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5" name="Rectangle 54"/>
          <p:cNvSpPr/>
          <p:nvPr/>
        </p:nvSpPr>
        <p:spPr bwMode="auto">
          <a:xfrm>
            <a:off x="6224291" y="25266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6" name="Rectangle 55"/>
          <p:cNvSpPr/>
          <p:nvPr/>
        </p:nvSpPr>
        <p:spPr bwMode="auto">
          <a:xfrm>
            <a:off x="6224291" y="26790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7" name="Oval 56"/>
          <p:cNvSpPr/>
          <p:nvPr/>
        </p:nvSpPr>
        <p:spPr bwMode="auto">
          <a:xfrm>
            <a:off x="6887337" y="2057400"/>
            <a:ext cx="732663" cy="914400"/>
          </a:xfrm>
          <a:prstGeom prst="ellipse">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8" name="Rectangle 57"/>
          <p:cNvSpPr/>
          <p:nvPr/>
        </p:nvSpPr>
        <p:spPr bwMode="auto">
          <a:xfrm>
            <a:off x="7062491" y="22218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59" name="Rectangle 58"/>
          <p:cNvSpPr/>
          <p:nvPr/>
        </p:nvSpPr>
        <p:spPr bwMode="auto">
          <a:xfrm>
            <a:off x="7062491" y="23742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0" name="Rectangle 59"/>
          <p:cNvSpPr/>
          <p:nvPr/>
        </p:nvSpPr>
        <p:spPr bwMode="auto">
          <a:xfrm>
            <a:off x="7062491" y="25266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1" name="Rectangle 60"/>
          <p:cNvSpPr/>
          <p:nvPr/>
        </p:nvSpPr>
        <p:spPr bwMode="auto">
          <a:xfrm>
            <a:off x="7062491" y="26790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2" name="Oval 61"/>
          <p:cNvSpPr/>
          <p:nvPr/>
        </p:nvSpPr>
        <p:spPr bwMode="auto">
          <a:xfrm>
            <a:off x="7725537" y="1981200"/>
            <a:ext cx="732663" cy="914400"/>
          </a:xfrm>
          <a:prstGeom prst="ellipse">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3" name="Rectangle 62"/>
          <p:cNvSpPr/>
          <p:nvPr/>
        </p:nvSpPr>
        <p:spPr bwMode="auto">
          <a:xfrm>
            <a:off x="7900691" y="21456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4" name="Rectangle 63"/>
          <p:cNvSpPr/>
          <p:nvPr/>
        </p:nvSpPr>
        <p:spPr bwMode="auto">
          <a:xfrm>
            <a:off x="7900691" y="22980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5" name="Rectangle 64"/>
          <p:cNvSpPr/>
          <p:nvPr/>
        </p:nvSpPr>
        <p:spPr bwMode="auto">
          <a:xfrm>
            <a:off x="7900691" y="24504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6" name="Rectangle 65"/>
          <p:cNvSpPr/>
          <p:nvPr/>
        </p:nvSpPr>
        <p:spPr bwMode="auto">
          <a:xfrm>
            <a:off x="7900691" y="2602826"/>
            <a:ext cx="338152" cy="8312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cxnSp>
        <p:nvCxnSpPr>
          <p:cNvPr id="73" name="Straight Arrow Connector 72"/>
          <p:cNvCxnSpPr/>
          <p:nvPr/>
        </p:nvCxnSpPr>
        <p:spPr bwMode="auto">
          <a:xfrm flipV="1">
            <a:off x="2590800" y="1828800"/>
            <a:ext cx="762000" cy="228600"/>
          </a:xfrm>
          <a:prstGeom prst="straightConnector1">
            <a:avLst/>
          </a:prstGeom>
          <a:solidFill>
            <a:schemeClr val="accent1"/>
          </a:solidFill>
          <a:ln w="60325" cap="flat" cmpd="sng" algn="ctr">
            <a:solidFill>
              <a:schemeClr val="tx1"/>
            </a:solidFill>
            <a:prstDash val="sysDot"/>
            <a:round/>
            <a:headEnd type="none" w="med" len="med"/>
            <a:tailEnd type="arrow"/>
          </a:ln>
          <a:effectLst/>
        </p:spPr>
      </p:cxnSp>
      <p:cxnSp>
        <p:nvCxnSpPr>
          <p:cNvPr id="76" name="Straight Arrow Connector 75"/>
          <p:cNvCxnSpPr/>
          <p:nvPr/>
        </p:nvCxnSpPr>
        <p:spPr bwMode="auto">
          <a:xfrm>
            <a:off x="6172200" y="1752600"/>
            <a:ext cx="685800" cy="304800"/>
          </a:xfrm>
          <a:prstGeom prst="straightConnector1">
            <a:avLst/>
          </a:prstGeom>
          <a:solidFill>
            <a:schemeClr val="accent1"/>
          </a:solidFill>
          <a:ln w="60325" cap="flat" cmpd="sng" algn="ctr">
            <a:solidFill>
              <a:schemeClr val="tx1"/>
            </a:solidFill>
            <a:prstDash val="sysDot"/>
            <a:round/>
            <a:headEnd type="none" w="med" len="med"/>
            <a:tailEnd type="arrow"/>
          </a:ln>
          <a:effectLst/>
        </p:spPr>
      </p:cxn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attempt 1</a:t>
            </a:r>
          </a:p>
        </p:txBody>
      </p:sp>
      <p:sp>
        <p:nvSpPr>
          <p:cNvPr id="5" name="Slide Number Placeholder 4"/>
          <p:cNvSpPr>
            <a:spLocks noGrp="1"/>
          </p:cNvSpPr>
          <p:nvPr>
            <p:ph type="sldNum" sz="quarter" idx="11"/>
          </p:nvPr>
        </p:nvSpPr>
        <p:spPr/>
        <p:txBody>
          <a:bodyPr/>
          <a:lstStyle/>
          <a:p>
            <a:fld id="{3B048AC8-D41E-4C7B-8EE3-A52489AA1F05}" type="slidenum">
              <a:rPr lang="en-US" smtClean="0"/>
              <a:pPr/>
              <a:t>3</a:t>
            </a:fld>
            <a:endParaRPr lang="en-US"/>
          </a:p>
        </p:txBody>
      </p:sp>
      <p:sp>
        <p:nvSpPr>
          <p:cNvPr id="7" name="Rectangle 2"/>
          <p:cNvSpPr txBox="1">
            <a:spLocks noChangeArrowheads="1"/>
          </p:cNvSpPr>
          <p:nvPr>
            <p:custDataLst>
              <p:tags r:id="rId1"/>
            </p:custDataLst>
          </p:nvPr>
        </p:nvSpPr>
        <p:spPr bwMode="auto">
          <a:xfrm>
            <a:off x="685800" y="1447800"/>
            <a:ext cx="8001000" cy="4876800"/>
          </a:xfrm>
          <a:prstGeom prst="rect">
            <a:avLst/>
          </a:prstGeom>
          <a:solidFill>
            <a:srgbClr val="FFFF99"/>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kumimoji="0" lang="en-US" sz="2000" b="1" i="0" u="none" strike="noStrike" kern="0" cap="none" spc="0" normalizeH="0" baseline="0" noProof="0" dirty="0">
                <a:ln>
                  <a:noFill/>
                </a:ln>
                <a:solidFill>
                  <a:schemeClr val="accent2"/>
                </a:solidFill>
                <a:effectLst/>
                <a:uLnTx/>
                <a:uFillTx/>
                <a:latin typeface="Courier New" pitchFamily="49" charset="0"/>
                <a:ea typeface="+mn-ea"/>
                <a:cs typeface="+mn-cs"/>
              </a:rPr>
              <a:t>class</a:t>
            </a:r>
            <a:r>
              <a:rPr kumimoji="0" lang="en-US" sz="2000" b="1" i="0" u="none" strike="noStrike" kern="0" cap="none" spc="0" normalizeH="0" baseline="0" noProof="0" dirty="0">
                <a:ln>
                  <a:noFill/>
                </a:ln>
                <a:solidFill>
                  <a:schemeClr val="tx1"/>
                </a:solidFill>
                <a:effectLst/>
                <a:uLnTx/>
                <a:uFillTx/>
                <a:latin typeface="Courier New" pitchFamily="49" charset="0"/>
                <a:ea typeface="+mn-ea"/>
                <a:cs typeface="+mn-cs"/>
              </a:rPr>
              <a:t> </a:t>
            </a:r>
            <a:r>
              <a:rPr kumimoji="0" lang="en-US" sz="2000" b="1" i="0" u="none" strike="noStrike" kern="0" cap="none" spc="0" normalizeH="0" baseline="0" noProof="0" dirty="0">
                <a:ln>
                  <a:noFill/>
                </a:ln>
                <a:solidFill>
                  <a:srgbClr val="119F33"/>
                </a:solidFill>
                <a:effectLst/>
                <a:uLnTx/>
                <a:uFillTx/>
                <a:latin typeface="Courier New" pitchFamily="49" charset="0"/>
                <a:ea typeface="+mn-ea"/>
                <a:cs typeface="+mn-cs"/>
              </a:rPr>
              <a:t>Buffer</a:t>
            </a:r>
            <a:r>
              <a:rPr lang="en-US" sz="2000" kern="0" dirty="0">
                <a:latin typeface="Courier New" pitchFamily="49" charset="0"/>
              </a:rPr>
              <a:t>&lt;</a:t>
            </a:r>
            <a:r>
              <a:rPr lang="en-US" sz="2000" kern="0" dirty="0">
                <a:solidFill>
                  <a:srgbClr val="119F33"/>
                </a:solidFill>
                <a:latin typeface="Courier New" pitchFamily="49" charset="0"/>
              </a:rPr>
              <a:t>E</a:t>
            </a:r>
            <a:r>
              <a:rPr lang="en-US" sz="2000" kern="0" dirty="0">
                <a:latin typeface="Courier New" pitchFamily="49" charset="0"/>
              </a:rPr>
              <a:t>&gt; </a:t>
            </a:r>
            <a:r>
              <a:rPr kumimoji="0" lang="en-US" sz="2000" b="1" i="0" u="none" strike="noStrike" kern="0" cap="none" spc="0" normalizeH="0" baseline="0" noProof="0" dirty="0">
                <a:ln>
                  <a:noFill/>
                </a:ln>
                <a:solidFill>
                  <a:schemeClr val="tx1"/>
                </a:solidFill>
                <a:effectLst/>
                <a:uLnTx/>
                <a:uFillTx/>
                <a:latin typeface="Courier New" pitchFamily="49" charset="0"/>
                <a:ea typeface="+mn-ea"/>
                <a:cs typeface="+mn-cs"/>
              </a:rPr>
              <a:t>{</a:t>
            </a:r>
          </a:p>
          <a:p>
            <a:pPr marL="342900" lvl="0" indent="-342900">
              <a:lnSpc>
                <a:spcPts val="1900"/>
              </a:lnSpc>
              <a:spcBef>
                <a:spcPct val="20000"/>
              </a:spcBef>
              <a:defRPr/>
            </a:pPr>
            <a:r>
              <a:rPr lang="en-US" sz="2000" kern="0" dirty="0">
                <a:latin typeface="Courier New" pitchFamily="49" charset="0"/>
              </a:rPr>
              <a:t>  E[] </a:t>
            </a:r>
            <a:r>
              <a:rPr lang="en-US" sz="2000" kern="0" dirty="0">
                <a:solidFill>
                  <a:srgbClr val="119F33"/>
                </a:solidFill>
                <a:latin typeface="Courier New" pitchFamily="49" charset="0"/>
              </a:rPr>
              <a:t>array</a:t>
            </a:r>
            <a:r>
              <a:rPr lang="en-US" sz="2000" kern="0" dirty="0">
                <a:latin typeface="Courier New" pitchFamily="49" charset="0"/>
              </a:rPr>
              <a:t> = (E[])</a:t>
            </a:r>
            <a:r>
              <a:rPr lang="en-US" sz="2000" kern="0" dirty="0">
                <a:solidFill>
                  <a:schemeClr val="accent2"/>
                </a:solidFill>
                <a:latin typeface="Courier New" pitchFamily="49" charset="0"/>
              </a:rPr>
              <a:t>new</a:t>
            </a:r>
            <a:r>
              <a:rPr lang="en-US" sz="2000" kern="0" dirty="0">
                <a:latin typeface="Courier New" pitchFamily="49" charset="0"/>
              </a:rPr>
              <a:t> Object[SIZE];</a:t>
            </a:r>
          </a:p>
          <a:p>
            <a:pPr marL="342900" lvl="0" indent="-342900">
              <a:lnSpc>
                <a:spcPts val="1900"/>
              </a:lnSpc>
              <a:spcBef>
                <a:spcPct val="20000"/>
              </a:spcBef>
              <a:defRPr/>
            </a:pPr>
            <a:r>
              <a:rPr kumimoji="0" lang="en-US" sz="2000" b="1" i="0" u="none" strike="noStrike" kern="0" cap="none" spc="0" normalizeH="0" baseline="0" noProof="0" dirty="0">
                <a:ln>
                  <a:noFill/>
                </a:ln>
                <a:solidFill>
                  <a:schemeClr val="tx1"/>
                </a:solidFill>
                <a:effectLst/>
                <a:uLnTx/>
                <a:uFillTx/>
                <a:latin typeface="Courier New" pitchFamily="49" charset="0"/>
                <a:ea typeface="+mn-ea"/>
                <a:cs typeface="+mn-cs"/>
              </a:rPr>
              <a:t>  … </a:t>
            </a:r>
            <a:r>
              <a:rPr kumimoji="0" lang="en-US" sz="2000" b="1" i="0" u="none" strike="noStrike" kern="0" cap="none" spc="0" normalizeH="0" baseline="0" noProof="0" dirty="0">
                <a:ln>
                  <a:noFill/>
                </a:ln>
                <a:solidFill>
                  <a:srgbClr val="7030A0"/>
                </a:solidFill>
                <a:effectLst/>
                <a:uLnTx/>
                <a:uFillTx/>
                <a:latin typeface="Courier New" pitchFamily="49" charset="0"/>
                <a:ea typeface="+mn-ea"/>
                <a:cs typeface="+mn-cs"/>
              </a:rPr>
              <a:t>// front, back fields, </a:t>
            </a:r>
            <a:r>
              <a:rPr kumimoji="0" lang="en-US" sz="2000" b="1" i="0" u="none" strike="noStrike" kern="0" cap="none" spc="0" normalizeH="0" baseline="0" noProof="0" dirty="0" err="1">
                <a:ln>
                  <a:noFill/>
                </a:ln>
                <a:solidFill>
                  <a:srgbClr val="7030A0"/>
                </a:solidFill>
                <a:effectLst/>
                <a:uLnTx/>
                <a:uFillTx/>
                <a:latin typeface="Courier New" pitchFamily="49" charset="0"/>
                <a:ea typeface="+mn-ea"/>
                <a:cs typeface="+mn-cs"/>
              </a:rPr>
              <a:t>isEmpty</a:t>
            </a:r>
            <a:r>
              <a:rPr kumimoji="0" lang="en-US" sz="2000" b="1" i="0" u="none" strike="noStrike" kern="0" cap="none" spc="0" normalizeH="0" baseline="0" noProof="0" dirty="0">
                <a:ln>
                  <a:noFill/>
                </a:ln>
                <a:solidFill>
                  <a:srgbClr val="7030A0"/>
                </a:solidFill>
                <a:effectLst/>
                <a:uLnTx/>
                <a:uFillTx/>
                <a:latin typeface="Courier New" pitchFamily="49" charset="0"/>
                <a:ea typeface="+mn-ea"/>
                <a:cs typeface="+mn-cs"/>
              </a:rPr>
              <a:t>,</a:t>
            </a:r>
            <a:r>
              <a:rPr kumimoji="0" lang="en-US" sz="2000" b="1" i="0" u="none" strike="noStrike" kern="0" cap="none" spc="0" normalizeH="0" noProof="0" dirty="0">
                <a:ln>
                  <a:noFill/>
                </a:ln>
                <a:solidFill>
                  <a:srgbClr val="7030A0"/>
                </a:solidFill>
                <a:effectLst/>
                <a:uLnTx/>
                <a:uFillTx/>
                <a:latin typeface="Courier New" pitchFamily="49" charset="0"/>
                <a:ea typeface="+mn-ea"/>
                <a:cs typeface="+mn-cs"/>
              </a:rPr>
              <a:t> </a:t>
            </a:r>
            <a:r>
              <a:rPr kumimoji="0" lang="en-US" sz="2000" b="1" i="0" u="none" strike="noStrike" kern="0" cap="none" spc="0" normalizeH="0" noProof="0" dirty="0" err="1">
                <a:ln>
                  <a:noFill/>
                </a:ln>
                <a:solidFill>
                  <a:srgbClr val="7030A0"/>
                </a:solidFill>
                <a:effectLst/>
                <a:uLnTx/>
                <a:uFillTx/>
                <a:latin typeface="Courier New" pitchFamily="49" charset="0"/>
                <a:ea typeface="+mn-ea"/>
                <a:cs typeface="+mn-cs"/>
              </a:rPr>
              <a:t>isFull</a:t>
            </a:r>
            <a:r>
              <a:rPr kumimoji="0" lang="en-US" sz="2000" b="1" i="0" u="none" strike="noStrike" kern="0" cap="none" spc="0" normalizeH="0" noProof="0" dirty="0">
                <a:ln>
                  <a:noFill/>
                </a:ln>
                <a:solidFill>
                  <a:srgbClr val="7030A0"/>
                </a:solidFill>
                <a:effectLst/>
                <a:uLnTx/>
                <a:uFillTx/>
                <a:latin typeface="Courier New" pitchFamily="49" charset="0"/>
                <a:ea typeface="+mn-ea"/>
                <a:cs typeface="+mn-cs"/>
              </a:rPr>
              <a:t> methods</a:t>
            </a:r>
            <a:endParaRPr kumimoji="0" lang="en-US" sz="2000" b="1" i="0" u="none" strike="noStrike" kern="0" cap="none" spc="0" normalizeH="0" baseline="0" noProof="0" dirty="0">
              <a:ln>
                <a:noFill/>
              </a:ln>
              <a:solidFill>
                <a:srgbClr val="7030A0"/>
              </a:solidFill>
              <a:effectLst/>
              <a:uLnTx/>
              <a:uFillTx/>
              <a:latin typeface="Courier New" pitchFamily="49" charset="0"/>
              <a:ea typeface="+mn-ea"/>
              <a:cs typeface="+mn-cs"/>
            </a:endParaRP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synchronized</a:t>
            </a:r>
            <a:r>
              <a:rPr lang="en-US" sz="2000" kern="0" dirty="0">
                <a:latin typeface="Courier New" pitchFamily="49" charset="0"/>
              </a:rPr>
              <a:t> void </a:t>
            </a:r>
            <a:r>
              <a:rPr lang="en-US" sz="2000" kern="0" dirty="0" err="1">
                <a:solidFill>
                  <a:srgbClr val="119F33"/>
                </a:solidFill>
                <a:latin typeface="Courier New" pitchFamily="49" charset="0"/>
              </a:rPr>
              <a:t>enqueue</a:t>
            </a:r>
            <a:r>
              <a:rPr lang="en-US" sz="2000" kern="0" dirty="0">
                <a:latin typeface="Courier New" pitchFamily="49" charset="0"/>
              </a:rPr>
              <a:t>(E </a:t>
            </a:r>
            <a:r>
              <a:rPr lang="en-US" sz="2000" kern="0" dirty="0" err="1">
                <a:solidFill>
                  <a:srgbClr val="119F33"/>
                </a:solidFill>
                <a:latin typeface="Courier New" pitchFamily="49" charset="0"/>
              </a:rPr>
              <a:t>elt</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a:solidFill>
                  <a:srgbClr val="FF0000"/>
                </a:solidFill>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else</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 </a:t>
            </a:r>
            <a:r>
              <a:rPr lang="en-US" sz="2000" i="1" kern="0" dirty="0">
                <a:latin typeface="Courier New" pitchFamily="49" charset="0"/>
              </a:rPr>
              <a:t>add to array and adjust back …</a:t>
            </a: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synchronized</a:t>
            </a:r>
            <a:r>
              <a:rPr lang="en-US" sz="2000" kern="0" dirty="0">
                <a:latin typeface="Courier New" pitchFamily="49" charset="0"/>
              </a:rPr>
              <a:t> E </a:t>
            </a:r>
            <a:r>
              <a:rPr lang="en-US" sz="2000" kern="0" dirty="0" err="1">
                <a:solidFill>
                  <a:srgbClr val="119F33"/>
                </a:solidFill>
                <a:latin typeface="Courier New" pitchFamily="49" charset="0"/>
              </a:rPr>
              <a:t>dequeue</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kern="0" dirty="0" err="1">
                <a:latin typeface="Courier New" pitchFamily="49" charset="0"/>
              </a:rPr>
              <a:t>isEmpty</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a:solidFill>
                  <a:srgbClr val="FF0000"/>
                </a:solidFill>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else</a:t>
            </a:r>
            <a:endParaRPr lang="en-US" sz="2000" kern="0" dirty="0">
              <a:latin typeface="Courier New" pitchFamily="49" charset="0"/>
            </a:endParaRPr>
          </a:p>
          <a:p>
            <a:pPr marL="342900" lvl="0" indent="-342900">
              <a:lnSpc>
                <a:spcPts val="1900"/>
              </a:lnSpc>
              <a:spcBef>
                <a:spcPct val="20000"/>
              </a:spcBef>
              <a:defRPr/>
            </a:pPr>
            <a:r>
              <a:rPr lang="en-US" sz="2000" kern="0" dirty="0">
                <a:latin typeface="Courier New" pitchFamily="49" charset="0"/>
              </a:rPr>
              <a:t>      … </a:t>
            </a:r>
            <a:r>
              <a:rPr lang="en-US" sz="2000" i="1" kern="0" dirty="0">
                <a:latin typeface="Courier New" pitchFamily="49" charset="0"/>
              </a:rPr>
              <a:t>take from array and adjust front …</a:t>
            </a: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Waiting</a:t>
            </a:r>
          </a:p>
        </p:txBody>
      </p:sp>
      <p:sp>
        <p:nvSpPr>
          <p:cNvPr id="3" name="Content Placeholder 2"/>
          <p:cNvSpPr>
            <a:spLocks noGrp="1"/>
          </p:cNvSpPr>
          <p:nvPr>
            <p:ph idx="1"/>
          </p:nvPr>
        </p:nvSpPr>
        <p:spPr>
          <a:xfrm>
            <a:off x="685800" y="1447800"/>
            <a:ext cx="7924800" cy="2286000"/>
          </a:xfrm>
        </p:spPr>
        <p:txBody>
          <a:bodyPr/>
          <a:lstStyle/>
          <a:p>
            <a:r>
              <a:rPr lang="en-US" b="1" dirty="0" err="1">
                <a:latin typeface="Courier New" pitchFamily="49" charset="0"/>
                <a:cs typeface="Courier New" pitchFamily="49" charset="0"/>
              </a:rPr>
              <a:t>enqueue</a:t>
            </a:r>
            <a:r>
              <a:rPr lang="en-US" dirty="0"/>
              <a:t> to a full buffer should </a:t>
            </a:r>
            <a:r>
              <a:rPr lang="en-US" i="1" dirty="0"/>
              <a:t>not</a:t>
            </a:r>
            <a:r>
              <a:rPr lang="en-US" dirty="0"/>
              <a:t> raise an exception</a:t>
            </a:r>
          </a:p>
          <a:p>
            <a:pPr lvl="1"/>
            <a:r>
              <a:rPr lang="en-US" dirty="0"/>
              <a:t>Wait until there is room</a:t>
            </a:r>
          </a:p>
          <a:p>
            <a:pPr lvl="1"/>
            <a:endParaRPr lang="en-US" sz="1000" dirty="0"/>
          </a:p>
          <a:p>
            <a:r>
              <a:rPr lang="en-US" b="1" dirty="0" err="1">
                <a:latin typeface="Courier New" pitchFamily="49" charset="0"/>
                <a:cs typeface="Courier New" pitchFamily="49" charset="0"/>
              </a:rPr>
              <a:t>dequeue</a:t>
            </a:r>
            <a:r>
              <a:rPr lang="en-US" dirty="0"/>
              <a:t> from an empty buffer should </a:t>
            </a:r>
            <a:r>
              <a:rPr lang="en-US" i="1" dirty="0"/>
              <a:t>not</a:t>
            </a:r>
            <a:r>
              <a:rPr lang="en-US" dirty="0"/>
              <a:t> raise an exception</a:t>
            </a:r>
          </a:p>
          <a:p>
            <a:pPr lvl="1"/>
            <a:r>
              <a:rPr lang="en-US" dirty="0"/>
              <a:t>Wait until there is data</a:t>
            </a:r>
          </a:p>
          <a:p>
            <a:pPr lvl="1"/>
            <a:endParaRPr lang="en-US" sz="1000" dirty="0"/>
          </a:p>
          <a:p>
            <a:pPr>
              <a:buNone/>
            </a:pPr>
            <a:r>
              <a:rPr lang="en-US" dirty="0">
                <a:solidFill>
                  <a:srgbClr val="FF0000"/>
                </a:solidFill>
              </a:rPr>
              <a:t>Bad</a:t>
            </a:r>
            <a:r>
              <a:rPr lang="en-US" dirty="0"/>
              <a:t> </a:t>
            </a:r>
            <a:r>
              <a:rPr lang="en-US" dirty="0">
                <a:solidFill>
                  <a:srgbClr val="FF0000"/>
                </a:solidFill>
              </a:rPr>
              <a:t>approach</a:t>
            </a:r>
            <a:r>
              <a:rPr lang="en-US" dirty="0"/>
              <a:t> is to </a:t>
            </a:r>
            <a:r>
              <a:rPr lang="en-US" i="1" dirty="0"/>
              <a:t>spin</a:t>
            </a:r>
            <a:r>
              <a:rPr lang="en-US" dirty="0"/>
              <a:t> (wasted work and keep grabbing lock)</a:t>
            </a:r>
          </a:p>
          <a:p>
            <a:endParaRPr lang="en-US" dirty="0"/>
          </a:p>
        </p:txBody>
      </p:sp>
      <p:sp>
        <p:nvSpPr>
          <p:cNvPr id="5" name="Slide Number Placeholder 4"/>
          <p:cNvSpPr>
            <a:spLocks noGrp="1"/>
          </p:cNvSpPr>
          <p:nvPr>
            <p:ph type="sldNum" sz="quarter" idx="11"/>
          </p:nvPr>
        </p:nvSpPr>
        <p:spPr/>
        <p:txBody>
          <a:bodyPr/>
          <a:lstStyle/>
          <a:p>
            <a:fld id="{3B048AC8-D41E-4C7B-8EE3-A52489AA1F05}" type="slidenum">
              <a:rPr lang="en-US" smtClean="0"/>
              <a:pPr/>
              <a:t>4</a:t>
            </a:fld>
            <a:endParaRPr lang="en-US"/>
          </a:p>
        </p:txBody>
      </p:sp>
      <p:sp>
        <p:nvSpPr>
          <p:cNvPr id="7" name="Rectangle 2"/>
          <p:cNvSpPr txBox="1">
            <a:spLocks noChangeArrowheads="1"/>
          </p:cNvSpPr>
          <p:nvPr>
            <p:custDataLst>
              <p:tags r:id="rId1"/>
            </p:custDataLst>
          </p:nvPr>
        </p:nvSpPr>
        <p:spPr bwMode="auto">
          <a:xfrm>
            <a:off x="1600200" y="3810000"/>
            <a:ext cx="6096000" cy="2514600"/>
          </a:xfrm>
          <a:prstGeom prst="rect">
            <a:avLst/>
          </a:prstGeom>
          <a:solidFill>
            <a:srgbClr val="FFFF99"/>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latin typeface="Courier New" pitchFamily="49" charset="0"/>
              </a:rPr>
              <a:t>void </a:t>
            </a:r>
            <a:r>
              <a:rPr lang="en-US" sz="2000" kern="0" dirty="0" err="1">
                <a:solidFill>
                  <a:srgbClr val="119F33"/>
                </a:solidFill>
                <a:latin typeface="Courier New" pitchFamily="49" charset="0"/>
              </a:rPr>
              <a:t>enqueue</a:t>
            </a:r>
            <a:r>
              <a:rPr lang="en-US" sz="2000" kern="0" dirty="0">
                <a:latin typeface="Courier New" pitchFamily="49" charset="0"/>
              </a:rPr>
              <a:t>(E </a:t>
            </a:r>
            <a:r>
              <a:rPr lang="en-US" sz="2000" kern="0" dirty="0" err="1">
                <a:solidFill>
                  <a:srgbClr val="119F33"/>
                </a:solidFill>
                <a:latin typeface="Courier New" pitchFamily="49" charset="0"/>
              </a:rPr>
              <a:t>elt</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while</a:t>
            </a:r>
            <a:r>
              <a:rPr lang="en-US" sz="2000" kern="0" dirty="0">
                <a:latin typeface="Courier New" pitchFamily="49" charset="0"/>
              </a:rPr>
              <a:t>(true)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synchronized</a:t>
            </a:r>
            <a:r>
              <a:rPr lang="en-US" sz="2000" kern="0" dirty="0">
                <a:latin typeface="Courier New" pitchFamily="49" charset="0"/>
              </a:rPr>
              <a:t>(</a:t>
            </a:r>
            <a:r>
              <a:rPr lang="en-US" sz="2000" kern="0" dirty="0">
                <a:solidFill>
                  <a:schemeClr val="accent2"/>
                </a:solidFill>
                <a:latin typeface="Courier New" pitchFamily="49" charset="0"/>
              </a:rPr>
              <a:t>this</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if(</a:t>
            </a:r>
            <a:r>
              <a:rPr lang="en-US" sz="2000" kern="0" dirty="0" err="1">
                <a:latin typeface="Courier New" pitchFamily="49" charset="0"/>
              </a:rPr>
              <a:t>isFull</a:t>
            </a:r>
            <a:r>
              <a:rPr lang="en-US" sz="2000" kern="0" dirty="0">
                <a:latin typeface="Courier New" pitchFamily="49" charset="0"/>
              </a:rPr>
              <a:t>()) </a:t>
            </a:r>
            <a:r>
              <a:rPr lang="en-US" sz="2000" kern="0" dirty="0">
                <a:solidFill>
                  <a:schemeClr val="accent2"/>
                </a:solidFill>
                <a:latin typeface="Courier New" pitchFamily="49" charset="0"/>
              </a:rPr>
              <a:t>continue</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 </a:t>
            </a:r>
            <a:r>
              <a:rPr lang="en-US" sz="2000" i="1" kern="0" dirty="0">
                <a:latin typeface="Courier New" pitchFamily="49" charset="0"/>
              </a:rPr>
              <a:t>add to array and adjust back …</a:t>
            </a:r>
          </a:p>
          <a:p>
            <a:pPr marL="342900" lvl="0" indent="-342900">
              <a:lnSpc>
                <a:spcPts val="1900"/>
              </a:lnSpc>
              <a:spcBef>
                <a:spcPct val="20000"/>
              </a:spcBef>
              <a:defRPr/>
            </a:pPr>
            <a:r>
              <a:rPr lang="en-US" sz="2000" i="1" kern="0" dirty="0">
                <a:latin typeface="Courier New" pitchFamily="49" charset="0"/>
              </a:rPr>
              <a:t>      </a:t>
            </a:r>
            <a:r>
              <a:rPr lang="en-US" sz="2000" kern="0" dirty="0">
                <a:solidFill>
                  <a:schemeClr val="accent2"/>
                </a:solidFill>
                <a:latin typeface="Courier New" pitchFamily="49" charset="0"/>
              </a:rPr>
              <a:t>return</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a:t>
            </a:r>
          </a:p>
          <a:p>
            <a:pPr marL="342900" indent="-342900">
              <a:lnSpc>
                <a:spcPts val="1900"/>
              </a:lnSpc>
              <a:spcBef>
                <a:spcPct val="20000"/>
              </a:spcBef>
              <a:defRPr/>
            </a:pPr>
            <a:r>
              <a:rPr lang="en-US" sz="2000" kern="0" dirty="0">
                <a:solidFill>
                  <a:srgbClr val="7030A0"/>
                </a:solidFill>
                <a:latin typeface="Courier New" pitchFamily="49" charset="0"/>
              </a:rPr>
              <a:t>// </a:t>
            </a:r>
            <a:r>
              <a:rPr lang="en-US" sz="2000" kern="0" dirty="0" err="1">
                <a:solidFill>
                  <a:srgbClr val="7030A0"/>
                </a:solidFill>
                <a:latin typeface="Courier New" pitchFamily="49" charset="0"/>
              </a:rPr>
              <a:t>dequeue</a:t>
            </a:r>
            <a:r>
              <a:rPr lang="en-US" sz="2000" kern="0" dirty="0">
                <a:solidFill>
                  <a:srgbClr val="7030A0"/>
                </a:solidFill>
                <a:latin typeface="Courier New" pitchFamily="49" charset="0"/>
              </a:rPr>
              <a:t> similar</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want</a:t>
            </a:r>
          </a:p>
        </p:txBody>
      </p:sp>
      <p:sp>
        <p:nvSpPr>
          <p:cNvPr id="3" name="Content Placeholder 2"/>
          <p:cNvSpPr>
            <a:spLocks noGrp="1"/>
          </p:cNvSpPr>
          <p:nvPr>
            <p:ph idx="1"/>
          </p:nvPr>
        </p:nvSpPr>
        <p:spPr>
          <a:xfrm>
            <a:off x="685800" y="1600200"/>
            <a:ext cx="7924800" cy="4495800"/>
          </a:xfrm>
        </p:spPr>
        <p:txBody>
          <a:bodyPr/>
          <a:lstStyle/>
          <a:p>
            <a:r>
              <a:rPr lang="en-US" dirty="0"/>
              <a:t>Better would be for a thread to </a:t>
            </a:r>
            <a:r>
              <a:rPr lang="en-US" i="1" dirty="0"/>
              <a:t>wait</a:t>
            </a:r>
            <a:r>
              <a:rPr lang="en-US" dirty="0"/>
              <a:t>  until it can proceed </a:t>
            </a:r>
          </a:p>
          <a:p>
            <a:pPr lvl="1"/>
            <a:r>
              <a:rPr lang="en-US" dirty="0"/>
              <a:t>Be </a:t>
            </a:r>
            <a:r>
              <a:rPr lang="en-US" i="1" dirty="0"/>
              <a:t>notified</a:t>
            </a:r>
            <a:r>
              <a:rPr lang="en-US" dirty="0"/>
              <a:t>  when it should try again</a:t>
            </a:r>
          </a:p>
          <a:p>
            <a:pPr lvl="1"/>
            <a:r>
              <a:rPr lang="en-US" dirty="0"/>
              <a:t>In the meantime, let other threads run</a:t>
            </a:r>
          </a:p>
          <a:p>
            <a:pPr lvl="1"/>
            <a:endParaRPr lang="en-US" sz="1800" dirty="0"/>
          </a:p>
          <a:p>
            <a:r>
              <a:rPr lang="en-US" dirty="0"/>
              <a:t>Like locks, not something you can implement on your own</a:t>
            </a:r>
          </a:p>
          <a:p>
            <a:pPr lvl="1"/>
            <a:r>
              <a:rPr lang="en-US" dirty="0"/>
              <a:t>Language or library gives it to you, typically implemented with operating-system support</a:t>
            </a:r>
          </a:p>
          <a:p>
            <a:pPr lvl="1"/>
            <a:endParaRPr lang="en-US" sz="1800" dirty="0"/>
          </a:p>
          <a:p>
            <a:r>
              <a:rPr lang="en-US" dirty="0"/>
              <a:t>An ADT that supports this: </a:t>
            </a:r>
            <a:r>
              <a:rPr lang="en-US" dirty="0">
                <a:solidFill>
                  <a:schemeClr val="accent2"/>
                </a:solidFill>
              </a:rPr>
              <a:t>condition variable</a:t>
            </a:r>
          </a:p>
          <a:p>
            <a:pPr lvl="1"/>
            <a:r>
              <a:rPr lang="en-US" dirty="0"/>
              <a:t>Informs waiter(s) when the </a:t>
            </a:r>
            <a:r>
              <a:rPr lang="en-US" i="1" dirty="0"/>
              <a:t>condition</a:t>
            </a:r>
            <a:r>
              <a:rPr lang="en-US" dirty="0"/>
              <a:t> that causes it/them to wait has </a:t>
            </a:r>
            <a:r>
              <a:rPr lang="en-US" i="1" dirty="0"/>
              <a:t>varied</a:t>
            </a:r>
          </a:p>
          <a:p>
            <a:pPr lvl="1"/>
            <a:endParaRPr lang="en-US" sz="1800" i="1" dirty="0"/>
          </a:p>
          <a:p>
            <a:r>
              <a:rPr lang="en-US" dirty="0"/>
              <a:t>Terminology not completely standard; will mostly stick with Java</a:t>
            </a:r>
          </a:p>
        </p:txBody>
      </p:sp>
      <p:sp>
        <p:nvSpPr>
          <p:cNvPr id="5" name="Slide Number Placeholder 4"/>
          <p:cNvSpPr>
            <a:spLocks noGrp="1"/>
          </p:cNvSpPr>
          <p:nvPr>
            <p:ph type="sldNum" sz="quarter" idx="11"/>
          </p:nvPr>
        </p:nvSpPr>
        <p:spPr/>
        <p:txBody>
          <a:bodyPr/>
          <a:lstStyle/>
          <a:p>
            <a:fld id="{3B048AC8-D41E-4C7B-8EE3-A52489AA1F05}" type="slidenum">
              <a:rPr lang="en-US" smtClean="0"/>
              <a:pPr/>
              <a:t>5</a:t>
            </a:fld>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approach: </a:t>
            </a:r>
            <a:r>
              <a:rPr lang="en-US" b="1" dirty="0">
                <a:solidFill>
                  <a:schemeClr val="accent2"/>
                </a:solidFill>
              </a:rPr>
              <a:t>not</a:t>
            </a:r>
            <a:r>
              <a:rPr lang="en-US" dirty="0">
                <a:solidFill>
                  <a:schemeClr val="accent2"/>
                </a:solidFill>
              </a:rPr>
              <a:t> quite right</a:t>
            </a:r>
          </a:p>
        </p:txBody>
      </p:sp>
      <p:sp>
        <p:nvSpPr>
          <p:cNvPr id="5" name="Slide Number Placeholder 4"/>
          <p:cNvSpPr>
            <a:spLocks noGrp="1"/>
          </p:cNvSpPr>
          <p:nvPr>
            <p:ph type="sldNum" sz="quarter" idx="11"/>
          </p:nvPr>
        </p:nvSpPr>
        <p:spPr/>
        <p:txBody>
          <a:bodyPr/>
          <a:lstStyle/>
          <a:p>
            <a:fld id="{3B048AC8-D41E-4C7B-8EE3-A52489AA1F05}" type="slidenum">
              <a:rPr lang="en-US" smtClean="0"/>
              <a:pPr/>
              <a:t>6</a:t>
            </a:fld>
            <a:endParaRPr lang="en-US"/>
          </a:p>
        </p:txBody>
      </p:sp>
      <p:sp>
        <p:nvSpPr>
          <p:cNvPr id="7" name="Rectangle 2"/>
          <p:cNvSpPr txBox="1">
            <a:spLocks noChangeArrowheads="1"/>
          </p:cNvSpPr>
          <p:nvPr>
            <p:custDataLst>
              <p:tags r:id="rId1"/>
            </p:custDataLst>
          </p:nvPr>
        </p:nvSpPr>
        <p:spPr bwMode="auto">
          <a:xfrm>
            <a:off x="838200" y="1295400"/>
            <a:ext cx="7315200" cy="5181600"/>
          </a:xfrm>
          <a:prstGeom prst="rect">
            <a:avLst/>
          </a:prstGeom>
          <a:solidFill>
            <a:srgbClr val="FFFF99"/>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kumimoji="0" lang="en-US" sz="2000" b="1" i="0" u="none" strike="noStrike" kern="0" cap="none" spc="0" normalizeH="0" baseline="0" noProof="0" dirty="0">
                <a:ln>
                  <a:noFill/>
                </a:ln>
                <a:solidFill>
                  <a:schemeClr val="accent2"/>
                </a:solidFill>
                <a:effectLst/>
                <a:uLnTx/>
                <a:uFillTx/>
                <a:latin typeface="Courier New" pitchFamily="49" charset="0"/>
                <a:ea typeface="+mn-ea"/>
                <a:cs typeface="+mn-cs"/>
              </a:rPr>
              <a:t>class</a:t>
            </a:r>
            <a:r>
              <a:rPr kumimoji="0" lang="en-US" sz="2000" b="1" i="0" u="none" strike="noStrike" kern="0" cap="none" spc="0" normalizeH="0" baseline="0" noProof="0" dirty="0">
                <a:ln>
                  <a:noFill/>
                </a:ln>
                <a:solidFill>
                  <a:schemeClr val="tx1"/>
                </a:solidFill>
                <a:effectLst/>
                <a:uLnTx/>
                <a:uFillTx/>
                <a:latin typeface="Courier New" pitchFamily="49" charset="0"/>
                <a:ea typeface="+mn-ea"/>
                <a:cs typeface="+mn-cs"/>
              </a:rPr>
              <a:t> </a:t>
            </a:r>
            <a:r>
              <a:rPr kumimoji="0" lang="en-US" sz="2000" b="1" i="0" u="none" strike="noStrike" kern="0" cap="none" spc="0" normalizeH="0" baseline="0" noProof="0" dirty="0">
                <a:ln>
                  <a:noFill/>
                </a:ln>
                <a:solidFill>
                  <a:srgbClr val="119F33"/>
                </a:solidFill>
                <a:effectLst/>
                <a:uLnTx/>
                <a:uFillTx/>
                <a:latin typeface="Courier New" pitchFamily="49" charset="0"/>
                <a:ea typeface="+mn-ea"/>
                <a:cs typeface="+mn-cs"/>
              </a:rPr>
              <a:t>Buffer</a:t>
            </a:r>
            <a:r>
              <a:rPr lang="en-US" sz="2000" kern="0" dirty="0">
                <a:latin typeface="Courier New" pitchFamily="49" charset="0"/>
              </a:rPr>
              <a:t>&lt;</a:t>
            </a:r>
            <a:r>
              <a:rPr lang="en-US" sz="2000" kern="0" dirty="0">
                <a:solidFill>
                  <a:srgbClr val="119F33"/>
                </a:solidFill>
                <a:latin typeface="Courier New" pitchFamily="49" charset="0"/>
              </a:rPr>
              <a:t>E</a:t>
            </a:r>
            <a:r>
              <a:rPr lang="en-US" sz="2000" kern="0" dirty="0">
                <a:latin typeface="Courier New" pitchFamily="49" charset="0"/>
              </a:rPr>
              <a:t>&gt; </a:t>
            </a:r>
            <a:r>
              <a:rPr kumimoji="0" lang="en-US" sz="2000" b="1" i="0" u="none" strike="noStrike" kern="0" cap="none" spc="0" normalizeH="0" baseline="0" noProof="0" dirty="0">
                <a:ln>
                  <a:noFill/>
                </a:ln>
                <a:solidFill>
                  <a:schemeClr val="tx1"/>
                </a:solidFill>
                <a:effectLst/>
                <a:uLnTx/>
                <a:uFillTx/>
                <a:latin typeface="Courier New" pitchFamily="49" charset="0"/>
                <a:ea typeface="+mn-ea"/>
                <a:cs typeface="+mn-cs"/>
              </a:rPr>
              <a:t>{</a:t>
            </a:r>
          </a:p>
          <a:p>
            <a:pPr marL="342900" lvl="0" indent="-342900">
              <a:lnSpc>
                <a:spcPts val="1900"/>
              </a:lnSpc>
              <a:spcBef>
                <a:spcPct val="20000"/>
              </a:spcBef>
              <a:defRPr/>
            </a:pPr>
            <a:r>
              <a:rPr kumimoji="0" lang="en-US" sz="2000" b="1" i="0" u="none" strike="noStrike" kern="0" cap="none" spc="0" normalizeH="0" baseline="0" noProof="0" dirty="0">
                <a:ln>
                  <a:noFill/>
                </a:ln>
                <a:solidFill>
                  <a:schemeClr val="tx1"/>
                </a:solidFill>
                <a:effectLst/>
                <a:uLnTx/>
                <a:uFillTx/>
                <a:latin typeface="Courier New" pitchFamily="49" charset="0"/>
                <a:ea typeface="+mn-ea"/>
                <a:cs typeface="+mn-cs"/>
              </a:rPr>
              <a:t>  … </a:t>
            </a:r>
            <a:endParaRPr kumimoji="0" lang="en-US" sz="2000" b="1" i="0" u="none" strike="noStrike" kern="0" cap="none" spc="0" normalizeH="0" baseline="0" noProof="0" dirty="0">
              <a:ln>
                <a:noFill/>
              </a:ln>
              <a:solidFill>
                <a:srgbClr val="7030A0"/>
              </a:solidFill>
              <a:effectLst/>
              <a:uLnTx/>
              <a:uFillTx/>
              <a:latin typeface="Courier New" pitchFamily="49" charset="0"/>
              <a:ea typeface="+mn-ea"/>
              <a:cs typeface="+mn-cs"/>
            </a:endParaRP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synchronized</a:t>
            </a:r>
            <a:r>
              <a:rPr lang="en-US" sz="2000" kern="0" dirty="0">
                <a:latin typeface="Courier New" pitchFamily="49" charset="0"/>
              </a:rPr>
              <a:t> void </a:t>
            </a:r>
            <a:r>
              <a:rPr lang="en-US" sz="2000" kern="0" dirty="0" err="1">
                <a:solidFill>
                  <a:srgbClr val="119F33"/>
                </a:solidFill>
                <a:latin typeface="Courier New" pitchFamily="49" charset="0"/>
              </a:rPr>
              <a:t>enqueue</a:t>
            </a:r>
            <a:r>
              <a:rPr lang="en-US" sz="2000" kern="0" dirty="0">
                <a:latin typeface="Courier New" pitchFamily="49" charset="0"/>
              </a:rPr>
              <a:t>(E </a:t>
            </a:r>
            <a:r>
              <a:rPr lang="en-US" sz="2000" kern="0" dirty="0" err="1">
                <a:solidFill>
                  <a:srgbClr val="119F33"/>
                </a:solidFill>
                <a:latin typeface="Courier New" pitchFamily="49" charset="0"/>
              </a:rPr>
              <a:t>elt</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this.wait</a:t>
            </a:r>
            <a:r>
              <a:rPr lang="en-US" sz="2000" kern="0" dirty="0">
                <a:solidFill>
                  <a:srgbClr val="FF0000"/>
                </a:solidFill>
                <a:latin typeface="Courier New" pitchFamily="49" charset="0"/>
              </a:rPr>
              <a:t>(); </a:t>
            </a:r>
            <a:r>
              <a:rPr lang="en-US" sz="2000" kern="0" dirty="0">
                <a:solidFill>
                  <a:srgbClr val="7030A0"/>
                </a:solidFill>
                <a:latin typeface="Courier New" pitchFamily="49" charset="0"/>
              </a:rPr>
              <a:t>// releases lock and waits</a:t>
            </a:r>
          </a:p>
          <a:p>
            <a:pPr marL="342900" lvl="0" indent="-342900">
              <a:lnSpc>
                <a:spcPts val="1900"/>
              </a:lnSpc>
              <a:spcBef>
                <a:spcPct val="20000"/>
              </a:spcBef>
              <a:defRPr/>
            </a:pPr>
            <a:r>
              <a:rPr lang="en-US" sz="2000" kern="0" dirty="0">
                <a:latin typeface="Courier New" pitchFamily="49" charset="0"/>
              </a:rPr>
              <a:t>    </a:t>
            </a:r>
            <a:r>
              <a:rPr lang="en-US" sz="2000" i="1" kern="0" dirty="0">
                <a:latin typeface="Courier New" pitchFamily="49" charset="0"/>
              </a:rPr>
              <a:t>add to array and adjust back</a:t>
            </a:r>
          </a:p>
          <a:p>
            <a:pPr marL="342900" lvl="0" indent="-342900">
              <a:lnSpc>
                <a:spcPts val="1900"/>
              </a:lnSpc>
              <a:spcBef>
                <a:spcPct val="20000"/>
              </a:spcBef>
              <a:defRPr/>
            </a:pPr>
            <a:r>
              <a:rPr lang="en-US" sz="2000" i="1"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buffer was empty</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this.notify</a:t>
            </a:r>
            <a:r>
              <a:rPr lang="en-US" sz="2000" kern="0" dirty="0">
                <a:solidFill>
                  <a:srgbClr val="FF0000"/>
                </a:solidFill>
                <a:latin typeface="Courier New" pitchFamily="49" charset="0"/>
              </a:rPr>
              <a:t>();</a:t>
            </a:r>
            <a:r>
              <a:rPr lang="en-US" sz="2000" kern="0" dirty="0">
                <a:latin typeface="Courier New" pitchFamily="49" charset="0"/>
              </a:rPr>
              <a:t> </a:t>
            </a:r>
            <a:r>
              <a:rPr lang="en-US" sz="2000" kern="0" dirty="0">
                <a:solidFill>
                  <a:srgbClr val="7030A0"/>
                </a:solidFill>
                <a:latin typeface="Courier New" pitchFamily="49" charset="0"/>
              </a:rPr>
              <a:t>// wake somebody up</a:t>
            </a: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synchronized</a:t>
            </a:r>
            <a:r>
              <a:rPr lang="en-US" sz="2000" kern="0" dirty="0">
                <a:latin typeface="Courier New" pitchFamily="49" charset="0"/>
              </a:rPr>
              <a:t> E </a:t>
            </a:r>
            <a:r>
              <a:rPr lang="en-US" sz="2000" kern="0" dirty="0" err="1">
                <a:solidFill>
                  <a:srgbClr val="119F33"/>
                </a:solidFill>
                <a:latin typeface="Courier New" pitchFamily="49" charset="0"/>
              </a:rPr>
              <a:t>dequeue</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kern="0" dirty="0" err="1">
                <a:latin typeface="Courier New" pitchFamily="49" charset="0"/>
              </a:rPr>
              <a:t>isEmpty</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this.wait</a:t>
            </a:r>
            <a:r>
              <a:rPr lang="en-US" sz="2000" kern="0" dirty="0">
                <a:solidFill>
                  <a:srgbClr val="FF0000"/>
                </a:solidFill>
                <a:latin typeface="Courier New" pitchFamily="49" charset="0"/>
              </a:rPr>
              <a:t>(); </a:t>
            </a:r>
            <a:r>
              <a:rPr lang="en-US" sz="2000" kern="0" dirty="0">
                <a:solidFill>
                  <a:srgbClr val="7030A0"/>
                </a:solidFill>
                <a:latin typeface="Courier New" pitchFamily="49" charset="0"/>
              </a:rPr>
              <a:t>// releases lock and waits</a:t>
            </a:r>
            <a:endParaRPr lang="en-US" sz="2000" kern="0" dirty="0">
              <a:solidFill>
                <a:srgbClr val="FF0000"/>
              </a:solidFill>
              <a:latin typeface="Courier New" pitchFamily="49" charset="0"/>
            </a:endParaRPr>
          </a:p>
          <a:p>
            <a:pPr marL="342900" lvl="0" indent="-342900">
              <a:lnSpc>
                <a:spcPts val="1900"/>
              </a:lnSpc>
              <a:spcBef>
                <a:spcPct val="20000"/>
              </a:spcBef>
              <a:defRPr/>
            </a:pPr>
            <a:r>
              <a:rPr lang="en-US" sz="2000" kern="0" dirty="0">
                <a:latin typeface="Courier New" pitchFamily="49" charset="0"/>
              </a:rPr>
              <a:t>    </a:t>
            </a:r>
            <a:r>
              <a:rPr lang="en-US" sz="2000" i="1" kern="0" dirty="0">
                <a:latin typeface="Courier New" pitchFamily="49" charset="0"/>
              </a:rPr>
              <a:t>take from array and adjust front</a:t>
            </a:r>
          </a:p>
          <a:p>
            <a:pPr marL="342900" lvl="0" indent="-342900">
              <a:lnSpc>
                <a:spcPts val="1900"/>
              </a:lnSpc>
              <a:spcBef>
                <a:spcPct val="20000"/>
              </a:spcBef>
              <a:defRPr/>
            </a:pPr>
            <a:r>
              <a:rPr lang="en-US" sz="2000" i="1"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buffer was 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this.notify</a:t>
            </a:r>
            <a:r>
              <a:rPr lang="en-US" sz="2000" kern="0" dirty="0">
                <a:solidFill>
                  <a:srgbClr val="FF0000"/>
                </a:solidFill>
                <a:latin typeface="Courier New" pitchFamily="49" charset="0"/>
              </a:rPr>
              <a:t>();</a:t>
            </a:r>
            <a:r>
              <a:rPr lang="en-US" sz="2000" kern="0" dirty="0">
                <a:latin typeface="Courier New" pitchFamily="49" charset="0"/>
              </a:rPr>
              <a:t> </a:t>
            </a:r>
            <a:r>
              <a:rPr lang="en-US" sz="2000" kern="0" dirty="0">
                <a:solidFill>
                  <a:srgbClr val="7030A0"/>
                </a:solidFill>
                <a:latin typeface="Courier New" pitchFamily="49" charset="0"/>
              </a:rPr>
              <a:t>// wake somebody up</a:t>
            </a:r>
            <a:endParaRPr lang="en-US" sz="2000" i="1" kern="0" dirty="0">
              <a:solidFill>
                <a:srgbClr val="7030A0"/>
              </a:solidFill>
              <a:latin typeface="Courier New" pitchFamily="49" charset="0"/>
            </a:endParaRP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ideas</a:t>
            </a:r>
          </a:p>
        </p:txBody>
      </p:sp>
      <p:sp>
        <p:nvSpPr>
          <p:cNvPr id="3" name="Content Placeholder 2"/>
          <p:cNvSpPr>
            <a:spLocks noGrp="1"/>
          </p:cNvSpPr>
          <p:nvPr>
            <p:ph idx="1"/>
          </p:nvPr>
        </p:nvSpPr>
        <p:spPr>
          <a:xfrm>
            <a:off x="685800" y="1447800"/>
            <a:ext cx="8077200" cy="4724400"/>
          </a:xfrm>
        </p:spPr>
        <p:txBody>
          <a:bodyPr/>
          <a:lstStyle/>
          <a:p>
            <a:r>
              <a:rPr lang="en-US" dirty="0"/>
              <a:t>Java weirdness: every object “is” a condition variable (and a lock)</a:t>
            </a:r>
          </a:p>
          <a:p>
            <a:pPr lvl="1"/>
            <a:r>
              <a:rPr lang="en-US" dirty="0"/>
              <a:t>other languages/libraries often make them separate</a:t>
            </a:r>
          </a:p>
          <a:p>
            <a:pPr lvl="1"/>
            <a:endParaRPr lang="en-US" sz="1000" dirty="0"/>
          </a:p>
          <a:p>
            <a:r>
              <a:rPr lang="en-US" b="1" dirty="0">
                <a:solidFill>
                  <a:schemeClr val="accent2"/>
                </a:solidFill>
                <a:latin typeface="Courier New" pitchFamily="49" charset="0"/>
                <a:cs typeface="Courier New" pitchFamily="49" charset="0"/>
              </a:rPr>
              <a:t>wait:</a:t>
            </a:r>
            <a:r>
              <a:rPr lang="en-US" dirty="0"/>
              <a:t> </a:t>
            </a:r>
          </a:p>
          <a:p>
            <a:pPr lvl="1"/>
            <a:r>
              <a:rPr lang="en-US" dirty="0"/>
              <a:t>“register” running thread as interested in being woken up</a:t>
            </a:r>
          </a:p>
          <a:p>
            <a:pPr lvl="1"/>
            <a:r>
              <a:rPr lang="en-US" dirty="0"/>
              <a:t>then atomically: release the lock and block</a:t>
            </a:r>
          </a:p>
          <a:p>
            <a:pPr lvl="1"/>
            <a:r>
              <a:rPr lang="en-US" dirty="0"/>
              <a:t>when execution resumes, </a:t>
            </a:r>
            <a:r>
              <a:rPr lang="en-US" i="1" dirty="0"/>
              <a:t>thread again holds the lock</a:t>
            </a:r>
          </a:p>
          <a:p>
            <a:pPr lvl="1"/>
            <a:endParaRPr lang="en-US" sz="1000" dirty="0"/>
          </a:p>
          <a:p>
            <a:r>
              <a:rPr lang="en-US" b="1" dirty="0">
                <a:solidFill>
                  <a:schemeClr val="accent2"/>
                </a:solidFill>
                <a:latin typeface="Courier New" pitchFamily="49" charset="0"/>
                <a:cs typeface="Courier New" pitchFamily="49" charset="0"/>
              </a:rPr>
              <a:t>notify:</a:t>
            </a:r>
          </a:p>
          <a:p>
            <a:pPr lvl="1"/>
            <a:r>
              <a:rPr lang="en-US" dirty="0"/>
              <a:t>pick one waiting thread and wake it up</a:t>
            </a:r>
          </a:p>
          <a:p>
            <a:pPr lvl="1"/>
            <a:r>
              <a:rPr lang="en-US" dirty="0"/>
              <a:t>no guarantee woken up thread runs next, just that it is no longer blocked on the </a:t>
            </a:r>
            <a:r>
              <a:rPr lang="en-US" i="1" dirty="0"/>
              <a:t>condition</a:t>
            </a:r>
            <a:r>
              <a:rPr lang="en-US" dirty="0"/>
              <a:t> – now waiting for the </a:t>
            </a:r>
            <a:r>
              <a:rPr lang="en-US" i="1" dirty="0"/>
              <a:t>lock</a:t>
            </a:r>
          </a:p>
          <a:p>
            <a:pPr lvl="1"/>
            <a:r>
              <a:rPr lang="en-US" dirty="0"/>
              <a:t>if no thread is waiting, then do nothing</a:t>
            </a:r>
          </a:p>
          <a:p>
            <a:pPr lvl="1"/>
            <a:endParaRPr lang="en-US" dirty="0"/>
          </a:p>
        </p:txBody>
      </p:sp>
      <p:sp>
        <p:nvSpPr>
          <p:cNvPr id="5" name="Slide Number Placeholder 4"/>
          <p:cNvSpPr>
            <a:spLocks noGrp="1"/>
          </p:cNvSpPr>
          <p:nvPr>
            <p:ph type="sldNum" sz="quarter" idx="11"/>
          </p:nvPr>
        </p:nvSpPr>
        <p:spPr/>
        <p:txBody>
          <a:bodyPr/>
          <a:lstStyle/>
          <a:p>
            <a:fld id="{3B048AC8-D41E-4C7B-8EE3-A52489AA1F05}" type="slidenum">
              <a:rPr lang="en-US" smtClean="0"/>
              <a:pPr/>
              <a:t>7</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143000"/>
          </a:xfrm>
        </p:spPr>
        <p:txBody>
          <a:bodyPr/>
          <a:lstStyle/>
          <a:p>
            <a:r>
              <a:rPr lang="en-US" dirty="0"/>
              <a:t>Bug #1</a:t>
            </a:r>
          </a:p>
        </p:txBody>
      </p:sp>
      <p:sp>
        <p:nvSpPr>
          <p:cNvPr id="3" name="Content Placeholder 2"/>
          <p:cNvSpPr>
            <a:spLocks noGrp="1"/>
          </p:cNvSpPr>
          <p:nvPr>
            <p:ph idx="1"/>
          </p:nvPr>
        </p:nvSpPr>
        <p:spPr>
          <a:xfrm>
            <a:off x="685800" y="3048000"/>
            <a:ext cx="7772400" cy="762000"/>
          </a:xfrm>
        </p:spPr>
        <p:txBody>
          <a:bodyPr/>
          <a:lstStyle/>
          <a:p>
            <a:pPr>
              <a:buNone/>
            </a:pPr>
            <a:r>
              <a:rPr lang="en-US" dirty="0"/>
              <a:t>Between the time a thread is notified and it re-acquires the lock, the condition can become false again!</a:t>
            </a:r>
          </a:p>
          <a:p>
            <a:endParaRPr lang="en-US" dirty="0"/>
          </a:p>
        </p:txBody>
      </p:sp>
      <p:sp>
        <p:nvSpPr>
          <p:cNvPr id="5" name="Slide Number Placeholder 4"/>
          <p:cNvSpPr>
            <a:spLocks noGrp="1"/>
          </p:cNvSpPr>
          <p:nvPr>
            <p:ph type="sldNum" sz="quarter" idx="11"/>
          </p:nvPr>
        </p:nvSpPr>
        <p:spPr/>
        <p:txBody>
          <a:bodyPr/>
          <a:lstStyle/>
          <a:p>
            <a:fld id="{3B048AC8-D41E-4C7B-8EE3-A52489AA1F05}" type="slidenum">
              <a:rPr lang="en-US" smtClean="0"/>
              <a:pPr/>
              <a:t>8</a:t>
            </a:fld>
            <a:endParaRPr lang="en-US"/>
          </a:p>
        </p:txBody>
      </p:sp>
      <p:sp>
        <p:nvSpPr>
          <p:cNvPr id="7" name="Rectangle 2"/>
          <p:cNvSpPr txBox="1">
            <a:spLocks noChangeArrowheads="1"/>
          </p:cNvSpPr>
          <p:nvPr>
            <p:custDataLst>
              <p:tags r:id="rId1"/>
            </p:custDataLst>
          </p:nvPr>
        </p:nvSpPr>
        <p:spPr bwMode="auto">
          <a:xfrm>
            <a:off x="1981200" y="1066800"/>
            <a:ext cx="5257800" cy="1828800"/>
          </a:xfrm>
          <a:prstGeom prst="rect">
            <a:avLst/>
          </a:prstGeom>
          <a:solidFill>
            <a:srgbClr val="FFFF99"/>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solidFill>
                  <a:schemeClr val="accent2"/>
                </a:solidFill>
                <a:latin typeface="Courier New" pitchFamily="49" charset="0"/>
              </a:rPr>
              <a:t>synchronized</a:t>
            </a:r>
            <a:r>
              <a:rPr lang="en-US" sz="2000" kern="0" dirty="0">
                <a:latin typeface="Courier New" pitchFamily="49" charset="0"/>
              </a:rPr>
              <a:t> void </a:t>
            </a:r>
            <a:r>
              <a:rPr lang="en-US" sz="2000" kern="0" dirty="0" err="1">
                <a:solidFill>
                  <a:srgbClr val="119F33"/>
                </a:solidFill>
                <a:latin typeface="Courier New" pitchFamily="49" charset="0"/>
              </a:rPr>
              <a:t>enqueue</a:t>
            </a:r>
            <a:r>
              <a:rPr lang="en-US" sz="2000" kern="0" dirty="0">
                <a:latin typeface="Courier New" pitchFamily="49" charset="0"/>
              </a:rPr>
              <a:t>(E </a:t>
            </a:r>
            <a:r>
              <a:rPr lang="en-US" sz="2000" kern="0" dirty="0" err="1">
                <a:solidFill>
                  <a:srgbClr val="119F33"/>
                </a:solidFill>
                <a:latin typeface="Courier New" pitchFamily="49" charset="0"/>
              </a:rPr>
              <a:t>elt</a:t>
            </a:r>
            <a:r>
              <a:rPr lang="en-US" sz="2000" kern="0" dirty="0">
                <a:latin typeface="Courier New" pitchFamily="49" charset="0"/>
              </a:rPr>
              <a:t>){ </a:t>
            </a:r>
          </a:p>
          <a:p>
            <a:pPr marL="342900" lvl="0" indent="-342900">
              <a:lnSpc>
                <a:spcPts val="1900"/>
              </a:lnSpc>
              <a:spcBef>
                <a:spcPct val="20000"/>
              </a:spcBef>
              <a:defRPr/>
            </a:pPr>
            <a:r>
              <a:rPr lang="en-US" sz="2000" kern="0" dirty="0">
                <a:solidFill>
                  <a:schemeClr val="accent2"/>
                </a:solidFill>
                <a:latin typeface="Courier New" pitchFamily="49" charset="0"/>
              </a:rPr>
              <a:t>  if</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this.wait</a:t>
            </a:r>
            <a:r>
              <a:rPr lang="en-US" sz="2000" kern="0" dirty="0">
                <a:solidFill>
                  <a:srgbClr val="FF0000"/>
                </a:solidFill>
                <a:latin typeface="Courier New" pitchFamily="49" charset="0"/>
              </a:rPr>
              <a:t>(); </a:t>
            </a:r>
            <a:endParaRPr lang="en-US" sz="2000" kern="0" dirty="0">
              <a:solidFill>
                <a:srgbClr val="7030A0"/>
              </a:solidFill>
              <a:latin typeface="Courier New" pitchFamily="49" charset="0"/>
            </a:endParaRPr>
          </a:p>
          <a:p>
            <a:pPr marL="342900" lvl="0" indent="-342900">
              <a:lnSpc>
                <a:spcPts val="1900"/>
              </a:lnSpc>
              <a:spcBef>
                <a:spcPct val="20000"/>
              </a:spcBef>
              <a:defRPr/>
            </a:pPr>
            <a:r>
              <a:rPr lang="en-US" sz="2000" kern="0" dirty="0">
                <a:latin typeface="Courier New" pitchFamily="49" charset="0"/>
              </a:rPr>
              <a:t>  </a:t>
            </a:r>
            <a:r>
              <a:rPr lang="en-US" sz="2000" i="1" kern="0" dirty="0">
                <a:latin typeface="Courier New" pitchFamily="49" charset="0"/>
              </a:rPr>
              <a:t>add to array and adjust back</a:t>
            </a:r>
          </a:p>
          <a:p>
            <a:pPr marL="342900" lvl="0" indent="-342900">
              <a:lnSpc>
                <a:spcPts val="1900"/>
              </a:lnSpc>
              <a:spcBef>
                <a:spcPct val="20000"/>
              </a:spcBef>
              <a:defRPr/>
            </a:pPr>
            <a:r>
              <a:rPr lang="en-US" sz="2000" i="1" kern="0" dirty="0">
                <a:latin typeface="Courier New" pitchFamily="49" charset="0"/>
              </a:rPr>
              <a:t>  </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a:t>
            </a:r>
          </a:p>
        </p:txBody>
      </p:sp>
      <p:sp>
        <p:nvSpPr>
          <p:cNvPr id="8" name="Rectangle 2"/>
          <p:cNvSpPr txBox="1">
            <a:spLocks noChangeArrowheads="1"/>
          </p:cNvSpPr>
          <p:nvPr>
            <p:custDataLst>
              <p:tags r:id="rId2"/>
            </p:custDataLst>
          </p:nvPr>
        </p:nvSpPr>
        <p:spPr bwMode="auto">
          <a:xfrm>
            <a:off x="1105022" y="4190206"/>
            <a:ext cx="2362200" cy="2210594"/>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solidFill>
                  <a:schemeClr val="accent2"/>
                </a:solidFill>
                <a:latin typeface="Courier New" pitchFamily="49" charset="0"/>
              </a:rPr>
              <a:t>if</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this.wait</a:t>
            </a:r>
            <a:r>
              <a:rPr lang="en-US" sz="2000" kern="0" dirty="0">
                <a:solidFill>
                  <a:srgbClr val="FF0000"/>
                </a:solidFill>
                <a:latin typeface="Courier New" pitchFamily="49" charset="0"/>
              </a:rPr>
              <a:t>(); </a:t>
            </a:r>
          </a:p>
          <a:p>
            <a:pPr marL="342900" lvl="0" indent="-342900">
              <a:lnSpc>
                <a:spcPts val="1900"/>
              </a:lnSpc>
              <a:spcBef>
                <a:spcPct val="20000"/>
              </a:spcBef>
              <a:defRPr/>
            </a:pPr>
            <a:endParaRPr lang="en-US" sz="2000" kern="0" dirty="0">
              <a:solidFill>
                <a:srgbClr val="FF000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i="1" kern="0" dirty="0">
                <a:latin typeface="Courier New" pitchFamily="49" charset="0"/>
              </a:rPr>
              <a:t>add to array</a:t>
            </a:r>
          </a:p>
        </p:txBody>
      </p:sp>
      <p:cxnSp>
        <p:nvCxnSpPr>
          <p:cNvPr id="10" name="Straight Arrow Connector 9"/>
          <p:cNvCxnSpPr/>
          <p:nvPr/>
        </p:nvCxnSpPr>
        <p:spPr bwMode="auto">
          <a:xfrm rot="5400000">
            <a:off x="-305472" y="5295106"/>
            <a:ext cx="2209800" cy="1588"/>
          </a:xfrm>
          <a:prstGeom prst="straightConnector1">
            <a:avLst/>
          </a:prstGeom>
          <a:solidFill>
            <a:schemeClr val="accent1"/>
          </a:solidFill>
          <a:ln w="34925" cap="flat" cmpd="sng" algn="ctr">
            <a:solidFill>
              <a:schemeClr val="tx1"/>
            </a:solidFill>
            <a:prstDash val="solid"/>
            <a:round/>
            <a:headEnd type="none" w="med" len="med"/>
            <a:tailEnd type="arrow"/>
          </a:ln>
          <a:effectLst/>
        </p:spPr>
      </p:cxnSp>
      <p:sp>
        <p:nvSpPr>
          <p:cNvPr id="11" name="TextBox 10"/>
          <p:cNvSpPr txBox="1"/>
          <p:nvPr/>
        </p:nvSpPr>
        <p:spPr>
          <a:xfrm rot="16200000">
            <a:off x="131933" y="4989622"/>
            <a:ext cx="745845" cy="400110"/>
          </a:xfrm>
          <a:prstGeom prst="rect">
            <a:avLst/>
          </a:prstGeom>
          <a:noFill/>
        </p:spPr>
        <p:txBody>
          <a:bodyPr wrap="none" rtlCol="0">
            <a:spAutoFit/>
          </a:bodyPr>
          <a:lstStyle/>
          <a:p>
            <a:r>
              <a:rPr lang="en-US" sz="2000" b="0" dirty="0">
                <a:latin typeface="+mn-lt"/>
              </a:rPr>
              <a:t>Time</a:t>
            </a:r>
          </a:p>
        </p:txBody>
      </p:sp>
      <p:sp>
        <p:nvSpPr>
          <p:cNvPr id="12" name="TextBox 11"/>
          <p:cNvSpPr txBox="1"/>
          <p:nvPr/>
        </p:nvSpPr>
        <p:spPr>
          <a:xfrm>
            <a:off x="3676711" y="3790890"/>
            <a:ext cx="2449710" cy="400110"/>
          </a:xfrm>
          <a:prstGeom prst="rect">
            <a:avLst/>
          </a:prstGeom>
          <a:noFill/>
        </p:spPr>
        <p:txBody>
          <a:bodyPr wrap="none" rtlCol="0">
            <a:spAutoFit/>
          </a:bodyPr>
          <a:lstStyle/>
          <a:p>
            <a:r>
              <a:rPr lang="en-US" sz="2000" b="0" dirty="0">
                <a:latin typeface="+mn-lt"/>
              </a:rPr>
              <a:t>Thread 2 (</a:t>
            </a:r>
            <a:r>
              <a:rPr lang="en-US" sz="2000" b="0" dirty="0" err="1">
                <a:latin typeface="+mn-lt"/>
              </a:rPr>
              <a:t>dequeue</a:t>
            </a:r>
            <a:r>
              <a:rPr lang="en-US" sz="2000" b="0" dirty="0">
                <a:latin typeface="+mn-lt"/>
              </a:rPr>
              <a:t>)</a:t>
            </a:r>
          </a:p>
        </p:txBody>
      </p:sp>
      <p:sp>
        <p:nvSpPr>
          <p:cNvPr id="13" name="TextBox 12"/>
          <p:cNvSpPr txBox="1"/>
          <p:nvPr/>
        </p:nvSpPr>
        <p:spPr>
          <a:xfrm>
            <a:off x="1085911" y="3809206"/>
            <a:ext cx="2449710" cy="400110"/>
          </a:xfrm>
          <a:prstGeom prst="rect">
            <a:avLst/>
          </a:prstGeom>
          <a:noFill/>
        </p:spPr>
        <p:txBody>
          <a:bodyPr wrap="none" rtlCol="0">
            <a:spAutoFit/>
          </a:bodyPr>
          <a:lstStyle/>
          <a:p>
            <a:r>
              <a:rPr lang="en-US" sz="2000" b="0" dirty="0">
                <a:latin typeface="+mn-lt"/>
              </a:rPr>
              <a:t>Thread 1 (</a:t>
            </a:r>
            <a:r>
              <a:rPr lang="en-US" sz="2000" b="0" dirty="0" err="1">
                <a:latin typeface="+mn-lt"/>
              </a:rPr>
              <a:t>enqueue</a:t>
            </a:r>
            <a:r>
              <a:rPr lang="en-US" sz="2000" b="0" dirty="0">
                <a:latin typeface="+mn-lt"/>
              </a:rPr>
              <a:t>)</a:t>
            </a:r>
          </a:p>
        </p:txBody>
      </p:sp>
      <p:sp>
        <p:nvSpPr>
          <p:cNvPr id="14" name="Rectangle 2"/>
          <p:cNvSpPr txBox="1">
            <a:spLocks noChangeArrowheads="1"/>
          </p:cNvSpPr>
          <p:nvPr>
            <p:custDataLst>
              <p:tags r:id="rId3"/>
            </p:custDataLst>
          </p:nvPr>
        </p:nvSpPr>
        <p:spPr bwMode="auto">
          <a:xfrm>
            <a:off x="3524311" y="4191000"/>
            <a:ext cx="2667000" cy="2209800"/>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i="1" kern="0" dirty="0">
                <a:latin typeface="Courier New" pitchFamily="49" charset="0"/>
              </a:rPr>
              <a:t>take from array</a:t>
            </a:r>
          </a:p>
          <a:p>
            <a:pPr marL="342900" lvl="0" indent="-342900">
              <a:lnSpc>
                <a:spcPts val="1900"/>
              </a:lnSpc>
              <a:spcBef>
                <a:spcPct val="20000"/>
              </a:spcBef>
              <a:defRPr/>
            </a:pP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was full</a:t>
            </a:r>
            <a:r>
              <a:rPr lang="en-US" sz="2000" kern="0" dirty="0">
                <a:latin typeface="Courier New" pitchFamily="49" charset="0"/>
              </a:rPr>
              <a:t>)   </a:t>
            </a:r>
            <a:r>
              <a:rPr lang="en-US" sz="2000" kern="0" dirty="0" err="1">
                <a:solidFill>
                  <a:srgbClr val="FF0000"/>
                </a:solidFill>
                <a:latin typeface="Courier New" pitchFamily="49" charset="0"/>
              </a:rPr>
              <a:t>this.notify</a:t>
            </a:r>
            <a:r>
              <a:rPr lang="en-US" sz="2000" kern="0" dirty="0">
                <a:solidFill>
                  <a:srgbClr val="FF0000"/>
                </a:solidFill>
                <a:latin typeface="Courier New" pitchFamily="49" charset="0"/>
              </a:rPr>
              <a:t>();</a:t>
            </a:r>
            <a:endParaRPr lang="en-US" sz="2000" kern="0" dirty="0">
              <a:latin typeface="Courier New" pitchFamily="49" charset="0"/>
            </a:endParaRPr>
          </a:p>
        </p:txBody>
      </p:sp>
      <p:sp>
        <p:nvSpPr>
          <p:cNvPr id="15" name="Rectangle 2"/>
          <p:cNvSpPr txBox="1">
            <a:spLocks noChangeArrowheads="1"/>
          </p:cNvSpPr>
          <p:nvPr>
            <p:custDataLst>
              <p:tags r:id="rId4"/>
            </p:custDataLst>
          </p:nvPr>
        </p:nvSpPr>
        <p:spPr bwMode="auto">
          <a:xfrm>
            <a:off x="6267511" y="4191000"/>
            <a:ext cx="2590800" cy="2210594"/>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endParaRPr lang="en-US" sz="2000" kern="0" dirty="0">
              <a:solidFill>
                <a:srgbClr val="FF000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i="1" kern="0" dirty="0">
                <a:latin typeface="Courier New" pitchFamily="49" charset="0"/>
              </a:rPr>
              <a:t>make full again</a:t>
            </a:r>
          </a:p>
        </p:txBody>
      </p:sp>
      <p:sp>
        <p:nvSpPr>
          <p:cNvPr id="16" name="TextBox 15"/>
          <p:cNvSpPr txBox="1"/>
          <p:nvPr/>
        </p:nvSpPr>
        <p:spPr>
          <a:xfrm>
            <a:off x="6332401" y="3810000"/>
            <a:ext cx="2449710" cy="400110"/>
          </a:xfrm>
          <a:prstGeom prst="rect">
            <a:avLst/>
          </a:prstGeom>
          <a:noFill/>
        </p:spPr>
        <p:txBody>
          <a:bodyPr wrap="none" rtlCol="0">
            <a:spAutoFit/>
          </a:bodyPr>
          <a:lstStyle/>
          <a:p>
            <a:r>
              <a:rPr lang="en-US" sz="2000" b="0" dirty="0">
                <a:latin typeface="+mn-lt"/>
              </a:rPr>
              <a:t>Thread 3 (</a:t>
            </a:r>
            <a:r>
              <a:rPr lang="en-US" sz="2000" b="0" dirty="0" err="1">
                <a:latin typeface="+mn-lt"/>
              </a:rPr>
              <a:t>enqueue</a:t>
            </a:r>
            <a:r>
              <a:rPr lang="en-US" sz="2000" b="0" dirty="0">
                <a:latin typeface="+mn-lt"/>
              </a:rPr>
              <a: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Bug fix #1</a:t>
            </a:r>
          </a:p>
        </p:txBody>
      </p:sp>
      <p:sp>
        <p:nvSpPr>
          <p:cNvPr id="3" name="Content Placeholder 2"/>
          <p:cNvSpPr>
            <a:spLocks noGrp="1"/>
          </p:cNvSpPr>
          <p:nvPr>
            <p:ph idx="1"/>
          </p:nvPr>
        </p:nvSpPr>
        <p:spPr>
          <a:xfrm>
            <a:off x="685800" y="4876800"/>
            <a:ext cx="7772400" cy="1143000"/>
          </a:xfrm>
        </p:spPr>
        <p:txBody>
          <a:bodyPr/>
          <a:lstStyle/>
          <a:p>
            <a:pPr>
              <a:buNone/>
            </a:pPr>
            <a:r>
              <a:rPr lang="en-US" dirty="0"/>
              <a:t>Guideline: </a:t>
            </a:r>
            <a:r>
              <a:rPr lang="en-US" i="1" dirty="0"/>
              <a:t>Always</a:t>
            </a:r>
            <a:r>
              <a:rPr lang="en-US" dirty="0"/>
              <a:t>  re-check the condition after re-gaining the lock</a:t>
            </a:r>
          </a:p>
          <a:p>
            <a:pPr lvl="1"/>
            <a:r>
              <a:rPr lang="en-US" dirty="0"/>
              <a:t>In fact, for obscure reasons, Java is technically allowed to notify a thread </a:t>
            </a:r>
            <a:r>
              <a:rPr lang="en-US" i="1" dirty="0"/>
              <a:t>spuriously</a:t>
            </a:r>
            <a:r>
              <a:rPr lang="en-US" dirty="0"/>
              <a:t>  (i.e., for no reason)</a:t>
            </a:r>
          </a:p>
        </p:txBody>
      </p:sp>
      <p:sp>
        <p:nvSpPr>
          <p:cNvPr id="5" name="Slide Number Placeholder 4"/>
          <p:cNvSpPr>
            <a:spLocks noGrp="1"/>
          </p:cNvSpPr>
          <p:nvPr>
            <p:ph type="sldNum" sz="quarter" idx="11"/>
          </p:nvPr>
        </p:nvSpPr>
        <p:spPr/>
        <p:txBody>
          <a:bodyPr/>
          <a:lstStyle/>
          <a:p>
            <a:fld id="{3B048AC8-D41E-4C7B-8EE3-A52489AA1F05}" type="slidenum">
              <a:rPr lang="en-US" smtClean="0"/>
              <a:pPr/>
              <a:t>9</a:t>
            </a:fld>
            <a:endParaRPr lang="en-US"/>
          </a:p>
        </p:txBody>
      </p:sp>
      <p:sp>
        <p:nvSpPr>
          <p:cNvPr id="7" name="Rectangle 2"/>
          <p:cNvSpPr txBox="1">
            <a:spLocks noChangeArrowheads="1"/>
          </p:cNvSpPr>
          <p:nvPr>
            <p:custDataLst>
              <p:tags r:id="rId1"/>
            </p:custDataLst>
          </p:nvPr>
        </p:nvSpPr>
        <p:spPr bwMode="auto">
          <a:xfrm>
            <a:off x="1981200" y="1447800"/>
            <a:ext cx="5486400" cy="3048000"/>
          </a:xfrm>
          <a:prstGeom prst="rect">
            <a:avLst/>
          </a:prstGeom>
          <a:solidFill>
            <a:srgbClr val="FFFF99"/>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solidFill>
                  <a:schemeClr val="accent2"/>
                </a:solidFill>
                <a:latin typeface="Courier New" pitchFamily="49" charset="0"/>
              </a:rPr>
              <a:t>synchronized</a:t>
            </a:r>
            <a:r>
              <a:rPr lang="en-US" sz="2000" kern="0" dirty="0">
                <a:latin typeface="Courier New" pitchFamily="49" charset="0"/>
              </a:rPr>
              <a:t> void </a:t>
            </a:r>
            <a:r>
              <a:rPr lang="en-US" sz="2000" kern="0" dirty="0" err="1">
                <a:solidFill>
                  <a:srgbClr val="119F33"/>
                </a:solidFill>
                <a:latin typeface="Courier New" pitchFamily="49" charset="0"/>
              </a:rPr>
              <a:t>enqueue</a:t>
            </a:r>
            <a:r>
              <a:rPr lang="en-US" sz="2000" kern="0" dirty="0">
                <a:latin typeface="Courier New" pitchFamily="49" charset="0"/>
              </a:rPr>
              <a:t>(E </a:t>
            </a:r>
            <a:r>
              <a:rPr lang="en-US" sz="2000" kern="0" dirty="0" err="1">
                <a:solidFill>
                  <a:srgbClr val="119F33"/>
                </a:solidFill>
                <a:latin typeface="Courier New" pitchFamily="49" charset="0"/>
              </a:rPr>
              <a:t>elt</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rgbClr val="FF0000"/>
                </a:solidFill>
                <a:latin typeface="Courier New" pitchFamily="49" charset="0"/>
              </a:rPr>
              <a:t>while</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chemeClr val="accent2"/>
                </a:solidFill>
                <a:latin typeface="Courier New" pitchFamily="49" charset="0"/>
              </a:rPr>
              <a:t>this</a:t>
            </a:r>
            <a:r>
              <a:rPr lang="en-US" sz="2000" kern="0" dirty="0" err="1">
                <a:latin typeface="Courier New" pitchFamily="49" charset="0"/>
              </a:rPr>
              <a:t>.wait</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i="1"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a:t>
            </a:r>
          </a:p>
          <a:p>
            <a:pPr marL="342900" lvl="0" indent="-342900">
              <a:lnSpc>
                <a:spcPts val="1900"/>
              </a:lnSpc>
              <a:spcBef>
                <a:spcPct val="20000"/>
              </a:spcBef>
              <a:defRPr/>
            </a:pPr>
            <a:r>
              <a:rPr lang="en-US" sz="2000" kern="0" dirty="0">
                <a:solidFill>
                  <a:schemeClr val="accent2"/>
                </a:solidFill>
                <a:latin typeface="Courier New" pitchFamily="49" charset="0"/>
              </a:rPr>
              <a:t>synchronized</a:t>
            </a:r>
            <a:r>
              <a:rPr lang="en-US" sz="2000" kern="0" dirty="0">
                <a:latin typeface="Courier New" pitchFamily="49" charset="0"/>
              </a:rPr>
              <a:t> E </a:t>
            </a:r>
            <a:r>
              <a:rPr lang="en-US" sz="2000" kern="0" dirty="0" err="1">
                <a:solidFill>
                  <a:srgbClr val="119F33"/>
                </a:solidFill>
                <a:latin typeface="Courier New" pitchFamily="49" charset="0"/>
              </a:rPr>
              <a:t>dequeue</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rgbClr val="FF0000"/>
                </a:solidFill>
                <a:latin typeface="Courier New" pitchFamily="49" charset="0"/>
              </a:rPr>
              <a:t>while</a:t>
            </a:r>
            <a:r>
              <a:rPr lang="en-US" sz="2000" kern="0" dirty="0">
                <a:latin typeface="Courier New" pitchFamily="49" charset="0"/>
              </a:rPr>
              <a:t>(</a:t>
            </a:r>
            <a:r>
              <a:rPr lang="en-US" sz="2000" kern="0" dirty="0" err="1">
                <a:latin typeface="Courier New" pitchFamily="49" charset="0"/>
              </a:rPr>
              <a:t>isEmpty</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chemeClr val="accent2"/>
                </a:solidFill>
                <a:latin typeface="Courier New" pitchFamily="49" charset="0"/>
              </a:rPr>
              <a:t>this</a:t>
            </a:r>
            <a:r>
              <a:rPr lang="en-US" sz="2000" kern="0" dirty="0" err="1">
                <a:latin typeface="Courier New" pitchFamily="49" charset="0"/>
              </a:rPr>
              <a:t>.wait</a:t>
            </a:r>
            <a:r>
              <a:rPr lang="en-US" sz="2000" kern="0" dirty="0">
                <a:latin typeface="Courier New" pitchFamily="49" charset="0"/>
              </a:rPr>
              <a:t>();</a:t>
            </a:r>
            <a:endParaRPr lang="en-US" sz="2000" kern="0" dirty="0">
              <a:solidFill>
                <a:srgbClr val="FF0000"/>
              </a:solidFill>
              <a:latin typeface="Courier New" pitchFamily="49" charset="0"/>
            </a:endParaRP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Bug #2</a:t>
            </a:r>
          </a:p>
        </p:txBody>
      </p:sp>
      <p:sp>
        <p:nvSpPr>
          <p:cNvPr id="3" name="Content Placeholder 2"/>
          <p:cNvSpPr>
            <a:spLocks noGrp="1"/>
          </p:cNvSpPr>
          <p:nvPr>
            <p:ph idx="1"/>
          </p:nvPr>
        </p:nvSpPr>
        <p:spPr>
          <a:xfrm>
            <a:off x="685800" y="1447800"/>
            <a:ext cx="7772400" cy="762000"/>
          </a:xfrm>
        </p:spPr>
        <p:txBody>
          <a:bodyPr/>
          <a:lstStyle/>
          <a:p>
            <a:r>
              <a:rPr lang="en-US" dirty="0"/>
              <a:t>If multiple threads are waiting, we wake up only one</a:t>
            </a:r>
          </a:p>
          <a:p>
            <a:pPr lvl="1"/>
            <a:r>
              <a:rPr lang="en-US" dirty="0"/>
              <a:t>Sure only one can do work </a:t>
            </a:r>
            <a:r>
              <a:rPr lang="en-US" i="1" dirty="0"/>
              <a:t>now</a:t>
            </a:r>
            <a:r>
              <a:rPr lang="en-US" dirty="0"/>
              <a:t>, but can’t forget the others!</a:t>
            </a:r>
          </a:p>
        </p:txBody>
      </p:sp>
      <p:sp>
        <p:nvSpPr>
          <p:cNvPr id="5" name="Slide Number Placeholder 4"/>
          <p:cNvSpPr>
            <a:spLocks noGrp="1"/>
          </p:cNvSpPr>
          <p:nvPr>
            <p:ph type="sldNum" sz="quarter" idx="11"/>
          </p:nvPr>
        </p:nvSpPr>
        <p:spPr/>
        <p:txBody>
          <a:bodyPr/>
          <a:lstStyle/>
          <a:p>
            <a:fld id="{3B048AC8-D41E-4C7B-8EE3-A52489AA1F05}" type="slidenum">
              <a:rPr lang="en-US" smtClean="0"/>
              <a:pPr/>
              <a:t>10</a:t>
            </a:fld>
            <a:endParaRPr lang="en-US"/>
          </a:p>
        </p:txBody>
      </p:sp>
      <p:sp>
        <p:nvSpPr>
          <p:cNvPr id="8" name="Rectangle 2"/>
          <p:cNvSpPr txBox="1">
            <a:spLocks noChangeArrowheads="1"/>
          </p:cNvSpPr>
          <p:nvPr>
            <p:custDataLst>
              <p:tags r:id="rId1"/>
            </p:custDataLst>
          </p:nvPr>
        </p:nvSpPr>
        <p:spPr bwMode="auto">
          <a:xfrm>
            <a:off x="666689" y="3029844"/>
            <a:ext cx="2533711" cy="2210594"/>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solidFill>
                  <a:schemeClr val="accent2"/>
                </a:solidFill>
                <a:latin typeface="Courier New" pitchFamily="49" charset="0"/>
              </a:rPr>
              <a:t>while</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this.wait</a:t>
            </a:r>
            <a:r>
              <a:rPr lang="en-US" sz="2000" kern="0" dirty="0">
                <a:solidFill>
                  <a:srgbClr val="FF0000"/>
                </a:solidFill>
                <a:latin typeface="Courier New" pitchFamily="49" charset="0"/>
              </a:rPr>
              <a:t>(); </a:t>
            </a:r>
          </a:p>
          <a:p>
            <a:pPr marL="342900" lvl="0" indent="-342900">
              <a:lnSpc>
                <a:spcPts val="1900"/>
              </a:lnSpc>
              <a:spcBef>
                <a:spcPct val="20000"/>
              </a:spcBef>
              <a:defRPr/>
            </a:pPr>
            <a:endParaRPr lang="en-US" sz="2000" kern="0" dirty="0">
              <a:solidFill>
                <a:srgbClr val="FF000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kern="0" dirty="0">
                <a:latin typeface="Courier New" pitchFamily="49" charset="0"/>
              </a:rPr>
              <a:t>…</a:t>
            </a:r>
          </a:p>
        </p:txBody>
      </p:sp>
      <p:cxnSp>
        <p:nvCxnSpPr>
          <p:cNvPr id="9" name="Straight Arrow Connector 8"/>
          <p:cNvCxnSpPr/>
          <p:nvPr/>
        </p:nvCxnSpPr>
        <p:spPr bwMode="auto">
          <a:xfrm rot="5400000">
            <a:off x="-570706" y="4152900"/>
            <a:ext cx="2209800" cy="1588"/>
          </a:xfrm>
          <a:prstGeom prst="straightConnector1">
            <a:avLst/>
          </a:prstGeom>
          <a:solidFill>
            <a:schemeClr val="accent1"/>
          </a:solidFill>
          <a:ln w="34925" cap="flat" cmpd="sng" algn="ctr">
            <a:solidFill>
              <a:schemeClr val="tx1"/>
            </a:solidFill>
            <a:prstDash val="solid"/>
            <a:round/>
            <a:headEnd type="none" w="med" len="med"/>
            <a:tailEnd type="arrow"/>
          </a:ln>
          <a:effectLst/>
        </p:spPr>
      </p:cxnSp>
      <p:sp>
        <p:nvSpPr>
          <p:cNvPr id="10" name="TextBox 9"/>
          <p:cNvSpPr txBox="1"/>
          <p:nvPr/>
        </p:nvSpPr>
        <p:spPr>
          <a:xfrm rot="16200000">
            <a:off x="-20467" y="3847416"/>
            <a:ext cx="745845" cy="400110"/>
          </a:xfrm>
          <a:prstGeom prst="rect">
            <a:avLst/>
          </a:prstGeom>
          <a:noFill/>
        </p:spPr>
        <p:txBody>
          <a:bodyPr wrap="none" rtlCol="0">
            <a:spAutoFit/>
          </a:bodyPr>
          <a:lstStyle/>
          <a:p>
            <a:r>
              <a:rPr lang="en-US" sz="2000" b="0" dirty="0">
                <a:latin typeface="+mn-lt"/>
              </a:rPr>
              <a:t>Time</a:t>
            </a:r>
          </a:p>
        </p:txBody>
      </p:sp>
      <p:sp>
        <p:nvSpPr>
          <p:cNvPr id="11" name="TextBox 10"/>
          <p:cNvSpPr txBox="1"/>
          <p:nvPr/>
        </p:nvSpPr>
        <p:spPr>
          <a:xfrm>
            <a:off x="3295711" y="2724090"/>
            <a:ext cx="2449710" cy="400110"/>
          </a:xfrm>
          <a:prstGeom prst="rect">
            <a:avLst/>
          </a:prstGeom>
          <a:noFill/>
        </p:spPr>
        <p:txBody>
          <a:bodyPr wrap="none" rtlCol="0">
            <a:spAutoFit/>
          </a:bodyPr>
          <a:lstStyle/>
          <a:p>
            <a:r>
              <a:rPr lang="en-US" sz="2000" b="0" dirty="0">
                <a:latin typeface="+mn-lt"/>
              </a:rPr>
              <a:t>Thread 2 (</a:t>
            </a:r>
            <a:r>
              <a:rPr lang="en-US" sz="2000" b="0" dirty="0" err="1">
                <a:latin typeface="+mn-lt"/>
              </a:rPr>
              <a:t>enqueue</a:t>
            </a:r>
            <a:r>
              <a:rPr lang="en-US" sz="2000" b="0" dirty="0">
                <a:latin typeface="+mn-lt"/>
              </a:rPr>
              <a:t>)</a:t>
            </a:r>
          </a:p>
        </p:txBody>
      </p:sp>
      <p:sp>
        <p:nvSpPr>
          <p:cNvPr id="12" name="TextBox 11"/>
          <p:cNvSpPr txBox="1"/>
          <p:nvPr/>
        </p:nvSpPr>
        <p:spPr>
          <a:xfrm>
            <a:off x="933511" y="2667000"/>
            <a:ext cx="2449710" cy="400110"/>
          </a:xfrm>
          <a:prstGeom prst="rect">
            <a:avLst/>
          </a:prstGeom>
          <a:noFill/>
        </p:spPr>
        <p:txBody>
          <a:bodyPr wrap="none" rtlCol="0">
            <a:spAutoFit/>
          </a:bodyPr>
          <a:lstStyle/>
          <a:p>
            <a:r>
              <a:rPr lang="en-US" sz="2000" b="0" dirty="0">
                <a:latin typeface="+mn-lt"/>
              </a:rPr>
              <a:t>Thread 1 (</a:t>
            </a:r>
            <a:r>
              <a:rPr lang="en-US" sz="2000" b="0" dirty="0" err="1">
                <a:latin typeface="+mn-lt"/>
              </a:rPr>
              <a:t>enqueue</a:t>
            </a:r>
            <a:r>
              <a:rPr lang="en-US" sz="2000" b="0" dirty="0">
                <a:latin typeface="+mn-lt"/>
              </a:rPr>
              <a:t>)</a:t>
            </a:r>
          </a:p>
        </p:txBody>
      </p:sp>
      <p:sp>
        <p:nvSpPr>
          <p:cNvPr id="14" name="Rectangle 2"/>
          <p:cNvSpPr txBox="1">
            <a:spLocks noChangeArrowheads="1"/>
          </p:cNvSpPr>
          <p:nvPr>
            <p:custDataLst>
              <p:tags r:id="rId2"/>
            </p:custDataLst>
          </p:nvPr>
        </p:nvSpPr>
        <p:spPr bwMode="auto">
          <a:xfrm>
            <a:off x="5886511" y="3048794"/>
            <a:ext cx="3124200" cy="2894806"/>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endParaRPr lang="en-US" sz="2000" kern="0" dirty="0">
              <a:solidFill>
                <a:srgbClr val="FF000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kern="0" dirty="0">
                <a:solidFill>
                  <a:srgbClr val="7030A0"/>
                </a:solidFill>
                <a:latin typeface="Courier New" pitchFamily="49" charset="0"/>
              </a:rPr>
              <a:t>// </a:t>
            </a:r>
            <a:r>
              <a:rPr lang="en-US" sz="2000" kern="0" dirty="0" err="1">
                <a:solidFill>
                  <a:srgbClr val="7030A0"/>
                </a:solidFill>
                <a:latin typeface="Courier New" pitchFamily="49" charset="0"/>
              </a:rPr>
              <a:t>dequeue</a:t>
            </a:r>
            <a:r>
              <a:rPr lang="en-US" sz="2000" kern="0" dirty="0">
                <a:solidFill>
                  <a:srgbClr val="7030A0"/>
                </a:solidFill>
                <a:latin typeface="Courier New" pitchFamily="49" charset="0"/>
              </a:rPr>
              <a:t> #1</a:t>
            </a:r>
          </a:p>
          <a:p>
            <a:pPr marL="342900" lvl="0" indent="-342900">
              <a:lnSpc>
                <a:spcPts val="1900"/>
              </a:lnSpc>
              <a:spcBef>
                <a:spcPct val="20000"/>
              </a:spcBef>
              <a:defRPr/>
            </a:pP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buffer was 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this.notify</a:t>
            </a:r>
            <a:r>
              <a:rPr lang="en-US" sz="2000" kern="0" dirty="0">
                <a:solidFill>
                  <a:srgbClr val="FF0000"/>
                </a:solidFill>
                <a:latin typeface="Courier New" pitchFamily="49" charset="0"/>
              </a:rPr>
              <a:t>();</a:t>
            </a:r>
            <a:r>
              <a:rPr lang="en-US" sz="2000" kern="0" dirty="0">
                <a:latin typeface="Courier New" pitchFamily="49" charset="0"/>
              </a:rPr>
              <a:t> </a:t>
            </a:r>
            <a:endParaRPr lang="en-US" sz="2000" i="1" kern="0" dirty="0">
              <a:solidFill>
                <a:srgbClr val="7030A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kern="0" dirty="0">
                <a:solidFill>
                  <a:srgbClr val="7030A0"/>
                </a:solidFill>
                <a:latin typeface="Courier New" pitchFamily="49" charset="0"/>
              </a:rPr>
              <a:t>// </a:t>
            </a:r>
            <a:r>
              <a:rPr lang="en-US" sz="2000" kern="0" dirty="0" err="1">
                <a:solidFill>
                  <a:srgbClr val="7030A0"/>
                </a:solidFill>
                <a:latin typeface="Courier New" pitchFamily="49" charset="0"/>
              </a:rPr>
              <a:t>dequeue</a:t>
            </a:r>
            <a:r>
              <a:rPr lang="en-US" sz="2000" kern="0" dirty="0">
                <a:solidFill>
                  <a:srgbClr val="7030A0"/>
                </a:solidFill>
                <a:latin typeface="Courier New" pitchFamily="49" charset="0"/>
              </a:rPr>
              <a:t> #2</a:t>
            </a:r>
          </a:p>
          <a:p>
            <a:pPr marL="342900" lvl="0" indent="-342900">
              <a:lnSpc>
                <a:spcPts val="1900"/>
              </a:lnSpc>
              <a:spcBef>
                <a:spcPct val="20000"/>
              </a:spcBef>
              <a:defRPr/>
            </a:pP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buffer was 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chemeClr val="tx1">
                    <a:lumMod val="50000"/>
                    <a:lumOff val="50000"/>
                  </a:schemeClr>
                </a:solidFill>
                <a:latin typeface="Courier New" pitchFamily="49" charset="0"/>
              </a:rPr>
              <a:t>this.notify</a:t>
            </a:r>
            <a:r>
              <a:rPr lang="en-US" sz="2000" kern="0" dirty="0">
                <a:solidFill>
                  <a:schemeClr val="tx1">
                    <a:lumMod val="50000"/>
                    <a:lumOff val="50000"/>
                  </a:schemeClr>
                </a:solidFill>
                <a:latin typeface="Courier New" pitchFamily="49" charset="0"/>
              </a:rPr>
              <a:t>();</a:t>
            </a:r>
            <a:r>
              <a:rPr lang="en-US" sz="2000" kern="0" dirty="0">
                <a:latin typeface="Courier New" pitchFamily="49" charset="0"/>
              </a:rPr>
              <a:t> </a:t>
            </a:r>
            <a:endParaRPr lang="en-US" sz="2000" i="1" kern="0" dirty="0">
              <a:solidFill>
                <a:srgbClr val="7030A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p:txBody>
      </p:sp>
      <p:sp>
        <p:nvSpPr>
          <p:cNvPr id="15" name="TextBox 14"/>
          <p:cNvSpPr txBox="1"/>
          <p:nvPr/>
        </p:nvSpPr>
        <p:spPr>
          <a:xfrm>
            <a:off x="6180001" y="2667794"/>
            <a:ext cx="2592376" cy="400110"/>
          </a:xfrm>
          <a:prstGeom prst="rect">
            <a:avLst/>
          </a:prstGeom>
          <a:noFill/>
        </p:spPr>
        <p:txBody>
          <a:bodyPr wrap="none" rtlCol="0">
            <a:spAutoFit/>
          </a:bodyPr>
          <a:lstStyle/>
          <a:p>
            <a:r>
              <a:rPr lang="en-US" sz="2000" b="0" dirty="0">
                <a:latin typeface="+mn-lt"/>
              </a:rPr>
              <a:t>Thread 3 (</a:t>
            </a:r>
            <a:r>
              <a:rPr lang="en-US" sz="2000" b="0" dirty="0" err="1">
                <a:latin typeface="+mn-lt"/>
              </a:rPr>
              <a:t>dequeue</a:t>
            </a:r>
            <a:r>
              <a:rPr lang="en-US" sz="2000" dirty="0" err="1">
                <a:latin typeface="+mn-lt"/>
              </a:rPr>
              <a:t>s</a:t>
            </a:r>
            <a:r>
              <a:rPr lang="en-US" sz="2000" b="0" dirty="0">
                <a:latin typeface="+mn-lt"/>
              </a:rPr>
              <a:t>)</a:t>
            </a:r>
          </a:p>
        </p:txBody>
      </p:sp>
      <p:sp>
        <p:nvSpPr>
          <p:cNvPr id="16" name="Rectangle 2"/>
          <p:cNvSpPr txBox="1">
            <a:spLocks noChangeArrowheads="1"/>
          </p:cNvSpPr>
          <p:nvPr>
            <p:custDataLst>
              <p:tags r:id="rId3"/>
            </p:custDataLst>
          </p:nvPr>
        </p:nvSpPr>
        <p:spPr bwMode="auto">
          <a:xfrm>
            <a:off x="3303268" y="3047206"/>
            <a:ext cx="2487932" cy="2210594"/>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solidFill>
                  <a:schemeClr val="accent2"/>
                </a:solidFill>
                <a:latin typeface="Courier New" pitchFamily="49" charset="0"/>
              </a:rPr>
              <a:t>while</a:t>
            </a:r>
            <a:r>
              <a:rPr lang="en-US" sz="2000" kern="0" dirty="0">
                <a:latin typeface="Courier New" pitchFamily="49" charset="0"/>
              </a:rPr>
              <a:t>(</a:t>
            </a:r>
            <a:r>
              <a:rPr lang="en-US" sz="2000" kern="0" dirty="0" err="1">
                <a:latin typeface="Courier New" pitchFamily="49" charset="0"/>
              </a:rPr>
              <a:t>isFull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this.wait</a:t>
            </a:r>
            <a:r>
              <a:rPr lang="en-US" sz="2000" kern="0" dirty="0">
                <a:solidFill>
                  <a:srgbClr val="FF0000"/>
                </a:solidFill>
                <a:latin typeface="Courier New" pitchFamily="49" charset="0"/>
              </a:rPr>
              <a:t>(); </a:t>
            </a:r>
          </a:p>
          <a:p>
            <a:pPr marL="342900" lvl="0" indent="-342900">
              <a:lnSpc>
                <a:spcPts val="1900"/>
              </a:lnSpc>
              <a:spcBef>
                <a:spcPct val="20000"/>
              </a:spcBef>
              <a:defRPr/>
            </a:pPr>
            <a:endParaRPr lang="en-US" sz="2000" kern="0" dirty="0">
              <a:solidFill>
                <a:srgbClr val="FF0000"/>
              </a:solidFill>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endParaRPr lang="en-US" sz="2000" kern="0" dirty="0">
              <a:latin typeface="Courier New" pitchFamily="49" charset="0"/>
            </a:endParaRPr>
          </a:p>
          <a:p>
            <a:pPr marL="342900" lvl="0" indent="-342900">
              <a:lnSpc>
                <a:spcPts val="1900"/>
              </a:lnSpc>
              <a:spcBef>
                <a:spcPct val="20000"/>
              </a:spcBef>
              <a:defRPr/>
            </a:pPr>
            <a:r>
              <a:rPr lang="en-US" sz="2000" kern="0" dirty="0">
                <a:latin typeface="Courier New" pitchFamily="49" charset="0"/>
              </a:rPr>
              <a: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143000"/>
          </a:xfrm>
        </p:spPr>
        <p:txBody>
          <a:bodyPr/>
          <a:lstStyle/>
          <a:p>
            <a:r>
              <a:rPr lang="en-US" dirty="0"/>
              <a:t>Bug fix #2</a:t>
            </a:r>
          </a:p>
        </p:txBody>
      </p:sp>
      <p:sp>
        <p:nvSpPr>
          <p:cNvPr id="3" name="Content Placeholder 2"/>
          <p:cNvSpPr>
            <a:spLocks noGrp="1"/>
          </p:cNvSpPr>
          <p:nvPr>
            <p:ph idx="1"/>
          </p:nvPr>
        </p:nvSpPr>
        <p:spPr>
          <a:xfrm>
            <a:off x="685800" y="4267200"/>
            <a:ext cx="7772400" cy="2209800"/>
          </a:xfrm>
        </p:spPr>
        <p:txBody>
          <a:bodyPr/>
          <a:lstStyle/>
          <a:p>
            <a:pPr>
              <a:buNone/>
            </a:pPr>
            <a:r>
              <a:rPr lang="en-US" b="1" dirty="0" err="1">
                <a:latin typeface="Courier New" pitchFamily="49" charset="0"/>
                <a:cs typeface="Courier New" pitchFamily="49" charset="0"/>
              </a:rPr>
              <a:t>notifyAll</a:t>
            </a:r>
            <a:r>
              <a:rPr lang="en-US" dirty="0"/>
              <a:t> wakes up all current waiters on the condition variable</a:t>
            </a:r>
          </a:p>
          <a:p>
            <a:pPr>
              <a:buNone/>
            </a:pPr>
            <a:endParaRPr lang="en-US" sz="1000" dirty="0"/>
          </a:p>
          <a:p>
            <a:pPr>
              <a:buNone/>
            </a:pPr>
            <a:r>
              <a:rPr lang="en-US" dirty="0"/>
              <a:t>Guideline: If in any doubt, use </a:t>
            </a:r>
            <a:r>
              <a:rPr lang="en-US" b="1" dirty="0" err="1">
                <a:latin typeface="Courier New" pitchFamily="49" charset="0"/>
                <a:cs typeface="Courier New" pitchFamily="49" charset="0"/>
              </a:rPr>
              <a:t>notifyAll</a:t>
            </a:r>
            <a:r>
              <a:rPr lang="en-US" dirty="0"/>
              <a:t> </a:t>
            </a:r>
          </a:p>
          <a:p>
            <a:pPr lvl="1"/>
            <a:r>
              <a:rPr lang="en-US" dirty="0"/>
              <a:t>Wasteful waking is better than never waking up</a:t>
            </a:r>
            <a:endParaRPr lang="en-US" dirty="0">
              <a:sym typeface="Wingdings" pitchFamily="2" charset="2"/>
            </a:endParaRPr>
          </a:p>
          <a:p>
            <a:endParaRPr lang="en-US" sz="1000" dirty="0">
              <a:sym typeface="Wingdings" pitchFamily="2" charset="2"/>
            </a:endParaRPr>
          </a:p>
          <a:p>
            <a:r>
              <a:rPr lang="en-US" dirty="0">
                <a:sym typeface="Wingdings" pitchFamily="2" charset="2"/>
              </a:rPr>
              <a:t>So why does </a:t>
            </a:r>
            <a:r>
              <a:rPr lang="en-US" b="1" dirty="0">
                <a:latin typeface="Courier New" pitchFamily="49" charset="0"/>
                <a:cs typeface="Courier New" pitchFamily="49" charset="0"/>
                <a:sym typeface="Wingdings" pitchFamily="2" charset="2"/>
              </a:rPr>
              <a:t>notify</a:t>
            </a:r>
            <a:r>
              <a:rPr lang="en-US" dirty="0">
                <a:sym typeface="Wingdings" pitchFamily="2" charset="2"/>
              </a:rPr>
              <a:t> exist?</a:t>
            </a:r>
          </a:p>
          <a:p>
            <a:pPr lvl="1"/>
            <a:r>
              <a:rPr lang="en-US" dirty="0">
                <a:sym typeface="Wingdings" pitchFamily="2" charset="2"/>
              </a:rPr>
              <a:t>Well, it is faster when correct…</a:t>
            </a:r>
          </a:p>
        </p:txBody>
      </p:sp>
      <p:sp>
        <p:nvSpPr>
          <p:cNvPr id="5" name="Slide Number Placeholder 4"/>
          <p:cNvSpPr>
            <a:spLocks noGrp="1"/>
          </p:cNvSpPr>
          <p:nvPr>
            <p:ph type="sldNum" sz="quarter" idx="11"/>
          </p:nvPr>
        </p:nvSpPr>
        <p:spPr/>
        <p:txBody>
          <a:bodyPr/>
          <a:lstStyle/>
          <a:p>
            <a:fld id="{3B048AC8-D41E-4C7B-8EE3-A52489AA1F05}" type="slidenum">
              <a:rPr lang="en-US" smtClean="0"/>
              <a:pPr/>
              <a:t>11</a:t>
            </a:fld>
            <a:endParaRPr lang="en-US"/>
          </a:p>
        </p:txBody>
      </p:sp>
      <p:sp>
        <p:nvSpPr>
          <p:cNvPr id="7" name="Rectangle 2"/>
          <p:cNvSpPr txBox="1">
            <a:spLocks noChangeArrowheads="1"/>
          </p:cNvSpPr>
          <p:nvPr>
            <p:custDataLst>
              <p:tags r:id="rId1"/>
            </p:custDataLst>
          </p:nvPr>
        </p:nvSpPr>
        <p:spPr bwMode="auto">
          <a:xfrm>
            <a:off x="1371600" y="1143000"/>
            <a:ext cx="6705600" cy="3048000"/>
          </a:xfrm>
          <a:prstGeom prst="rect">
            <a:avLst/>
          </a:prstGeom>
          <a:solidFill>
            <a:srgbClr val="FFFF99"/>
          </a:solid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nSpc>
                <a:spcPts val="1900"/>
              </a:lnSpc>
              <a:spcBef>
                <a:spcPct val="20000"/>
              </a:spcBef>
              <a:defRPr/>
            </a:pPr>
            <a:r>
              <a:rPr lang="en-US" sz="2000" kern="0" dirty="0">
                <a:solidFill>
                  <a:schemeClr val="accent2"/>
                </a:solidFill>
                <a:latin typeface="Courier New" pitchFamily="49" charset="0"/>
              </a:rPr>
              <a:t>synchronized</a:t>
            </a:r>
            <a:r>
              <a:rPr lang="en-US" sz="2000" kern="0" dirty="0">
                <a:latin typeface="Courier New" pitchFamily="49" charset="0"/>
              </a:rPr>
              <a:t> void </a:t>
            </a:r>
            <a:r>
              <a:rPr lang="en-US" sz="2000" kern="0" dirty="0" err="1">
                <a:solidFill>
                  <a:srgbClr val="119F33"/>
                </a:solidFill>
                <a:latin typeface="Courier New" pitchFamily="49" charset="0"/>
              </a:rPr>
              <a:t>enqueue</a:t>
            </a:r>
            <a:r>
              <a:rPr lang="en-US" sz="2000" kern="0" dirty="0">
                <a:latin typeface="Courier New" pitchFamily="49" charset="0"/>
              </a:rPr>
              <a:t>(E </a:t>
            </a:r>
            <a:r>
              <a:rPr lang="en-US" sz="2000" kern="0" dirty="0" err="1">
                <a:solidFill>
                  <a:srgbClr val="119F33"/>
                </a:solidFill>
                <a:latin typeface="Courier New" pitchFamily="49" charset="0"/>
              </a:rPr>
              <a:t>elt</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buffer was empty</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this.notifyAll</a:t>
            </a:r>
            <a:r>
              <a:rPr lang="en-US" sz="2000" kern="0" dirty="0">
                <a:solidFill>
                  <a:srgbClr val="FF0000"/>
                </a:solidFill>
                <a:latin typeface="Courier New" pitchFamily="49" charset="0"/>
              </a:rPr>
              <a:t>();</a:t>
            </a:r>
            <a:r>
              <a:rPr lang="en-US" sz="2000" kern="0" dirty="0">
                <a:latin typeface="Courier New" pitchFamily="49" charset="0"/>
              </a:rPr>
              <a:t> </a:t>
            </a:r>
            <a:r>
              <a:rPr lang="en-US" sz="2000" kern="0" dirty="0">
                <a:solidFill>
                  <a:srgbClr val="7030A0"/>
                </a:solidFill>
                <a:latin typeface="Courier New" pitchFamily="49" charset="0"/>
              </a:rPr>
              <a:t>// wake everybody up</a:t>
            </a:r>
          </a:p>
          <a:p>
            <a:pPr marL="342900" lvl="0" indent="-342900">
              <a:lnSpc>
                <a:spcPts val="1900"/>
              </a:lnSpc>
              <a:spcBef>
                <a:spcPct val="20000"/>
              </a:spcBef>
              <a:defRPr/>
            </a:pPr>
            <a:r>
              <a:rPr lang="en-US" sz="2000" kern="0" dirty="0">
                <a:latin typeface="Courier New" pitchFamily="49" charset="0"/>
              </a:rPr>
              <a:t>}</a:t>
            </a:r>
          </a:p>
          <a:p>
            <a:pPr marL="342900" lvl="0" indent="-342900">
              <a:lnSpc>
                <a:spcPts val="1900"/>
              </a:lnSpc>
              <a:spcBef>
                <a:spcPct val="20000"/>
              </a:spcBef>
              <a:defRPr/>
            </a:pPr>
            <a:r>
              <a:rPr lang="en-US" sz="2000" kern="0" dirty="0">
                <a:solidFill>
                  <a:schemeClr val="accent2"/>
                </a:solidFill>
                <a:latin typeface="Courier New" pitchFamily="49" charset="0"/>
              </a:rPr>
              <a:t>synchronized</a:t>
            </a:r>
            <a:r>
              <a:rPr lang="en-US" sz="2000" kern="0" dirty="0">
                <a:latin typeface="Courier New" pitchFamily="49" charset="0"/>
              </a:rPr>
              <a:t> E </a:t>
            </a:r>
            <a:r>
              <a:rPr lang="en-US" sz="2000" kern="0" dirty="0" err="1">
                <a:solidFill>
                  <a:srgbClr val="119F33"/>
                </a:solidFill>
                <a:latin typeface="Courier New" pitchFamily="49" charset="0"/>
              </a:rPr>
              <a:t>dequeue</a:t>
            </a: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p>
          <a:p>
            <a:pPr marL="342900" lvl="0" indent="-342900">
              <a:lnSpc>
                <a:spcPts val="1900"/>
              </a:lnSpc>
              <a:spcBef>
                <a:spcPct val="20000"/>
              </a:spcBef>
              <a:defRPr/>
            </a:pPr>
            <a:r>
              <a:rPr lang="en-US" sz="2000" kern="0" dirty="0">
                <a:latin typeface="Courier New" pitchFamily="49" charset="0"/>
              </a:rPr>
              <a:t>  </a:t>
            </a:r>
            <a:r>
              <a:rPr lang="en-US" sz="2000" kern="0" dirty="0">
                <a:solidFill>
                  <a:schemeClr val="accent2"/>
                </a:solidFill>
                <a:latin typeface="Courier New" pitchFamily="49" charset="0"/>
              </a:rPr>
              <a:t>if</a:t>
            </a:r>
            <a:r>
              <a:rPr lang="en-US" sz="2000" kern="0" dirty="0">
                <a:latin typeface="Courier New" pitchFamily="49" charset="0"/>
              </a:rPr>
              <a:t>(</a:t>
            </a:r>
            <a:r>
              <a:rPr lang="en-US" sz="2000" i="1" kern="0" dirty="0">
                <a:latin typeface="Courier New" pitchFamily="49" charset="0"/>
              </a:rPr>
              <a:t>buffer was full</a:t>
            </a: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r>
              <a:rPr lang="en-US" sz="2000" kern="0" dirty="0" err="1">
                <a:solidFill>
                  <a:srgbClr val="FF0000"/>
                </a:solidFill>
                <a:latin typeface="Courier New" pitchFamily="49" charset="0"/>
              </a:rPr>
              <a:t>this.notifyAll</a:t>
            </a:r>
            <a:r>
              <a:rPr lang="en-US" sz="2000" kern="0" dirty="0">
                <a:solidFill>
                  <a:srgbClr val="FF0000"/>
                </a:solidFill>
                <a:latin typeface="Courier New" pitchFamily="49" charset="0"/>
              </a:rPr>
              <a:t>();</a:t>
            </a:r>
            <a:r>
              <a:rPr lang="en-US" sz="2000" kern="0" dirty="0">
                <a:latin typeface="Courier New" pitchFamily="49" charset="0"/>
              </a:rPr>
              <a:t> </a:t>
            </a:r>
            <a:r>
              <a:rPr lang="en-US" sz="2000" kern="0" dirty="0">
                <a:solidFill>
                  <a:srgbClr val="7030A0"/>
                </a:solidFill>
                <a:latin typeface="Courier New" pitchFamily="49" charset="0"/>
              </a:rPr>
              <a:t>// wake everybody up</a:t>
            </a:r>
            <a:endParaRPr lang="en-US" sz="2000" kern="0" dirty="0">
              <a:latin typeface="Courier New" pitchFamily="49" charset="0"/>
            </a:endParaRPr>
          </a:p>
          <a:p>
            <a:pPr marL="342900" lvl="0" indent="-342900">
              <a:lnSpc>
                <a:spcPts val="1900"/>
              </a:lnSpc>
              <a:spcBef>
                <a:spcPct val="20000"/>
              </a:spcBef>
              <a:defRPr/>
            </a:pPr>
            <a:r>
              <a:rPr lang="en-US" sz="2000" kern="0" dirty="0">
                <a:latin typeface="Courier New" pitchFamily="49" charset="0"/>
              </a:rPr>
              <a:t>}</a:t>
            </a:r>
          </a:p>
          <a:p>
            <a:pPr marL="342900" lvl="0" indent="-342900">
              <a:lnSpc>
                <a:spcPts val="1900"/>
              </a:lnSpc>
              <a:spcBef>
                <a:spcPct val="20000"/>
              </a:spcBef>
              <a:defRPr/>
            </a:pPr>
            <a:r>
              <a:rPr lang="en-US" sz="2000" kern="0" dirty="0">
                <a:latin typeface="Courier New" pitchFamily="49" charset="0"/>
              </a:rPr>
              <a:t>    </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dan_design_template">
  <a:themeElements>
    <a:clrScheme name="dan_design_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n_design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txDef>
      <a:spPr>
        <a:noFill/>
      </a:spPr>
      <a:bodyPr wrap="none" rtlCol="0">
        <a:spAutoFit/>
      </a:bodyPr>
      <a:lstStyle>
        <a:defPPr>
          <a:defRPr sz="2000" b="0" dirty="0" err="1" smtClean="0">
            <a:latin typeface="+mn-lt"/>
          </a:defRPr>
        </a:defPPr>
      </a:lstStyle>
    </a:txDef>
  </a:objectDefaults>
  <a:extraClrSchemeLst>
    <a:extraClrScheme>
      <a:clrScheme name="dan_design_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n_design_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n_design_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n_design_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n_design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n_design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n_design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50083</TotalTime>
  <Words>979</Words>
  <Application>Microsoft Macintosh PowerPoint</Application>
  <PresentationFormat>화면 슬라이드 쇼(4:3)</PresentationFormat>
  <Paragraphs>223</Paragraphs>
  <Slides>11</Slides>
  <Notes>11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11</vt:i4>
      </vt:variant>
    </vt:vector>
  </HeadingPairs>
  <TitlesOfParts>
    <vt:vector size="16" baseType="lpstr">
      <vt:lpstr>Arial</vt:lpstr>
      <vt:lpstr>Courier New</vt:lpstr>
      <vt:lpstr>Times New Roman</vt:lpstr>
      <vt:lpstr>Wingdings</vt:lpstr>
      <vt:lpstr>dan_design_template</vt:lpstr>
      <vt:lpstr>Producer-Consumer Problem</vt:lpstr>
      <vt:lpstr>Producer-Consumer Problem</vt:lpstr>
      <vt:lpstr>Code, attempt 1</vt:lpstr>
      <vt:lpstr>Waiting</vt:lpstr>
      <vt:lpstr>What we want</vt:lpstr>
      <vt:lpstr>Java approach: not quite right</vt:lpstr>
      <vt:lpstr>Key ideas</vt:lpstr>
      <vt:lpstr>Bug #1</vt:lpstr>
      <vt:lpstr>Bug fix #1</vt:lpstr>
      <vt:lpstr>Bug #2</vt:lpstr>
      <vt:lpstr>Bug fix #2</vt:lpstr>
    </vt:vector>
  </TitlesOfParts>
  <Company>UW</Company>
  <LinksUpToDate>false</LinksUpToDate>
  <SharedDoc>false</SharedDoc>
  <HyperlinksChanged>false</HyperlinksChanged>
  <AppVersion>16.0010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Languages &amp;  Software Engineering</dc:title>
  <dc:creator>Dan Grossman</dc:creator>
  <cp:lastModifiedBy>Microsoft Office User</cp:lastModifiedBy>
  <cp:revision>2145</cp:revision>
  <dcterms:created xsi:type="dcterms:W3CDTF">2009-03-13T20:43:19Z</dcterms:created>
  <dcterms:modified xsi:type="dcterms:W3CDTF">2018-03-26T08:04:43Z</dcterms:modified>
</cp:coreProperties>
</file>