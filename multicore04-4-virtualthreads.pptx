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8"/>
  </p:notesMasterIdLst>
  <p:sldIdLst>
    <p:sldId id="346" r:id="rId2"/>
    <p:sldId id="347" r:id="rId3"/>
    <p:sldId id="411" r:id="rId4"/>
    <p:sldId id="408" r:id="rId5"/>
    <p:sldId id="409" r:id="rId6"/>
    <p:sldId id="410" r:id="rId7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6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9BA1D7-825D-A355-D246-68D7BAEB85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E26C71-5369-F202-EBCB-A4A7FF77F8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DCD68EF-8BA2-A344-9169-24134341C25C}" type="datetimeFigureOut">
              <a:rPr lang="ko-KR" altLang="en-US"/>
              <a:pPr>
                <a:defRPr/>
              </a:pPr>
              <a:t>2026. 4. 8.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B36C44-8299-9876-DFC4-026165C89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A0D0964-B8B2-DB37-9EDB-845E9CF89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571D1-77B7-CD7D-7384-4858C93B34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3FC490-DD5A-379B-7D03-16ACAC17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4AAE8EF-E34F-124D-BE9D-E7E9FD996D1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A72863-E815-A258-155B-8358124B79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F69F82D-B553-C258-A08F-CFA18DA0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C8C0862-6FAE-45B1-0840-1595040E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3ED26D8-5C56-2CD9-7E00-E5AA3860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D50D4C9-A0C7-7A15-7231-F96A2A5B3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638CCD2-AF86-BCEE-E18F-BCE5CA78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64D0B8B-55E0-80A6-9D9A-031F5479C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C64C80-5E2F-D93C-52A2-52452C3A0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DB1203D-B712-1392-F0B6-871A0401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CAABC64-8A8A-C7FF-C839-BEA7162F0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3C1A9131-BC5B-6AC3-72E7-41EDB1A6EF1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F12448-BC63-F54F-CAFC-EA0B3335F1A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4898A19-464E-6E93-9C41-B5D8423FEF9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EDDA4CD-9CA2-9770-E4BA-CDF702C5FA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E9A8C89-4A4D-8295-11B8-5D4F304E575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E9E2ABF-DA89-7190-C720-701AFCAB664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150A33C-A27A-2ABD-48E3-190D240837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8A15976-E301-358E-B621-FD9DE5F3F9F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0AC8411-1B11-7D65-6491-359ED0B14D6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39F28824-2E1D-8DEC-20BF-2FDECACD4B5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1182DB7D-4872-B913-9FE8-CD8465EA6B7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953C4D75-9DD8-1C42-1DDB-45A7834C737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144A0DF9-12DB-F67F-3B86-3212849C55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21A9A82-152D-B51E-20F8-E803EE235FA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B04C9EE-5351-8F87-7D9A-F188D39AF2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6400D82-120D-C765-6A38-B6AEA71C4C3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6D5B5A-CDB1-631A-0309-063FF2445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1BCFDF7F-ABCA-A128-7C30-4DBC3FD6C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DC7BC-5C9B-A147-8093-0EADF49428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4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001F2A3D-A871-E6B3-94B2-E32BC2B58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6B4682-4316-EE24-126C-6345D284A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102BA2A-0EA7-1CA7-A6B9-02FCF624A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167313-A246-C348-B658-69E557C4BC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009BDA1-2CBF-96A0-F8AA-29D15C519A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F4FD166-D253-D199-D8E7-4A4C7E401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BEF18B0-24D8-F342-5F71-47962DB4E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5BF58-14E8-4041-98AA-727C60246E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781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D96BC66-44E5-4DC0-3E83-153D827E8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0CB238-27BD-8D9A-10CE-02018438B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A7D15BF-0AA1-C536-A7EA-FEA71A470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7B0D-1E94-AE4D-A2C3-7D677A6890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048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B572E32-3CD2-EBE9-EE4D-ED2AD476A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CA82EB79-8C0E-9056-1A3E-99129069CC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3F9944B6-96BE-246C-7DB3-F7F0FF998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4605DC-BBBC-6A40-A1AA-92F8D0A804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2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5D0A4DB-2ACC-445A-2942-1E6B5C97C3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1AC29242-445E-3F8C-BD04-0D44BC4BA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642C340-401C-9877-4087-E32D8F6B1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D788A-50FB-E043-A527-0F206E53E25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801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7F44BFE4-4A6E-676F-F7DC-F9DF7A025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AEB2450B-FD0C-2837-571B-122850304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451DB1F9-A09B-9074-38CF-5CF72DCEB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405D6-068B-7E40-A652-BA8108DCF7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31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906B763-AE05-B1BF-7A66-0E1FACD7A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4786D6A-C5C9-FB24-6172-84C89019D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C64C47D-916D-70B9-FA0D-EC06A4DFC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2C158-FD9B-AE49-8661-68A65C8CC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434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E3AC20-CD52-1277-C857-B0F175000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FA219C55-1E11-F48E-6C72-0F721CD02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33240-536A-4B75-14D2-FC52B967D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7303C8-8317-C444-B850-15A583DAE8B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55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36624A0-DD76-6CDC-6A32-2799DB402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6CB873D-7D02-B915-0F35-D0350F6B4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1F9D969-6208-B22C-96D1-20DD61424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1A3A90-92F4-9049-ACDD-3CD4C967AF8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04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B04E6E7-A2BE-551A-6861-358A9E4C5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80010EC-92E8-7E65-8695-013BA3196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9A86706-F33A-0B07-EA22-47A8F38B3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177BD-EA9F-494A-AEEC-D50CBF8A757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141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4975153-4E26-E552-E915-86FEBCF428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3E012EA5-3288-CF39-6896-360381407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463071D-5251-AD29-2F5F-2403C5AF0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39B21-F017-3847-A0BA-030DEEFC20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723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E245632-9D49-B2A9-3F16-FE5975C375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2BADC20-A1A4-872B-C9D0-A40F3C8C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4B7CF626-FEBA-0E73-B060-185D63409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F3E1E36-2655-4798-AB0C-F1701E781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AB1C93D9-C085-A312-BA99-BD5A7DB6E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46145E16-9E7E-57DB-025F-E755F65F8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01E74A95-0E55-A197-FB4E-01AD5A6D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75306C6E-A487-BBCF-7032-FCD5511B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A0DD77E-01ED-2D82-A98F-37A57B49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7FFC89F-EFA9-06B5-A3CD-ADDC809A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F6468AB1-D110-04A0-E77D-CAE58F8FE7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F76102C-BAD6-AF00-5EA2-ABC2E5AD4EE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2A6DE93-BA71-ABA4-65D4-EEB47FD4BD5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5F476FC-DEDB-B99F-74C2-1F1AC817A26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CD45B6BC-C671-1906-A430-A3E4EA2EBC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76D9E28-E627-6EDF-46C8-F12406CD131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5CB13057-A7ED-2333-0A23-8B7EDEEA547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FA2CB2E-E5D3-F94C-7ED4-B130B7FE36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2A79425A-0444-935B-106C-7780A572CF0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852BE006-FFA2-8DB9-7FC4-1FB827BA8C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66098EC8-7EE4-2446-64F2-2B78DC21E0A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2E1C7422-D82F-C923-B630-BE688EB672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B115737C-20AB-C66E-E630-159652B44E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C8977A74-147D-3E2B-5703-6587B385445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35B3C201-0A11-5D8C-2BBC-037635E6BA1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C9C6C9FC-88B0-05D9-838D-0F5D7B0B6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D2488A94-DA87-3FA9-B211-9913DEB9E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3AFB4698-4E39-0D73-7460-FFE31ADEA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30064035-6F74-9BCC-7DB5-F1A0560A88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3B1ABEE2-B3F5-75BF-C6C2-65C1612C45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6DBF930-27F2-094F-A8F7-EB1FCA0E326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FDA20F-4DBD-0A84-D59D-B35E43173A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/>
              <a:t>Lecture 4-3 :</a:t>
            </a:r>
            <a:br>
              <a:rPr lang="en-US" altLang="ko-KR" sz="3600" b="1" dirty="0"/>
            </a:br>
            <a:r>
              <a:rPr lang="en-US" altLang="ko-KR" sz="3600" b="1" dirty="0"/>
              <a:t>Java Virtual Threads</a:t>
            </a: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7DD93DAF-0946-E186-AF4E-5A431AA28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420" y="6248345"/>
            <a:ext cx="35509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dirty="0"/>
              <a:t>Courtesy : Java in </a:t>
            </a:r>
            <a:r>
              <a:rPr lang="en-US" altLang="ko-KR" sz="1200" dirty="0" err="1"/>
              <a:t>Jenkov.com</a:t>
            </a:r>
            <a:r>
              <a:rPr lang="en-US" altLang="ko-KR" sz="1200" dirty="0"/>
              <a:t> (Jacob Jenkov)</a:t>
            </a:r>
            <a:endParaRPr lang="ko-KR" altLang="en-US" sz="1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6178D9C3-6FF3-CF80-0245-AF597207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Java Virtual Threads</a:t>
            </a:r>
            <a:endParaRPr lang="ko-KR" altLang="en-US" b="1" u="sng" dirty="0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5722E8A0-BA66-7A5C-C80E-D19E22F2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Much more lightweight (cheap to start)</a:t>
            </a:r>
          </a:p>
          <a:p>
            <a:endParaRPr lang="en-US" altLang="ko-KR" sz="2400" dirty="0"/>
          </a:p>
          <a:p>
            <a:r>
              <a:rPr lang="en-US" altLang="ko-KR" sz="2400" dirty="0"/>
              <a:t>You can have far more virtual threads running in your program than platform threads</a:t>
            </a:r>
          </a:p>
          <a:p>
            <a:endParaRPr lang="en-US" altLang="ko-KR" sz="2400" dirty="0"/>
          </a:p>
          <a:p>
            <a:r>
              <a:rPr lang="en-US" altLang="ko-KR" sz="2400" dirty="0"/>
              <a:t>With more virtual threads, you can do more blocking IO in parallel than with fewer platform threads. </a:t>
            </a:r>
          </a:p>
          <a:p>
            <a:endParaRPr lang="en-US" altLang="ko-KR" sz="2400" dirty="0"/>
          </a:p>
          <a:p>
            <a:r>
              <a:rPr lang="en-US" altLang="ko-KR" sz="2400" dirty="0"/>
              <a:t>Compatibility</a:t>
            </a:r>
          </a:p>
          <a:p>
            <a:pPr lvl="1"/>
            <a:r>
              <a:rPr lang="en-US" altLang="ko-KR" sz="2000" dirty="0"/>
              <a:t>Implementation based on existing Java Thread API</a:t>
            </a:r>
          </a:p>
          <a:p>
            <a:pPr lvl="1"/>
            <a:r>
              <a:rPr lang="en-US" altLang="ko-KR" sz="2000" dirty="0"/>
              <a:t>Requires minimal changes</a:t>
            </a:r>
          </a:p>
          <a:p>
            <a:endParaRPr lang="en-US" altLang="ko-KR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ED418-4F5B-BA71-D481-B16F34B5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lang="en-US" altLang="ko-KR" sz="3600" b="1" u="sng" dirty="0"/>
              <a:t>Virtual threads vs Platform threads</a:t>
            </a:r>
            <a:endParaRPr kumimoji="1" lang="ko-KR" altLang="en-US" sz="3600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1D976-37F2-C4E7-665B-17BA3A44F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96752"/>
            <a:ext cx="8507288" cy="4525963"/>
          </a:xfrm>
        </p:spPr>
        <p:txBody>
          <a:bodyPr/>
          <a:lstStyle/>
          <a:p>
            <a:r>
              <a:rPr lang="en" altLang="ko-KR" b="1" dirty="0"/>
              <a:t>Platform threads</a:t>
            </a:r>
          </a:p>
          <a:p>
            <a:pPr lvl="1"/>
            <a:r>
              <a:rPr lang="en" altLang="ko-KR" sz="2400" dirty="0"/>
              <a:t>Backed directly by OS threads. </a:t>
            </a:r>
          </a:p>
          <a:p>
            <a:pPr lvl="1"/>
            <a:r>
              <a:rPr lang="en" altLang="ko-KR" sz="2400" dirty="0"/>
              <a:t>More expensive to create and keep around. </a:t>
            </a:r>
          </a:p>
          <a:p>
            <a:pPr lvl="1"/>
            <a:r>
              <a:rPr lang="en" altLang="ko-KR" sz="2400" dirty="0"/>
              <a:t>Good for a moderate number of long-lived threads. </a:t>
            </a:r>
          </a:p>
          <a:p>
            <a:pPr lvl="1"/>
            <a:r>
              <a:rPr lang="en" altLang="ko-KR" sz="2400" dirty="0"/>
              <a:t>Fine for CPU-bound worker pools sized near the number of cores. </a:t>
            </a:r>
          </a:p>
          <a:p>
            <a:r>
              <a:rPr lang="en" altLang="ko-KR" b="1" dirty="0"/>
              <a:t>Virtual threads</a:t>
            </a:r>
          </a:p>
          <a:p>
            <a:pPr lvl="1"/>
            <a:r>
              <a:rPr lang="en" altLang="ko-KR" dirty="0"/>
              <a:t>Managed by the JVM. </a:t>
            </a:r>
          </a:p>
          <a:p>
            <a:pPr lvl="1"/>
            <a:r>
              <a:rPr lang="en" altLang="ko-KR" dirty="0"/>
              <a:t>Much cheaper to create. </a:t>
            </a:r>
          </a:p>
          <a:p>
            <a:pPr lvl="1"/>
            <a:r>
              <a:rPr lang="en" altLang="ko-KR" dirty="0"/>
              <a:t>Ideal for large numbers of mostly waiting tasks. </a:t>
            </a:r>
          </a:p>
          <a:p>
            <a:pPr lvl="1"/>
            <a:r>
              <a:rPr lang="en" altLang="ko-KR" dirty="0"/>
              <a:t>Best for request-per-thread or task-per-thread designs. 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3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D1A09-EE8A-70E0-5A43-905BADA8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ko-KR" b="1" u="sng" dirty="0"/>
              <a:t>Java Virtual Thread Diagram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2B2A7-BF04-878A-8AA7-C13368A6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057" y="1772816"/>
            <a:ext cx="4040296" cy="3888432"/>
          </a:xfrm>
        </p:spPr>
        <p:txBody>
          <a:bodyPr/>
          <a:lstStyle/>
          <a:p>
            <a:r>
              <a:rPr kumimoji="1" lang="en-US" altLang="ko-KR" sz="1800" dirty="0"/>
              <a:t>Mounting</a:t>
            </a:r>
          </a:p>
          <a:p>
            <a:pPr lvl="1"/>
            <a:r>
              <a:rPr lang="en-US" altLang="ko-KR" sz="1400" dirty="0"/>
              <a:t>When a virtual thread starts, JVM mounts it onto a platform thread</a:t>
            </a:r>
            <a:endParaRPr kumimoji="1" lang="en-US" altLang="ko-KR" sz="1400" dirty="0"/>
          </a:p>
          <a:p>
            <a:r>
              <a:rPr kumimoji="1" lang="en-US" altLang="ko-KR" sz="1800" dirty="0"/>
              <a:t>Platform thread can only execute a single virtual thread at a time</a:t>
            </a:r>
          </a:p>
          <a:p>
            <a:r>
              <a:rPr lang="en-US" altLang="ko-KR" sz="1800" dirty="0"/>
              <a:t>It can switch to executing a different virtual thread when currently executed virtual thread makes a blocking call (e.g. network IO)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5705BA-5235-CF21-3B76-FAEC28962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8" y="1395815"/>
            <a:ext cx="5048408" cy="45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8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1A3B-ADD3-0D4D-036B-E7DF26EB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A6AE1-A71D-428C-A433-C5F3F4B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ko-KR" b="1" u="sng" dirty="0"/>
              <a:t>Java Virtual Thread Diagram</a:t>
            </a:r>
            <a:endParaRPr kumimoji="1" lang="ko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719235-D305-622D-A85E-F4251659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6057" y="1268760"/>
            <a:ext cx="4040296" cy="6221288"/>
          </a:xfrm>
        </p:spPr>
        <p:txBody>
          <a:bodyPr/>
          <a:lstStyle/>
          <a:p>
            <a:r>
              <a:rPr kumimoji="1" lang="en-US" altLang="ko-KR" sz="1800" dirty="0"/>
              <a:t>New virtual threads are queued up until a platform thread is ready to execute it. </a:t>
            </a:r>
          </a:p>
          <a:p>
            <a:r>
              <a:rPr kumimoji="1" lang="en-US" altLang="ko-KR" sz="1800" dirty="0"/>
              <a:t>When a platform thread becomes ready, it will take a virtual thread</a:t>
            </a:r>
            <a:r>
              <a:rPr lang="en-US" altLang="ko-KR" sz="1800" dirty="0"/>
              <a:t>.</a:t>
            </a:r>
          </a:p>
          <a:p>
            <a:r>
              <a:rPr kumimoji="1" lang="en-US" altLang="ko-KR" sz="1800" dirty="0"/>
              <a:t>A virtual thread that executes blocking call will be unmounted. In the meantime, the platform thread can execute another virtual thread</a:t>
            </a:r>
          </a:p>
          <a:p>
            <a:endParaRPr lang="en-US" altLang="ko-KR" sz="1800" dirty="0"/>
          </a:p>
          <a:p>
            <a:r>
              <a:rPr kumimoji="1" lang="en-US" altLang="ko-KR" sz="1800" dirty="0"/>
              <a:t>The platform thread does not switch between executing multiple virtual threads – except in the case of blocking network calls.</a:t>
            </a:r>
            <a:endParaRPr kumimoji="1"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8B3B94-6DA0-9DCC-F701-0F4346F9B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8" y="1395815"/>
            <a:ext cx="5048408" cy="45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1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35894-3598-CC4F-0DC9-5C24A249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1824"/>
            <a:ext cx="7807896" cy="1143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ko-KR" sz="2400" b="1" u="sng" dirty="0">
                <a:solidFill>
                  <a:schemeClr val="tx1"/>
                </a:solidFill>
              </a:rPr>
              <a:t>Creating a Java Virtual Thread</a:t>
            </a:r>
            <a:endParaRPr kumimoji="1" lang="ko-KR" altLang="en-US" sz="2400" b="1" u="sng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33C203-3640-F8FA-2F46-90F1A2F7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3285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Runnable runnable = () -&gt; {</a:t>
            </a:r>
          </a:p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for(int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&lt;10;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("Index: " +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vThread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Thread.ofVirtual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().start(runnable);</a:t>
            </a:r>
          </a:p>
          <a:p>
            <a:pPr marL="0" indent="0">
              <a:buNone/>
            </a:pPr>
            <a:endParaRPr kumimoji="1" lang="ko-KR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31566-78AA-270D-760D-7274263BC4EC}"/>
              </a:ext>
            </a:extLst>
          </p:cNvPr>
          <p:cNvSpPr txBox="1"/>
          <p:nvPr/>
        </p:nvSpPr>
        <p:spPr>
          <a:xfrm>
            <a:off x="467544" y="4353431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400" b="1" u="sng" dirty="0"/>
              <a:t>Join a Virtual Thread</a:t>
            </a:r>
            <a:endParaRPr kumimoji="1" lang="ko-KR" altLang="en-US" sz="2400" b="1" u="sng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B20535E-C571-80F8-1EBF-352DF21ECA4E}"/>
              </a:ext>
            </a:extLst>
          </p:cNvPr>
          <p:cNvSpPr txBox="1">
            <a:spLocks/>
          </p:cNvSpPr>
          <p:nvPr/>
        </p:nvSpPr>
        <p:spPr bwMode="auto">
          <a:xfrm>
            <a:off x="467544" y="4797152"/>
            <a:ext cx="8229600" cy="6800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vThread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Thread.ofVirtual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().start(runnable);</a:t>
            </a:r>
          </a:p>
          <a:p>
            <a:pPr marL="0" indent="0">
              <a:buNone/>
            </a:pP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vThread.join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A4564-27CB-DD6D-94E7-58BC0F8FCF5D}"/>
              </a:ext>
            </a:extLst>
          </p:cNvPr>
          <p:cNvSpPr txBox="1"/>
          <p:nvPr/>
        </p:nvSpPr>
        <p:spPr>
          <a:xfrm>
            <a:off x="467544" y="5559623"/>
            <a:ext cx="7364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400" b="1" u="sng" dirty="0"/>
              <a:t>Creating a thread pool that uses virtual threads</a:t>
            </a:r>
            <a:endParaRPr kumimoji="1" lang="ko-KR" altLang="en-US" sz="2400" b="1" u="sng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51E95AE-1DD5-CFF6-27FE-FAD0D9D214FF}"/>
              </a:ext>
            </a:extLst>
          </p:cNvPr>
          <p:cNvSpPr txBox="1">
            <a:spLocks/>
          </p:cNvSpPr>
          <p:nvPr/>
        </p:nvSpPr>
        <p:spPr bwMode="auto">
          <a:xfrm>
            <a:off x="467544" y="6061298"/>
            <a:ext cx="8229600" cy="68007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fontAlgn="t" latinLnBrk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ExecutorService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executor = </a:t>
            </a:r>
            <a:r>
              <a:rPr lang="en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Executors.newVirtualThreadPerTaskExecutor</a:t>
            </a:r>
            <a:r>
              <a:rPr lang="en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59158515"/>
      </p:ext>
    </p:extLst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3304</TotalTime>
  <Words>364</Words>
  <Application>Microsoft Macintosh PowerPoint</Application>
  <PresentationFormat>화면 슬라이드 쇼(4:3)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맑은 고딕</vt:lpstr>
      <vt:lpstr>Arial</vt:lpstr>
      <vt:lpstr>Courier New</vt:lpstr>
      <vt:lpstr>Wingdings</vt:lpstr>
      <vt:lpstr>네모의 미</vt:lpstr>
      <vt:lpstr>Lecture 4-3 : Java Virtual Threads</vt:lpstr>
      <vt:lpstr>Java Virtual Threads</vt:lpstr>
      <vt:lpstr>Virtual threads vs Platform threads</vt:lpstr>
      <vt:lpstr>Java Virtual Thread Diagram</vt:lpstr>
      <vt:lpstr>Java Virtual Thread Diagram</vt:lpstr>
      <vt:lpstr>Creating a Java Virtual Thread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210</cp:revision>
  <dcterms:created xsi:type="dcterms:W3CDTF">2008-03-06T00:32:01Z</dcterms:created>
  <dcterms:modified xsi:type="dcterms:W3CDTF">2026-04-08T08:44:08Z</dcterms:modified>
</cp:coreProperties>
</file>