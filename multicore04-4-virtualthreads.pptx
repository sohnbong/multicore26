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ompatMode="1" saveSubsetFonts="1">
  <p:sldMasterIdLst>
    <p:sldMasterId id="2147483655" r:id="rId1"/>
  </p:sldMasterIdLst>
  <p:notesMasterIdLst>
    <p:notesMasterId r:id="rId9"/>
  </p:notesMasterIdLst>
  <p:sldIdLst>
    <p:sldId id="346" r:id="rId2"/>
    <p:sldId id="347" r:id="rId3"/>
    <p:sldId id="412" r:id="rId4"/>
    <p:sldId id="411" r:id="rId5"/>
    <p:sldId id="408" r:id="rId6"/>
    <p:sldId id="409" r:id="rId7"/>
    <p:sldId id="410" r:id="rId8"/>
  </p:sldIdLst>
  <p:sldSz cx="9144000" cy="6858000" type="screen4x3"/>
  <p:notesSz cx="7099300" cy="1023461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>
      <p:cViewPr varScale="1">
        <p:scale>
          <a:sx n="121" d="100"/>
          <a:sy n="121" d="100"/>
        </p:scale>
        <p:origin x="1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4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C9BA1D7-825D-A355-D246-68D7BAEB857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26C71-5369-F202-EBCB-A4A7FF77F850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EDCD68EF-8BA2-A344-9169-24134341C25C}" type="datetimeFigureOut">
              <a:rPr lang="ko-KR" altLang="en-US"/>
              <a:pPr>
                <a:defRPr/>
              </a:pPr>
              <a:t>2026. 4. 8.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FAB36C44-8299-9876-DFC4-026165C896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FA0D0964-B8B2-DB37-9EDB-845E9CF89A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1E571D1-77B7-CD7D-7384-4858C93B345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03FC490-DD5A-379B-7D03-16ACAC1773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4AAE8EF-E34F-124D-BE9D-E7E9FD996D1D}" type="slidenum">
              <a:rPr lang="ko-KR" altLang="en-US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FA72863-E815-A258-155B-8358124B7969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2F69F82D-B553-C258-A08F-CFA18DA09A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6C8C0862-6FAE-45B1-0840-1595040E64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03ED26D8-5C56-2CD9-7E00-E5AA3860A6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1D50D4C9-A0C7-7A15-7231-F96A2A5B35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B638CCD2-AF86-BCEE-E18F-BCE5CA781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764D0B8B-55E0-80A6-9D9A-031F5479CE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34C64C80-5E2F-D93C-52A2-52452C3A0C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8DB1203D-B712-1392-F0B6-871A040121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1" name="Rectangle 11">
              <a:extLst>
                <a:ext uri="{FF2B5EF4-FFF2-40B4-BE49-F238E27FC236}">
                  <a16:creationId xmlns:a16="http://schemas.microsoft.com/office/drawing/2014/main" id="{1CAABC64-8A8A-C7FF-C839-BEA7162F01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2" name="Rectangle 12">
              <a:extLst>
                <a:ext uri="{FF2B5EF4-FFF2-40B4-BE49-F238E27FC236}">
                  <a16:creationId xmlns:a16="http://schemas.microsoft.com/office/drawing/2014/main" id="{3C1A9131-BC5B-6AC3-72E7-41EDB1A6EF14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3" name="Rectangle 13">
              <a:extLst>
                <a:ext uri="{FF2B5EF4-FFF2-40B4-BE49-F238E27FC236}">
                  <a16:creationId xmlns:a16="http://schemas.microsoft.com/office/drawing/2014/main" id="{55F12448-BC63-F54F-CAFC-EA0B3335F1A3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4" name="Line 14">
              <a:extLst>
                <a:ext uri="{FF2B5EF4-FFF2-40B4-BE49-F238E27FC236}">
                  <a16:creationId xmlns:a16="http://schemas.microsoft.com/office/drawing/2014/main" id="{D4898A19-464E-6E93-9C41-B5D8423FEF93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5" name="Line 15">
              <a:extLst>
                <a:ext uri="{FF2B5EF4-FFF2-40B4-BE49-F238E27FC236}">
                  <a16:creationId xmlns:a16="http://schemas.microsoft.com/office/drawing/2014/main" id="{4EDDA4CD-9CA2-9770-E4BA-CDF702C5FA6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6" name="Line 16">
              <a:extLst>
                <a:ext uri="{FF2B5EF4-FFF2-40B4-BE49-F238E27FC236}">
                  <a16:creationId xmlns:a16="http://schemas.microsoft.com/office/drawing/2014/main" id="{8E9A8C89-4A4D-8295-11B8-5D4F304E5757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2E9E2ABF-DA89-7190-C720-701AFCAB664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8" name="Line 18">
              <a:extLst>
                <a:ext uri="{FF2B5EF4-FFF2-40B4-BE49-F238E27FC236}">
                  <a16:creationId xmlns:a16="http://schemas.microsoft.com/office/drawing/2014/main" id="{F150A33C-A27A-2ABD-48E3-190D240837FE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9" name="Line 19">
              <a:extLst>
                <a:ext uri="{FF2B5EF4-FFF2-40B4-BE49-F238E27FC236}">
                  <a16:creationId xmlns:a16="http://schemas.microsoft.com/office/drawing/2014/main" id="{08A15976-E301-358E-B621-FD9DE5F3F9F7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0" name="Line 20">
              <a:extLst>
                <a:ext uri="{FF2B5EF4-FFF2-40B4-BE49-F238E27FC236}">
                  <a16:creationId xmlns:a16="http://schemas.microsoft.com/office/drawing/2014/main" id="{40AC8411-1B11-7D65-6491-359ED0B14D6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1" name="Line 21">
              <a:extLst>
                <a:ext uri="{FF2B5EF4-FFF2-40B4-BE49-F238E27FC236}">
                  <a16:creationId xmlns:a16="http://schemas.microsoft.com/office/drawing/2014/main" id="{39F28824-2E1D-8DEC-20BF-2FDECACD4B5C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2" name="Line 22">
              <a:extLst>
                <a:ext uri="{FF2B5EF4-FFF2-40B4-BE49-F238E27FC236}">
                  <a16:creationId xmlns:a16="http://schemas.microsoft.com/office/drawing/2014/main" id="{1182DB7D-4872-B913-9FE8-CD8465EA6B7A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3" name="Line 23">
              <a:extLst>
                <a:ext uri="{FF2B5EF4-FFF2-40B4-BE49-F238E27FC236}">
                  <a16:creationId xmlns:a16="http://schemas.microsoft.com/office/drawing/2014/main" id="{953C4D75-9DD8-1C42-1DDB-45A7834C737D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4" name="Line 24">
              <a:extLst>
                <a:ext uri="{FF2B5EF4-FFF2-40B4-BE49-F238E27FC236}">
                  <a16:creationId xmlns:a16="http://schemas.microsoft.com/office/drawing/2014/main" id="{144A0DF9-12DB-F67F-3B86-3212849C554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5" name="Line 25">
              <a:extLst>
                <a:ext uri="{FF2B5EF4-FFF2-40B4-BE49-F238E27FC236}">
                  <a16:creationId xmlns:a16="http://schemas.microsoft.com/office/drawing/2014/main" id="{021A9A82-152D-B51E-20F8-E803EE235FAB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6" name="Line 26">
              <a:extLst>
                <a:ext uri="{FF2B5EF4-FFF2-40B4-BE49-F238E27FC236}">
                  <a16:creationId xmlns:a16="http://schemas.microsoft.com/office/drawing/2014/main" id="{9B04C9EE-5351-8F87-7D9A-F188D39AF250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</p:grpSp>
      <p:sp>
        <p:nvSpPr>
          <p:cNvPr id="11291" name="Rectangle 27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11292" name="Rectangle 28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36400D82-120D-C765-6A38-B6AEA71C4C32}"/>
              </a:ext>
            </a:extLst>
          </p:cNvPr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8" name="Rectangle 30">
            <a:extLst>
              <a:ext uri="{FF2B5EF4-FFF2-40B4-BE49-F238E27FC236}">
                <a16:creationId xmlns:a16="http://schemas.microsoft.com/office/drawing/2014/main" id="{4F6D5B5A-CDB1-631A-0309-063FF244522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" name="Rectangle 31">
            <a:extLst>
              <a:ext uri="{FF2B5EF4-FFF2-40B4-BE49-F238E27FC236}">
                <a16:creationId xmlns:a16="http://schemas.microsoft.com/office/drawing/2014/main" id="{1BCFDF7F-ABCA-A128-7C30-4DBC3FD6C59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1DC7BC-5C9B-A147-8093-0EADF49428DD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3461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001F2A3D-A871-E6B3-94B2-E32BC2B587A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CF6B4682-4316-EE24-126C-6345D284A2C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5102BA2A-0EA7-1CA7-A6B9-02FCF624AD7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0167313-A246-C348-B658-69E557C4BC2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802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2009BDA1-2CBF-96A0-F8AA-29D15C519A4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3F4FD166-D253-D199-D8E7-4A4C7E401CC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4BEF18B0-24D8-F342-5F71-47962DB4E5C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A65BF58-14E8-4041-98AA-727C60246E1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907815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6D96BC66-44E5-4DC0-3E83-153D827E8B3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6B0CB238-27BD-8D9A-10CE-02018438B19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4A7D15BF-0AA1-C536-A7EA-FEA71A470E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B847B0D-1E94-AE4D-A2C3-7D677A6890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00486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5B572E32-3CD2-EBE9-EE4D-ED2AD476A17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CA82EB79-8C0E-9056-1A3E-99129069CC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3F9944B6-96BE-246C-7DB3-F7F0FF998A0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D4605DC-BBBC-6A40-A1AA-92F8D0A80499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1922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29">
            <a:extLst>
              <a:ext uri="{FF2B5EF4-FFF2-40B4-BE49-F238E27FC236}">
                <a16:creationId xmlns:a16="http://schemas.microsoft.com/office/drawing/2014/main" id="{C5D0A4DB-2ACC-445A-2942-1E6B5C97C3E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0">
            <a:extLst>
              <a:ext uri="{FF2B5EF4-FFF2-40B4-BE49-F238E27FC236}">
                <a16:creationId xmlns:a16="http://schemas.microsoft.com/office/drawing/2014/main" id="{1AC29242-445E-3F8C-BD04-0D44BC4BAC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F642C340-401C-9877-4087-E32D8F6B1C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79D788A-50FB-E043-A527-0F206E53E25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08010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>
            <a:extLst>
              <a:ext uri="{FF2B5EF4-FFF2-40B4-BE49-F238E27FC236}">
                <a16:creationId xmlns:a16="http://schemas.microsoft.com/office/drawing/2014/main" id="{7F44BFE4-4A6E-676F-F7DC-F9DF7A0257C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Rectangle 30">
            <a:extLst>
              <a:ext uri="{FF2B5EF4-FFF2-40B4-BE49-F238E27FC236}">
                <a16:creationId xmlns:a16="http://schemas.microsoft.com/office/drawing/2014/main" id="{AEB2450B-FD0C-2837-571B-12285030496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451DB1F9-A09B-9074-38CF-5CF72DCEBF4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D4405D6-068B-7E40-A652-BA8108DCF7C4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68319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2906B763-AE05-B1BF-7A66-0E1FACD7A23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A4786D6A-C5C9-FB24-6172-84C89019D1D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AC64C47D-916D-70B9-FA0D-EC06A4DFCC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2C158-FD9B-AE49-8661-68A65C8CC9F0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343448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BFE3AC20-CD52-1277-C857-B0F175000F5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FA219C55-1E11-F48E-6C72-0F721CD02CF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DBB33240-536A-4B75-14D2-FC52B967D6B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7303C8-8317-C444-B850-15A583DAE8B0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21551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336624A0-DD76-6CDC-6A32-2799DB4029A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E6CB873D-7D02-B915-0F35-D0350F6B448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01F9D969-6208-B22C-96D1-20DD61424B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C1A3A90-92F4-9049-ACDD-3CD4C967AF8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50477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DB04E6E7-A2BE-551A-6861-358A9E4C5B6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680010EC-92E8-7E65-8695-013BA319658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29A86706-F33A-0B07-EA22-47A8F38B3A5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05177BD-EA9F-494A-AEEC-D50CBF8A757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314184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E4975153-4E26-E552-E915-86FEBCF428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3E012EA5-3288-CF39-6896-3603814070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B463071D-5251-AD29-2F5F-2403C5AF0F9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C39B21-F017-3847-A0BA-030DEEFC208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37233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bg1"/>
            </a:gs>
            <a:gs pos="100000">
              <a:srgbClr val="FFFFF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>
            <a:extLst>
              <a:ext uri="{FF2B5EF4-FFF2-40B4-BE49-F238E27FC236}">
                <a16:creationId xmlns:a16="http://schemas.microsoft.com/office/drawing/2014/main" id="{2E245632-9D49-B2A9-3F16-FE5975C375B4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10243" name="Rectangle 3">
              <a:extLst>
                <a:ext uri="{FF2B5EF4-FFF2-40B4-BE49-F238E27FC236}">
                  <a16:creationId xmlns:a16="http://schemas.microsoft.com/office/drawing/2014/main" id="{52BADC20-A1A4-872B-C9D0-A40F3C8CA0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4" name="Rectangle 4">
              <a:extLst>
                <a:ext uri="{FF2B5EF4-FFF2-40B4-BE49-F238E27FC236}">
                  <a16:creationId xmlns:a16="http://schemas.microsoft.com/office/drawing/2014/main" id="{4B7CF626-FEBA-0E73-B060-185D63409F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5" name="Rectangle 5">
              <a:extLst>
                <a:ext uri="{FF2B5EF4-FFF2-40B4-BE49-F238E27FC236}">
                  <a16:creationId xmlns:a16="http://schemas.microsoft.com/office/drawing/2014/main" id="{2F3E1E36-2655-4798-AB0C-F1701E781A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6" name="Rectangle 6">
              <a:extLst>
                <a:ext uri="{FF2B5EF4-FFF2-40B4-BE49-F238E27FC236}">
                  <a16:creationId xmlns:a16="http://schemas.microsoft.com/office/drawing/2014/main" id="{AB1C93D9-C085-A312-BA99-BD5A7DB6E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7" name="Rectangle 7">
              <a:extLst>
                <a:ext uri="{FF2B5EF4-FFF2-40B4-BE49-F238E27FC236}">
                  <a16:creationId xmlns:a16="http://schemas.microsoft.com/office/drawing/2014/main" id="{46145E16-9E7E-57DB-025F-E755F65F8C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8" name="Rectangle 8">
              <a:extLst>
                <a:ext uri="{FF2B5EF4-FFF2-40B4-BE49-F238E27FC236}">
                  <a16:creationId xmlns:a16="http://schemas.microsoft.com/office/drawing/2014/main" id="{01E74A95-0E55-A197-FB4E-01AD5A6D1A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9" name="Rectangle 9">
              <a:extLst>
                <a:ext uri="{FF2B5EF4-FFF2-40B4-BE49-F238E27FC236}">
                  <a16:creationId xmlns:a16="http://schemas.microsoft.com/office/drawing/2014/main" id="{75306C6E-A487-BBCF-7032-FCD5511BB0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0" name="Rectangle 10">
              <a:extLst>
                <a:ext uri="{FF2B5EF4-FFF2-40B4-BE49-F238E27FC236}">
                  <a16:creationId xmlns:a16="http://schemas.microsoft.com/office/drawing/2014/main" id="{EA0DD77E-01ED-2D82-A98F-37A57B4968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1" name="Rectangle 11">
              <a:extLst>
                <a:ext uri="{FF2B5EF4-FFF2-40B4-BE49-F238E27FC236}">
                  <a16:creationId xmlns:a16="http://schemas.microsoft.com/office/drawing/2014/main" id="{77FFC89F-EFA9-06B5-A3CD-ADDC809AED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2" name="Rectangle 12">
              <a:extLst>
                <a:ext uri="{FF2B5EF4-FFF2-40B4-BE49-F238E27FC236}">
                  <a16:creationId xmlns:a16="http://schemas.microsoft.com/office/drawing/2014/main" id="{F6468AB1-D110-04A0-E77D-CAE58F8FE7F0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3" name="Rectangle 13">
              <a:extLst>
                <a:ext uri="{FF2B5EF4-FFF2-40B4-BE49-F238E27FC236}">
                  <a16:creationId xmlns:a16="http://schemas.microsoft.com/office/drawing/2014/main" id="{AF76102C-BAD6-AF00-5EA2-ABC2E5AD4EEC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4" name="Line 14">
              <a:extLst>
                <a:ext uri="{FF2B5EF4-FFF2-40B4-BE49-F238E27FC236}">
                  <a16:creationId xmlns:a16="http://schemas.microsoft.com/office/drawing/2014/main" id="{02A6DE93-BA71-ABA4-65D4-EEB47FD4BD54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5" name="Line 15">
              <a:extLst>
                <a:ext uri="{FF2B5EF4-FFF2-40B4-BE49-F238E27FC236}">
                  <a16:creationId xmlns:a16="http://schemas.microsoft.com/office/drawing/2014/main" id="{C5F476FC-DEDB-B99F-74C2-1F1AC817A261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6" name="Line 16">
              <a:extLst>
                <a:ext uri="{FF2B5EF4-FFF2-40B4-BE49-F238E27FC236}">
                  <a16:creationId xmlns:a16="http://schemas.microsoft.com/office/drawing/2014/main" id="{CD45B6BC-C671-1906-A430-A3E4EA2EBC05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7" name="Line 17">
              <a:extLst>
                <a:ext uri="{FF2B5EF4-FFF2-40B4-BE49-F238E27FC236}">
                  <a16:creationId xmlns:a16="http://schemas.microsoft.com/office/drawing/2014/main" id="{376D9E28-E627-6EDF-46C8-F12406CD131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8" name="Line 18">
              <a:extLst>
                <a:ext uri="{FF2B5EF4-FFF2-40B4-BE49-F238E27FC236}">
                  <a16:creationId xmlns:a16="http://schemas.microsoft.com/office/drawing/2014/main" id="{5CB13057-A7ED-2333-0A23-8B7EDEEA547B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9" name="Line 19">
              <a:extLst>
                <a:ext uri="{FF2B5EF4-FFF2-40B4-BE49-F238E27FC236}">
                  <a16:creationId xmlns:a16="http://schemas.microsoft.com/office/drawing/2014/main" id="{9FA2CB2E-E5D3-F94C-7ED4-B130B7FE3611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0" name="Line 20">
              <a:extLst>
                <a:ext uri="{FF2B5EF4-FFF2-40B4-BE49-F238E27FC236}">
                  <a16:creationId xmlns:a16="http://schemas.microsoft.com/office/drawing/2014/main" id="{2A79425A-0444-935B-106C-7780A572CF0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1" name="Line 21">
              <a:extLst>
                <a:ext uri="{FF2B5EF4-FFF2-40B4-BE49-F238E27FC236}">
                  <a16:creationId xmlns:a16="http://schemas.microsoft.com/office/drawing/2014/main" id="{852BE006-FFA2-8DB9-7FC4-1FB827BA8C6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2" name="Line 22">
              <a:extLst>
                <a:ext uri="{FF2B5EF4-FFF2-40B4-BE49-F238E27FC236}">
                  <a16:creationId xmlns:a16="http://schemas.microsoft.com/office/drawing/2014/main" id="{66098EC8-7EE4-2446-64F2-2B78DC21E0A3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3" name="Line 23">
              <a:extLst>
                <a:ext uri="{FF2B5EF4-FFF2-40B4-BE49-F238E27FC236}">
                  <a16:creationId xmlns:a16="http://schemas.microsoft.com/office/drawing/2014/main" id="{2E1C7422-D82F-C923-B630-BE688EB672F6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4" name="Line 24">
              <a:extLst>
                <a:ext uri="{FF2B5EF4-FFF2-40B4-BE49-F238E27FC236}">
                  <a16:creationId xmlns:a16="http://schemas.microsoft.com/office/drawing/2014/main" id="{B115737C-20AB-C66E-E630-159652B44E4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5" name="Line 25">
              <a:extLst>
                <a:ext uri="{FF2B5EF4-FFF2-40B4-BE49-F238E27FC236}">
                  <a16:creationId xmlns:a16="http://schemas.microsoft.com/office/drawing/2014/main" id="{C8977A74-147D-3E2B-5703-6587B385445D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6" name="Line 26">
              <a:extLst>
                <a:ext uri="{FF2B5EF4-FFF2-40B4-BE49-F238E27FC236}">
                  <a16:creationId xmlns:a16="http://schemas.microsoft.com/office/drawing/2014/main" id="{35B3C201-0A11-5D8C-2BBC-037635E6BA12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</p:grpSp>
      <p:sp>
        <p:nvSpPr>
          <p:cNvPr id="1027" name="Rectangle 27">
            <a:extLst>
              <a:ext uri="{FF2B5EF4-FFF2-40B4-BE49-F238E27FC236}">
                <a16:creationId xmlns:a16="http://schemas.microsoft.com/office/drawing/2014/main" id="{C9C6C9FC-88B0-05D9-838D-0F5D7B0B63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28">
            <a:extLst>
              <a:ext uri="{FF2B5EF4-FFF2-40B4-BE49-F238E27FC236}">
                <a16:creationId xmlns:a16="http://schemas.microsoft.com/office/drawing/2014/main" id="{D2488A94-DA87-3FA9-B211-9913DEB9E0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69" name="Rectangle 29">
            <a:extLst>
              <a:ext uri="{FF2B5EF4-FFF2-40B4-BE49-F238E27FC236}">
                <a16:creationId xmlns:a16="http://schemas.microsoft.com/office/drawing/2014/main" id="{3AFB4698-4E39-0D73-7460-FFE31ADEA99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0" name="Rectangle 30">
            <a:extLst>
              <a:ext uri="{FF2B5EF4-FFF2-40B4-BE49-F238E27FC236}">
                <a16:creationId xmlns:a16="http://schemas.microsoft.com/office/drawing/2014/main" id="{30064035-6F74-9BCC-7DB5-F1A0560A880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1" name="Rectangle 31">
            <a:extLst>
              <a:ext uri="{FF2B5EF4-FFF2-40B4-BE49-F238E27FC236}">
                <a16:creationId xmlns:a16="http://schemas.microsoft.com/office/drawing/2014/main" id="{3B1ABEE2-B3F5-75BF-C6C2-65C1612C455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1400"/>
            </a:lvl1pPr>
          </a:lstStyle>
          <a:p>
            <a:fld id="{B6DBF930-27F2-094F-A8F7-EB1FCA0E3261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96" r:id="rId1"/>
    <p:sldLayoutId id="2147484085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091" r:id="rId8"/>
    <p:sldLayoutId id="2147484092" r:id="rId9"/>
    <p:sldLayoutId id="2147484093" r:id="rId10"/>
    <p:sldLayoutId id="2147484094" r:id="rId11"/>
    <p:sldLayoutId id="2147484095" r:id="rId12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9pPr>
    </p:titleStyle>
    <p:bodyStyle>
      <a:lvl1pPr marL="342900" indent="-342900" algn="l" rtl="0" eaLnBrk="0" fontAlgn="t" latinLnBrk="1" hangingPunct="0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" pitchFamily="2" charset="2"/>
        <a:buChar char="n"/>
        <a:defRPr kumimoji="1" sz="3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t" latinLnBrk="1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kumimoji="1" sz="26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kumimoji="1" sz="23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5DFDA20F-4DBD-0A84-D59D-B35E43173A1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ko-KR" sz="3600" b="1" dirty="0"/>
              <a:t>Lecture 4-3 :</a:t>
            </a:r>
            <a:br>
              <a:rPr lang="en-US" altLang="ko-KR" sz="3600" b="1" dirty="0"/>
            </a:br>
            <a:r>
              <a:rPr lang="en-US" altLang="ko-KR" sz="3600" b="1" dirty="0"/>
              <a:t>Java Virtual Threads</a:t>
            </a:r>
          </a:p>
        </p:txBody>
      </p:sp>
      <p:sp>
        <p:nvSpPr>
          <p:cNvPr id="3075" name="TextBox 2">
            <a:extLst>
              <a:ext uri="{FF2B5EF4-FFF2-40B4-BE49-F238E27FC236}">
                <a16:creationId xmlns:a16="http://schemas.microsoft.com/office/drawing/2014/main" id="{7DD93DAF-0946-E186-AF4E-5A431AA28E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49420" y="6248345"/>
            <a:ext cx="355097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5pPr>
            <a:lvl6pPr marL="25146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6pPr>
            <a:lvl7pPr marL="29718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7pPr>
            <a:lvl8pPr marL="34290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8pPr>
            <a:lvl9pPr marL="38862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1200" dirty="0"/>
              <a:t>Courtesy : Java in </a:t>
            </a:r>
            <a:r>
              <a:rPr lang="en-US" altLang="ko-KR" sz="1200" dirty="0" err="1"/>
              <a:t>Jenkov.com</a:t>
            </a:r>
            <a:r>
              <a:rPr lang="en-US" altLang="ko-KR" sz="1200" dirty="0"/>
              <a:t> (Jacob Jenkov)</a:t>
            </a:r>
            <a:endParaRPr lang="ko-KR" altLang="en-US" sz="1200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제목 1">
            <a:extLst>
              <a:ext uri="{FF2B5EF4-FFF2-40B4-BE49-F238E27FC236}">
                <a16:creationId xmlns:a16="http://schemas.microsoft.com/office/drawing/2014/main" id="{6178D9C3-6FF3-CF80-0245-AF597207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 dirty="0"/>
              <a:t>Java Virtual Threads</a:t>
            </a:r>
            <a:endParaRPr lang="ko-KR" altLang="en-US" b="1" u="sng" dirty="0"/>
          </a:p>
        </p:txBody>
      </p:sp>
      <p:sp>
        <p:nvSpPr>
          <p:cNvPr id="4099" name="내용 개체 틀 2">
            <a:extLst>
              <a:ext uri="{FF2B5EF4-FFF2-40B4-BE49-F238E27FC236}">
                <a16:creationId xmlns:a16="http://schemas.microsoft.com/office/drawing/2014/main" id="{5722E8A0-BA66-7A5C-C80E-D19E22F2FF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525963"/>
          </a:xfrm>
        </p:spPr>
        <p:txBody>
          <a:bodyPr/>
          <a:lstStyle/>
          <a:p>
            <a:r>
              <a:rPr lang="en-US" altLang="ko-KR" sz="2400" dirty="0"/>
              <a:t>Much more lightweight (cheap to start)</a:t>
            </a:r>
          </a:p>
          <a:p>
            <a:endParaRPr lang="en-US" altLang="ko-KR" sz="2400" dirty="0"/>
          </a:p>
          <a:p>
            <a:r>
              <a:rPr lang="en-US" altLang="ko-KR" sz="2400" dirty="0"/>
              <a:t>You can have far more virtual threads running in your program than platform threads</a:t>
            </a:r>
          </a:p>
          <a:p>
            <a:endParaRPr lang="en-US" altLang="ko-KR" sz="2400" dirty="0"/>
          </a:p>
          <a:p>
            <a:r>
              <a:rPr lang="en-US" altLang="ko-KR" sz="2400" dirty="0"/>
              <a:t>With more virtual threads, you can do more blocking IO in parallel than with fewer platform threads. </a:t>
            </a:r>
          </a:p>
          <a:p>
            <a:endParaRPr lang="en-US" altLang="ko-KR" sz="2400" dirty="0"/>
          </a:p>
          <a:p>
            <a:r>
              <a:rPr lang="en-US" altLang="ko-KR" sz="2400" dirty="0"/>
              <a:t>Compatibility</a:t>
            </a:r>
          </a:p>
          <a:p>
            <a:pPr lvl="1"/>
            <a:r>
              <a:rPr lang="en-US" altLang="ko-KR" sz="2000" dirty="0"/>
              <a:t>Implementation based on existing Java Thread API</a:t>
            </a:r>
          </a:p>
          <a:p>
            <a:pPr lvl="1"/>
            <a:r>
              <a:rPr lang="en-US" altLang="ko-KR" sz="2000" dirty="0"/>
              <a:t>Requires minimal changes</a:t>
            </a:r>
          </a:p>
          <a:p>
            <a:pPr lvl="1"/>
            <a:r>
              <a:rPr lang="en-US" altLang="ko-KR" sz="2000" dirty="0"/>
              <a:t>A virtual thread is still a real Thread from your code perspective</a:t>
            </a:r>
          </a:p>
          <a:p>
            <a:endParaRPr lang="en-US" altLang="ko-KR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7ED418-4F5B-BA71-D481-B16F34B53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1143000"/>
          </a:xfrm>
        </p:spPr>
        <p:txBody>
          <a:bodyPr/>
          <a:lstStyle/>
          <a:p>
            <a:r>
              <a:rPr lang="en-US" altLang="ko-KR" sz="3600" b="1" u="sng" dirty="0"/>
              <a:t>Virtual threads vs Platform threads</a:t>
            </a:r>
            <a:endParaRPr kumimoji="1" lang="ko-KR" altLang="en-US" sz="3600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1D976-37F2-C4E7-665B-17BA3A44F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567333"/>
            <a:ext cx="8507288" cy="4525963"/>
          </a:xfrm>
        </p:spPr>
        <p:txBody>
          <a:bodyPr/>
          <a:lstStyle/>
          <a:p>
            <a:r>
              <a:rPr lang="en" altLang="ko-KR" b="1" dirty="0"/>
              <a:t>Platform threads (traditional Java threads)</a:t>
            </a:r>
          </a:p>
          <a:p>
            <a:pPr lvl="1"/>
            <a:r>
              <a:rPr lang="en" altLang="ko-KR" sz="2400" dirty="0"/>
              <a:t>Backed directly by OS threads. </a:t>
            </a:r>
          </a:p>
          <a:p>
            <a:pPr lvl="1"/>
            <a:r>
              <a:rPr lang="en" altLang="ko-KR" sz="2400" dirty="0"/>
              <a:t>More expensive to create and keep around. </a:t>
            </a:r>
          </a:p>
          <a:p>
            <a:pPr marL="457200" lvl="1" indent="0">
              <a:buNone/>
            </a:pPr>
            <a:r>
              <a:rPr lang="en" altLang="ko-KR" sz="2400" dirty="0"/>
              <a:t>   (memory and scheduling overhead)</a:t>
            </a:r>
          </a:p>
          <a:p>
            <a:pPr lvl="1"/>
            <a:r>
              <a:rPr lang="en-US" altLang="ko-KR" sz="2400" dirty="0"/>
              <a:t>S</a:t>
            </a:r>
            <a:r>
              <a:rPr lang="en" altLang="ko-KR" sz="2400" dirty="0" err="1"/>
              <a:t>ystems</a:t>
            </a:r>
            <a:r>
              <a:rPr lang="en" altLang="ko-KR" sz="2400" dirty="0"/>
              <a:t> usually limit the number with thread pools</a:t>
            </a:r>
          </a:p>
          <a:p>
            <a:pPr lvl="1"/>
            <a:r>
              <a:rPr lang="en" altLang="ko-KR" sz="2400" dirty="0"/>
              <a:t>Good for a moderate number of long-lived threads. </a:t>
            </a:r>
          </a:p>
          <a:p>
            <a:pPr lvl="1"/>
            <a:r>
              <a:rPr lang="en" altLang="ko-KR" sz="2400" dirty="0"/>
              <a:t>Fine for CPU-bound worker pools sized near the number of cores. </a:t>
            </a:r>
          </a:p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51593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7ED418-4F5B-BA71-D481-B16F34B53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1143000"/>
          </a:xfrm>
        </p:spPr>
        <p:txBody>
          <a:bodyPr/>
          <a:lstStyle/>
          <a:p>
            <a:r>
              <a:rPr lang="en-US" altLang="ko-KR" sz="3600" b="1" u="sng" dirty="0"/>
              <a:t>Virtual threads vs Platform threads</a:t>
            </a:r>
            <a:endParaRPr kumimoji="1" lang="ko-KR" altLang="en-US" sz="3600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1D976-37F2-C4E7-665B-17BA3A44F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567333"/>
            <a:ext cx="8507288" cy="4525963"/>
          </a:xfrm>
        </p:spPr>
        <p:txBody>
          <a:bodyPr/>
          <a:lstStyle/>
          <a:p>
            <a:r>
              <a:rPr lang="en" altLang="ko-KR" b="1" dirty="0"/>
              <a:t>Virtual threads</a:t>
            </a:r>
          </a:p>
          <a:p>
            <a:pPr lvl="1"/>
            <a:r>
              <a:rPr lang="en" altLang="ko-KR" dirty="0"/>
              <a:t>Managed by the JVM. </a:t>
            </a:r>
          </a:p>
          <a:p>
            <a:pPr lvl="1"/>
            <a:r>
              <a:rPr lang="en" altLang="ko-KR" dirty="0"/>
              <a:t>Much cheaper to create. </a:t>
            </a:r>
          </a:p>
          <a:p>
            <a:pPr lvl="1"/>
            <a:r>
              <a:rPr lang="en" altLang="ko-KR" dirty="0"/>
              <a:t>Ideal for large numbers of mostly waiting tasks. </a:t>
            </a:r>
          </a:p>
          <a:p>
            <a:pPr marL="457200" lvl="1" indent="0">
              <a:buNone/>
            </a:pPr>
            <a:r>
              <a:rPr lang="en" altLang="ko-KR" dirty="0"/>
              <a:t> (JVM can schedule a very large number of virtual threads onto a much </a:t>
            </a:r>
            <a:r>
              <a:rPr lang="en" altLang="ko-KR" dirty="0" err="1"/>
              <a:t>smal</a:t>
            </a:r>
            <a:r>
              <a:rPr lang="en-US" altLang="ko-KR" dirty="0"/>
              <a:t>l</a:t>
            </a:r>
            <a:r>
              <a:rPr lang="en" altLang="ko-KR" dirty="0"/>
              <a:t>er set of OS threads)</a:t>
            </a:r>
          </a:p>
          <a:p>
            <a:pPr marL="457200" lvl="1" indent="0">
              <a:buNone/>
            </a:pPr>
            <a:endParaRPr lang="en" altLang="ko-KR" dirty="0"/>
          </a:p>
          <a:p>
            <a:pPr lvl="1"/>
            <a:r>
              <a:rPr lang="en" altLang="ko-KR" dirty="0"/>
              <a:t>Best for request-per-thread or task-per-thread designs (at high concurrency)</a:t>
            </a:r>
          </a:p>
          <a:p>
            <a:pPr lvl="2"/>
            <a:r>
              <a:rPr lang="en-US" altLang="ko-KR" dirty="0"/>
              <a:t>D</a:t>
            </a:r>
            <a:r>
              <a:rPr lang="en" altLang="ko-KR" dirty="0" err="1"/>
              <a:t>atabase</a:t>
            </a:r>
            <a:r>
              <a:rPr lang="en" altLang="ko-KR" dirty="0"/>
              <a:t> queries, HTTP calls (web requests), </a:t>
            </a:r>
            <a:r>
              <a:rPr lang="en" altLang="ko-KR" dirty="0" err="1"/>
              <a:t>etc</a:t>
            </a:r>
            <a:endParaRPr lang="en" altLang="ko-KR" dirty="0"/>
          </a:p>
          <a:p>
            <a:pPr lvl="2"/>
            <a:r>
              <a:rPr lang="en" altLang="ko-KR" dirty="0"/>
              <a:t>with platform threads, these can be expensive</a:t>
            </a:r>
          </a:p>
          <a:p>
            <a:pPr lvl="2"/>
            <a:endParaRPr lang="en" altLang="ko-KR" dirty="0"/>
          </a:p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934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2D1A09-EE8A-70E0-5A43-905BADA80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1143000"/>
          </a:xfrm>
        </p:spPr>
        <p:txBody>
          <a:bodyPr/>
          <a:lstStyle/>
          <a:p>
            <a:r>
              <a:rPr kumimoji="1" lang="en-US" altLang="ko-KR" b="1" u="sng" dirty="0"/>
              <a:t>Java Virtual Thread Diagram</a:t>
            </a:r>
            <a:endParaRPr kumimoji="1" lang="ko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72B2A7-BF04-878A-8AA7-C13368A64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6057" y="1772816"/>
            <a:ext cx="4040296" cy="3888432"/>
          </a:xfrm>
        </p:spPr>
        <p:txBody>
          <a:bodyPr/>
          <a:lstStyle/>
          <a:p>
            <a:r>
              <a:rPr kumimoji="1" lang="en-US" altLang="ko-KR" sz="1800" dirty="0"/>
              <a:t>Mounting</a:t>
            </a:r>
          </a:p>
          <a:p>
            <a:pPr lvl="1"/>
            <a:r>
              <a:rPr lang="en-US" altLang="ko-KR" sz="1400" dirty="0"/>
              <a:t>When a virtual thread starts, JVM mounts it onto a platform thread</a:t>
            </a:r>
            <a:endParaRPr kumimoji="1" lang="en-US" altLang="ko-KR" sz="1400" dirty="0"/>
          </a:p>
          <a:p>
            <a:r>
              <a:rPr kumimoji="1" lang="en-US" altLang="ko-KR" sz="1800" dirty="0"/>
              <a:t>Platform thread can only execute a single virtual thread at a time</a:t>
            </a:r>
          </a:p>
          <a:p>
            <a:r>
              <a:rPr lang="en-US" altLang="ko-KR" sz="1800" dirty="0"/>
              <a:t>It can switch to executing a different virtual thread when currently executed virtual thread makes a blocking call (e.g. network IO)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45705BA-5235-CF21-3B76-FAEC28962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48" y="1395815"/>
            <a:ext cx="5048408" cy="4553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187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C1A3B-ADD3-0D4D-036B-E7DF26EBC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FA6AE1-A71D-428C-A433-C5F3F4B21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1143000"/>
          </a:xfrm>
        </p:spPr>
        <p:txBody>
          <a:bodyPr/>
          <a:lstStyle/>
          <a:p>
            <a:r>
              <a:rPr kumimoji="1" lang="en-US" altLang="ko-KR" b="1" u="sng" dirty="0"/>
              <a:t>Java Virtual Thread Diagram</a:t>
            </a:r>
            <a:endParaRPr kumimoji="1" lang="ko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719235-D305-622D-A85E-F42516599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6057" y="1268760"/>
            <a:ext cx="4040296" cy="6221288"/>
          </a:xfrm>
        </p:spPr>
        <p:txBody>
          <a:bodyPr/>
          <a:lstStyle/>
          <a:p>
            <a:r>
              <a:rPr kumimoji="1" lang="en-US" altLang="ko-KR" sz="1800" dirty="0"/>
              <a:t>New virtual threads are queued up until a platform thread is ready to execute it. </a:t>
            </a:r>
          </a:p>
          <a:p>
            <a:r>
              <a:rPr kumimoji="1" lang="en-US" altLang="ko-KR" sz="1800" dirty="0"/>
              <a:t>When a platform thread becomes ready, it will take a virtual thread</a:t>
            </a:r>
            <a:r>
              <a:rPr lang="en-US" altLang="ko-KR" sz="1800" dirty="0"/>
              <a:t>.</a:t>
            </a:r>
          </a:p>
          <a:p>
            <a:r>
              <a:rPr kumimoji="1" lang="en-US" altLang="ko-KR" sz="1800" dirty="0"/>
              <a:t>A virtual thread that executes blocking call will be unmounted. In the meantime, the platform thread can execute another virtual thread</a:t>
            </a:r>
          </a:p>
          <a:p>
            <a:endParaRPr lang="en-US" altLang="ko-KR" sz="1800" dirty="0"/>
          </a:p>
          <a:p>
            <a:r>
              <a:rPr kumimoji="1" lang="en-US" altLang="ko-KR" sz="1800" dirty="0"/>
              <a:t>The platform thread does not switch between executing multiple virtual threads – except in the case of blocking network calls.</a:t>
            </a:r>
            <a:endParaRPr kumimoji="1" lang="ko-KR" altLang="en-US" sz="18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28B3B94-6DA0-9DCC-F701-0F4346F9B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48" y="1395815"/>
            <a:ext cx="5048408" cy="4553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212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F35894-3598-CC4F-0DC9-5C24A2491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1824"/>
            <a:ext cx="7807896" cy="1143000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en-US" altLang="ko-KR" sz="2400" b="1" u="sng" dirty="0">
                <a:solidFill>
                  <a:schemeClr val="tx1"/>
                </a:solidFill>
              </a:rPr>
              <a:t>Creating a Java Virtual Thread</a:t>
            </a:r>
            <a:endParaRPr kumimoji="1" lang="ko-KR" altLang="en-US" sz="2400" b="1" u="sng" dirty="0">
              <a:solidFill>
                <a:schemeClr val="tx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33C203-3640-F8FA-2F46-90F1A2F7D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412976"/>
          </a:xfr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Runnable runnable = () -&gt; {</a:t>
            </a:r>
          </a:p>
          <a:p>
            <a:pPr marL="0" indent="0">
              <a:buNone/>
            </a:pP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for(int </a:t>
            </a:r>
            <a:r>
              <a:rPr lang="en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=0; </a:t>
            </a:r>
            <a:r>
              <a:rPr lang="en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&lt;10; </a:t>
            </a:r>
            <a:r>
              <a:rPr lang="en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++) {</a:t>
            </a:r>
          </a:p>
          <a:p>
            <a:pPr marL="0" indent="0">
              <a:buNone/>
            </a:pP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("Index: " + </a:t>
            </a:r>
            <a:r>
              <a:rPr lang="en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buNone/>
            </a:pP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" altLang="ko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Thread </a:t>
            </a:r>
            <a:r>
              <a:rPr lang="en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vThread</a:t>
            </a: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Thread.ofVirtual</a:t>
            </a: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().start(runnable);</a:t>
            </a:r>
          </a:p>
          <a:p>
            <a:pPr marL="0" indent="0">
              <a:buNone/>
            </a:pP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Thread </a:t>
            </a:r>
            <a:r>
              <a:rPr lang="en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vThread</a:t>
            </a: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Thread.startVirtualThread</a:t>
            </a: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(runnable);</a:t>
            </a:r>
          </a:p>
          <a:p>
            <a:pPr marL="0" indent="0">
              <a:buNone/>
            </a:pP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marL="0" indent="0">
              <a:buNone/>
            </a:pPr>
            <a:r>
              <a:rPr lang="en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vThread.join</a:t>
            </a:r>
            <a:r>
              <a:rPr lang="en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   // join</a:t>
            </a:r>
          </a:p>
          <a:p>
            <a:pPr marL="0" indent="0">
              <a:buNone/>
            </a:pPr>
            <a:endParaRPr kumimoji="1" lang="ko-KR" altLang="en-US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EA4564-27CB-DD6D-94E7-58BC0F8FCF5D}"/>
              </a:ext>
            </a:extLst>
          </p:cNvPr>
          <p:cNvSpPr txBox="1"/>
          <p:nvPr/>
        </p:nvSpPr>
        <p:spPr>
          <a:xfrm>
            <a:off x="467544" y="5229200"/>
            <a:ext cx="90476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ko-KR" sz="2400" b="1" u="sng" dirty="0"/>
              <a:t>Creating a thread pool that uses virtual threads</a:t>
            </a:r>
          </a:p>
          <a:p>
            <a:r>
              <a:rPr lang="en-US" altLang="ko-KR" sz="2400" b="1" dirty="0"/>
              <a:t>(usually you do not specify the number of virtual threads)</a:t>
            </a:r>
            <a:endParaRPr kumimoji="1" lang="ko-KR" altLang="en-US" sz="2400" b="1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51E95AE-1DD5-CFF6-27FE-FAD0D9D214FF}"/>
              </a:ext>
            </a:extLst>
          </p:cNvPr>
          <p:cNvSpPr txBox="1">
            <a:spLocks/>
          </p:cNvSpPr>
          <p:nvPr/>
        </p:nvSpPr>
        <p:spPr bwMode="auto">
          <a:xfrm>
            <a:off x="467544" y="6156176"/>
            <a:ext cx="8568952" cy="46166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rtl="0" fontAlgn="t" latinLnBrk="1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rtl="0" fontAlgn="t" latinLnBrk="1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rtl="0" fontAlgn="t" latinLnBrk="1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rtl="0" fontAlgn="t" latinLnBrk="1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" altLang="ko-KR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ExecutorService</a:t>
            </a:r>
            <a:r>
              <a:rPr lang="en" altLang="ko-KR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 = </a:t>
            </a:r>
            <a:r>
              <a:rPr lang="en" altLang="ko-KR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Executors.newVirtualThreadPerTaskExecutor</a:t>
            </a:r>
            <a:r>
              <a:rPr lang="en" altLang="ko-KR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659158515"/>
      </p:ext>
    </p:extLst>
  </p:cSld>
  <p:clrMapOvr>
    <a:masterClrMapping/>
  </p:clrMapOvr>
</p:sld>
</file>

<file path=ppt/theme/theme1.xml><?xml version="1.0" encoding="utf-8"?>
<a:theme xmlns:a="http://schemas.openxmlformats.org/drawingml/2006/main" name="네모의 미">
  <a:themeElements>
    <a:clrScheme name="네모의 미 1">
      <a:dk1>
        <a:srgbClr val="000000"/>
      </a:dk1>
      <a:lt1>
        <a:srgbClr val="FFFFBF"/>
      </a:lt1>
      <a:dk2>
        <a:srgbClr val="666633"/>
      </a:dk2>
      <a:lt2>
        <a:srgbClr val="969696"/>
      </a:lt2>
      <a:accent1>
        <a:srgbClr val="99CC00"/>
      </a:accent1>
      <a:accent2>
        <a:srgbClr val="247C41"/>
      </a:accent2>
      <a:accent3>
        <a:srgbClr val="FFFFDC"/>
      </a:accent3>
      <a:accent4>
        <a:srgbClr val="000000"/>
      </a:accent4>
      <a:accent5>
        <a:srgbClr val="CAE2AA"/>
      </a:accent5>
      <a:accent6>
        <a:srgbClr val="20703A"/>
      </a:accent6>
      <a:hlink>
        <a:srgbClr val="EBA9D0"/>
      </a:hlink>
      <a:folHlink>
        <a:srgbClr val="CFBA7D"/>
      </a:folHlink>
    </a:clrScheme>
    <a:fontScheme name="네모의 미">
      <a:majorFont>
        <a:latin typeface="굴림"/>
        <a:ea typeface="굴림"/>
        <a:cs typeface="Arial"/>
      </a:majorFont>
      <a:minorFont>
        <a:latin typeface="굴림"/>
        <a:ea typeface="굴림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네모의 미 1">
        <a:dk1>
          <a:srgbClr val="000000"/>
        </a:dk1>
        <a:lt1>
          <a:srgbClr val="FFFFBF"/>
        </a:lt1>
        <a:dk2>
          <a:srgbClr val="666633"/>
        </a:dk2>
        <a:lt2>
          <a:srgbClr val="969696"/>
        </a:lt2>
        <a:accent1>
          <a:srgbClr val="99CC00"/>
        </a:accent1>
        <a:accent2>
          <a:srgbClr val="247C41"/>
        </a:accent2>
        <a:accent3>
          <a:srgbClr val="FFFFDC"/>
        </a:accent3>
        <a:accent4>
          <a:srgbClr val="000000"/>
        </a:accent4>
        <a:accent5>
          <a:srgbClr val="CAE2AA"/>
        </a:accent5>
        <a:accent6>
          <a:srgbClr val="20703A"/>
        </a:accent6>
        <a:hlink>
          <a:srgbClr val="EBA9D0"/>
        </a:hlink>
        <a:folHlink>
          <a:srgbClr val="CFBA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2">
        <a:dk1>
          <a:srgbClr val="000000"/>
        </a:dk1>
        <a:lt1>
          <a:srgbClr val="FFFFFF"/>
        </a:lt1>
        <a:dk2>
          <a:srgbClr val="000066"/>
        </a:dk2>
        <a:lt2>
          <a:srgbClr val="969696"/>
        </a:lt2>
        <a:accent1>
          <a:srgbClr val="D26F5E"/>
        </a:accent1>
        <a:accent2>
          <a:srgbClr val="6164DF"/>
        </a:accent2>
        <a:accent3>
          <a:srgbClr val="FFFFFF"/>
        </a:accent3>
        <a:accent4>
          <a:srgbClr val="000000"/>
        </a:accent4>
        <a:accent5>
          <a:srgbClr val="E5BBB6"/>
        </a:accent5>
        <a:accent6>
          <a:srgbClr val="575ACA"/>
        </a:accent6>
        <a:hlink>
          <a:srgbClr val="FFCC66"/>
        </a:hlink>
        <a:folHlink>
          <a:srgbClr val="51AF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3">
        <a:dk1>
          <a:srgbClr val="000000"/>
        </a:dk1>
        <a:lt1>
          <a:srgbClr val="D8F1CD"/>
        </a:lt1>
        <a:dk2>
          <a:srgbClr val="003300"/>
        </a:dk2>
        <a:lt2>
          <a:srgbClr val="969696"/>
        </a:lt2>
        <a:accent1>
          <a:srgbClr val="FF9966"/>
        </a:accent1>
        <a:accent2>
          <a:srgbClr val="2F7171"/>
        </a:accent2>
        <a:accent3>
          <a:srgbClr val="E9F7E3"/>
        </a:accent3>
        <a:accent4>
          <a:srgbClr val="000000"/>
        </a:accent4>
        <a:accent5>
          <a:srgbClr val="FFCAB8"/>
        </a:accent5>
        <a:accent6>
          <a:srgbClr val="2A6666"/>
        </a:accent6>
        <a:hlink>
          <a:srgbClr val="32C69C"/>
        </a:hlink>
        <a:folHlink>
          <a:srgbClr val="B8AA9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4">
        <a:dk1>
          <a:srgbClr val="000000"/>
        </a:dk1>
        <a:lt1>
          <a:srgbClr val="CFE1F9"/>
        </a:lt1>
        <a:dk2>
          <a:srgbClr val="000066"/>
        </a:dk2>
        <a:lt2>
          <a:srgbClr val="969696"/>
        </a:lt2>
        <a:accent1>
          <a:srgbClr val="9966FF"/>
        </a:accent1>
        <a:accent2>
          <a:srgbClr val="6164DF"/>
        </a:accent2>
        <a:accent3>
          <a:srgbClr val="E4EEFB"/>
        </a:accent3>
        <a:accent4>
          <a:srgbClr val="000000"/>
        </a:accent4>
        <a:accent5>
          <a:srgbClr val="CAB8FF"/>
        </a:accent5>
        <a:accent6>
          <a:srgbClr val="575ACA"/>
        </a:accent6>
        <a:hlink>
          <a:srgbClr val="EBA9A9"/>
        </a:hlink>
        <a:folHlink>
          <a:srgbClr val="42A8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5">
        <a:dk1>
          <a:srgbClr val="000000"/>
        </a:dk1>
        <a:lt1>
          <a:srgbClr val="F6DB90"/>
        </a:lt1>
        <a:dk2>
          <a:srgbClr val="663300"/>
        </a:dk2>
        <a:lt2>
          <a:srgbClr val="969696"/>
        </a:lt2>
        <a:accent1>
          <a:srgbClr val="99CC00"/>
        </a:accent1>
        <a:accent2>
          <a:srgbClr val="5F50BA"/>
        </a:accent2>
        <a:accent3>
          <a:srgbClr val="FAEAC6"/>
        </a:accent3>
        <a:accent4>
          <a:srgbClr val="000000"/>
        </a:accent4>
        <a:accent5>
          <a:srgbClr val="CAE2AA"/>
        </a:accent5>
        <a:accent6>
          <a:srgbClr val="5548A8"/>
        </a:accent6>
        <a:hlink>
          <a:srgbClr val="C57233"/>
        </a:hlink>
        <a:folHlink>
          <a:srgbClr val="BAAD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6">
        <a:dk1>
          <a:srgbClr val="000000"/>
        </a:dk1>
        <a:lt1>
          <a:srgbClr val="EAEAEA"/>
        </a:lt1>
        <a:dk2>
          <a:srgbClr val="000000"/>
        </a:dk2>
        <a:lt2>
          <a:srgbClr val="B2B2B2"/>
        </a:lt2>
        <a:accent1>
          <a:srgbClr val="B2B2B2"/>
        </a:accent1>
        <a:accent2>
          <a:srgbClr val="777777"/>
        </a:accent2>
        <a:accent3>
          <a:srgbClr val="F3F3F3"/>
        </a:accent3>
        <a:accent4>
          <a:srgbClr val="000000"/>
        </a:accent4>
        <a:accent5>
          <a:srgbClr val="D5D5D5"/>
        </a:accent5>
        <a:accent6>
          <a:srgbClr val="6B6B6B"/>
        </a:accent6>
        <a:hlink>
          <a:srgbClr val="96969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네모의 미</Template>
  <TotalTime>3327</TotalTime>
  <Words>458</Words>
  <Application>Microsoft Macintosh PowerPoint</Application>
  <PresentationFormat>화면 슬라이드 쇼(4:3)</PresentationFormat>
  <Paragraphs>56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굴림</vt:lpstr>
      <vt:lpstr>맑은 고딕</vt:lpstr>
      <vt:lpstr>Arial</vt:lpstr>
      <vt:lpstr>Courier New</vt:lpstr>
      <vt:lpstr>Wingdings</vt:lpstr>
      <vt:lpstr>네모의 미</vt:lpstr>
      <vt:lpstr>Lecture 4-3 : Java Virtual Threads</vt:lpstr>
      <vt:lpstr>Java Virtual Threads</vt:lpstr>
      <vt:lpstr>Virtual threads vs Platform threads</vt:lpstr>
      <vt:lpstr>Virtual threads vs Platform threads</vt:lpstr>
      <vt:lpstr>Java Virtual Thread Diagram</vt:lpstr>
      <vt:lpstr>Java Virtual Thread Diagram</vt:lpstr>
      <vt:lpstr>Creating a Java Virtual Thread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System (English-Only Lecture)</dc:title>
  <dc:creator>손호경</dc:creator>
  <cp:lastModifiedBy>Microsoft Office User</cp:lastModifiedBy>
  <cp:revision>211</cp:revision>
  <dcterms:created xsi:type="dcterms:W3CDTF">2008-03-06T00:32:01Z</dcterms:created>
  <dcterms:modified xsi:type="dcterms:W3CDTF">2026-04-08T12:23:44Z</dcterms:modified>
</cp:coreProperties>
</file>